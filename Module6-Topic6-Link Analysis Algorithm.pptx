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8" r:id="rId3"/>
    <p:sldId id="368" r:id="rId4"/>
    <p:sldId id="466" r:id="rId5"/>
    <p:sldId id="467" r:id="rId6"/>
    <p:sldId id="468" r:id="rId7"/>
    <p:sldId id="469" r:id="rId8"/>
    <p:sldId id="470" r:id="rId9"/>
    <p:sldId id="471" r:id="rId10"/>
    <p:sldId id="472" r:id="rId11"/>
    <p:sldId id="478" r:id="rId12"/>
    <p:sldId id="479" r:id="rId13"/>
    <p:sldId id="480" r:id="rId14"/>
    <p:sldId id="481" r:id="rId15"/>
    <p:sldId id="482" r:id="rId16"/>
    <p:sldId id="463" r:id="rId17"/>
    <p:sldId id="424" r:id="rId18"/>
    <p:sldId id="459" r:id="rId19"/>
    <p:sldId id="460" r:id="rId20"/>
    <p:sldId id="462" r:id="rId21"/>
    <p:sldId id="464" r:id="rId22"/>
    <p:sldId id="473" r:id="rId23"/>
    <p:sldId id="474" r:id="rId24"/>
    <p:sldId id="475" r:id="rId25"/>
    <p:sldId id="476" r:id="rId26"/>
    <p:sldId id="461" r:id="rId27"/>
    <p:sldId id="452" r:id="rId28"/>
    <p:sldId id="47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99"/>
    <a:srgbClr val="00CC00"/>
    <a:srgbClr val="2102B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06-05-2023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06-05-2023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06-05-2023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06-05-2023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06-05-2023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06-05-2023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06-05-2023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06-05-2023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06-05-2023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06-05-2023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06-05-2023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06-05-2023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06-05-2023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stanford.edu/" TargetMode="External"/><Relationship Id="rId2" Type="http://schemas.openxmlformats.org/officeDocument/2006/relationships/hyperlink" Target="http://www.viteee.vit.ac.in/" TargetMode="Externa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6</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6</a:t>
            </a:r>
          </a:p>
        </p:txBody>
      </p:sp>
      <p:sp>
        <p:nvSpPr>
          <p:cNvPr id="6" name="Subtitle 2"/>
          <p:cNvSpPr>
            <a:spLocks noGrp="1"/>
          </p:cNvSpPr>
          <p:nvPr>
            <p:ph type="subTitle" idx="1"/>
          </p:nvPr>
        </p:nvSpPr>
        <p:spPr>
          <a:xfrm>
            <a:off x="1402183" y="3677818"/>
            <a:ext cx="9144000" cy="1655762"/>
          </a:xfrm>
        </p:spPr>
        <p:txBody>
          <a:bodyPr>
            <a:normAutofit/>
          </a:bodyPr>
          <a:lstStyle/>
          <a:p>
            <a:r>
              <a:rPr lang="it-IT" sz="4000" b="1" dirty="0">
                <a:solidFill>
                  <a:srgbClr val="0070C0"/>
                </a:solidFill>
                <a:latin typeface="Arial" panose="020B0604020202020204" pitchFamily="34" charset="0"/>
                <a:cs typeface="Arial" panose="020B0604020202020204" pitchFamily="34" charset="0"/>
              </a:rPr>
              <a:t>Link Analysis Algorithms</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06-05-2023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Link analysis algorithms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Web as a Graph</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Topic specific page rank</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Introduction to Link analysis</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400" dirty="0">
                <a:latin typeface="Arial" panose="020B0604020202020204" pitchFamily="34" charset="0"/>
                <a:cs typeface="Arial" panose="020B0604020202020204" pitchFamily="34" charset="0"/>
              </a:rPr>
              <a:t>Link Analysis </a:t>
            </a:r>
            <a:r>
              <a:rPr lang="en-US" sz="2400" dirty="0">
                <a:solidFill>
                  <a:srgbClr val="FF3399"/>
                </a:solidFill>
                <a:latin typeface="Arial" panose="020B0604020202020204" pitchFamily="34" charset="0"/>
                <a:cs typeface="Arial" panose="020B0604020202020204" pitchFamily="34" charset="0"/>
              </a:rPr>
              <a:t>deals with mining useful information </a:t>
            </a:r>
            <a:r>
              <a:rPr lang="en-US" sz="2400" dirty="0">
                <a:latin typeface="Arial" panose="020B0604020202020204" pitchFamily="34" charset="0"/>
                <a:cs typeface="Arial" panose="020B0604020202020204" pitchFamily="34" charset="0"/>
              </a:rPr>
              <a:t>from linked structures like graphs. </a:t>
            </a:r>
          </a:p>
          <a:p>
            <a:pPr marL="0" indent="0">
              <a:lnSpc>
                <a:spcPct val="110000"/>
              </a:lnSpc>
              <a:spcBef>
                <a:spcPts val="600"/>
              </a:spcBef>
              <a:spcAft>
                <a:spcPts val="1800"/>
              </a:spcAft>
              <a:buNone/>
            </a:pPr>
            <a:r>
              <a:rPr lang="en-US" sz="2400" dirty="0">
                <a:latin typeface="Arial" panose="020B0604020202020204" pitchFamily="34" charset="0"/>
                <a:cs typeface="Arial" panose="020B0604020202020204" pitchFamily="34" charset="0"/>
              </a:rPr>
              <a:t>Graphs have </a:t>
            </a:r>
            <a:r>
              <a:rPr lang="en-US" sz="2400" dirty="0">
                <a:solidFill>
                  <a:srgbClr val="2102BE"/>
                </a:solidFill>
                <a:latin typeface="Arial" panose="020B0604020202020204" pitchFamily="34" charset="0"/>
                <a:cs typeface="Arial" panose="020B0604020202020204" pitchFamily="34" charset="0"/>
              </a:rPr>
              <a:t>vertices representing objects </a:t>
            </a:r>
            <a:r>
              <a:rPr lang="en-US" sz="2400" dirty="0">
                <a:latin typeface="Arial" panose="020B0604020202020204" pitchFamily="34" charset="0"/>
                <a:cs typeface="Arial" panose="020B0604020202020204" pitchFamily="34" charset="0"/>
              </a:rPr>
              <a:t>and </a:t>
            </a:r>
            <a:r>
              <a:rPr lang="en-US" sz="2400" dirty="0">
                <a:solidFill>
                  <a:srgbClr val="FF3399"/>
                </a:solidFill>
                <a:latin typeface="Arial" panose="020B0604020202020204" pitchFamily="34" charset="0"/>
                <a:cs typeface="Arial" panose="020B0604020202020204" pitchFamily="34" charset="0"/>
              </a:rPr>
              <a:t>links</a:t>
            </a:r>
            <a:r>
              <a:rPr lang="en-US" sz="2400" dirty="0">
                <a:latin typeface="Arial" panose="020B0604020202020204" pitchFamily="34" charset="0"/>
                <a:cs typeface="Arial" panose="020B0604020202020204" pitchFamily="34" charset="0"/>
              </a:rPr>
              <a:t> among those vertices </a:t>
            </a:r>
            <a:r>
              <a:rPr lang="en-US" sz="2400" dirty="0">
                <a:solidFill>
                  <a:srgbClr val="FF3399"/>
                </a:solidFill>
                <a:latin typeface="Arial" panose="020B0604020202020204" pitchFamily="34" charset="0"/>
                <a:cs typeface="Arial" panose="020B0604020202020204" pitchFamily="34" charset="0"/>
              </a:rPr>
              <a:t>representing relationships </a:t>
            </a:r>
            <a:r>
              <a:rPr lang="en-US" sz="2400" dirty="0">
                <a:latin typeface="Arial" panose="020B0604020202020204" pitchFamily="34" charset="0"/>
                <a:cs typeface="Arial" panose="020B0604020202020204" pitchFamily="34" charset="0"/>
              </a:rPr>
              <a:t>among those objects.</a:t>
            </a:r>
          </a:p>
          <a:p>
            <a:pPr marL="0" indent="0">
              <a:lnSpc>
                <a:spcPct val="110000"/>
              </a:lnSpc>
              <a:spcBef>
                <a:spcPts val="600"/>
              </a:spcBef>
              <a:spcAft>
                <a:spcPts val="1800"/>
              </a:spcAft>
              <a:buNone/>
            </a:pPr>
            <a:r>
              <a:rPr lang="en-US" sz="2400" dirty="0">
                <a:latin typeface="Arial" panose="020B0604020202020204" pitchFamily="34" charset="0"/>
                <a:cs typeface="Arial" panose="020B0604020202020204" pitchFamily="34" charset="0"/>
              </a:rPr>
              <a:t>The most common interpretation of the word link today is </a:t>
            </a:r>
            <a:r>
              <a:rPr lang="en-US" sz="2400" dirty="0">
                <a:solidFill>
                  <a:srgbClr val="FF0000"/>
                </a:solidFill>
                <a:latin typeface="Arial" panose="020B0604020202020204" pitchFamily="34" charset="0"/>
                <a:cs typeface="Arial" panose="020B0604020202020204" pitchFamily="34" charset="0"/>
              </a:rPr>
              <a:t>hyperlink</a:t>
            </a:r>
            <a:r>
              <a:rPr lang="en-US" sz="2400" dirty="0">
                <a:latin typeface="Arial" panose="020B0604020202020204" pitchFamily="34" charset="0"/>
                <a:cs typeface="Arial" panose="020B0604020202020204" pitchFamily="34" charset="0"/>
              </a:rPr>
              <a:t> - a means of connecting two web documents wherein activating a special element embedded in one document takes you to the other.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5553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Introduction to Link analysis</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400" dirty="0">
                <a:solidFill>
                  <a:srgbClr val="FF0000"/>
                </a:solidFill>
                <a:latin typeface="Arial" panose="020B0604020202020204" pitchFamily="34" charset="0"/>
                <a:cs typeface="Arial" panose="020B0604020202020204" pitchFamily="34" charset="0"/>
              </a:rPr>
              <a:t>A link </a:t>
            </a:r>
            <a:r>
              <a:rPr lang="en-US" sz="2400" dirty="0">
                <a:latin typeface="Arial" panose="020B0604020202020204" pitchFamily="34" charset="0"/>
                <a:cs typeface="Arial" panose="020B0604020202020204" pitchFamily="34" charset="0"/>
              </a:rPr>
              <a:t>represents a relationship and connects two objects that are related to each other in that specific way. </a:t>
            </a:r>
          </a:p>
          <a:p>
            <a:pPr marL="0" indent="0">
              <a:lnSpc>
                <a:spcPct val="110000"/>
              </a:lnSpc>
              <a:spcBef>
                <a:spcPts val="600"/>
              </a:spcBef>
              <a:spcAft>
                <a:spcPts val="1800"/>
              </a:spcAft>
              <a:buNone/>
            </a:pPr>
            <a:r>
              <a:rPr lang="en-US" sz="2400" dirty="0">
                <a:latin typeface="Arial" panose="020B0604020202020204" pitchFamily="34" charset="0"/>
                <a:cs typeface="Arial" panose="020B0604020202020204" pitchFamily="34" charset="0"/>
              </a:rPr>
              <a:t>A collection of links representing the same kind of relationship form </a:t>
            </a:r>
            <a:r>
              <a:rPr lang="en-US" sz="2400" dirty="0">
                <a:solidFill>
                  <a:srgbClr val="FF0000"/>
                </a:solidFill>
                <a:latin typeface="Arial" panose="020B0604020202020204" pitchFamily="34" charset="0"/>
                <a:cs typeface="Arial" panose="020B0604020202020204" pitchFamily="34" charset="0"/>
              </a:rPr>
              <a:t>a network, or graph</a:t>
            </a:r>
            <a:r>
              <a:rPr lang="en-US" sz="2400" dirty="0">
                <a:latin typeface="Arial" panose="020B0604020202020204" pitchFamily="34" charset="0"/>
                <a:cs typeface="Arial" panose="020B0604020202020204" pitchFamily="34" charset="0"/>
              </a:rPr>
              <a:t>, where the objects being related correspond to the graph vertices and the links themselves are the edges.</a:t>
            </a:r>
          </a:p>
          <a:p>
            <a:pPr marL="0" indent="0">
              <a:lnSpc>
                <a:spcPct val="110000"/>
              </a:lnSpc>
              <a:spcBef>
                <a:spcPts val="600"/>
              </a:spcBef>
              <a:spcAft>
                <a:spcPts val="1800"/>
              </a:spcAft>
              <a:buNone/>
            </a:pPr>
            <a:r>
              <a:rPr lang="en-US" sz="2400" dirty="0">
                <a:latin typeface="Arial" panose="020B0604020202020204" pitchFamily="34" charset="0"/>
                <a:cs typeface="Arial" panose="020B0604020202020204" pitchFamily="34" charset="0"/>
              </a:rPr>
              <a:t>When two objects being related by a link are of the same kind, then the network formed by such links is termed a </a:t>
            </a:r>
            <a:r>
              <a:rPr lang="en-US" sz="2400" dirty="0">
                <a:solidFill>
                  <a:srgbClr val="FF0000"/>
                </a:solidFill>
                <a:latin typeface="Arial" panose="020B0604020202020204" pitchFamily="34" charset="0"/>
                <a:cs typeface="Arial" panose="020B0604020202020204" pitchFamily="34" charset="0"/>
              </a:rPr>
              <a:t>homogeneous network</a:t>
            </a:r>
            <a:r>
              <a:rPr lang="en-US" sz="2400" dirty="0">
                <a:latin typeface="Arial" panose="020B0604020202020204" pitchFamily="34" charset="0"/>
                <a:cs typeface="Arial" panose="020B0604020202020204" pitchFamily="34" charset="0"/>
              </a:rPr>
              <a:t>.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052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Introduction to Link analysis</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The </a:t>
            </a:r>
            <a:r>
              <a:rPr lang="en-US" sz="2200" dirty="0">
                <a:solidFill>
                  <a:srgbClr val="00B050"/>
                </a:solidFill>
                <a:latin typeface="Arial" panose="020B0604020202020204" pitchFamily="34" charset="0"/>
                <a:cs typeface="Arial" panose="020B0604020202020204" pitchFamily="34" charset="0"/>
              </a:rPr>
              <a:t>friendship relation</a:t>
            </a:r>
            <a:r>
              <a:rPr lang="en-US" sz="2200" dirty="0">
                <a:latin typeface="Arial" panose="020B0604020202020204" pitchFamily="34" charset="0"/>
                <a:cs typeface="Arial" panose="020B0604020202020204" pitchFamily="34" charset="0"/>
              </a:rPr>
              <a:t>, for instance, forms a </a:t>
            </a:r>
            <a:r>
              <a:rPr lang="en-US" sz="2200" dirty="0">
                <a:solidFill>
                  <a:srgbClr val="00B050"/>
                </a:solidFill>
                <a:latin typeface="Arial" panose="020B0604020202020204" pitchFamily="34" charset="0"/>
                <a:cs typeface="Arial" panose="020B0604020202020204" pitchFamily="34" charset="0"/>
              </a:rPr>
              <a:t>homogeneous network </a:t>
            </a:r>
            <a:r>
              <a:rPr lang="en-US" sz="2200" dirty="0">
                <a:latin typeface="Arial" panose="020B0604020202020204" pitchFamily="34" charset="0"/>
                <a:cs typeface="Arial" panose="020B0604020202020204" pitchFamily="34" charset="0"/>
              </a:rPr>
              <a:t>of friends, whereas the </a:t>
            </a:r>
            <a:r>
              <a:rPr lang="en-US" sz="2200" dirty="0">
                <a:solidFill>
                  <a:srgbClr val="FF0000"/>
                </a:solidFill>
                <a:latin typeface="Arial" panose="020B0604020202020204" pitchFamily="34" charset="0"/>
                <a:cs typeface="Arial" panose="020B0604020202020204" pitchFamily="34" charset="0"/>
              </a:rPr>
              <a:t>car-owner relation </a:t>
            </a:r>
            <a:r>
              <a:rPr lang="en-US" sz="2200" dirty="0">
                <a:latin typeface="Arial" panose="020B0604020202020204" pitchFamily="34" charset="0"/>
                <a:cs typeface="Arial" panose="020B0604020202020204" pitchFamily="34" charset="0"/>
              </a:rPr>
              <a:t>defines a </a:t>
            </a:r>
            <a:r>
              <a:rPr lang="en-US" sz="2200" dirty="0">
                <a:solidFill>
                  <a:srgbClr val="FF0000"/>
                </a:solidFill>
                <a:latin typeface="Arial" panose="020B0604020202020204" pitchFamily="34" charset="0"/>
                <a:cs typeface="Arial" panose="020B0604020202020204" pitchFamily="34" charset="0"/>
              </a:rPr>
              <a:t>heterogeneous network</a:t>
            </a:r>
            <a:r>
              <a:rPr lang="en-US" sz="2200" dirty="0">
                <a:latin typeface="Arial" panose="020B0604020202020204" pitchFamily="34" charset="0"/>
                <a:cs typeface="Arial" panose="020B0604020202020204" pitchFamily="34" charset="0"/>
              </a:rPr>
              <a:t>. </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When a network consists of several kinds of links, it is said to be </a:t>
            </a:r>
            <a:r>
              <a:rPr lang="en-US" sz="2200" dirty="0">
                <a:solidFill>
                  <a:srgbClr val="FF3399"/>
                </a:solidFill>
                <a:latin typeface="Arial" panose="020B0604020202020204" pitchFamily="34" charset="0"/>
                <a:cs typeface="Arial" panose="020B0604020202020204" pitchFamily="34" charset="0"/>
              </a:rPr>
              <a:t>multi-relational, or sometimes multi-mode</a:t>
            </a:r>
            <a:r>
              <a:rPr lang="en-US" sz="2200" dirty="0">
                <a:latin typeface="Arial" panose="020B0604020202020204" pitchFamily="34" charset="0"/>
                <a:cs typeface="Arial" panose="020B0604020202020204" pitchFamily="34" charset="0"/>
              </a:rPr>
              <a:t>. </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An example could be a </a:t>
            </a:r>
            <a:r>
              <a:rPr lang="en-US" sz="2200" dirty="0">
                <a:solidFill>
                  <a:srgbClr val="FF0000"/>
                </a:solidFill>
                <a:latin typeface="Arial" panose="020B0604020202020204" pitchFamily="34" charset="0"/>
                <a:cs typeface="Arial" panose="020B0604020202020204" pitchFamily="34" charset="0"/>
              </a:rPr>
              <a:t>family tree that connects people </a:t>
            </a:r>
            <a:r>
              <a:rPr lang="en-US" sz="2200" dirty="0">
                <a:latin typeface="Arial" panose="020B0604020202020204" pitchFamily="34" charset="0"/>
                <a:cs typeface="Arial" panose="020B0604020202020204" pitchFamily="34" charset="0"/>
              </a:rPr>
              <a:t>using relationships, such as parent-child, sibling, spouse, etc.</a:t>
            </a:r>
          </a:p>
          <a:p>
            <a:pPr marL="0" indent="0">
              <a:lnSpc>
                <a:spcPct val="110000"/>
              </a:lnSpc>
              <a:spcBef>
                <a:spcPts val="600"/>
              </a:spcBef>
              <a:spcAft>
                <a:spcPts val="1800"/>
              </a:spcAft>
              <a:buNone/>
            </a:pPr>
            <a:r>
              <a:rPr lang="en-US" sz="2200" dirty="0">
                <a:solidFill>
                  <a:srgbClr val="0000FF"/>
                </a:solidFill>
                <a:latin typeface="Arial" panose="020B0604020202020204" pitchFamily="34" charset="0"/>
                <a:cs typeface="Arial" panose="020B0604020202020204" pitchFamily="34" charset="0"/>
              </a:rPr>
              <a:t>Link analysis </a:t>
            </a:r>
            <a:r>
              <a:rPr lang="en-US" sz="2200" dirty="0">
                <a:latin typeface="Arial" panose="020B0604020202020204" pitchFamily="34" charset="0"/>
                <a:cs typeface="Arial" panose="020B0604020202020204" pitchFamily="34" charset="0"/>
              </a:rPr>
              <a:t>can also give us some interesting insight into the world around us. In the World Wide Web, if web pages are considered as nodes and hyperlinks as edges, then the link analysis will help us to understand which page is appropriate.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0392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Kinds of Link Analysis Tasks</a:t>
            </a:r>
            <a:endParaRPr lang="en-IN" sz="3200" b="1" u="sng"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2673266" y="2272914"/>
            <a:ext cx="6523071" cy="3126858"/>
          </a:xfrm>
          <a:prstGeom prst="rect">
            <a:avLst/>
          </a:prstGeom>
        </p:spPr>
      </p:pic>
    </p:spTree>
    <p:extLst>
      <p:ext uri="{BB962C8B-B14F-4D97-AF65-F5344CB8AC3E}">
        <p14:creationId xmlns:p14="http://schemas.microsoft.com/office/powerpoint/2010/main" val="2268249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Link-based Object Classification (LOC)</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000" dirty="0">
                <a:solidFill>
                  <a:srgbClr val="0000FF"/>
                </a:solidFill>
                <a:latin typeface="Arial" panose="020B0604020202020204" pitchFamily="34" charset="0"/>
                <a:cs typeface="Arial" panose="020B0604020202020204" pitchFamily="34" charset="0"/>
              </a:rPr>
              <a:t>LOC (Link-based Object Classification)</a:t>
            </a:r>
            <a:r>
              <a:rPr lang="en-US" sz="2000" dirty="0">
                <a:latin typeface="Arial" panose="020B0604020202020204" pitchFamily="34" charset="0"/>
                <a:cs typeface="Arial" panose="020B0604020202020204" pitchFamily="34" charset="0"/>
              </a:rPr>
              <a:t> is a technique </a:t>
            </a:r>
            <a:r>
              <a:rPr lang="en-US" sz="2000" dirty="0">
                <a:solidFill>
                  <a:srgbClr val="FF3399"/>
                </a:solidFill>
                <a:latin typeface="Arial" panose="020B0604020202020204" pitchFamily="34" charset="0"/>
                <a:cs typeface="Arial" panose="020B0604020202020204" pitchFamily="34" charset="0"/>
              </a:rPr>
              <a:t>used to assign class labels to nodes according to their link characteristics</a:t>
            </a:r>
            <a:r>
              <a:rPr lang="en-US" sz="2000" dirty="0">
                <a:latin typeface="Arial" panose="020B0604020202020204" pitchFamily="34" charset="0"/>
                <a:cs typeface="Arial" panose="020B0604020202020204" pitchFamily="34" charset="0"/>
              </a:rPr>
              <a:t>. One very simplified example is to classify nodes as strongly connected and weakly connected depending solely on their degree.</a:t>
            </a:r>
          </a:p>
          <a:p>
            <a:pPr marL="0" indent="0">
              <a:lnSpc>
                <a:spcPct val="110000"/>
              </a:lnSpc>
              <a:spcBef>
                <a:spcPts val="600"/>
              </a:spcBef>
              <a:spcAft>
                <a:spcPts val="1800"/>
              </a:spcAft>
              <a:buNone/>
            </a:pPr>
            <a:r>
              <a:rPr lang="en-US" sz="2000" dirty="0">
                <a:latin typeface="Arial" panose="020B0604020202020204" pitchFamily="34" charset="0"/>
                <a:cs typeface="Arial" panose="020B0604020202020204" pitchFamily="34" charset="0"/>
              </a:rPr>
              <a:t>LOC can also incorporate information about a node’s properties for classification. </a:t>
            </a:r>
          </a:p>
          <a:p>
            <a:pPr marL="0" indent="0">
              <a:lnSpc>
                <a:spcPct val="110000"/>
              </a:lnSpc>
              <a:spcBef>
                <a:spcPts val="600"/>
              </a:spcBef>
              <a:spcAft>
                <a:spcPts val="1800"/>
              </a:spcAft>
              <a:buNone/>
            </a:pPr>
            <a:r>
              <a:rPr lang="en-US" sz="2000" dirty="0">
                <a:latin typeface="Arial" panose="020B0604020202020204" pitchFamily="34" charset="0"/>
                <a:cs typeface="Arial" panose="020B0604020202020204" pitchFamily="34" charset="0"/>
              </a:rPr>
              <a:t>For instance, if your task is to create compatible teams from a pool of personnel, and you have generic preference data from everyone, then you can build up a graph, where each node represents a person and each edge represents a common preference between two persons</a:t>
            </a:r>
          </a:p>
          <a:p>
            <a:pPr marL="0" indent="0">
              <a:lnSpc>
                <a:spcPct val="110000"/>
              </a:lnSpc>
              <a:spcBef>
                <a:spcPts val="600"/>
              </a:spcBef>
              <a:spcAft>
                <a:spcPts val="1800"/>
              </a:spcAft>
              <a:buNone/>
            </a:pPr>
            <a:r>
              <a:rPr lang="en-US" sz="2000" dirty="0">
                <a:latin typeface="Arial" panose="020B0604020202020204" pitchFamily="34" charset="0"/>
                <a:cs typeface="Arial" panose="020B0604020202020204" pitchFamily="34" charset="0"/>
              </a:rPr>
              <a:t>A slightly </a:t>
            </a:r>
            <a:r>
              <a:rPr lang="en-US" sz="2000" dirty="0">
                <a:solidFill>
                  <a:srgbClr val="0000FF"/>
                </a:solidFill>
                <a:latin typeface="Arial" panose="020B0604020202020204" pitchFamily="34" charset="0"/>
                <a:cs typeface="Arial" panose="020B0604020202020204" pitchFamily="34" charset="0"/>
              </a:rPr>
              <a:t>more complex process would be to find the average distance of each node </a:t>
            </a:r>
            <a:r>
              <a:rPr lang="en-US" sz="2000" dirty="0">
                <a:latin typeface="Arial" panose="020B0604020202020204" pitchFamily="34" charset="0"/>
                <a:cs typeface="Arial" panose="020B0604020202020204" pitchFamily="34" charset="0"/>
              </a:rPr>
              <a:t>to all the other nodes, and classify them according to that quantity.</a:t>
            </a:r>
          </a:p>
          <a:p>
            <a:pPr marL="0" indent="0">
              <a:lnSpc>
                <a:spcPct val="110000"/>
              </a:lnSpc>
              <a:spcBef>
                <a:spcPts val="600"/>
              </a:spcBef>
              <a:spcAft>
                <a:spcPts val="1800"/>
              </a:spcAft>
              <a:buNone/>
            </a:pP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3674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 Link-based Object Ranking (LOR)</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200" dirty="0">
                <a:solidFill>
                  <a:srgbClr val="FF0000"/>
                </a:solidFill>
                <a:latin typeface="Arial" panose="020B0604020202020204" pitchFamily="34" charset="0"/>
                <a:cs typeface="Arial" panose="020B0604020202020204" pitchFamily="34" charset="0"/>
              </a:rPr>
              <a:t>LOR (Link-based Object Ranking) </a:t>
            </a:r>
            <a:r>
              <a:rPr lang="en-US" sz="2200" dirty="0">
                <a:latin typeface="Arial" panose="020B0604020202020204" pitchFamily="34" charset="0"/>
                <a:cs typeface="Arial" panose="020B0604020202020204" pitchFamily="34" charset="0"/>
              </a:rPr>
              <a:t>ranks objects in a graph based on several factors affecting their importance in the graph structure, whereas </a:t>
            </a:r>
            <a:r>
              <a:rPr lang="en-US" sz="2200" dirty="0">
                <a:solidFill>
                  <a:srgbClr val="FF3399"/>
                </a:solidFill>
                <a:latin typeface="Arial" panose="020B0604020202020204" pitchFamily="34" charset="0"/>
                <a:cs typeface="Arial" panose="020B0604020202020204" pitchFamily="34" charset="0"/>
              </a:rPr>
              <a:t>LOC assigns labels specifically belonging to a closed set of finite values to an object</a:t>
            </a:r>
            <a:r>
              <a:rPr lang="en-US" sz="2200" dirty="0">
                <a:latin typeface="Arial" panose="020B0604020202020204" pitchFamily="34" charset="0"/>
                <a:cs typeface="Arial" panose="020B0604020202020204" pitchFamily="34" charset="0"/>
              </a:rPr>
              <a:t>.</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The purpose of LOR is not to assign distinctive labels to the nodes—usually, all nodes in such networks are understood to be of the same type—</a:t>
            </a:r>
            <a:r>
              <a:rPr lang="en-US" sz="2200" dirty="0">
                <a:solidFill>
                  <a:srgbClr val="0000FF"/>
                </a:solidFill>
                <a:latin typeface="Arial" panose="020B0604020202020204" pitchFamily="34" charset="0"/>
                <a:cs typeface="Arial" panose="020B0604020202020204" pitchFamily="34" charset="0"/>
              </a:rPr>
              <a:t>the goal is to associate a relative quantitative assessment with each node.</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LOR can sometimes be a more fine-grained version of LOC, such as in our strongly/weakly connected example, if we desire to mark each node with the precise number representing its degree of connectivity, then it can be one form of ranking the nodes.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3500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 Link-based Object Ranking (LOR)</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Ranking tasks are usually much more complex than that, and take into account a large part of the graph when coming up with a figure for each node.</a:t>
            </a:r>
          </a:p>
          <a:p>
            <a:pPr marL="0" indent="0">
              <a:lnSpc>
                <a:spcPct val="110000"/>
              </a:lnSpc>
              <a:spcBef>
                <a:spcPts val="600"/>
              </a:spcBef>
              <a:spcAft>
                <a:spcPts val="1800"/>
              </a:spcAft>
              <a:buNone/>
            </a:pPr>
            <a:r>
              <a:rPr lang="en-US" sz="2200" dirty="0">
                <a:solidFill>
                  <a:srgbClr val="0000FF"/>
                </a:solidFill>
                <a:latin typeface="Arial" panose="020B0604020202020204" pitchFamily="34" charset="0"/>
                <a:cs typeface="Arial" panose="020B0604020202020204" pitchFamily="34" charset="0"/>
              </a:rPr>
              <a:t>One of the most well-known ranking tasks is ranking web pages according to their relevance to a search query</a:t>
            </a:r>
            <a:r>
              <a:rPr lang="en-US" sz="2200" dirty="0">
                <a:latin typeface="Arial" panose="020B0604020202020204" pitchFamily="34" charset="0"/>
                <a:cs typeface="Arial" panose="020B0604020202020204" pitchFamily="34" charset="0"/>
              </a:rPr>
              <a:t>.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2507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Link prediction</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While LOC and LOR use analysis of links to talk about the nodes in a network, </a:t>
            </a:r>
            <a:r>
              <a:rPr lang="en-US" sz="2200" dirty="0">
                <a:solidFill>
                  <a:srgbClr val="0000FF"/>
                </a:solidFill>
                <a:latin typeface="Arial" panose="020B0604020202020204" pitchFamily="34" charset="0"/>
                <a:cs typeface="Arial" panose="020B0604020202020204" pitchFamily="34" charset="0"/>
              </a:rPr>
              <a:t>Link Prediction actually deals with links themselves. </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A common example of prediction is trying to guess which authors will co-author a paper in the future, given a current collaboration graph. </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Here, we try to infer new collaboration links, but do not say anything new about the authors themselves.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0535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Link prediction</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Some Link prediction Algorithms: </a:t>
            </a:r>
          </a:p>
          <a:p>
            <a:pPr marL="539750" indent="-357188">
              <a:lnSpc>
                <a:spcPct val="110000"/>
              </a:lnSpc>
              <a:spcBef>
                <a:spcPts val="600"/>
              </a:spcBef>
              <a:spcAft>
                <a:spcPts val="600"/>
              </a:spcAft>
            </a:pPr>
            <a:r>
              <a:rPr lang="en-US" sz="2200" dirty="0" err="1">
                <a:latin typeface="Arial" panose="020B0604020202020204" pitchFamily="34" charset="0"/>
                <a:cs typeface="Arial" panose="020B0604020202020204" pitchFamily="34" charset="0"/>
              </a:rPr>
              <a:t>Adamic</a:t>
            </a:r>
            <a:r>
              <a:rPr lang="en-US" sz="2200" dirty="0">
                <a:latin typeface="Arial" panose="020B0604020202020204" pitchFamily="34" charset="0"/>
                <a:cs typeface="Arial" panose="020B0604020202020204" pitchFamily="34" charset="0"/>
              </a:rPr>
              <a:t> Adar (</a:t>
            </a:r>
            <a:r>
              <a:rPr lang="en-US" sz="2200" dirty="0" err="1">
                <a:latin typeface="Arial" panose="020B0604020202020204" pitchFamily="34" charset="0"/>
                <a:cs typeface="Arial" panose="020B0604020202020204" pitchFamily="34" charset="0"/>
              </a:rPr>
              <a:t>algo.linkprediction.adamicAdar</a:t>
            </a:r>
            <a:r>
              <a:rPr lang="en-US" sz="2200" dirty="0">
                <a:latin typeface="Arial" panose="020B0604020202020204" pitchFamily="34" charset="0"/>
                <a:cs typeface="Arial" panose="020B0604020202020204" pitchFamily="34" charset="0"/>
              </a:rPr>
              <a:t>)</a:t>
            </a:r>
          </a:p>
          <a:p>
            <a:pPr marL="539750" indent="-357188">
              <a:lnSpc>
                <a:spcPct val="110000"/>
              </a:lnSpc>
              <a:spcBef>
                <a:spcPts val="600"/>
              </a:spcBef>
              <a:spcAft>
                <a:spcPts val="600"/>
              </a:spcAft>
            </a:pPr>
            <a:r>
              <a:rPr lang="en-US" sz="2200" dirty="0">
                <a:latin typeface="Arial" panose="020B0604020202020204" pitchFamily="34" charset="0"/>
                <a:cs typeface="Arial" panose="020B0604020202020204" pitchFamily="34" charset="0"/>
              </a:rPr>
              <a:t>Common Neighbors (</a:t>
            </a:r>
            <a:r>
              <a:rPr lang="en-US" sz="2200" dirty="0" err="1">
                <a:latin typeface="Arial" panose="020B0604020202020204" pitchFamily="34" charset="0"/>
                <a:cs typeface="Arial" panose="020B0604020202020204" pitchFamily="34" charset="0"/>
              </a:rPr>
              <a:t>algo.linkprediction.commonNeighbors</a:t>
            </a:r>
            <a:r>
              <a:rPr lang="en-US" sz="2200" dirty="0">
                <a:latin typeface="Arial" panose="020B0604020202020204" pitchFamily="34" charset="0"/>
                <a:cs typeface="Arial" panose="020B0604020202020204" pitchFamily="34" charset="0"/>
              </a:rPr>
              <a:t>)</a:t>
            </a:r>
          </a:p>
          <a:p>
            <a:pPr marL="539750" indent="-357188">
              <a:lnSpc>
                <a:spcPct val="110000"/>
              </a:lnSpc>
              <a:spcBef>
                <a:spcPts val="600"/>
              </a:spcBef>
              <a:spcAft>
                <a:spcPts val="600"/>
              </a:spcAft>
            </a:pPr>
            <a:r>
              <a:rPr lang="en-US" sz="2200" dirty="0">
                <a:latin typeface="Arial" panose="020B0604020202020204" pitchFamily="34" charset="0"/>
                <a:cs typeface="Arial" panose="020B0604020202020204" pitchFamily="34" charset="0"/>
              </a:rPr>
              <a:t>Preferential Attachment (</a:t>
            </a:r>
            <a:r>
              <a:rPr lang="en-US" sz="2200" dirty="0" err="1">
                <a:latin typeface="Arial" panose="020B0604020202020204" pitchFamily="34" charset="0"/>
                <a:cs typeface="Arial" panose="020B0604020202020204" pitchFamily="34" charset="0"/>
              </a:rPr>
              <a:t>algo.linkprediction.preferentialAttachment</a:t>
            </a:r>
            <a:r>
              <a:rPr lang="en-US" sz="2200" dirty="0">
                <a:latin typeface="Arial" panose="020B0604020202020204" pitchFamily="34" charset="0"/>
                <a:cs typeface="Arial" panose="020B0604020202020204" pitchFamily="34" charset="0"/>
              </a:rPr>
              <a:t>)</a:t>
            </a:r>
          </a:p>
          <a:p>
            <a:pPr marL="539750" indent="-357188">
              <a:lnSpc>
                <a:spcPct val="110000"/>
              </a:lnSpc>
              <a:spcBef>
                <a:spcPts val="600"/>
              </a:spcBef>
              <a:spcAft>
                <a:spcPts val="600"/>
              </a:spcAft>
            </a:pPr>
            <a:r>
              <a:rPr lang="en-US" sz="2200" dirty="0">
                <a:latin typeface="Arial" panose="020B0604020202020204" pitchFamily="34" charset="0"/>
                <a:cs typeface="Arial" panose="020B0604020202020204" pitchFamily="34" charset="0"/>
              </a:rPr>
              <a:t>Resource Allocation (</a:t>
            </a:r>
            <a:r>
              <a:rPr lang="en-US" sz="2200" dirty="0" err="1">
                <a:latin typeface="Arial" panose="020B0604020202020204" pitchFamily="34" charset="0"/>
                <a:cs typeface="Arial" panose="020B0604020202020204" pitchFamily="34" charset="0"/>
              </a:rPr>
              <a:t>algo.linkprediction.resourceAllocation</a:t>
            </a:r>
            <a:r>
              <a:rPr lang="en-US" sz="2200" dirty="0">
                <a:latin typeface="Arial" panose="020B0604020202020204" pitchFamily="34" charset="0"/>
                <a:cs typeface="Arial" panose="020B0604020202020204" pitchFamily="34" charset="0"/>
              </a:rPr>
              <a:t>)</a:t>
            </a:r>
          </a:p>
          <a:p>
            <a:pPr marL="539750" indent="-357188">
              <a:lnSpc>
                <a:spcPct val="110000"/>
              </a:lnSpc>
              <a:spcBef>
                <a:spcPts val="600"/>
              </a:spcBef>
              <a:spcAft>
                <a:spcPts val="600"/>
              </a:spcAft>
            </a:pPr>
            <a:r>
              <a:rPr lang="en-US" sz="2200" dirty="0">
                <a:latin typeface="Arial" panose="020B0604020202020204" pitchFamily="34" charset="0"/>
                <a:cs typeface="Arial" panose="020B0604020202020204" pitchFamily="34" charset="0"/>
              </a:rPr>
              <a:t>Same Community (</a:t>
            </a:r>
            <a:r>
              <a:rPr lang="en-US" sz="2200" dirty="0" err="1">
                <a:latin typeface="Arial" panose="020B0604020202020204" pitchFamily="34" charset="0"/>
                <a:cs typeface="Arial" panose="020B0604020202020204" pitchFamily="34" charset="0"/>
              </a:rPr>
              <a:t>algo.linkprediction.sameCommunity</a:t>
            </a:r>
            <a:r>
              <a:rPr lang="en-US" sz="2200" dirty="0">
                <a:latin typeface="Arial" panose="020B0604020202020204" pitchFamily="34" charset="0"/>
                <a:cs typeface="Arial" panose="020B0604020202020204" pitchFamily="34" charset="0"/>
              </a:rPr>
              <a:t>)</a:t>
            </a:r>
          </a:p>
          <a:p>
            <a:pPr marL="539750" indent="-357188">
              <a:lnSpc>
                <a:spcPct val="110000"/>
              </a:lnSpc>
              <a:spcBef>
                <a:spcPts val="600"/>
              </a:spcBef>
              <a:spcAft>
                <a:spcPts val="600"/>
              </a:spcAft>
            </a:pPr>
            <a:r>
              <a:rPr lang="en-US" sz="2200" dirty="0">
                <a:latin typeface="Arial" panose="020B0604020202020204" pitchFamily="34" charset="0"/>
                <a:cs typeface="Arial" panose="020B0604020202020204" pitchFamily="34" charset="0"/>
              </a:rPr>
              <a:t>Total Neighbors (</a:t>
            </a:r>
            <a:r>
              <a:rPr lang="en-US" sz="2200" dirty="0" err="1">
                <a:latin typeface="Arial" panose="020B0604020202020204" pitchFamily="34" charset="0"/>
                <a:cs typeface="Arial" panose="020B0604020202020204" pitchFamily="34" charset="0"/>
              </a:rPr>
              <a:t>algo.linkprediction.totalNeighbors</a:t>
            </a:r>
            <a:r>
              <a:rPr lang="en-US" sz="22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3745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Common Neighbours </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Common neighbors captures the idea that </a:t>
            </a:r>
            <a:r>
              <a:rPr lang="en-US" sz="2200" dirty="0">
                <a:solidFill>
                  <a:srgbClr val="0000FF"/>
                </a:solidFill>
                <a:latin typeface="Arial" panose="020B0604020202020204" pitchFamily="34" charset="0"/>
                <a:cs typeface="Arial" panose="020B0604020202020204" pitchFamily="34" charset="0"/>
              </a:rPr>
              <a:t>two strangers who have a friend in common are more likely to be introduced </a:t>
            </a:r>
            <a:r>
              <a:rPr lang="en-US" sz="2200" dirty="0">
                <a:latin typeface="Arial" panose="020B0604020202020204" pitchFamily="34" charset="0"/>
                <a:cs typeface="Arial" panose="020B0604020202020204" pitchFamily="34" charset="0"/>
              </a:rPr>
              <a:t>than those who don’t have any friends in common.</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It is computed using the following formula:</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common neighbors </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where N(x) is the set of nodes adjacent to node x, and N(y) is the set of nodes adjacent to node y. </a:t>
            </a:r>
            <a:r>
              <a:rPr lang="en-US" sz="2200" dirty="0">
                <a:solidFill>
                  <a:srgbClr val="FF0000"/>
                </a:solidFill>
                <a:latin typeface="Arial" panose="020B0604020202020204" pitchFamily="34" charset="0"/>
                <a:cs typeface="Arial" panose="020B0604020202020204" pitchFamily="34" charset="0"/>
              </a:rPr>
              <a:t>A value of 0 indicates that two nodes are not close, while higher values indicate nodes are closer</a:t>
            </a:r>
            <a:r>
              <a:rPr lang="en-US" sz="2200" dirty="0">
                <a:latin typeface="Arial" panose="020B0604020202020204" pitchFamily="34" charset="0"/>
                <a:cs typeface="Arial" panose="020B0604020202020204" pitchFamily="34" charset="0"/>
              </a:rPr>
              <a:t>.</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The library contains a function to calculate closeness between two nodes.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pic>
        <p:nvPicPr>
          <p:cNvPr id="12" name="Picture 11"/>
          <p:cNvPicPr>
            <a:picLocks noChangeAspect="1"/>
          </p:cNvPicPr>
          <p:nvPr/>
        </p:nvPicPr>
        <p:blipFill>
          <a:blip r:embed="rId3"/>
          <a:stretch>
            <a:fillRect/>
          </a:stretch>
        </p:blipFill>
        <p:spPr>
          <a:xfrm>
            <a:off x="3581400" y="3716504"/>
            <a:ext cx="5943600" cy="676275"/>
          </a:xfrm>
          <a:prstGeom prst="rect">
            <a:avLst/>
          </a:prstGeom>
        </p:spPr>
      </p:pic>
    </p:spTree>
    <p:extLst>
      <p:ext uri="{BB962C8B-B14F-4D97-AF65-F5344CB8AC3E}">
        <p14:creationId xmlns:p14="http://schemas.microsoft.com/office/powerpoint/2010/main" val="493874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Common Neighbours algorithm sample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zhen:Person</a:t>
            </a:r>
            <a:r>
              <a:rPr lang="en-US" sz="2200" dirty="0">
                <a:latin typeface="Arial" panose="020B0604020202020204" pitchFamily="34" charset="0"/>
                <a:cs typeface="Arial" panose="020B0604020202020204" pitchFamily="34" charset="0"/>
              </a:rPr>
              <a:t> {name: "Zhen"})</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praveena:Person</a:t>
            </a:r>
            <a:r>
              <a:rPr lang="en-US" sz="2200" dirty="0">
                <a:latin typeface="Arial" panose="020B0604020202020204" pitchFamily="34" charset="0"/>
                <a:cs typeface="Arial" panose="020B0604020202020204" pitchFamily="34" charset="0"/>
              </a:rPr>
              <a:t> {name: "</a:t>
            </a:r>
            <a:r>
              <a:rPr lang="en-US" sz="2200" dirty="0" err="1">
                <a:latin typeface="Arial" panose="020B0604020202020204" pitchFamily="34" charset="0"/>
                <a:cs typeface="Arial" panose="020B0604020202020204" pitchFamily="34" charset="0"/>
              </a:rPr>
              <a:t>Praveena</a:t>
            </a:r>
            <a:r>
              <a:rPr lang="en-US" sz="2200" dirty="0">
                <a:latin typeface="Arial" panose="020B0604020202020204" pitchFamily="34" charset="0"/>
                <a:cs typeface="Arial" panose="020B0604020202020204" pitchFamily="34" charset="0"/>
              </a:rPr>
              <a:t>"})</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michael:Person</a:t>
            </a:r>
            <a:r>
              <a:rPr lang="en-US" sz="2200" dirty="0">
                <a:latin typeface="Arial" panose="020B0604020202020204" pitchFamily="34" charset="0"/>
                <a:cs typeface="Arial" panose="020B0604020202020204" pitchFamily="34" charset="0"/>
              </a:rPr>
              <a:t> {name: "Michael"})</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arya:Person</a:t>
            </a:r>
            <a:r>
              <a:rPr lang="en-US" sz="2200" dirty="0">
                <a:latin typeface="Arial" panose="020B0604020202020204" pitchFamily="34" charset="0"/>
                <a:cs typeface="Arial" panose="020B0604020202020204" pitchFamily="34" charset="0"/>
              </a:rPr>
              <a:t> {name: "Arya"})</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karin:Person</a:t>
            </a:r>
            <a:r>
              <a:rPr lang="en-US" sz="2200" dirty="0">
                <a:latin typeface="Arial" panose="020B0604020202020204" pitchFamily="34" charset="0"/>
                <a:cs typeface="Arial" panose="020B0604020202020204" pitchFamily="34" charset="0"/>
              </a:rPr>
              <a:t> {name: "Karin"})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6161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Common </a:t>
            </a:r>
            <a:r>
              <a:rPr lang="en-IN" sz="3200" b="1" u="sng" dirty="0" err="1">
                <a:solidFill>
                  <a:srgbClr val="0070C0"/>
                </a:solidFill>
                <a:latin typeface="Arial" panose="020B0604020202020204" pitchFamily="34" charset="0"/>
                <a:cs typeface="Arial" panose="020B0604020202020204" pitchFamily="34" charset="0"/>
              </a:rPr>
              <a:t>Neighbors</a:t>
            </a:r>
            <a:r>
              <a:rPr lang="en-IN" sz="3200" b="1" u="sng" dirty="0">
                <a:solidFill>
                  <a:srgbClr val="0070C0"/>
                </a:solidFill>
                <a:latin typeface="Arial" panose="020B0604020202020204" pitchFamily="34" charset="0"/>
                <a:cs typeface="Arial" panose="020B0604020202020204" pitchFamily="34" charset="0"/>
              </a:rPr>
              <a:t> algorithm sample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zhen</a:t>
            </a:r>
            <a:r>
              <a:rPr lang="en-US" sz="2200" dirty="0">
                <a:latin typeface="Arial" panose="020B0604020202020204" pitchFamily="34" charset="0"/>
                <a:cs typeface="Arial" panose="020B0604020202020204" pitchFamily="34" charset="0"/>
              </a:rPr>
              <a:t>)-[:FRIENDS]-(</a:t>
            </a:r>
            <a:r>
              <a:rPr lang="en-US" sz="2200" dirty="0" err="1">
                <a:latin typeface="Arial" panose="020B0604020202020204" pitchFamily="34" charset="0"/>
                <a:cs typeface="Arial" panose="020B0604020202020204" pitchFamily="34" charset="0"/>
              </a:rPr>
              <a:t>arya</a:t>
            </a:r>
            <a:r>
              <a:rPr lang="en-US" sz="2200" dirty="0">
                <a:latin typeface="Arial" panose="020B0604020202020204" pitchFamily="34" charset="0"/>
                <a:cs typeface="Arial" panose="020B0604020202020204" pitchFamily="34" charset="0"/>
              </a:rPr>
              <a:t>)</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zhen</a:t>
            </a:r>
            <a:r>
              <a:rPr lang="en-US" sz="2200" dirty="0">
                <a:latin typeface="Arial" panose="020B0604020202020204" pitchFamily="34" charset="0"/>
                <a:cs typeface="Arial" panose="020B0604020202020204" pitchFamily="34" charset="0"/>
              </a:rPr>
              <a:t>)-[:FRIENDS]-(</a:t>
            </a:r>
            <a:r>
              <a:rPr lang="en-US" sz="2200" dirty="0" err="1">
                <a:latin typeface="Arial" panose="020B0604020202020204" pitchFamily="34" charset="0"/>
                <a:cs typeface="Arial" panose="020B0604020202020204" pitchFamily="34" charset="0"/>
              </a:rPr>
              <a:t>praveena</a:t>
            </a:r>
            <a:r>
              <a:rPr lang="en-US" sz="2200" dirty="0">
                <a:latin typeface="Arial" panose="020B0604020202020204" pitchFamily="34" charset="0"/>
                <a:cs typeface="Arial" panose="020B0604020202020204" pitchFamily="34" charset="0"/>
              </a:rPr>
              <a:t>)</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praveena</a:t>
            </a:r>
            <a:r>
              <a:rPr lang="en-US" sz="2200" dirty="0">
                <a:latin typeface="Arial" panose="020B0604020202020204" pitchFamily="34" charset="0"/>
                <a:cs typeface="Arial" panose="020B0604020202020204" pitchFamily="34" charset="0"/>
              </a:rPr>
              <a:t>)-[:WORKS_WITH]-(</a:t>
            </a:r>
            <a:r>
              <a:rPr lang="en-US" sz="2200" dirty="0" err="1">
                <a:latin typeface="Arial" panose="020B0604020202020204" pitchFamily="34" charset="0"/>
                <a:cs typeface="Arial" panose="020B0604020202020204" pitchFamily="34" charset="0"/>
              </a:rPr>
              <a:t>karin</a:t>
            </a:r>
            <a:r>
              <a:rPr lang="en-US" sz="2200" dirty="0">
                <a:latin typeface="Arial" panose="020B0604020202020204" pitchFamily="34" charset="0"/>
                <a:cs typeface="Arial" panose="020B0604020202020204" pitchFamily="34" charset="0"/>
              </a:rPr>
              <a:t>)</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praveena</a:t>
            </a:r>
            <a:r>
              <a:rPr lang="en-US" sz="2200" dirty="0">
                <a:latin typeface="Arial" panose="020B0604020202020204" pitchFamily="34" charset="0"/>
                <a:cs typeface="Arial" panose="020B0604020202020204" pitchFamily="34" charset="0"/>
              </a:rPr>
              <a:t>)-[:FRIENDS]-(</a:t>
            </a:r>
            <a:r>
              <a:rPr lang="en-US" sz="2200" dirty="0" err="1">
                <a:latin typeface="Arial" panose="020B0604020202020204" pitchFamily="34" charset="0"/>
                <a:cs typeface="Arial" panose="020B0604020202020204" pitchFamily="34" charset="0"/>
              </a:rPr>
              <a:t>michael</a:t>
            </a:r>
            <a:r>
              <a:rPr lang="en-US" sz="2200" dirty="0">
                <a:latin typeface="Arial" panose="020B0604020202020204" pitchFamily="34" charset="0"/>
                <a:cs typeface="Arial" panose="020B0604020202020204" pitchFamily="34" charset="0"/>
              </a:rPr>
              <a:t>)</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michael</a:t>
            </a:r>
            <a:r>
              <a:rPr lang="en-US" sz="2200" dirty="0">
                <a:latin typeface="Arial" panose="020B0604020202020204" pitchFamily="34" charset="0"/>
                <a:cs typeface="Arial" panose="020B0604020202020204" pitchFamily="34" charset="0"/>
              </a:rPr>
              <a:t>)-[:WORKS_WITH]-(</a:t>
            </a:r>
            <a:r>
              <a:rPr lang="en-US" sz="2200" dirty="0" err="1">
                <a:latin typeface="Arial" panose="020B0604020202020204" pitchFamily="34" charset="0"/>
                <a:cs typeface="Arial" panose="020B0604020202020204" pitchFamily="34" charset="0"/>
              </a:rPr>
              <a:t>karin</a:t>
            </a:r>
            <a:r>
              <a:rPr lang="en-US" sz="2200" dirty="0">
                <a:latin typeface="Arial" panose="020B0604020202020204" pitchFamily="34" charset="0"/>
                <a:cs typeface="Arial" panose="020B0604020202020204" pitchFamily="34" charset="0"/>
              </a:rPr>
              <a:t>)</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MERGE (</a:t>
            </a:r>
            <a:r>
              <a:rPr lang="en-US" sz="2200" dirty="0" err="1">
                <a:latin typeface="Arial" panose="020B0604020202020204" pitchFamily="34" charset="0"/>
                <a:cs typeface="Arial" panose="020B0604020202020204" pitchFamily="34" charset="0"/>
              </a:rPr>
              <a:t>arya</a:t>
            </a:r>
            <a:r>
              <a:rPr lang="en-US" sz="2200" dirty="0">
                <a:latin typeface="Arial" panose="020B0604020202020204" pitchFamily="34" charset="0"/>
                <a:cs typeface="Arial" panose="020B0604020202020204" pitchFamily="34" charset="0"/>
              </a:rPr>
              <a:t>)-[:FRIENDS]-(</a:t>
            </a:r>
            <a:r>
              <a:rPr lang="en-US" sz="2200" dirty="0" err="1">
                <a:latin typeface="Arial" panose="020B0604020202020204" pitchFamily="34" charset="0"/>
                <a:cs typeface="Arial" panose="020B0604020202020204" pitchFamily="34" charset="0"/>
              </a:rPr>
              <a:t>karin</a:t>
            </a:r>
            <a:r>
              <a:rPr lang="en-US" sz="22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9336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Common </a:t>
            </a:r>
            <a:r>
              <a:rPr lang="en-IN" sz="3200" b="1" u="sng" dirty="0" err="1">
                <a:solidFill>
                  <a:srgbClr val="0070C0"/>
                </a:solidFill>
                <a:latin typeface="Arial" panose="020B0604020202020204" pitchFamily="34" charset="0"/>
                <a:cs typeface="Arial" panose="020B0604020202020204" pitchFamily="34" charset="0"/>
              </a:rPr>
              <a:t>Neighbors</a:t>
            </a:r>
            <a:r>
              <a:rPr lang="en-IN" sz="3200" b="1" u="sng" dirty="0">
                <a:solidFill>
                  <a:srgbClr val="0070C0"/>
                </a:solidFill>
                <a:latin typeface="Arial" panose="020B0604020202020204" pitchFamily="34" charset="0"/>
                <a:cs typeface="Arial" panose="020B0604020202020204" pitchFamily="34" charset="0"/>
              </a:rPr>
              <a:t> algorithm sample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MATCH (p1:Person {name: 'Michael'})</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MATCH (p2:Person {name: 'Karin'})</a:t>
            </a:r>
          </a:p>
          <a:p>
            <a:pPr marL="0" indent="0">
              <a:lnSpc>
                <a:spcPct val="110000"/>
              </a:lnSpc>
              <a:spcBef>
                <a:spcPts val="600"/>
              </a:spcBef>
              <a:spcAft>
                <a:spcPts val="1800"/>
              </a:spcAft>
              <a:buNone/>
            </a:pPr>
            <a:r>
              <a:rPr lang="en-US" sz="2200" dirty="0">
                <a:latin typeface="Arial" panose="020B0604020202020204" pitchFamily="34" charset="0"/>
                <a:cs typeface="Arial" panose="020B0604020202020204" pitchFamily="34" charset="0"/>
              </a:rPr>
              <a:t>RETURN </a:t>
            </a:r>
            <a:r>
              <a:rPr lang="en-US" sz="2200" dirty="0" err="1">
                <a:latin typeface="Arial" panose="020B0604020202020204" pitchFamily="34" charset="0"/>
                <a:cs typeface="Arial" panose="020B0604020202020204" pitchFamily="34" charset="0"/>
              </a:rPr>
              <a:t>algo.linkprediction.commonNeighbors</a:t>
            </a:r>
            <a:r>
              <a:rPr lang="en-US" sz="2200" dirty="0">
                <a:latin typeface="Arial" panose="020B0604020202020204" pitchFamily="34" charset="0"/>
                <a:cs typeface="Arial" panose="020B0604020202020204" pitchFamily="34" charset="0"/>
              </a:rPr>
              <a:t>(p1, p2) AS score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356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Web as a Graph</a:t>
            </a:r>
          </a:p>
        </p:txBody>
      </p:sp>
      <p:sp>
        <p:nvSpPr>
          <p:cNvPr id="3" name="Content Placeholder 2"/>
          <p:cNvSpPr>
            <a:spLocks noGrp="1"/>
          </p:cNvSpPr>
          <p:nvPr>
            <p:ph idx="1"/>
          </p:nvPr>
        </p:nvSpPr>
        <p:spPr>
          <a:xfrm>
            <a:off x="838199" y="1690688"/>
            <a:ext cx="10515601" cy="4486275"/>
          </a:xfrm>
        </p:spPr>
        <p:txBody>
          <a:bodyPr>
            <a:noAutofit/>
          </a:bodyPr>
          <a:lstStyle/>
          <a:p>
            <a:pPr>
              <a:lnSpc>
                <a:spcPct val="110000"/>
              </a:lnSpc>
              <a:spcBef>
                <a:spcPts val="600"/>
              </a:spcBef>
              <a:spcAft>
                <a:spcPts val="600"/>
              </a:spcAft>
            </a:pPr>
            <a:r>
              <a:rPr lang="en-US" sz="2300" dirty="0">
                <a:solidFill>
                  <a:srgbClr val="D60093"/>
                </a:solidFill>
                <a:latin typeface="Arial" panose="020B0604020202020204" pitchFamily="34" charset="0"/>
                <a:cs typeface="Arial" panose="020B0604020202020204" pitchFamily="34" charset="0"/>
              </a:rPr>
              <a:t>Web as a directed graph:</a:t>
            </a:r>
          </a:p>
          <a:p>
            <a:pPr lvl="1">
              <a:lnSpc>
                <a:spcPct val="110000"/>
              </a:lnSpc>
              <a:spcBef>
                <a:spcPts val="600"/>
              </a:spcBef>
              <a:spcAft>
                <a:spcPts val="600"/>
              </a:spcAft>
            </a:pPr>
            <a:r>
              <a:rPr lang="en-US" sz="2300" dirty="0">
                <a:solidFill>
                  <a:srgbClr val="0000FF"/>
                </a:solidFill>
                <a:latin typeface="Arial" panose="020B0604020202020204" pitchFamily="34" charset="0"/>
                <a:cs typeface="Arial" panose="020B0604020202020204" pitchFamily="34" charset="0"/>
              </a:rPr>
              <a:t>Nodes: Webpages</a:t>
            </a:r>
          </a:p>
          <a:p>
            <a:pPr lvl="1">
              <a:lnSpc>
                <a:spcPct val="110000"/>
              </a:lnSpc>
              <a:spcBef>
                <a:spcPts val="600"/>
              </a:spcBef>
              <a:spcAft>
                <a:spcPts val="600"/>
              </a:spcAft>
            </a:pPr>
            <a:r>
              <a:rPr lang="en-US" sz="2300" dirty="0">
                <a:solidFill>
                  <a:srgbClr val="0000FF"/>
                </a:solidFill>
                <a:latin typeface="Arial" panose="020B0604020202020204" pitchFamily="34" charset="0"/>
                <a:cs typeface="Arial" panose="020B0604020202020204" pitchFamily="34" charset="0"/>
              </a:rPr>
              <a:t>Edges: Hyperlinks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
        <p:nvSpPr>
          <p:cNvPr id="10" name="Flowchart: Document 9"/>
          <p:cNvSpPr/>
          <p:nvPr/>
        </p:nvSpPr>
        <p:spPr>
          <a:xfrm>
            <a:off x="4317733" y="2495654"/>
            <a:ext cx="1219200" cy="1600200"/>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a:solidFill>
                  <a:schemeClr val="tx1"/>
                </a:solidFill>
              </a:rPr>
              <a:t>I teach a class on Networks.</a:t>
            </a:r>
          </a:p>
        </p:txBody>
      </p:sp>
      <p:sp>
        <p:nvSpPr>
          <p:cNvPr id="11" name="Flowchart: Document 10"/>
          <p:cNvSpPr/>
          <p:nvPr/>
        </p:nvSpPr>
        <p:spPr>
          <a:xfrm>
            <a:off x="6210166" y="3167208"/>
            <a:ext cx="1219200" cy="1857292"/>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a:solidFill>
                  <a:schemeClr val="tx1"/>
                </a:solidFill>
              </a:rPr>
              <a:t>CS224W: Classes are in the </a:t>
            </a:r>
            <a:br>
              <a:rPr lang="en-US" sz="1600" dirty="0">
                <a:solidFill>
                  <a:schemeClr val="tx1"/>
                </a:solidFill>
              </a:rPr>
            </a:br>
            <a:r>
              <a:rPr lang="en-US" sz="1600" dirty="0">
                <a:solidFill>
                  <a:schemeClr val="tx1"/>
                </a:solidFill>
              </a:rPr>
              <a:t>Gates building</a:t>
            </a:r>
            <a:endParaRPr lang="en-US" sz="1600" b="1" dirty="0">
              <a:solidFill>
                <a:schemeClr val="tx1"/>
              </a:solidFill>
            </a:endParaRPr>
          </a:p>
        </p:txBody>
      </p:sp>
      <p:sp>
        <p:nvSpPr>
          <p:cNvPr id="12" name="Flowchart: Document 11"/>
          <p:cNvSpPr/>
          <p:nvPr/>
        </p:nvSpPr>
        <p:spPr>
          <a:xfrm>
            <a:off x="8242167" y="3798321"/>
            <a:ext cx="1219200" cy="1600200"/>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a:solidFill>
                  <a:schemeClr val="tx1"/>
                </a:solidFill>
              </a:rPr>
              <a:t>Computer  Science Department at Stanford</a:t>
            </a:r>
          </a:p>
        </p:txBody>
      </p:sp>
      <p:sp>
        <p:nvSpPr>
          <p:cNvPr id="13" name="Flowchart: Document 12"/>
          <p:cNvSpPr/>
          <p:nvPr/>
        </p:nvSpPr>
        <p:spPr>
          <a:xfrm>
            <a:off x="10134600" y="4430589"/>
            <a:ext cx="1219200" cy="1600200"/>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1600" dirty="0"/>
              <a:t>Stanford University</a:t>
            </a:r>
          </a:p>
        </p:txBody>
      </p:sp>
      <p:cxnSp>
        <p:nvCxnSpPr>
          <p:cNvPr id="6" name="Straight Arrow Connector 5"/>
          <p:cNvCxnSpPr>
            <a:stCxn id="10" idx="3"/>
          </p:cNvCxnSpPr>
          <p:nvPr/>
        </p:nvCxnSpPr>
        <p:spPr>
          <a:xfrm>
            <a:off x="5536933" y="3295754"/>
            <a:ext cx="673233" cy="37235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p:cNvCxnSpPr>
            <a:stCxn id="11" idx="3"/>
          </p:cNvCxnSpPr>
          <p:nvPr/>
        </p:nvCxnSpPr>
        <p:spPr>
          <a:xfrm>
            <a:off x="7429366" y="4095854"/>
            <a:ext cx="812801" cy="3347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p:cNvCxnSpPr/>
          <p:nvPr/>
        </p:nvCxnSpPr>
        <p:spPr>
          <a:xfrm>
            <a:off x="9461367" y="4839340"/>
            <a:ext cx="673233" cy="18516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8472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Web as a Directed Graph</a:t>
            </a:r>
            <a:endParaRPr lang="en-IN" sz="3200" b="1" u="sng" dirty="0">
              <a:solidFill>
                <a:srgbClr val="0070C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pic>
        <p:nvPicPr>
          <p:cNvPr id="10" name="Picture 2"/>
          <p:cNvPicPr>
            <a:picLocks noChangeAspect="1" noChangeArrowheads="1"/>
          </p:cNvPicPr>
          <p:nvPr/>
        </p:nvPicPr>
        <p:blipFill>
          <a:blip r:embed="rId3" cstate="print"/>
          <a:srcRect/>
          <a:stretch>
            <a:fillRect/>
          </a:stretch>
        </p:blipFill>
        <p:spPr bwMode="auto">
          <a:xfrm>
            <a:off x="3004268" y="1690688"/>
            <a:ext cx="6183464" cy="4505094"/>
          </a:xfrm>
          <a:prstGeom prst="rect">
            <a:avLst/>
          </a:prstGeom>
          <a:noFill/>
          <a:ln w="9525">
            <a:noFill/>
            <a:miter lim="800000"/>
            <a:headEnd/>
            <a:tailEnd/>
          </a:ln>
        </p:spPr>
      </p:pic>
    </p:spTree>
    <p:extLst>
      <p:ext uri="{BB962C8B-B14F-4D97-AF65-F5344CB8AC3E}">
        <p14:creationId xmlns:p14="http://schemas.microsoft.com/office/powerpoint/2010/main" val="2645391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Web as a Directed Graph</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690688"/>
            <a:ext cx="10515601" cy="4486275"/>
          </a:xfrm>
        </p:spPr>
        <p:txBody>
          <a:bodyPr>
            <a:noAutofit/>
          </a:bodyPr>
          <a:lstStyle/>
          <a:p>
            <a:pPr>
              <a:lnSpc>
                <a:spcPct val="110000"/>
              </a:lnSpc>
              <a:spcBef>
                <a:spcPts val="0"/>
              </a:spcBef>
              <a:spcAft>
                <a:spcPts val="600"/>
              </a:spcAft>
            </a:pPr>
            <a:r>
              <a:rPr lang="en-US" sz="2300" dirty="0">
                <a:solidFill>
                  <a:srgbClr val="CC0066"/>
                </a:solidFill>
                <a:latin typeface="Arial" panose="020B0604020202020204" pitchFamily="34" charset="0"/>
                <a:cs typeface="Arial" panose="020B0604020202020204" pitchFamily="34" charset="0"/>
              </a:rPr>
              <a:t>How to organize the Web?</a:t>
            </a:r>
          </a:p>
          <a:p>
            <a:pPr>
              <a:lnSpc>
                <a:spcPct val="110000"/>
              </a:lnSpc>
              <a:spcBef>
                <a:spcPts val="0"/>
              </a:spcBef>
              <a:spcAft>
                <a:spcPts val="600"/>
              </a:spcAft>
            </a:pPr>
            <a:r>
              <a:rPr lang="en-US" sz="2300" dirty="0">
                <a:latin typeface="Arial" panose="020B0604020202020204" pitchFamily="34" charset="0"/>
                <a:cs typeface="Arial" panose="020B0604020202020204" pitchFamily="34" charset="0"/>
              </a:rPr>
              <a:t>First try: Human curated</a:t>
            </a:r>
            <a:br>
              <a:rPr lang="en-US" sz="2300" dirty="0">
                <a:latin typeface="Arial" panose="020B0604020202020204" pitchFamily="34" charset="0"/>
                <a:cs typeface="Arial" panose="020B0604020202020204" pitchFamily="34" charset="0"/>
              </a:rPr>
            </a:br>
            <a:r>
              <a:rPr lang="en-US" sz="2300" dirty="0">
                <a:solidFill>
                  <a:srgbClr val="0000FF"/>
                </a:solidFill>
                <a:latin typeface="Arial" panose="020B0604020202020204" pitchFamily="34" charset="0"/>
                <a:cs typeface="Arial" panose="020B0604020202020204" pitchFamily="34" charset="0"/>
              </a:rPr>
              <a:t>Web directories</a:t>
            </a:r>
          </a:p>
          <a:p>
            <a:pPr lvl="1">
              <a:lnSpc>
                <a:spcPct val="110000"/>
              </a:lnSpc>
              <a:spcBef>
                <a:spcPts val="0"/>
              </a:spcBef>
              <a:spcAft>
                <a:spcPts val="600"/>
              </a:spcAft>
            </a:pPr>
            <a:r>
              <a:rPr lang="en-US" sz="2300" dirty="0">
                <a:latin typeface="Arial" panose="020B0604020202020204" pitchFamily="34" charset="0"/>
                <a:cs typeface="Arial" panose="020B0604020202020204" pitchFamily="34" charset="0"/>
              </a:rPr>
              <a:t>Yahoo, DMOZ, </a:t>
            </a:r>
            <a:r>
              <a:rPr lang="en-US" sz="2300" dirty="0" err="1">
                <a:latin typeface="Arial" panose="020B0604020202020204" pitchFamily="34" charset="0"/>
                <a:cs typeface="Arial" panose="020B0604020202020204" pitchFamily="34" charset="0"/>
              </a:rPr>
              <a:t>LookSmart</a:t>
            </a:r>
            <a:endParaRPr lang="en-US" sz="2300" dirty="0">
              <a:latin typeface="Arial" panose="020B0604020202020204" pitchFamily="34" charset="0"/>
              <a:cs typeface="Arial" panose="020B0604020202020204" pitchFamily="34" charset="0"/>
            </a:endParaRPr>
          </a:p>
          <a:p>
            <a:pPr>
              <a:lnSpc>
                <a:spcPct val="110000"/>
              </a:lnSpc>
              <a:spcBef>
                <a:spcPts val="0"/>
              </a:spcBef>
              <a:spcAft>
                <a:spcPts val="600"/>
              </a:spcAft>
            </a:pPr>
            <a:r>
              <a:rPr lang="en-US" sz="2300" dirty="0">
                <a:latin typeface="Arial" panose="020B0604020202020204" pitchFamily="34" charset="0"/>
                <a:cs typeface="Arial" panose="020B0604020202020204" pitchFamily="34" charset="0"/>
              </a:rPr>
              <a:t>Second try: </a:t>
            </a:r>
            <a:r>
              <a:rPr lang="en-US" sz="2300" dirty="0">
                <a:solidFill>
                  <a:srgbClr val="0000FF"/>
                </a:solidFill>
                <a:latin typeface="Arial" panose="020B0604020202020204" pitchFamily="34" charset="0"/>
                <a:cs typeface="Arial" panose="020B0604020202020204" pitchFamily="34" charset="0"/>
              </a:rPr>
              <a:t>Web Search</a:t>
            </a:r>
          </a:p>
          <a:p>
            <a:pPr lvl="1">
              <a:lnSpc>
                <a:spcPct val="110000"/>
              </a:lnSpc>
              <a:spcBef>
                <a:spcPts val="0"/>
              </a:spcBef>
              <a:spcAft>
                <a:spcPts val="600"/>
              </a:spcAft>
            </a:pPr>
            <a:r>
              <a:rPr lang="en-US" sz="2300" dirty="0">
                <a:solidFill>
                  <a:srgbClr val="008000"/>
                </a:solidFill>
                <a:latin typeface="Arial" panose="020B0604020202020204" pitchFamily="34" charset="0"/>
                <a:cs typeface="Arial" panose="020B0604020202020204" pitchFamily="34" charset="0"/>
              </a:rPr>
              <a:t>Information Retrieval </a:t>
            </a:r>
            <a:r>
              <a:rPr lang="en-US" sz="2300" dirty="0">
                <a:latin typeface="Arial" panose="020B0604020202020204" pitchFamily="34" charset="0"/>
                <a:cs typeface="Arial" panose="020B0604020202020204" pitchFamily="34" charset="0"/>
              </a:rPr>
              <a:t>investigates:</a:t>
            </a:r>
            <a:br>
              <a:rPr lang="en-US" sz="2300" dirty="0">
                <a:latin typeface="Arial" panose="020B0604020202020204" pitchFamily="34" charset="0"/>
                <a:cs typeface="Arial" panose="020B0604020202020204" pitchFamily="34" charset="0"/>
              </a:rPr>
            </a:br>
            <a:r>
              <a:rPr lang="en-US" sz="2300" dirty="0">
                <a:solidFill>
                  <a:srgbClr val="0000FF"/>
                </a:solidFill>
                <a:latin typeface="Arial" panose="020B0604020202020204" pitchFamily="34" charset="0"/>
                <a:cs typeface="Arial" panose="020B0604020202020204" pitchFamily="34" charset="0"/>
              </a:rPr>
              <a:t>Find relevant docs in a small and trusted set</a:t>
            </a:r>
          </a:p>
          <a:p>
            <a:pPr lvl="2">
              <a:lnSpc>
                <a:spcPct val="110000"/>
              </a:lnSpc>
              <a:spcBef>
                <a:spcPts val="0"/>
              </a:spcBef>
              <a:spcAft>
                <a:spcPts val="600"/>
              </a:spcAft>
            </a:pPr>
            <a:r>
              <a:rPr lang="en-US" sz="2300" dirty="0">
                <a:latin typeface="Arial" panose="020B0604020202020204" pitchFamily="34" charset="0"/>
                <a:cs typeface="Arial" panose="020B0604020202020204" pitchFamily="34" charset="0"/>
              </a:rPr>
              <a:t>Newspaper articles, Patents, etc.</a:t>
            </a:r>
          </a:p>
          <a:p>
            <a:pPr lvl="1">
              <a:lnSpc>
                <a:spcPct val="110000"/>
              </a:lnSpc>
              <a:spcBef>
                <a:spcPts val="0"/>
              </a:spcBef>
              <a:spcAft>
                <a:spcPts val="600"/>
              </a:spcAft>
            </a:pPr>
            <a:r>
              <a:rPr lang="en-US" sz="2300" u="sng" dirty="0">
                <a:solidFill>
                  <a:srgbClr val="FF0000"/>
                </a:solidFill>
                <a:latin typeface="Arial" panose="020B0604020202020204" pitchFamily="34" charset="0"/>
                <a:cs typeface="Arial" panose="020B0604020202020204" pitchFamily="34" charset="0"/>
              </a:rPr>
              <a:t>But:</a:t>
            </a:r>
            <a:r>
              <a:rPr lang="en-US" sz="2300" dirty="0">
                <a:latin typeface="Arial" panose="020B0604020202020204" pitchFamily="34" charset="0"/>
                <a:cs typeface="Arial" panose="020B0604020202020204" pitchFamily="34" charset="0"/>
              </a:rPr>
              <a:t> Web is huge, full of untrusted documents, random things, web spam, etc.</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7137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Web Search: Challenges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690688"/>
            <a:ext cx="10515601" cy="4486275"/>
          </a:xfrm>
        </p:spPr>
        <p:txBody>
          <a:bodyPr>
            <a:noAutofit/>
          </a:bodyPr>
          <a:lstStyle/>
          <a:p>
            <a:pPr marL="118872" indent="0">
              <a:lnSpc>
                <a:spcPct val="110000"/>
              </a:lnSpc>
              <a:spcBef>
                <a:spcPts val="0"/>
              </a:spcBef>
              <a:spcAft>
                <a:spcPts val="600"/>
              </a:spcAft>
              <a:buNone/>
            </a:pPr>
            <a:r>
              <a:rPr lang="en-US" sz="2400" dirty="0">
                <a:solidFill>
                  <a:srgbClr val="0000FF"/>
                </a:solidFill>
                <a:latin typeface="Arial" panose="020B0604020202020204" pitchFamily="34" charset="0"/>
                <a:cs typeface="Arial" panose="020B0604020202020204" pitchFamily="34" charset="0"/>
              </a:rPr>
              <a:t>2 challenges of web search:</a:t>
            </a:r>
          </a:p>
          <a:p>
            <a:pPr>
              <a:lnSpc>
                <a:spcPct val="110000"/>
              </a:lnSpc>
              <a:spcBef>
                <a:spcPts val="0"/>
              </a:spcBef>
              <a:spcAft>
                <a:spcPts val="600"/>
              </a:spcAft>
            </a:pPr>
            <a:r>
              <a:rPr lang="en-US" sz="2400" dirty="0">
                <a:solidFill>
                  <a:srgbClr val="D60093"/>
                </a:solidFill>
                <a:latin typeface="Arial" panose="020B0604020202020204" pitchFamily="34" charset="0"/>
                <a:cs typeface="Arial" panose="020B0604020202020204" pitchFamily="34" charset="0"/>
              </a:rPr>
              <a:t>(1) Web contains many sources of information</a:t>
            </a:r>
            <a:br>
              <a:rPr lang="en-US" sz="2400" dirty="0">
                <a:solidFill>
                  <a:srgbClr val="D60093"/>
                </a:solidFill>
                <a:latin typeface="Arial" panose="020B0604020202020204" pitchFamily="34" charset="0"/>
                <a:cs typeface="Arial" panose="020B0604020202020204" pitchFamily="34" charset="0"/>
              </a:rPr>
            </a:br>
            <a:r>
              <a:rPr lang="en-US" sz="2400" dirty="0">
                <a:solidFill>
                  <a:srgbClr val="333399"/>
                </a:solidFill>
                <a:latin typeface="Arial" panose="020B0604020202020204" pitchFamily="34" charset="0"/>
                <a:cs typeface="Arial" panose="020B0604020202020204" pitchFamily="34" charset="0"/>
              </a:rPr>
              <a:t>Who to “trust”?</a:t>
            </a:r>
          </a:p>
          <a:p>
            <a:pPr lvl="1">
              <a:lnSpc>
                <a:spcPct val="110000"/>
              </a:lnSpc>
              <a:spcBef>
                <a:spcPts val="0"/>
              </a:spcBef>
              <a:spcAft>
                <a:spcPts val="600"/>
              </a:spcAft>
            </a:pPr>
            <a:r>
              <a:rPr lang="en-US" dirty="0">
                <a:solidFill>
                  <a:srgbClr val="008000"/>
                </a:solidFill>
                <a:latin typeface="Arial" panose="020B0604020202020204" pitchFamily="34" charset="0"/>
                <a:cs typeface="Arial" panose="020B0604020202020204" pitchFamily="34" charset="0"/>
              </a:rPr>
              <a:t>Trick:</a:t>
            </a:r>
            <a:r>
              <a:rPr lang="en-US" dirty="0">
                <a:solidFill>
                  <a:schemeClr val="accent2"/>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Trustworthy pages may point to each other!</a:t>
            </a:r>
          </a:p>
          <a:p>
            <a:pPr lvl="1">
              <a:lnSpc>
                <a:spcPct val="110000"/>
              </a:lnSpc>
              <a:spcBef>
                <a:spcPts val="0"/>
              </a:spcBef>
              <a:spcAft>
                <a:spcPts val="600"/>
              </a:spcAft>
            </a:pPr>
            <a:endParaRPr lang="en-US" dirty="0">
              <a:solidFill>
                <a:schemeClr val="accent2"/>
              </a:solidFill>
              <a:latin typeface="Arial" panose="020B0604020202020204" pitchFamily="34" charset="0"/>
              <a:cs typeface="Arial" panose="020B0604020202020204" pitchFamily="34" charset="0"/>
            </a:endParaRPr>
          </a:p>
          <a:p>
            <a:pPr>
              <a:lnSpc>
                <a:spcPct val="110000"/>
              </a:lnSpc>
              <a:spcBef>
                <a:spcPts val="0"/>
              </a:spcBef>
              <a:spcAft>
                <a:spcPts val="600"/>
              </a:spcAft>
            </a:pPr>
            <a:r>
              <a:rPr lang="en-US" sz="2400" dirty="0">
                <a:solidFill>
                  <a:srgbClr val="D60093"/>
                </a:solidFill>
                <a:latin typeface="Arial" panose="020B0604020202020204" pitchFamily="34" charset="0"/>
                <a:cs typeface="Arial" panose="020B0604020202020204" pitchFamily="34" charset="0"/>
              </a:rPr>
              <a:t>(2) What is the “best” answer to query “newspaper”?</a:t>
            </a:r>
          </a:p>
          <a:p>
            <a:pPr lvl="1">
              <a:lnSpc>
                <a:spcPct val="110000"/>
              </a:lnSpc>
              <a:spcBef>
                <a:spcPts val="0"/>
              </a:spcBef>
              <a:spcAft>
                <a:spcPts val="600"/>
              </a:spcAft>
            </a:pPr>
            <a:r>
              <a:rPr lang="en-US" dirty="0">
                <a:latin typeface="Arial" panose="020B0604020202020204" pitchFamily="34" charset="0"/>
                <a:cs typeface="Arial" panose="020B0604020202020204" pitchFamily="34" charset="0"/>
              </a:rPr>
              <a:t>No single right answer</a:t>
            </a:r>
          </a:p>
          <a:p>
            <a:pPr lvl="1">
              <a:lnSpc>
                <a:spcPct val="110000"/>
              </a:lnSpc>
              <a:spcBef>
                <a:spcPts val="0"/>
              </a:spcBef>
              <a:spcAft>
                <a:spcPts val="600"/>
              </a:spcAft>
            </a:pPr>
            <a:r>
              <a:rPr lang="en-US" dirty="0">
                <a:solidFill>
                  <a:srgbClr val="008000"/>
                </a:solidFill>
                <a:latin typeface="Arial" panose="020B0604020202020204" pitchFamily="34" charset="0"/>
                <a:cs typeface="Arial" panose="020B0604020202020204" pitchFamily="34" charset="0"/>
              </a:rPr>
              <a:t>Trick:</a:t>
            </a:r>
            <a:r>
              <a:rPr lang="en-US" dirty="0">
                <a:solidFill>
                  <a:schemeClr val="accent2"/>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Pages that actually know about newspapers might all be pointing to many newspapers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9143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Ranking Nodes on the Graph</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690688"/>
            <a:ext cx="10515601" cy="4486275"/>
          </a:xfrm>
        </p:spPr>
        <p:txBody>
          <a:bodyPr>
            <a:noAutofit/>
          </a:bodyPr>
          <a:lstStyle/>
          <a:p>
            <a:pPr>
              <a:lnSpc>
                <a:spcPct val="110000"/>
              </a:lnSpc>
              <a:spcBef>
                <a:spcPts val="0"/>
              </a:spcBef>
              <a:spcAft>
                <a:spcPts val="600"/>
              </a:spcAft>
            </a:pPr>
            <a:r>
              <a:rPr lang="en-US" dirty="0">
                <a:solidFill>
                  <a:srgbClr val="D60093"/>
                </a:solidFill>
                <a:latin typeface="Arial" panose="020B0604020202020204" pitchFamily="34" charset="0"/>
                <a:cs typeface="Arial" panose="020B0604020202020204" pitchFamily="34" charset="0"/>
              </a:rPr>
              <a:t>All web pages are not equally “important”</a:t>
            </a:r>
          </a:p>
          <a:p>
            <a:pPr marL="457200" lvl="1" indent="0">
              <a:lnSpc>
                <a:spcPct val="110000"/>
              </a:lnSpc>
              <a:spcBef>
                <a:spcPts val="0"/>
              </a:spcBef>
              <a:spcAft>
                <a:spcPts val="600"/>
              </a:spcAft>
              <a:buNone/>
            </a:pPr>
            <a:r>
              <a:rPr lang="en-US" dirty="0">
                <a:latin typeface="Arial" panose="020B0604020202020204" pitchFamily="34" charset="0"/>
                <a:cs typeface="Arial" panose="020B0604020202020204" pitchFamily="34" charset="0"/>
                <a:hlinkClick r:id="rId2"/>
              </a:rPr>
              <a:t>www.viteee.vit.ac.in</a:t>
            </a:r>
            <a:r>
              <a:rPr lang="en-US" dirty="0">
                <a:latin typeface="Arial" panose="020B0604020202020204" pitchFamily="34" charset="0"/>
                <a:cs typeface="Arial" panose="020B0604020202020204" pitchFamily="34" charset="0"/>
              </a:rPr>
              <a:t> vs. </a:t>
            </a:r>
            <a:r>
              <a:rPr lang="en-US" dirty="0">
                <a:latin typeface="Arial" panose="020B0604020202020204" pitchFamily="34" charset="0"/>
                <a:cs typeface="Arial" panose="020B0604020202020204" pitchFamily="34" charset="0"/>
                <a:hlinkClick r:id="rId3"/>
              </a:rPr>
              <a:t>www.vit.ac.in</a:t>
            </a:r>
            <a:r>
              <a:rPr lang="en-US" dirty="0">
                <a:latin typeface="Arial" panose="020B0604020202020204" pitchFamily="34" charset="0"/>
                <a:cs typeface="Arial" panose="020B0604020202020204" pitchFamily="34" charset="0"/>
              </a:rPr>
              <a:t> </a:t>
            </a:r>
          </a:p>
          <a:p>
            <a:pPr>
              <a:lnSpc>
                <a:spcPct val="110000"/>
              </a:lnSpc>
              <a:spcBef>
                <a:spcPts val="0"/>
              </a:spcBef>
              <a:spcAft>
                <a:spcPts val="600"/>
              </a:spcAft>
            </a:pPr>
            <a:endParaRPr lang="en-US" dirty="0">
              <a:latin typeface="Arial" panose="020B0604020202020204" pitchFamily="34" charset="0"/>
              <a:cs typeface="Arial" panose="020B0604020202020204" pitchFamily="34" charset="0"/>
            </a:endParaRPr>
          </a:p>
          <a:p>
            <a:pPr>
              <a:lnSpc>
                <a:spcPct val="110000"/>
              </a:lnSpc>
              <a:spcBef>
                <a:spcPts val="0"/>
              </a:spcBef>
              <a:spcAft>
                <a:spcPts val="600"/>
              </a:spcAft>
            </a:pPr>
            <a:r>
              <a:rPr lang="en-US" dirty="0">
                <a:latin typeface="Arial" panose="020B0604020202020204" pitchFamily="34" charset="0"/>
                <a:cs typeface="Arial" panose="020B0604020202020204" pitchFamily="34" charset="0"/>
              </a:rPr>
              <a:t>There is large diversity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in the web-graph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node connectivity.</a:t>
            </a:r>
            <a:br>
              <a:rPr lang="en-US" dirty="0">
                <a:latin typeface="Arial" panose="020B0604020202020204" pitchFamily="34" charset="0"/>
                <a:cs typeface="Arial" panose="020B0604020202020204" pitchFamily="34" charset="0"/>
              </a:rPr>
            </a:br>
            <a:r>
              <a:rPr lang="en-US" dirty="0">
                <a:solidFill>
                  <a:srgbClr val="0000FF"/>
                </a:solidFill>
                <a:latin typeface="Arial" panose="020B0604020202020204" pitchFamily="34" charset="0"/>
                <a:cs typeface="Arial" panose="020B0604020202020204" pitchFamily="34" charset="0"/>
              </a:rPr>
              <a:t>Let’s rank the pages by </a:t>
            </a:r>
            <a:br>
              <a:rPr lang="en-US" dirty="0">
                <a:solidFill>
                  <a:srgbClr val="0000FF"/>
                </a:solidFill>
                <a:latin typeface="Arial" panose="020B0604020202020204" pitchFamily="34" charset="0"/>
                <a:cs typeface="Arial" panose="020B0604020202020204" pitchFamily="34" charset="0"/>
              </a:rPr>
            </a:br>
            <a:r>
              <a:rPr lang="en-US" dirty="0">
                <a:solidFill>
                  <a:srgbClr val="0000FF"/>
                </a:solidFill>
                <a:latin typeface="Arial" panose="020B0604020202020204" pitchFamily="34" charset="0"/>
                <a:cs typeface="Arial" panose="020B0604020202020204" pitchFamily="34" charset="0"/>
              </a:rPr>
              <a:t>the link structure!</a:t>
            </a:r>
          </a:p>
        </p:txBody>
      </p:sp>
      <p:pic>
        <p:nvPicPr>
          <p:cNvPr id="4" name="Picture 2" descr="Image result for vit ap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pic>
        <p:nvPicPr>
          <p:cNvPr id="10" name="Picture 7"/>
          <p:cNvPicPr>
            <a:picLocks noChangeAspect="1" noChangeArrowheads="1"/>
          </p:cNvPicPr>
          <p:nvPr/>
        </p:nvPicPr>
        <p:blipFill>
          <a:blip r:embed="rId5" cstate="print"/>
          <a:srcRect/>
          <a:stretch>
            <a:fillRect/>
          </a:stretch>
        </p:blipFill>
        <p:spPr bwMode="auto">
          <a:xfrm>
            <a:off x="7197115" y="2643186"/>
            <a:ext cx="4011485" cy="2995614"/>
          </a:xfrm>
          <a:prstGeom prst="rect">
            <a:avLst/>
          </a:prstGeom>
          <a:noFill/>
          <a:ln w="9525">
            <a:noFill/>
            <a:miter lim="800000"/>
            <a:headEnd/>
            <a:tailEnd/>
          </a:ln>
        </p:spPr>
      </p:pic>
    </p:spTree>
    <p:extLst>
      <p:ext uri="{BB962C8B-B14F-4D97-AF65-F5344CB8AC3E}">
        <p14:creationId xmlns:p14="http://schemas.microsoft.com/office/powerpoint/2010/main" val="68622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Link Analysis Algorithms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690688"/>
            <a:ext cx="10515601" cy="4486275"/>
          </a:xfrm>
        </p:spPr>
        <p:txBody>
          <a:bodyPr>
            <a:noAutofit/>
          </a:bodyPr>
          <a:lstStyle/>
          <a:p>
            <a:pPr>
              <a:lnSpc>
                <a:spcPct val="110000"/>
              </a:lnSpc>
              <a:spcBef>
                <a:spcPts val="600"/>
              </a:spcBef>
              <a:spcAft>
                <a:spcPts val="600"/>
              </a:spcAft>
            </a:pPr>
            <a:r>
              <a:rPr lang="en-US" sz="2400" dirty="0">
                <a:solidFill>
                  <a:srgbClr val="D60093"/>
                </a:solidFill>
                <a:latin typeface="Arial" panose="020B0604020202020204" pitchFamily="34" charset="0"/>
                <a:cs typeface="Arial" panose="020B0604020202020204" pitchFamily="34" charset="0"/>
              </a:rPr>
              <a:t>We will cover the following Link Analysis approaches </a:t>
            </a:r>
            <a:r>
              <a:rPr lang="en-US" sz="2400" dirty="0">
                <a:latin typeface="Arial" panose="020B0604020202020204" pitchFamily="34" charset="0"/>
                <a:cs typeface="Arial" panose="020B0604020202020204" pitchFamily="34" charset="0"/>
              </a:rPr>
              <a:t>for computing </a:t>
            </a:r>
            <a:r>
              <a:rPr lang="en-US" sz="2400" dirty="0">
                <a:solidFill>
                  <a:srgbClr val="0000FF"/>
                </a:solidFill>
                <a:latin typeface="Arial" panose="020B0604020202020204" pitchFamily="34" charset="0"/>
                <a:cs typeface="Arial" panose="020B0604020202020204" pitchFamily="34" charset="0"/>
              </a:rPr>
              <a:t>importance of nodes in a graph</a:t>
            </a:r>
            <a:r>
              <a:rPr lang="en-US" sz="2400" dirty="0">
                <a:latin typeface="Arial" panose="020B0604020202020204" pitchFamily="34" charset="0"/>
                <a:cs typeface="Arial" panose="020B0604020202020204" pitchFamily="34" charset="0"/>
              </a:rPr>
              <a:t>:</a:t>
            </a:r>
            <a:endParaRPr lang="en-US" sz="2400" dirty="0">
              <a:solidFill>
                <a:schemeClr val="accent3"/>
              </a:solidFill>
              <a:latin typeface="Arial" panose="020B0604020202020204" pitchFamily="34" charset="0"/>
              <a:cs typeface="Arial" panose="020B0604020202020204" pitchFamily="34" charset="0"/>
            </a:endParaRPr>
          </a:p>
          <a:p>
            <a:pPr lvl="1">
              <a:lnSpc>
                <a:spcPct val="110000"/>
              </a:lnSpc>
              <a:spcBef>
                <a:spcPts val="600"/>
              </a:spcBef>
              <a:spcAft>
                <a:spcPts val="600"/>
              </a:spcAft>
            </a:pPr>
            <a:r>
              <a:rPr lang="en-US" dirty="0">
                <a:latin typeface="Arial" panose="020B0604020202020204" pitchFamily="34" charset="0"/>
                <a:cs typeface="Arial" panose="020B0604020202020204" pitchFamily="34" charset="0"/>
              </a:rPr>
              <a:t>Page Rank</a:t>
            </a:r>
          </a:p>
          <a:p>
            <a:pPr lvl="1">
              <a:lnSpc>
                <a:spcPct val="110000"/>
              </a:lnSpc>
              <a:spcBef>
                <a:spcPts val="600"/>
              </a:spcBef>
              <a:spcAft>
                <a:spcPts val="600"/>
              </a:spcAft>
            </a:pPr>
            <a:r>
              <a:rPr lang="en-US" dirty="0">
                <a:latin typeface="Arial" panose="020B0604020202020204" pitchFamily="34" charset="0"/>
                <a:cs typeface="Arial" panose="020B0604020202020204" pitchFamily="34" charset="0"/>
              </a:rPr>
              <a:t>Topic-Specific (Personalized) Page Rank</a:t>
            </a:r>
          </a:p>
          <a:p>
            <a:pPr lvl="1">
              <a:lnSpc>
                <a:spcPct val="110000"/>
              </a:lnSpc>
              <a:spcBef>
                <a:spcPts val="600"/>
              </a:spcBef>
              <a:spcAft>
                <a:spcPts val="600"/>
              </a:spcAft>
            </a:pPr>
            <a:r>
              <a:rPr lang="en-US" dirty="0">
                <a:latin typeface="Arial" panose="020B0604020202020204" pitchFamily="34" charset="0"/>
                <a:cs typeface="Arial" panose="020B0604020202020204" pitchFamily="34" charset="0"/>
              </a:rPr>
              <a:t>Web Spam Detection Algorithms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518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Some Problems with PageRank</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690688"/>
            <a:ext cx="10515601" cy="4486275"/>
          </a:xfrm>
        </p:spPr>
        <p:txBody>
          <a:bodyPr>
            <a:noAutofit/>
          </a:bodyPr>
          <a:lstStyle/>
          <a:p>
            <a:pPr>
              <a:lnSpc>
                <a:spcPct val="110000"/>
              </a:lnSpc>
              <a:spcBef>
                <a:spcPts val="0"/>
              </a:spcBef>
              <a:spcAft>
                <a:spcPts val="600"/>
              </a:spcAft>
            </a:pPr>
            <a:r>
              <a:rPr lang="en-US" sz="2400" dirty="0">
                <a:solidFill>
                  <a:srgbClr val="D60093"/>
                </a:solidFill>
                <a:latin typeface="Arial" panose="020B0604020202020204" pitchFamily="34" charset="0"/>
                <a:cs typeface="Arial" panose="020B0604020202020204" pitchFamily="34" charset="0"/>
              </a:rPr>
              <a:t>Measures generic popularity of a page</a:t>
            </a:r>
          </a:p>
          <a:p>
            <a:pPr lvl="1">
              <a:lnSpc>
                <a:spcPct val="110000"/>
              </a:lnSpc>
              <a:spcBef>
                <a:spcPts val="0"/>
              </a:spcBef>
              <a:spcAft>
                <a:spcPts val="600"/>
              </a:spcAft>
            </a:pPr>
            <a:r>
              <a:rPr lang="en-US" dirty="0">
                <a:latin typeface="Arial" panose="020B0604020202020204" pitchFamily="34" charset="0"/>
                <a:cs typeface="Arial" panose="020B0604020202020204" pitchFamily="34" charset="0"/>
              </a:rPr>
              <a:t>Will ignore/miss topic-specific authorities</a:t>
            </a:r>
          </a:p>
          <a:p>
            <a:pPr lvl="1">
              <a:lnSpc>
                <a:spcPct val="110000"/>
              </a:lnSpc>
              <a:spcBef>
                <a:spcPts val="0"/>
              </a:spcBef>
              <a:spcAft>
                <a:spcPts val="600"/>
              </a:spcAft>
            </a:pPr>
            <a:r>
              <a:rPr lang="en-US" dirty="0">
                <a:solidFill>
                  <a:srgbClr val="008000"/>
                </a:solidFill>
                <a:latin typeface="Arial" panose="020B0604020202020204" pitchFamily="34" charset="0"/>
                <a:cs typeface="Arial" panose="020B0604020202020204" pitchFamily="34" charset="0"/>
              </a:rPr>
              <a:t>Solution:</a:t>
            </a:r>
            <a:r>
              <a:rPr lang="en-US" dirty="0">
                <a:latin typeface="Arial" panose="020B0604020202020204" pitchFamily="34" charset="0"/>
                <a:cs typeface="Arial" panose="020B0604020202020204" pitchFamily="34" charset="0"/>
              </a:rPr>
              <a:t> Topic-Specific PageRank (next)</a:t>
            </a:r>
          </a:p>
          <a:p>
            <a:pPr>
              <a:lnSpc>
                <a:spcPct val="110000"/>
              </a:lnSpc>
              <a:spcBef>
                <a:spcPts val="0"/>
              </a:spcBef>
              <a:spcAft>
                <a:spcPts val="600"/>
              </a:spcAft>
            </a:pPr>
            <a:r>
              <a:rPr lang="en-US" sz="2400" dirty="0">
                <a:solidFill>
                  <a:srgbClr val="D60093"/>
                </a:solidFill>
                <a:latin typeface="Arial" panose="020B0604020202020204" pitchFamily="34" charset="0"/>
                <a:cs typeface="Arial" panose="020B0604020202020204" pitchFamily="34" charset="0"/>
              </a:rPr>
              <a:t>Uses a single measure of importance</a:t>
            </a:r>
          </a:p>
          <a:p>
            <a:pPr lvl="1">
              <a:lnSpc>
                <a:spcPct val="110000"/>
              </a:lnSpc>
              <a:spcBef>
                <a:spcPts val="0"/>
              </a:spcBef>
              <a:spcAft>
                <a:spcPts val="600"/>
              </a:spcAft>
            </a:pPr>
            <a:r>
              <a:rPr lang="en-US" dirty="0">
                <a:latin typeface="Arial" panose="020B0604020202020204" pitchFamily="34" charset="0"/>
                <a:cs typeface="Arial" panose="020B0604020202020204" pitchFamily="34" charset="0"/>
              </a:rPr>
              <a:t>Other models of importance</a:t>
            </a:r>
            <a:endParaRPr lang="en-US" dirty="0">
              <a:solidFill>
                <a:srgbClr val="0000FF"/>
              </a:solidFill>
              <a:latin typeface="Arial" panose="020B0604020202020204" pitchFamily="34" charset="0"/>
              <a:cs typeface="Arial" panose="020B0604020202020204" pitchFamily="34" charset="0"/>
            </a:endParaRPr>
          </a:p>
          <a:p>
            <a:pPr lvl="1">
              <a:lnSpc>
                <a:spcPct val="110000"/>
              </a:lnSpc>
              <a:spcBef>
                <a:spcPts val="0"/>
              </a:spcBef>
              <a:spcAft>
                <a:spcPts val="600"/>
              </a:spcAft>
            </a:pPr>
            <a:r>
              <a:rPr lang="en-US" dirty="0">
                <a:solidFill>
                  <a:srgbClr val="008000"/>
                </a:solidFill>
                <a:latin typeface="Arial" panose="020B0604020202020204" pitchFamily="34" charset="0"/>
                <a:cs typeface="Arial" panose="020B0604020202020204" pitchFamily="34" charset="0"/>
              </a:rPr>
              <a:t>Solution: </a:t>
            </a:r>
            <a:r>
              <a:rPr lang="en-US" dirty="0">
                <a:latin typeface="Arial" panose="020B0604020202020204" pitchFamily="34" charset="0"/>
                <a:cs typeface="Arial" panose="020B0604020202020204" pitchFamily="34" charset="0"/>
              </a:rPr>
              <a:t>Hubs-and-Authorities</a:t>
            </a:r>
          </a:p>
          <a:p>
            <a:pPr>
              <a:lnSpc>
                <a:spcPct val="110000"/>
              </a:lnSpc>
              <a:spcBef>
                <a:spcPts val="0"/>
              </a:spcBef>
              <a:spcAft>
                <a:spcPts val="600"/>
              </a:spcAft>
            </a:pPr>
            <a:r>
              <a:rPr lang="en-US" sz="2400" dirty="0">
                <a:solidFill>
                  <a:srgbClr val="D60093"/>
                </a:solidFill>
                <a:latin typeface="Arial" panose="020B0604020202020204" pitchFamily="34" charset="0"/>
                <a:cs typeface="Arial" panose="020B0604020202020204" pitchFamily="34" charset="0"/>
              </a:rPr>
              <a:t>Susceptible to Link spam</a:t>
            </a:r>
          </a:p>
          <a:p>
            <a:pPr lvl="1">
              <a:lnSpc>
                <a:spcPct val="110000"/>
              </a:lnSpc>
              <a:spcBef>
                <a:spcPts val="0"/>
              </a:spcBef>
              <a:spcAft>
                <a:spcPts val="600"/>
              </a:spcAft>
            </a:pPr>
            <a:r>
              <a:rPr lang="en-US" dirty="0">
                <a:latin typeface="Arial" panose="020B0604020202020204" pitchFamily="34" charset="0"/>
                <a:cs typeface="Arial" panose="020B0604020202020204" pitchFamily="34" charset="0"/>
              </a:rPr>
              <a:t>Artificial link topographies created in order to boost page rank</a:t>
            </a:r>
          </a:p>
          <a:p>
            <a:pPr lvl="1">
              <a:lnSpc>
                <a:spcPct val="110000"/>
              </a:lnSpc>
              <a:spcBef>
                <a:spcPts val="0"/>
              </a:spcBef>
              <a:spcAft>
                <a:spcPts val="600"/>
              </a:spcAft>
            </a:pPr>
            <a:r>
              <a:rPr lang="en-US" dirty="0">
                <a:solidFill>
                  <a:srgbClr val="008000"/>
                </a:solidFill>
                <a:latin typeface="Arial" panose="020B0604020202020204" pitchFamily="34" charset="0"/>
                <a:cs typeface="Arial" panose="020B0604020202020204" pitchFamily="34" charset="0"/>
              </a:rPr>
              <a:t>Solution: </a:t>
            </a:r>
            <a:r>
              <a:rPr lang="en-US" dirty="0" err="1">
                <a:latin typeface="Arial" panose="020B0604020202020204" pitchFamily="34" charset="0"/>
                <a:cs typeface="Arial" panose="020B0604020202020204" pitchFamily="34" charset="0"/>
              </a:rPr>
              <a:t>TrustRank</a:t>
            </a:r>
            <a:endParaRPr lang="en-US" dirty="0">
              <a:latin typeface="Arial" panose="020B0604020202020204" pitchFamily="34" charset="0"/>
              <a:cs typeface="Arial" panose="020B0604020202020204" pitchFamily="34" charset="0"/>
            </a:endParaRPr>
          </a:p>
          <a:p>
            <a:pPr lvl="1">
              <a:lnSpc>
                <a:spcPct val="110000"/>
              </a:lnSpc>
              <a:spcBef>
                <a:spcPts val="0"/>
              </a:spcBef>
              <a:spcAft>
                <a:spcPts val="600"/>
              </a:spcAft>
            </a:pPr>
            <a:endParaRPr lang="en-US"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6821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Topic-Specific PageRank</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690688"/>
            <a:ext cx="10515601" cy="4486275"/>
          </a:xfrm>
        </p:spPr>
        <p:txBody>
          <a:bodyPr>
            <a:noAutofit/>
          </a:bodyPr>
          <a:lstStyle/>
          <a:p>
            <a:pPr>
              <a:lnSpc>
                <a:spcPct val="110000"/>
              </a:lnSpc>
              <a:spcBef>
                <a:spcPts val="600"/>
              </a:spcBef>
              <a:spcAft>
                <a:spcPts val="600"/>
              </a:spcAft>
            </a:pPr>
            <a:r>
              <a:rPr lang="en-US" sz="2400" dirty="0">
                <a:solidFill>
                  <a:srgbClr val="D60093"/>
                </a:solidFill>
                <a:latin typeface="Arial" panose="020B0604020202020204" pitchFamily="34" charset="0"/>
                <a:cs typeface="Arial" panose="020B0604020202020204" pitchFamily="34" charset="0"/>
              </a:rPr>
              <a:t>Instead of generic popularity, can we measure popularity within a topic?</a:t>
            </a:r>
          </a:p>
          <a:p>
            <a:pPr>
              <a:lnSpc>
                <a:spcPct val="110000"/>
              </a:lnSpc>
              <a:spcBef>
                <a:spcPts val="600"/>
              </a:spcBef>
              <a:spcAft>
                <a:spcPts val="600"/>
              </a:spcAft>
            </a:pPr>
            <a:r>
              <a:rPr lang="en-US" sz="2400" dirty="0">
                <a:solidFill>
                  <a:srgbClr val="008000"/>
                </a:solidFill>
                <a:latin typeface="Arial" panose="020B0604020202020204" pitchFamily="34" charset="0"/>
                <a:cs typeface="Arial" panose="020B0604020202020204" pitchFamily="34" charset="0"/>
              </a:rPr>
              <a:t>Goal:</a:t>
            </a:r>
            <a:r>
              <a:rPr lang="en-US" sz="2400" dirty="0">
                <a:latin typeface="Arial" panose="020B0604020202020204" pitchFamily="34" charset="0"/>
                <a:cs typeface="Arial" panose="020B0604020202020204" pitchFamily="34" charset="0"/>
              </a:rPr>
              <a:t> Evaluate Web pages not just according to their popularity, but by how close they are to a particular topic, e.g. “sports” or “history”</a:t>
            </a:r>
          </a:p>
          <a:p>
            <a:pPr>
              <a:lnSpc>
                <a:spcPct val="110000"/>
              </a:lnSpc>
              <a:spcBef>
                <a:spcPts val="600"/>
              </a:spcBef>
              <a:spcAft>
                <a:spcPts val="600"/>
              </a:spcAft>
            </a:pPr>
            <a:r>
              <a:rPr lang="en-US" sz="2400" dirty="0">
                <a:solidFill>
                  <a:srgbClr val="0000FF"/>
                </a:solidFill>
                <a:latin typeface="Arial" panose="020B0604020202020204" pitchFamily="34" charset="0"/>
                <a:cs typeface="Arial" panose="020B0604020202020204" pitchFamily="34" charset="0"/>
              </a:rPr>
              <a:t>Allows search queries to be answered based on interests of the user</a:t>
            </a:r>
          </a:p>
          <a:p>
            <a:pPr lvl="1">
              <a:lnSpc>
                <a:spcPct val="110000"/>
              </a:lnSpc>
              <a:spcBef>
                <a:spcPts val="600"/>
              </a:spcBef>
              <a:spcAft>
                <a:spcPts val="600"/>
              </a:spcAft>
            </a:pPr>
            <a:r>
              <a:rPr lang="en-US" dirty="0">
                <a:solidFill>
                  <a:srgbClr val="D60093"/>
                </a:solidFill>
                <a:latin typeface="Arial" panose="020B0604020202020204" pitchFamily="34" charset="0"/>
                <a:cs typeface="Arial" panose="020B0604020202020204" pitchFamily="34" charset="0"/>
              </a:rPr>
              <a:t>Example:</a:t>
            </a:r>
            <a:r>
              <a:rPr lang="en-US" dirty="0">
                <a:latin typeface="Arial" panose="020B0604020202020204" pitchFamily="34" charset="0"/>
                <a:cs typeface="Arial" panose="020B0604020202020204" pitchFamily="34" charset="0"/>
              </a:rPr>
              <a:t> Query “Trojan” wants different pages depending on whether you are interested in sports, history and computer security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0274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Topic-Specific PageRank</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199" y="1690688"/>
            <a:ext cx="10515601" cy="4486275"/>
          </a:xfrm>
        </p:spPr>
        <p:txBody>
          <a:bodyPr>
            <a:noAutofit/>
          </a:bodyPr>
          <a:lstStyle/>
          <a:p>
            <a:pPr>
              <a:lnSpc>
                <a:spcPct val="110000"/>
              </a:lnSpc>
              <a:spcBef>
                <a:spcPts val="0"/>
              </a:spcBef>
              <a:spcAft>
                <a:spcPts val="600"/>
              </a:spcAft>
            </a:pPr>
            <a:r>
              <a:rPr lang="en-US" sz="2200" dirty="0">
                <a:latin typeface="Arial" panose="020B0604020202020204" pitchFamily="34" charset="0"/>
                <a:cs typeface="Arial" panose="020B0604020202020204" pitchFamily="34" charset="0"/>
              </a:rPr>
              <a:t>Random walker has a small probability of teleporting at any step</a:t>
            </a:r>
          </a:p>
          <a:p>
            <a:pPr>
              <a:lnSpc>
                <a:spcPct val="110000"/>
              </a:lnSpc>
              <a:spcBef>
                <a:spcPts val="0"/>
              </a:spcBef>
              <a:spcAft>
                <a:spcPts val="600"/>
              </a:spcAft>
            </a:pPr>
            <a:r>
              <a:rPr lang="en-US" sz="2200" dirty="0">
                <a:solidFill>
                  <a:srgbClr val="FF0066"/>
                </a:solidFill>
                <a:latin typeface="Arial" panose="020B0604020202020204" pitchFamily="34" charset="0"/>
                <a:cs typeface="Arial" panose="020B0604020202020204" pitchFamily="34" charset="0"/>
              </a:rPr>
              <a:t>Teleport can go to:</a:t>
            </a:r>
          </a:p>
          <a:p>
            <a:pPr lvl="1">
              <a:lnSpc>
                <a:spcPct val="110000"/>
              </a:lnSpc>
              <a:spcBef>
                <a:spcPts val="0"/>
              </a:spcBef>
              <a:spcAft>
                <a:spcPts val="600"/>
              </a:spcAft>
            </a:pPr>
            <a:r>
              <a:rPr lang="en-US" sz="2200" dirty="0">
                <a:solidFill>
                  <a:srgbClr val="0000FF"/>
                </a:solidFill>
                <a:latin typeface="Arial" panose="020B0604020202020204" pitchFamily="34" charset="0"/>
                <a:cs typeface="Arial" panose="020B0604020202020204" pitchFamily="34" charset="0"/>
              </a:rPr>
              <a:t>Standard PageRank: </a:t>
            </a:r>
            <a:r>
              <a:rPr lang="en-US" sz="2200" dirty="0">
                <a:latin typeface="Arial" panose="020B0604020202020204" pitchFamily="34" charset="0"/>
                <a:cs typeface="Arial" panose="020B0604020202020204" pitchFamily="34" charset="0"/>
              </a:rPr>
              <a:t>Any page with equal probability</a:t>
            </a:r>
          </a:p>
          <a:p>
            <a:pPr lvl="2">
              <a:lnSpc>
                <a:spcPct val="110000"/>
              </a:lnSpc>
              <a:spcBef>
                <a:spcPts val="0"/>
              </a:spcBef>
              <a:spcAft>
                <a:spcPts val="600"/>
              </a:spcAft>
            </a:pPr>
            <a:r>
              <a:rPr lang="en-US" sz="2200" dirty="0">
                <a:latin typeface="Arial" panose="020B0604020202020204" pitchFamily="34" charset="0"/>
                <a:cs typeface="Arial" panose="020B0604020202020204" pitchFamily="34" charset="0"/>
              </a:rPr>
              <a:t>To avoid dead-end and spider-trap problems</a:t>
            </a:r>
          </a:p>
          <a:p>
            <a:pPr lvl="1">
              <a:lnSpc>
                <a:spcPct val="110000"/>
              </a:lnSpc>
              <a:spcBef>
                <a:spcPts val="0"/>
              </a:spcBef>
              <a:spcAft>
                <a:spcPts val="600"/>
              </a:spcAft>
            </a:pPr>
            <a:r>
              <a:rPr lang="en-US" sz="2200" dirty="0">
                <a:solidFill>
                  <a:srgbClr val="0000FF"/>
                </a:solidFill>
                <a:latin typeface="Arial" panose="020B0604020202020204" pitchFamily="34" charset="0"/>
                <a:cs typeface="Arial" panose="020B0604020202020204" pitchFamily="34" charset="0"/>
              </a:rPr>
              <a:t>Topic Specific PageRank: </a:t>
            </a:r>
            <a:r>
              <a:rPr lang="en-US" sz="2200" dirty="0">
                <a:latin typeface="Arial" panose="020B0604020202020204" pitchFamily="34" charset="0"/>
                <a:cs typeface="Arial" panose="020B0604020202020204" pitchFamily="34" charset="0"/>
              </a:rPr>
              <a:t>A topic-specific set of “relevant” pages</a:t>
            </a:r>
          </a:p>
          <a:p>
            <a:pPr>
              <a:lnSpc>
                <a:spcPct val="110000"/>
              </a:lnSpc>
              <a:spcBef>
                <a:spcPts val="0"/>
              </a:spcBef>
              <a:spcAft>
                <a:spcPts val="600"/>
              </a:spcAft>
            </a:pPr>
            <a:r>
              <a:rPr lang="en-US" sz="2200" dirty="0">
                <a:solidFill>
                  <a:srgbClr val="D60093"/>
                </a:solidFill>
                <a:latin typeface="Arial" panose="020B0604020202020204" pitchFamily="34" charset="0"/>
                <a:cs typeface="Arial" panose="020B0604020202020204" pitchFamily="34" charset="0"/>
              </a:rPr>
              <a:t>Idea: Bias the random walk</a:t>
            </a:r>
          </a:p>
          <a:p>
            <a:pPr lvl="1">
              <a:lnSpc>
                <a:spcPct val="110000"/>
              </a:lnSpc>
              <a:spcBef>
                <a:spcPts val="0"/>
              </a:spcBef>
              <a:spcAft>
                <a:spcPts val="600"/>
              </a:spcAft>
            </a:pPr>
            <a:r>
              <a:rPr lang="en-US" sz="2200" dirty="0">
                <a:latin typeface="Arial" panose="020B0604020202020204" pitchFamily="34" charset="0"/>
                <a:cs typeface="Arial" panose="020B0604020202020204" pitchFamily="34" charset="0"/>
              </a:rPr>
              <a:t>When walker teleports, she pick a page from a set </a:t>
            </a:r>
            <a:r>
              <a:rPr lang="en-US" sz="2200" i="1" dirty="0">
                <a:latin typeface="Arial" panose="020B0604020202020204" pitchFamily="34" charset="0"/>
                <a:cs typeface="Arial" panose="020B0604020202020204" pitchFamily="34" charset="0"/>
              </a:rPr>
              <a:t>S</a:t>
            </a:r>
            <a:endParaRPr lang="en-US" sz="2200" dirty="0">
              <a:latin typeface="Arial" panose="020B0604020202020204" pitchFamily="34" charset="0"/>
              <a:cs typeface="Arial" panose="020B0604020202020204" pitchFamily="34" charset="0"/>
            </a:endParaRPr>
          </a:p>
          <a:p>
            <a:pPr lvl="1">
              <a:lnSpc>
                <a:spcPct val="110000"/>
              </a:lnSpc>
              <a:spcBef>
                <a:spcPts val="0"/>
              </a:spcBef>
              <a:spcAft>
                <a:spcPts val="600"/>
              </a:spcAft>
            </a:pPr>
            <a:r>
              <a:rPr lang="en-US" sz="2200" i="1" dirty="0">
                <a:latin typeface="Arial" panose="020B0604020202020204" pitchFamily="34" charset="0"/>
                <a:cs typeface="Arial" panose="020B0604020202020204" pitchFamily="34" charset="0"/>
              </a:rPr>
              <a:t>S</a:t>
            </a:r>
            <a:r>
              <a:rPr lang="en-US" sz="2200" dirty="0">
                <a:latin typeface="Arial" panose="020B0604020202020204" pitchFamily="34" charset="0"/>
                <a:cs typeface="Arial" panose="020B0604020202020204" pitchFamily="34" charset="0"/>
              </a:rPr>
              <a:t> contains only pages that are relevant to the topic</a:t>
            </a:r>
          </a:p>
          <a:p>
            <a:pPr lvl="2">
              <a:lnSpc>
                <a:spcPct val="110000"/>
              </a:lnSpc>
              <a:spcBef>
                <a:spcPts val="0"/>
              </a:spcBef>
              <a:spcAft>
                <a:spcPts val="600"/>
              </a:spcAft>
            </a:pPr>
            <a:r>
              <a:rPr lang="en-US" sz="2200" dirty="0">
                <a:latin typeface="Arial" panose="020B0604020202020204" pitchFamily="34" charset="0"/>
                <a:cs typeface="Arial" panose="020B0604020202020204" pitchFamily="34" charset="0"/>
              </a:rPr>
              <a:t>E.g., Open Directory (DMOZ) pages for a given topic/query</a:t>
            </a:r>
          </a:p>
          <a:p>
            <a:pPr lvl="1">
              <a:lnSpc>
                <a:spcPct val="110000"/>
              </a:lnSpc>
              <a:spcBef>
                <a:spcPts val="0"/>
              </a:spcBef>
              <a:spcAft>
                <a:spcPts val="600"/>
              </a:spcAft>
            </a:pPr>
            <a:r>
              <a:rPr lang="en-US" sz="2200" dirty="0">
                <a:latin typeface="Arial" panose="020B0604020202020204" pitchFamily="34" charset="0"/>
                <a:cs typeface="Arial" panose="020B0604020202020204" pitchFamily="34" charset="0"/>
              </a:rPr>
              <a:t>For each teleport set </a:t>
            </a:r>
            <a:r>
              <a:rPr lang="en-US" sz="2200" i="1" dirty="0">
                <a:latin typeface="Arial" panose="020B0604020202020204" pitchFamily="34" charset="0"/>
                <a:cs typeface="Arial" panose="020B0604020202020204" pitchFamily="34" charset="0"/>
              </a:rPr>
              <a:t>S</a:t>
            </a:r>
            <a:r>
              <a:rPr lang="en-US" sz="2200" dirty="0">
                <a:latin typeface="Arial" panose="020B0604020202020204" pitchFamily="34" charset="0"/>
                <a:cs typeface="Arial" panose="020B0604020202020204" pitchFamily="34" charset="0"/>
              </a:rPr>
              <a:t>, we get a different vector </a:t>
            </a:r>
            <a:r>
              <a:rPr lang="en-US" sz="2200" i="1" dirty="0" err="1">
                <a:latin typeface="Arial" panose="020B0604020202020204" pitchFamily="34" charset="0"/>
                <a:cs typeface="Arial" panose="020B0604020202020204" pitchFamily="34" charset="0"/>
              </a:rPr>
              <a:t>r</a:t>
            </a:r>
            <a:r>
              <a:rPr lang="en-US" sz="2200" i="1" baseline="-25000" dirty="0" err="1">
                <a:latin typeface="Arial" panose="020B0604020202020204" pitchFamily="34" charset="0"/>
                <a:cs typeface="Arial" panose="020B0604020202020204" pitchFamily="34" charset="0"/>
              </a:rPr>
              <a:t>S</a:t>
            </a:r>
            <a:endParaRPr lang="en-US" sz="2200" i="1" baseline="-25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5158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Matrix Formulation</a:t>
            </a:r>
            <a:endParaRPr lang="en-IN" sz="3200" b="1" u="sng" dirty="0">
              <a:solidFill>
                <a:srgbClr val="0070C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690688"/>
                <a:ext cx="10515601" cy="4486275"/>
              </a:xfrm>
            </p:spPr>
            <p:txBody>
              <a:bodyPr>
                <a:noAutofit/>
              </a:bodyPr>
              <a:lstStyle/>
              <a:p>
                <a:pPr>
                  <a:lnSpc>
                    <a:spcPct val="110000"/>
                  </a:lnSpc>
                  <a:spcBef>
                    <a:spcPts val="0"/>
                  </a:spcBef>
                </a:pPr>
                <a:r>
                  <a:rPr lang="en-US" sz="2400" dirty="0">
                    <a:solidFill>
                      <a:srgbClr val="008000"/>
                    </a:solidFill>
                    <a:latin typeface="Arial" panose="020B0604020202020204" pitchFamily="34" charset="0"/>
                    <a:cs typeface="Arial" panose="020B0604020202020204" pitchFamily="34" charset="0"/>
                  </a:rPr>
                  <a:t>To make this work all we need is to update the teleportation part of the PageRank formulation: </a:t>
                </a:r>
              </a:p>
              <a:p>
                <a:pPr lvl="2">
                  <a:lnSpc>
                    <a:spcPct val="110000"/>
                  </a:lnSpc>
                  <a:spcBef>
                    <a:spcPts val="0"/>
                  </a:spcBef>
                  <a:buNone/>
                </a:pPr>
                <a14:m>
                  <m:oMath xmlns:m="http://schemas.openxmlformats.org/officeDocument/2006/math">
                    <m:r>
                      <a:rPr lang="en-US" sz="2400" b="0" i="1" dirty="0">
                        <a:latin typeface="Cambria Math"/>
                        <a:cs typeface="Times New Roman" pitchFamily="18" charset="0"/>
                        <a:sym typeface="Symbol"/>
                      </a:rPr>
                      <m:t>𝐴</m:t>
                    </m:r>
                    <m:r>
                      <a:rPr lang="en-US" sz="2400" b="0" i="1" baseline="-25000" dirty="0" err="1">
                        <a:latin typeface="Cambria Math"/>
                        <a:cs typeface="Times New Roman" pitchFamily="18" charset="0"/>
                        <a:sym typeface="Symbol"/>
                      </a:rPr>
                      <m:t>𝑖𝑗</m:t>
                    </m:r>
                    <m:r>
                      <a:rPr lang="en-US" sz="2400" b="0" i="1" dirty="0">
                        <a:latin typeface="Cambria Math"/>
                        <a:cs typeface="Times New Roman" pitchFamily="18" charset="0"/>
                        <a:sym typeface="Symbol"/>
                      </a:rPr>
                      <m:t> =     </m:t>
                    </m:r>
                    <m:r>
                      <a:rPr lang="en-US" sz="2400" b="0" i="1" dirty="0">
                        <a:latin typeface="Cambria Math"/>
                        <a:cs typeface="Times New Roman" pitchFamily="18" charset="0"/>
                        <a:sym typeface="Symbol"/>
                      </a:rPr>
                      <m:t>𝛽</m:t>
                    </m:r>
                    <m:r>
                      <a:rPr lang="en-US" sz="2400" b="0" i="1" dirty="0">
                        <a:latin typeface="Cambria Math"/>
                        <a:cs typeface="Times New Roman" pitchFamily="18" charset="0"/>
                        <a:sym typeface="Symbol"/>
                      </a:rPr>
                      <m:t> </m:t>
                    </m:r>
                    <m:sSub>
                      <m:sSubPr>
                        <m:ctrlPr>
                          <a:rPr lang="en-US" sz="2400" i="1" dirty="0">
                            <a:latin typeface="Cambria Math" panose="02040503050406030204" pitchFamily="18" charset="0"/>
                            <a:cs typeface="Times New Roman" pitchFamily="18" charset="0"/>
                          </a:rPr>
                        </m:ctrlPr>
                      </m:sSubPr>
                      <m:e>
                        <m:r>
                          <a:rPr lang="en-US" sz="2400" b="0" i="1" dirty="0">
                            <a:latin typeface="Cambria Math"/>
                            <a:cs typeface="Times New Roman" pitchFamily="18" charset="0"/>
                          </a:rPr>
                          <m:t>𝑀</m:t>
                        </m:r>
                      </m:e>
                      <m:sub>
                        <m:r>
                          <a:rPr lang="en-US" sz="2400" b="0" i="1" dirty="0">
                            <a:latin typeface="Cambria Math"/>
                            <a:cs typeface="Times New Roman" pitchFamily="18" charset="0"/>
                          </a:rPr>
                          <m:t>𝑖𝑗</m:t>
                        </m:r>
                      </m:sub>
                    </m:sSub>
                    <m:r>
                      <a:rPr lang="en-US" sz="2400" b="0" i="1" dirty="0">
                        <a:latin typeface="Cambria Math"/>
                        <a:cs typeface="Times New Roman" pitchFamily="18" charset="0"/>
                      </a:rPr>
                      <m:t>+</m:t>
                    </m:r>
                    <m:r>
                      <a:rPr lang="en-US" sz="2400" b="0" i="1" dirty="0">
                        <a:solidFill>
                          <a:srgbClr val="0000FF"/>
                        </a:solidFill>
                        <a:latin typeface="Cambria Math"/>
                        <a:cs typeface="Times New Roman" pitchFamily="18" charset="0"/>
                      </a:rPr>
                      <m:t>(1−</m:t>
                    </m:r>
                    <m:r>
                      <a:rPr lang="en-US" sz="2400" b="0" i="1" dirty="0">
                        <a:solidFill>
                          <a:srgbClr val="0000FF"/>
                        </a:solidFill>
                        <a:latin typeface="Cambria Math"/>
                        <a:cs typeface="Times New Roman" pitchFamily="18" charset="0"/>
                      </a:rPr>
                      <m:t>𝛽</m:t>
                    </m:r>
                    <m:r>
                      <a:rPr lang="en-US" sz="2400" b="0" i="1" dirty="0">
                        <a:solidFill>
                          <a:srgbClr val="0000FF"/>
                        </a:solidFill>
                        <a:latin typeface="Cambria Math"/>
                        <a:cs typeface="Times New Roman" pitchFamily="18" charset="0"/>
                      </a:rPr>
                      <m:t>)/|</m:t>
                    </m:r>
                    <m:r>
                      <a:rPr lang="en-US" sz="2400" b="0" i="1" dirty="0">
                        <a:solidFill>
                          <a:srgbClr val="0000FF"/>
                        </a:solidFill>
                        <a:latin typeface="Cambria Math"/>
                        <a:cs typeface="Times New Roman" pitchFamily="18" charset="0"/>
                        <a:sym typeface="Symbol"/>
                      </a:rPr>
                      <m:t>𝑆</m:t>
                    </m:r>
                    <m:r>
                      <a:rPr lang="en-US" sz="2400" b="0" i="1" dirty="0">
                        <a:solidFill>
                          <a:srgbClr val="0000FF"/>
                        </a:solidFill>
                        <a:latin typeface="Cambria Math"/>
                        <a:cs typeface="Times New Roman" pitchFamily="18" charset="0"/>
                        <a:sym typeface="Symbol"/>
                      </a:rPr>
                      <m:t>|</m:t>
                    </m:r>
                  </m:oMath>
                </a14:m>
                <a:r>
                  <a:rPr lang="en-US" sz="2400" dirty="0">
                    <a:solidFill>
                      <a:srgbClr val="0000FF"/>
                    </a:solidFill>
                    <a:latin typeface="Arial" panose="020B0604020202020204" pitchFamily="34" charset="0"/>
                    <a:cs typeface="Arial" panose="020B0604020202020204" pitchFamily="34" charset="0"/>
                    <a:sym typeface="Symbol"/>
                  </a:rPr>
                  <a:t>     </a:t>
                </a:r>
                <a:r>
                  <a:rPr lang="en-US" sz="2400" dirty="0">
                    <a:latin typeface="Arial" panose="020B0604020202020204" pitchFamily="34" charset="0"/>
                    <a:cs typeface="Arial" panose="020B0604020202020204" pitchFamily="34" charset="0"/>
                    <a:sym typeface="Symbol"/>
                  </a:rPr>
                  <a:t>if </a:t>
                </a:r>
                <a14:m>
                  <m:oMath xmlns:m="http://schemas.openxmlformats.org/officeDocument/2006/math">
                    <m:r>
                      <a:rPr lang="en-US" sz="2400" b="0" i="1" dirty="0">
                        <a:latin typeface="Cambria Math"/>
                        <a:sym typeface="Symbol"/>
                      </a:rPr>
                      <m:t>𝑖</m:t>
                    </m:r>
                    <m:r>
                      <a:rPr lang="en-US" sz="2400" b="0" i="1" dirty="0">
                        <a:latin typeface="Cambria Math"/>
                        <a:sym typeface="Symbol"/>
                      </a:rPr>
                      <m:t>∈ </m:t>
                    </m:r>
                    <m:r>
                      <a:rPr lang="en-US" sz="2400" b="0" i="1" dirty="0">
                        <a:latin typeface="Cambria Math"/>
                        <a:sym typeface="Symbol"/>
                      </a:rPr>
                      <m:t>𝑆</m:t>
                    </m:r>
                  </m:oMath>
                </a14:m>
                <a:endParaRPr lang="en-US" sz="2400" dirty="0">
                  <a:latin typeface="Arial" panose="020B0604020202020204" pitchFamily="34" charset="0"/>
                  <a:cs typeface="Arial" panose="020B0604020202020204" pitchFamily="34" charset="0"/>
                  <a:sym typeface="Symbol"/>
                </a:endParaRPr>
              </a:p>
              <a:p>
                <a:pPr lvl="2">
                  <a:lnSpc>
                    <a:spcPct val="110000"/>
                  </a:lnSpc>
                  <a:spcBef>
                    <a:spcPts val="0"/>
                  </a:spcBef>
                  <a:buNone/>
                </a:pPr>
                <a:r>
                  <a:rPr lang="en-US" sz="2400" i="1" dirty="0">
                    <a:latin typeface="Arial" panose="020B0604020202020204" pitchFamily="34" charset="0"/>
                    <a:cs typeface="Arial" panose="020B0604020202020204" pitchFamily="34" charset="0"/>
                  </a:rPr>
                  <a:t>	      </a:t>
                </a:r>
                <a14:m>
                  <m:oMath xmlns:m="http://schemas.openxmlformats.org/officeDocument/2006/math">
                    <m:r>
                      <a:rPr lang="en-US" sz="2400" b="0" i="1" dirty="0">
                        <a:latin typeface="Cambria Math"/>
                        <a:cs typeface="Times New Roman" pitchFamily="18" charset="0"/>
                      </a:rPr>
                      <m:t>        </m:t>
                    </m:r>
                    <m:r>
                      <a:rPr lang="en-US" sz="2400" b="0" i="1" dirty="0">
                        <a:latin typeface="Cambria Math"/>
                        <a:cs typeface="Times New Roman" pitchFamily="18" charset="0"/>
                      </a:rPr>
                      <m:t>𝛽</m:t>
                    </m:r>
                    <m:r>
                      <a:rPr lang="en-US" sz="2400" b="0" i="1" dirty="0">
                        <a:latin typeface="Cambria Math"/>
                        <a:cs typeface="Times New Roman" pitchFamily="18" charset="0"/>
                      </a:rPr>
                      <m:t> </m:t>
                    </m:r>
                    <m:sSub>
                      <m:sSubPr>
                        <m:ctrlPr>
                          <a:rPr lang="en-US" sz="2400" i="1" dirty="0">
                            <a:latin typeface="Cambria Math" panose="02040503050406030204" pitchFamily="18" charset="0"/>
                            <a:cs typeface="Times New Roman" pitchFamily="18" charset="0"/>
                          </a:rPr>
                        </m:ctrlPr>
                      </m:sSubPr>
                      <m:e>
                        <m:r>
                          <a:rPr lang="en-US" sz="2400" b="0" i="1" dirty="0">
                            <a:latin typeface="Cambria Math"/>
                            <a:cs typeface="Times New Roman" pitchFamily="18" charset="0"/>
                          </a:rPr>
                          <m:t>𝑀</m:t>
                        </m:r>
                      </m:e>
                      <m:sub>
                        <m:r>
                          <a:rPr lang="en-US" sz="2400" b="0" i="1" dirty="0">
                            <a:latin typeface="Cambria Math"/>
                            <a:cs typeface="Times New Roman" pitchFamily="18" charset="0"/>
                          </a:rPr>
                          <m:t>𝑖𝑗</m:t>
                        </m:r>
                      </m:sub>
                    </m:sSub>
                    <m:r>
                      <a:rPr lang="en-US" sz="2400" b="0" i="1" dirty="0">
                        <a:latin typeface="Cambria Math"/>
                        <a:cs typeface="Times New Roman" pitchFamily="18" charset="0"/>
                      </a:rPr>
                      <m:t>+0</m:t>
                    </m:r>
                  </m:oMath>
                </a14:m>
                <a:r>
                  <a:rPr lang="en-US" sz="2400" i="1" baseline="-25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sym typeface="Symbol"/>
                  </a:rPr>
                  <a:t>otherwise</a:t>
                </a:r>
              </a:p>
              <a:p>
                <a:pPr lvl="1">
                  <a:lnSpc>
                    <a:spcPct val="110000"/>
                  </a:lnSpc>
                  <a:spcBef>
                    <a:spcPts val="0"/>
                  </a:spcBef>
                </a:pPr>
                <a:r>
                  <a:rPr lang="en-US" i="1" dirty="0">
                    <a:latin typeface="Arial" panose="020B0604020202020204" pitchFamily="34" charset="0"/>
                    <a:cs typeface="Arial" panose="020B0604020202020204" pitchFamily="34" charset="0"/>
                  </a:rPr>
                  <a:t>A</a:t>
                </a:r>
                <a:r>
                  <a:rPr lang="en-US" dirty="0">
                    <a:latin typeface="Arial" panose="020B0604020202020204" pitchFamily="34" charset="0"/>
                    <a:cs typeface="Arial" panose="020B0604020202020204" pitchFamily="34" charset="0"/>
                  </a:rPr>
                  <a:t> is stochastic!</a:t>
                </a:r>
              </a:p>
              <a:p>
                <a:pPr>
                  <a:lnSpc>
                    <a:spcPct val="110000"/>
                  </a:lnSpc>
                  <a:spcBef>
                    <a:spcPts val="1200"/>
                  </a:spcBef>
                </a:pPr>
                <a:r>
                  <a:rPr lang="en-US" sz="2400" dirty="0">
                    <a:latin typeface="Arial" panose="020B0604020202020204" pitchFamily="34" charset="0"/>
                    <a:cs typeface="Arial" panose="020B0604020202020204" pitchFamily="34" charset="0"/>
                  </a:rPr>
                  <a:t>We weighted all pages in the teleport set </a:t>
                </a:r>
                <a:r>
                  <a:rPr lang="en-US" sz="2400" i="1" dirty="0">
                    <a:solidFill>
                      <a:srgbClr val="0000FF"/>
                    </a:solidFill>
                    <a:latin typeface="Arial" panose="020B0604020202020204" pitchFamily="34" charset="0"/>
                    <a:cs typeface="Arial" panose="020B0604020202020204" pitchFamily="34" charset="0"/>
                  </a:rPr>
                  <a:t>S</a:t>
                </a:r>
                <a:r>
                  <a:rPr lang="en-US" sz="2400" dirty="0">
                    <a:latin typeface="Arial" panose="020B0604020202020204" pitchFamily="34" charset="0"/>
                    <a:cs typeface="Arial" panose="020B0604020202020204" pitchFamily="34" charset="0"/>
                  </a:rPr>
                  <a:t> equally</a:t>
                </a:r>
              </a:p>
              <a:p>
                <a:pPr lvl="1">
                  <a:lnSpc>
                    <a:spcPct val="110000"/>
                  </a:lnSpc>
                  <a:spcBef>
                    <a:spcPts val="0"/>
                  </a:spcBef>
                </a:pPr>
                <a:r>
                  <a:rPr lang="en-US" dirty="0">
                    <a:solidFill>
                      <a:srgbClr val="D60093"/>
                    </a:solidFill>
                    <a:latin typeface="Arial" panose="020B0604020202020204" pitchFamily="34" charset="0"/>
                    <a:cs typeface="Arial" panose="020B0604020202020204" pitchFamily="34" charset="0"/>
                  </a:rPr>
                  <a:t>Could also assign different weights to pages!</a:t>
                </a:r>
              </a:p>
              <a:p>
                <a:pPr>
                  <a:lnSpc>
                    <a:spcPct val="110000"/>
                  </a:lnSpc>
                  <a:spcBef>
                    <a:spcPts val="1200"/>
                  </a:spcBef>
                </a:pPr>
                <a:r>
                  <a:rPr lang="pt-BR" sz="2400" dirty="0">
                    <a:solidFill>
                      <a:srgbClr val="D60093"/>
                    </a:solidFill>
                    <a:latin typeface="Arial" panose="020B0604020202020204" pitchFamily="34" charset="0"/>
                    <a:cs typeface="Arial" panose="020B0604020202020204" pitchFamily="34" charset="0"/>
                  </a:rPr>
                  <a:t>Compute as for regular PageRank:</a:t>
                </a:r>
              </a:p>
              <a:p>
                <a:pPr lvl="1">
                  <a:lnSpc>
                    <a:spcPct val="110000"/>
                  </a:lnSpc>
                  <a:spcBef>
                    <a:spcPts val="0"/>
                  </a:spcBef>
                </a:pPr>
                <a:r>
                  <a:rPr lang="en-US" dirty="0">
                    <a:latin typeface="Arial" panose="020B0604020202020204" pitchFamily="34" charset="0"/>
                    <a:cs typeface="Arial" panose="020B0604020202020204" pitchFamily="34" charset="0"/>
                  </a:rPr>
                  <a:t>Multiply by </a:t>
                </a:r>
                <a:r>
                  <a:rPr lang="en-US" i="1" dirty="0">
                    <a:latin typeface="Arial" panose="020B0604020202020204" pitchFamily="34" charset="0"/>
                    <a:cs typeface="Arial" panose="020B0604020202020204" pitchFamily="34" charset="0"/>
                  </a:rPr>
                  <a:t>M</a:t>
                </a:r>
                <a:r>
                  <a:rPr lang="en-US" dirty="0">
                    <a:latin typeface="Arial" panose="020B0604020202020204" pitchFamily="34" charset="0"/>
                    <a:cs typeface="Arial" panose="020B0604020202020204" pitchFamily="34" charset="0"/>
                  </a:rPr>
                  <a:t>, then add a vector</a:t>
                </a:r>
              </a:p>
              <a:p>
                <a:pPr lvl="1">
                  <a:lnSpc>
                    <a:spcPct val="110000"/>
                  </a:lnSpc>
                  <a:spcBef>
                    <a:spcPts val="0"/>
                  </a:spcBef>
                </a:pPr>
                <a:r>
                  <a:rPr lang="en-US" dirty="0">
                    <a:latin typeface="Arial" panose="020B0604020202020204" pitchFamily="34" charset="0"/>
                    <a:cs typeface="Arial" panose="020B0604020202020204" pitchFamily="34" charset="0"/>
                  </a:rPr>
                  <a:t>Maintains sparseness</a:t>
                </a:r>
                <a:endParaRPr lang="en-US" dirty="0">
                  <a:solidFill>
                    <a:schemeClr val="accent3"/>
                  </a:solidFill>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690688"/>
                <a:ext cx="10515601" cy="4486275"/>
              </a:xfrm>
              <a:blipFill>
                <a:blip r:embed="rId2"/>
                <a:stretch>
                  <a:fillRect l="-753" t="-815" b="-2446"/>
                </a:stretch>
              </a:blipFill>
            </p:spPr>
            <p:txBody>
              <a:bodyPr/>
              <a:lstStyle/>
              <a:p>
                <a:r>
                  <a:rPr lang="en-IN">
                    <a:noFill/>
                  </a:rPr>
                  <a:t> </a:t>
                </a:r>
              </a:p>
            </p:txBody>
          </p:sp>
        </mc:Fallback>
      </mc:AlternateContent>
      <p:pic>
        <p:nvPicPr>
          <p:cNvPr id="4" name="Picture 2" descr="Image result for vit ap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6080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Example: Topic-Specific PageRank</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26</a:t>
            </a:fld>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3"/>
          <a:stretch>
            <a:fillRect/>
          </a:stretch>
        </p:blipFill>
        <p:spPr>
          <a:xfrm>
            <a:off x="838200" y="1690688"/>
            <a:ext cx="2343150" cy="2647950"/>
          </a:xfrm>
          <a:prstGeom prst="rect">
            <a:avLst/>
          </a:prstGeom>
        </p:spPr>
      </p:pic>
      <p:sp>
        <p:nvSpPr>
          <p:cNvPr id="19" name="TextBox 18"/>
          <p:cNvSpPr txBox="1"/>
          <p:nvPr/>
        </p:nvSpPr>
        <p:spPr>
          <a:xfrm>
            <a:off x="8362275" y="1690688"/>
            <a:ext cx="2991525" cy="2554545"/>
          </a:xfrm>
          <a:prstGeom prst="rect">
            <a:avLst/>
          </a:prstGeom>
          <a:noFill/>
        </p:spPr>
        <p:txBody>
          <a:bodyPr wrap="none" rtlCol="0">
            <a:spAutoFit/>
          </a:bodyPr>
          <a:lstStyle/>
          <a:p>
            <a:r>
              <a:rPr lang="en-US" sz="2000" dirty="0">
                <a:solidFill>
                  <a:srgbClr val="008000"/>
                </a:solidFill>
                <a:latin typeface="Arial" pitchFamily="34" charset="0"/>
                <a:cs typeface="Arial" pitchFamily="34" charset="0"/>
              </a:rPr>
              <a:t>S={1,2,3,4},  </a:t>
            </a:r>
            <a:r>
              <a:rPr lang="el-GR" sz="2000" dirty="0">
                <a:solidFill>
                  <a:srgbClr val="008000"/>
                </a:solidFill>
                <a:latin typeface="Arial" pitchFamily="34" charset="0"/>
                <a:cs typeface="Arial" pitchFamily="34" charset="0"/>
              </a:rPr>
              <a:t>β</a:t>
            </a:r>
            <a:r>
              <a:rPr lang="en-US" sz="2000" dirty="0">
                <a:solidFill>
                  <a:srgbClr val="008000"/>
                </a:solidFill>
                <a:latin typeface="Arial" pitchFamily="34" charset="0"/>
                <a:cs typeface="Arial" pitchFamily="34" charset="0"/>
              </a:rPr>
              <a:t>=0.8:</a:t>
            </a:r>
          </a:p>
          <a:p>
            <a:r>
              <a:rPr lang="en-US" sz="2000" dirty="0">
                <a:solidFill>
                  <a:srgbClr val="008000"/>
                </a:solidFill>
                <a:latin typeface="Arial" pitchFamily="34" charset="0"/>
                <a:cs typeface="Arial" pitchFamily="34" charset="0"/>
              </a:rPr>
              <a:t>r=[0.13, 0.10, 0.39, 0.36]</a:t>
            </a:r>
          </a:p>
          <a:p>
            <a:r>
              <a:rPr lang="en-US" sz="2000" dirty="0">
                <a:solidFill>
                  <a:srgbClr val="008000"/>
                </a:solidFill>
                <a:latin typeface="Arial" pitchFamily="34" charset="0"/>
                <a:cs typeface="Arial" pitchFamily="34" charset="0"/>
              </a:rPr>
              <a:t>S={1,2,3} ,  </a:t>
            </a:r>
            <a:r>
              <a:rPr lang="el-GR" sz="2000" dirty="0">
                <a:solidFill>
                  <a:srgbClr val="008000"/>
                </a:solidFill>
                <a:latin typeface="Arial" pitchFamily="34" charset="0"/>
                <a:cs typeface="Arial" pitchFamily="34" charset="0"/>
              </a:rPr>
              <a:t>β</a:t>
            </a:r>
            <a:r>
              <a:rPr lang="en-US" sz="2000" dirty="0">
                <a:solidFill>
                  <a:srgbClr val="008000"/>
                </a:solidFill>
                <a:latin typeface="Arial" pitchFamily="34" charset="0"/>
                <a:cs typeface="Arial" pitchFamily="34" charset="0"/>
              </a:rPr>
              <a:t>=0.8:</a:t>
            </a:r>
          </a:p>
          <a:p>
            <a:r>
              <a:rPr lang="en-US" sz="2000" dirty="0">
                <a:solidFill>
                  <a:srgbClr val="008000"/>
                </a:solidFill>
                <a:latin typeface="Arial" pitchFamily="34" charset="0"/>
                <a:cs typeface="Arial" pitchFamily="34" charset="0"/>
              </a:rPr>
              <a:t>r=[0.17, 0.13, 0.38, 0.30]</a:t>
            </a:r>
          </a:p>
          <a:p>
            <a:r>
              <a:rPr lang="en-US" sz="2000" dirty="0">
                <a:solidFill>
                  <a:srgbClr val="008000"/>
                </a:solidFill>
                <a:latin typeface="Arial" pitchFamily="34" charset="0"/>
                <a:cs typeface="Arial" pitchFamily="34" charset="0"/>
              </a:rPr>
              <a:t>S={1,2} ,  </a:t>
            </a:r>
            <a:r>
              <a:rPr lang="el-GR" sz="2000" dirty="0">
                <a:solidFill>
                  <a:srgbClr val="008000"/>
                </a:solidFill>
                <a:latin typeface="Arial" pitchFamily="34" charset="0"/>
                <a:cs typeface="Arial" pitchFamily="34" charset="0"/>
              </a:rPr>
              <a:t>β</a:t>
            </a:r>
            <a:r>
              <a:rPr lang="en-US" sz="2000" dirty="0">
                <a:solidFill>
                  <a:srgbClr val="008000"/>
                </a:solidFill>
                <a:latin typeface="Arial" pitchFamily="34" charset="0"/>
                <a:cs typeface="Arial" pitchFamily="34" charset="0"/>
              </a:rPr>
              <a:t>=0.8:</a:t>
            </a:r>
          </a:p>
          <a:p>
            <a:r>
              <a:rPr lang="en-US" sz="2000" dirty="0">
                <a:solidFill>
                  <a:srgbClr val="008000"/>
                </a:solidFill>
                <a:latin typeface="Arial" pitchFamily="34" charset="0"/>
                <a:cs typeface="Arial" pitchFamily="34" charset="0"/>
              </a:rPr>
              <a:t>r=[0.26, 0.20, 0.29, 0.23]</a:t>
            </a:r>
          </a:p>
          <a:p>
            <a:r>
              <a:rPr lang="en-US" sz="2000" dirty="0">
                <a:solidFill>
                  <a:srgbClr val="008000"/>
                </a:solidFill>
                <a:latin typeface="Arial" pitchFamily="34" charset="0"/>
                <a:cs typeface="Arial" pitchFamily="34" charset="0"/>
              </a:rPr>
              <a:t>S={1} ,  </a:t>
            </a:r>
            <a:r>
              <a:rPr lang="el-GR" sz="2000" dirty="0">
                <a:solidFill>
                  <a:srgbClr val="008000"/>
                </a:solidFill>
                <a:latin typeface="Arial" pitchFamily="34" charset="0"/>
                <a:cs typeface="Arial" pitchFamily="34" charset="0"/>
              </a:rPr>
              <a:t>β</a:t>
            </a:r>
            <a:r>
              <a:rPr lang="en-US" sz="2000" dirty="0">
                <a:solidFill>
                  <a:srgbClr val="008000"/>
                </a:solidFill>
                <a:latin typeface="Arial" pitchFamily="34" charset="0"/>
                <a:cs typeface="Arial" pitchFamily="34" charset="0"/>
              </a:rPr>
              <a:t>=0.8:</a:t>
            </a:r>
          </a:p>
          <a:p>
            <a:r>
              <a:rPr lang="en-US" sz="2000" dirty="0">
                <a:solidFill>
                  <a:srgbClr val="008000"/>
                </a:solidFill>
                <a:latin typeface="Arial" pitchFamily="34" charset="0"/>
                <a:cs typeface="Arial" pitchFamily="34" charset="0"/>
              </a:rPr>
              <a:t>r=[0.29, 0.11, 0.32, 0.26]</a:t>
            </a:r>
          </a:p>
        </p:txBody>
      </p:sp>
      <p:sp>
        <p:nvSpPr>
          <p:cNvPr id="20" name="TextBox 19"/>
          <p:cNvSpPr txBox="1"/>
          <p:nvPr/>
        </p:nvSpPr>
        <p:spPr>
          <a:xfrm>
            <a:off x="8362275" y="4245233"/>
            <a:ext cx="2991525" cy="1938992"/>
          </a:xfrm>
          <a:prstGeom prst="rect">
            <a:avLst/>
          </a:prstGeom>
          <a:noFill/>
        </p:spPr>
        <p:txBody>
          <a:bodyPr wrap="none" rtlCol="0">
            <a:spAutoFit/>
          </a:bodyPr>
          <a:lstStyle/>
          <a:p>
            <a:r>
              <a:rPr lang="en-US" sz="2000" dirty="0">
                <a:solidFill>
                  <a:srgbClr val="008000"/>
                </a:solidFill>
                <a:latin typeface="Arial" pitchFamily="34" charset="0"/>
                <a:cs typeface="Arial" pitchFamily="34" charset="0"/>
              </a:rPr>
              <a:t>S={1},  </a:t>
            </a:r>
            <a:r>
              <a:rPr lang="el-GR" sz="2000" dirty="0">
                <a:solidFill>
                  <a:srgbClr val="008000"/>
                </a:solidFill>
                <a:latin typeface="Arial" pitchFamily="34" charset="0"/>
                <a:cs typeface="Arial" pitchFamily="34" charset="0"/>
              </a:rPr>
              <a:t>β</a:t>
            </a:r>
            <a:r>
              <a:rPr lang="en-US" sz="2000" dirty="0">
                <a:solidFill>
                  <a:srgbClr val="008000"/>
                </a:solidFill>
                <a:latin typeface="Arial" pitchFamily="34" charset="0"/>
                <a:cs typeface="Arial" pitchFamily="34" charset="0"/>
              </a:rPr>
              <a:t>=0.90:</a:t>
            </a:r>
          </a:p>
          <a:p>
            <a:r>
              <a:rPr lang="en-US" sz="2000" dirty="0">
                <a:solidFill>
                  <a:srgbClr val="008000"/>
                </a:solidFill>
                <a:latin typeface="Arial" pitchFamily="34" charset="0"/>
                <a:cs typeface="Arial" pitchFamily="34" charset="0"/>
              </a:rPr>
              <a:t>r=[0.17, 0.07, 0.40, 0.36]</a:t>
            </a:r>
          </a:p>
          <a:p>
            <a:r>
              <a:rPr lang="en-US" sz="2000" dirty="0">
                <a:solidFill>
                  <a:srgbClr val="008000"/>
                </a:solidFill>
                <a:latin typeface="Arial" pitchFamily="34" charset="0"/>
                <a:cs typeface="Arial" pitchFamily="34" charset="0"/>
              </a:rPr>
              <a:t>S={1} ,  </a:t>
            </a:r>
            <a:r>
              <a:rPr lang="el-GR" sz="2000" dirty="0">
                <a:solidFill>
                  <a:srgbClr val="008000"/>
                </a:solidFill>
                <a:latin typeface="Arial" pitchFamily="34" charset="0"/>
                <a:cs typeface="Arial" pitchFamily="34" charset="0"/>
              </a:rPr>
              <a:t>β</a:t>
            </a:r>
            <a:r>
              <a:rPr lang="en-US" sz="2000" dirty="0">
                <a:solidFill>
                  <a:srgbClr val="008000"/>
                </a:solidFill>
                <a:latin typeface="Arial" pitchFamily="34" charset="0"/>
                <a:cs typeface="Arial" pitchFamily="34" charset="0"/>
              </a:rPr>
              <a:t>=0.8:</a:t>
            </a:r>
          </a:p>
          <a:p>
            <a:r>
              <a:rPr lang="en-US" sz="2000" dirty="0">
                <a:solidFill>
                  <a:srgbClr val="008000"/>
                </a:solidFill>
                <a:latin typeface="Arial" pitchFamily="34" charset="0"/>
                <a:cs typeface="Arial" pitchFamily="34" charset="0"/>
              </a:rPr>
              <a:t>r=[0.29, 0.11, 0.32, 0.26]</a:t>
            </a:r>
          </a:p>
          <a:p>
            <a:r>
              <a:rPr lang="en-US" sz="2000" dirty="0">
                <a:solidFill>
                  <a:srgbClr val="008000"/>
                </a:solidFill>
                <a:latin typeface="Arial" pitchFamily="34" charset="0"/>
                <a:cs typeface="Arial" pitchFamily="34" charset="0"/>
              </a:rPr>
              <a:t>S={1},  </a:t>
            </a:r>
            <a:r>
              <a:rPr lang="el-GR" sz="2000" dirty="0">
                <a:solidFill>
                  <a:srgbClr val="008000"/>
                </a:solidFill>
                <a:latin typeface="Arial" pitchFamily="34" charset="0"/>
                <a:cs typeface="Arial" pitchFamily="34" charset="0"/>
              </a:rPr>
              <a:t>β</a:t>
            </a:r>
            <a:r>
              <a:rPr lang="en-US" sz="2000" dirty="0">
                <a:solidFill>
                  <a:srgbClr val="008000"/>
                </a:solidFill>
                <a:latin typeface="Arial" pitchFamily="34" charset="0"/>
                <a:cs typeface="Arial" pitchFamily="34" charset="0"/>
              </a:rPr>
              <a:t>=0.70:</a:t>
            </a:r>
          </a:p>
          <a:p>
            <a:r>
              <a:rPr lang="en-US" sz="2000" dirty="0">
                <a:solidFill>
                  <a:srgbClr val="008000"/>
                </a:solidFill>
                <a:latin typeface="Arial" pitchFamily="34" charset="0"/>
                <a:cs typeface="Arial" pitchFamily="34" charset="0"/>
              </a:rPr>
              <a:t>r=[0.39, 0.14, 0.27, 0.19]</a:t>
            </a:r>
          </a:p>
        </p:txBody>
      </p:sp>
      <p:sp>
        <p:nvSpPr>
          <p:cNvPr id="21" name="Text Box 12"/>
          <p:cNvSpPr txBox="1">
            <a:spLocks noChangeArrowheads="1"/>
          </p:cNvSpPr>
          <p:nvPr/>
        </p:nvSpPr>
        <p:spPr bwMode="auto">
          <a:xfrm>
            <a:off x="3581400" y="1690688"/>
            <a:ext cx="3116559" cy="461665"/>
          </a:xfrm>
          <a:prstGeom prst="rect">
            <a:avLst/>
          </a:prstGeom>
          <a:noFill/>
          <a:ln w="9525">
            <a:noFill/>
            <a:miter lim="800000"/>
            <a:headEnd/>
            <a:tailEnd/>
          </a:ln>
          <a:effectLst/>
        </p:spPr>
        <p:txBody>
          <a:bodyPr wrap="none">
            <a:spAutoFit/>
          </a:bodyPr>
          <a:lstStyle/>
          <a:p>
            <a:r>
              <a:rPr lang="en-US" sz="2400" dirty="0">
                <a:latin typeface="Calibri" pitchFamily="34" charset="0"/>
                <a:cs typeface="Calibri" pitchFamily="34" charset="0"/>
              </a:rPr>
              <a:t>Suppose </a:t>
            </a:r>
            <a:r>
              <a:rPr lang="en-US" sz="2400" b="1" i="1" dirty="0">
                <a:solidFill>
                  <a:srgbClr val="FF0066"/>
                </a:solidFill>
                <a:latin typeface="Calibri" pitchFamily="34" charset="0"/>
                <a:cs typeface="Calibri" pitchFamily="34" charset="0"/>
              </a:rPr>
              <a:t>S</a:t>
            </a:r>
            <a:r>
              <a:rPr lang="en-US" sz="2400" b="1" dirty="0">
                <a:solidFill>
                  <a:srgbClr val="FF0066"/>
                </a:solidFill>
                <a:latin typeface="Calibri" pitchFamily="34" charset="0"/>
                <a:cs typeface="Calibri" pitchFamily="34" charset="0"/>
              </a:rPr>
              <a:t> = {1}</a:t>
            </a:r>
            <a:r>
              <a:rPr lang="en-US" sz="2400" dirty="0">
                <a:latin typeface="Calibri" pitchFamily="34" charset="0"/>
                <a:cs typeface="Calibri" pitchFamily="34" charset="0"/>
              </a:rPr>
              <a:t>, </a:t>
            </a:r>
            <a:r>
              <a:rPr lang="en-US" sz="2400" b="1" i="1" dirty="0">
                <a:solidFill>
                  <a:srgbClr val="0000FF"/>
                </a:solidFill>
                <a:latin typeface="Calibri" pitchFamily="34" charset="0"/>
                <a:cs typeface="Calibri" pitchFamily="34" charset="0"/>
                <a:sym typeface="Symbol" pitchFamily="18" charset="2"/>
              </a:rPr>
              <a:t></a:t>
            </a:r>
            <a:r>
              <a:rPr lang="en-US" sz="2400" b="1" dirty="0">
                <a:solidFill>
                  <a:srgbClr val="0000FF"/>
                </a:solidFill>
                <a:latin typeface="Calibri" pitchFamily="34" charset="0"/>
                <a:cs typeface="Calibri" pitchFamily="34" charset="0"/>
              </a:rPr>
              <a:t> = 0.8</a:t>
            </a:r>
          </a:p>
        </p:txBody>
      </p:sp>
      <p:grpSp>
        <p:nvGrpSpPr>
          <p:cNvPr id="23" name="Group 13"/>
          <p:cNvGrpSpPr>
            <a:grpSpLocks/>
          </p:cNvGrpSpPr>
          <p:nvPr/>
        </p:nvGrpSpPr>
        <p:grpSpPr bwMode="auto">
          <a:xfrm>
            <a:off x="3439775" y="2604294"/>
            <a:ext cx="4664075" cy="1828800"/>
            <a:chOff x="2630" y="1392"/>
            <a:chExt cx="2938" cy="1152"/>
          </a:xfrm>
        </p:grpSpPr>
        <p:sp>
          <p:nvSpPr>
            <p:cNvPr id="24" name="Text Box 14"/>
            <p:cNvSpPr txBox="1">
              <a:spLocks noChangeArrowheads="1"/>
            </p:cNvSpPr>
            <p:nvPr/>
          </p:nvSpPr>
          <p:spPr bwMode="auto">
            <a:xfrm>
              <a:off x="2630" y="1412"/>
              <a:ext cx="2854" cy="1096"/>
            </a:xfrm>
            <a:prstGeom prst="rect">
              <a:avLst/>
            </a:prstGeom>
            <a:noFill/>
            <a:ln w="9525">
              <a:noFill/>
              <a:miter lim="800000"/>
              <a:headEnd/>
              <a:tailEnd/>
            </a:ln>
            <a:effectLst/>
          </p:spPr>
          <p:txBody>
            <a:bodyPr wrap="none">
              <a:spAutoFit/>
            </a:bodyPr>
            <a:lstStyle/>
            <a:p>
              <a:r>
                <a:rPr lang="en-US" sz="1800" b="1" dirty="0">
                  <a:solidFill>
                    <a:srgbClr val="0000FF"/>
                  </a:solidFill>
                  <a:latin typeface="Arial" pitchFamily="34" charset="0"/>
                  <a:cs typeface="Arial" pitchFamily="34" charset="0"/>
                </a:rPr>
                <a:t>Node	Iteration</a:t>
              </a:r>
            </a:p>
            <a:p>
              <a:r>
                <a:rPr lang="en-US" sz="1800" dirty="0">
                  <a:latin typeface="Arial" pitchFamily="34" charset="0"/>
                  <a:cs typeface="Arial" pitchFamily="34" charset="0"/>
                </a:rPr>
                <a:t>	</a:t>
              </a:r>
              <a:r>
                <a:rPr lang="en-US" sz="1800" b="1" dirty="0">
                  <a:latin typeface="Arial" pitchFamily="34" charset="0"/>
                  <a:cs typeface="Arial" pitchFamily="34" charset="0"/>
                </a:rPr>
                <a:t>0	1	2     …	stable</a:t>
              </a:r>
            </a:p>
            <a:p>
              <a:r>
                <a:rPr lang="en-US" sz="1800" dirty="0">
                  <a:latin typeface="Arial" pitchFamily="34" charset="0"/>
                  <a:cs typeface="Arial" pitchFamily="34" charset="0"/>
                </a:rPr>
                <a:t>1	0.25	0.4	0.28	0.294</a:t>
              </a:r>
            </a:p>
            <a:p>
              <a:r>
                <a:rPr lang="en-US" sz="1800" dirty="0">
                  <a:latin typeface="Arial" pitchFamily="34" charset="0"/>
                  <a:cs typeface="Arial" pitchFamily="34" charset="0"/>
                </a:rPr>
                <a:t>2	0.25	0.1	0.16	0.118</a:t>
              </a:r>
            </a:p>
            <a:p>
              <a:r>
                <a:rPr lang="en-US" sz="1800" dirty="0">
                  <a:latin typeface="Arial" pitchFamily="34" charset="0"/>
                  <a:cs typeface="Arial" pitchFamily="34" charset="0"/>
                </a:rPr>
                <a:t>3	0.25	0.3	0.32	0.327</a:t>
              </a:r>
            </a:p>
            <a:p>
              <a:r>
                <a:rPr lang="en-US" sz="1800" dirty="0">
                  <a:latin typeface="Arial" pitchFamily="34" charset="0"/>
                  <a:cs typeface="Arial" pitchFamily="34" charset="0"/>
                </a:rPr>
                <a:t>4	0.25	</a:t>
              </a:r>
              <a:r>
                <a:rPr lang="en-US" dirty="0">
                  <a:latin typeface="Arial" pitchFamily="34" charset="0"/>
                  <a:cs typeface="Arial" pitchFamily="34" charset="0"/>
                </a:rPr>
                <a:t>0.2</a:t>
              </a:r>
              <a:r>
                <a:rPr lang="en-US" sz="1800" dirty="0">
                  <a:latin typeface="Arial" pitchFamily="34" charset="0"/>
                  <a:cs typeface="Arial" pitchFamily="34" charset="0"/>
                </a:rPr>
                <a:t>	0.24	0.261</a:t>
              </a:r>
            </a:p>
          </p:txBody>
        </p:sp>
        <p:sp>
          <p:nvSpPr>
            <p:cNvPr id="25" name="Line 15"/>
            <p:cNvSpPr>
              <a:spLocks noChangeShapeType="1"/>
            </p:cNvSpPr>
            <p:nvPr/>
          </p:nvSpPr>
          <p:spPr bwMode="auto">
            <a:xfrm>
              <a:off x="2640" y="1776"/>
              <a:ext cx="2928" cy="0"/>
            </a:xfrm>
            <a:prstGeom prst="line">
              <a:avLst/>
            </a:prstGeom>
            <a:noFill/>
            <a:ln w="9525">
              <a:solidFill>
                <a:schemeClr val="tx1"/>
              </a:solidFill>
              <a:round/>
              <a:headEnd/>
              <a:tailEnd/>
            </a:ln>
            <a:effectLst/>
          </p:spPr>
          <p:txBody>
            <a:bodyPr/>
            <a:lstStyle/>
            <a:p>
              <a:endParaRPr lang="en-US">
                <a:latin typeface="Arial" pitchFamily="34" charset="0"/>
                <a:cs typeface="Arial" pitchFamily="34" charset="0"/>
              </a:endParaRPr>
            </a:p>
          </p:txBody>
        </p:sp>
        <p:sp>
          <p:nvSpPr>
            <p:cNvPr id="26" name="Line 16"/>
            <p:cNvSpPr>
              <a:spLocks noChangeShapeType="1"/>
            </p:cNvSpPr>
            <p:nvPr/>
          </p:nvSpPr>
          <p:spPr bwMode="auto">
            <a:xfrm>
              <a:off x="3168" y="1392"/>
              <a:ext cx="0" cy="1152"/>
            </a:xfrm>
            <a:prstGeom prst="line">
              <a:avLst/>
            </a:prstGeom>
            <a:noFill/>
            <a:ln w="9525">
              <a:solidFill>
                <a:schemeClr val="tx1"/>
              </a:solidFill>
              <a:round/>
              <a:headEnd/>
              <a:tailEnd/>
            </a:ln>
            <a:effectLst/>
          </p:spPr>
          <p:txBody>
            <a:bodyPr/>
            <a:lstStyle/>
            <a:p>
              <a:endParaRPr lang="en-US">
                <a:latin typeface="Arial" pitchFamily="34" charset="0"/>
                <a:cs typeface="Arial" pitchFamily="34" charset="0"/>
              </a:endParaRPr>
            </a:p>
          </p:txBody>
        </p:sp>
      </p:grpSp>
    </p:spTree>
    <p:extLst>
      <p:ext uri="{BB962C8B-B14F-4D97-AF65-F5344CB8AC3E}">
        <p14:creationId xmlns:p14="http://schemas.microsoft.com/office/powerpoint/2010/main" val="280170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Discovering the Topic Vector 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a:lnSpc>
                <a:spcPct val="110000"/>
              </a:lnSpc>
              <a:spcBef>
                <a:spcPts val="0"/>
              </a:spcBef>
              <a:spcAft>
                <a:spcPts val="600"/>
              </a:spcAft>
            </a:pPr>
            <a:r>
              <a:rPr lang="en-US" sz="2200" b="1" dirty="0">
                <a:solidFill>
                  <a:srgbClr val="0000FF"/>
                </a:solidFill>
                <a:latin typeface="Arial" panose="020B0604020202020204" pitchFamily="34" charset="0"/>
                <a:cs typeface="Arial" panose="020B0604020202020204" pitchFamily="34" charset="0"/>
              </a:rPr>
              <a:t>Create different </a:t>
            </a:r>
            <a:r>
              <a:rPr lang="en-US" sz="2200" b="1" dirty="0" err="1">
                <a:solidFill>
                  <a:srgbClr val="0000FF"/>
                </a:solidFill>
                <a:latin typeface="Arial" panose="020B0604020202020204" pitchFamily="34" charset="0"/>
                <a:cs typeface="Arial" panose="020B0604020202020204" pitchFamily="34" charset="0"/>
              </a:rPr>
              <a:t>PageRanks</a:t>
            </a:r>
            <a:r>
              <a:rPr lang="en-US" sz="2200" b="1" dirty="0">
                <a:solidFill>
                  <a:srgbClr val="0000FF"/>
                </a:solidFill>
                <a:latin typeface="Arial" panose="020B0604020202020204" pitchFamily="34" charset="0"/>
                <a:cs typeface="Arial" panose="020B0604020202020204" pitchFamily="34" charset="0"/>
              </a:rPr>
              <a:t> for different topics</a:t>
            </a:r>
          </a:p>
          <a:p>
            <a:pPr lvl="1">
              <a:lnSpc>
                <a:spcPct val="110000"/>
              </a:lnSpc>
              <a:spcBef>
                <a:spcPts val="0"/>
              </a:spcBef>
              <a:spcAft>
                <a:spcPts val="600"/>
              </a:spcAft>
            </a:pPr>
            <a:r>
              <a:rPr lang="en-US" sz="2200" dirty="0">
                <a:latin typeface="Arial" panose="020B0604020202020204" pitchFamily="34" charset="0"/>
                <a:cs typeface="Arial" panose="020B0604020202020204" pitchFamily="34" charset="0"/>
              </a:rPr>
              <a:t>The 16 DMOZ top-level categories:</a:t>
            </a:r>
          </a:p>
          <a:p>
            <a:pPr lvl="2">
              <a:lnSpc>
                <a:spcPct val="110000"/>
              </a:lnSpc>
              <a:spcBef>
                <a:spcPts val="0"/>
              </a:spcBef>
              <a:spcAft>
                <a:spcPts val="600"/>
              </a:spcAft>
            </a:pPr>
            <a:r>
              <a:rPr lang="en-US" sz="2200" dirty="0">
                <a:latin typeface="Arial" panose="020B0604020202020204" pitchFamily="34" charset="0"/>
                <a:cs typeface="Arial" panose="020B0604020202020204" pitchFamily="34" charset="0"/>
              </a:rPr>
              <a:t>arts, business, sports,…</a:t>
            </a:r>
          </a:p>
          <a:p>
            <a:pPr>
              <a:lnSpc>
                <a:spcPct val="110000"/>
              </a:lnSpc>
              <a:spcBef>
                <a:spcPts val="0"/>
              </a:spcBef>
              <a:spcAft>
                <a:spcPts val="600"/>
              </a:spcAft>
            </a:pPr>
            <a:r>
              <a:rPr lang="en-US" sz="2200" b="1" dirty="0">
                <a:solidFill>
                  <a:srgbClr val="D60093"/>
                </a:solidFill>
                <a:latin typeface="Arial" panose="020B0604020202020204" pitchFamily="34" charset="0"/>
                <a:cs typeface="Arial" panose="020B0604020202020204" pitchFamily="34" charset="0"/>
              </a:rPr>
              <a:t>Which topic ranking to use?</a:t>
            </a:r>
          </a:p>
          <a:p>
            <a:pPr lvl="1">
              <a:lnSpc>
                <a:spcPct val="110000"/>
              </a:lnSpc>
              <a:spcBef>
                <a:spcPts val="0"/>
              </a:spcBef>
              <a:spcAft>
                <a:spcPts val="600"/>
              </a:spcAft>
            </a:pPr>
            <a:r>
              <a:rPr lang="en-US" sz="2200" dirty="0">
                <a:latin typeface="Arial" panose="020B0604020202020204" pitchFamily="34" charset="0"/>
                <a:cs typeface="Arial" panose="020B0604020202020204" pitchFamily="34" charset="0"/>
              </a:rPr>
              <a:t>User can pick from a menu</a:t>
            </a:r>
          </a:p>
          <a:p>
            <a:pPr lvl="1">
              <a:lnSpc>
                <a:spcPct val="110000"/>
              </a:lnSpc>
              <a:spcBef>
                <a:spcPts val="0"/>
              </a:spcBef>
              <a:spcAft>
                <a:spcPts val="600"/>
              </a:spcAft>
            </a:pPr>
            <a:r>
              <a:rPr lang="en-US" sz="2200" dirty="0">
                <a:latin typeface="Arial" panose="020B0604020202020204" pitchFamily="34" charset="0"/>
                <a:cs typeface="Arial" panose="020B0604020202020204" pitchFamily="34" charset="0"/>
              </a:rPr>
              <a:t>Classify query into a topic</a:t>
            </a:r>
          </a:p>
          <a:p>
            <a:pPr lvl="1">
              <a:lnSpc>
                <a:spcPct val="110000"/>
              </a:lnSpc>
              <a:spcBef>
                <a:spcPts val="0"/>
              </a:spcBef>
              <a:spcAft>
                <a:spcPts val="600"/>
              </a:spcAft>
            </a:pPr>
            <a:r>
              <a:rPr lang="en-US" sz="2200" dirty="0">
                <a:latin typeface="Arial" panose="020B0604020202020204" pitchFamily="34" charset="0"/>
                <a:cs typeface="Arial" panose="020B0604020202020204" pitchFamily="34" charset="0"/>
              </a:rPr>
              <a:t>Can use the </a:t>
            </a:r>
            <a:r>
              <a:rPr lang="en-US" sz="2200" b="1" dirty="0">
                <a:solidFill>
                  <a:srgbClr val="0000FF"/>
                </a:solidFill>
                <a:latin typeface="Arial" panose="020B0604020202020204" pitchFamily="34" charset="0"/>
                <a:cs typeface="Arial" panose="020B0604020202020204" pitchFamily="34" charset="0"/>
              </a:rPr>
              <a:t>context</a:t>
            </a:r>
            <a:r>
              <a:rPr lang="en-US" sz="2200" dirty="0">
                <a:solidFill>
                  <a:srgbClr val="0000FF"/>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of the query</a:t>
            </a:r>
          </a:p>
          <a:p>
            <a:pPr lvl="2">
              <a:lnSpc>
                <a:spcPct val="110000"/>
              </a:lnSpc>
              <a:spcBef>
                <a:spcPts val="0"/>
              </a:spcBef>
              <a:spcAft>
                <a:spcPts val="600"/>
              </a:spcAft>
            </a:pPr>
            <a:r>
              <a:rPr lang="en-US" sz="2200" dirty="0">
                <a:latin typeface="Arial" panose="020B0604020202020204" pitchFamily="34" charset="0"/>
                <a:cs typeface="Arial" panose="020B0604020202020204" pitchFamily="34" charset="0"/>
              </a:rPr>
              <a:t>E.g., query is launched from a web page talking about a known topic</a:t>
            </a:r>
          </a:p>
          <a:p>
            <a:pPr lvl="2">
              <a:lnSpc>
                <a:spcPct val="110000"/>
              </a:lnSpc>
              <a:spcBef>
                <a:spcPts val="0"/>
              </a:spcBef>
              <a:spcAft>
                <a:spcPts val="600"/>
              </a:spcAft>
            </a:pPr>
            <a:r>
              <a:rPr lang="en-US" sz="2200" dirty="0">
                <a:latin typeface="Arial" panose="020B0604020202020204" pitchFamily="34" charset="0"/>
                <a:cs typeface="Arial" panose="020B0604020202020204" pitchFamily="34" charset="0"/>
              </a:rPr>
              <a:t>History of queries e.g., “basketball” followed by “Jordan”</a:t>
            </a:r>
          </a:p>
          <a:p>
            <a:pPr lvl="1">
              <a:lnSpc>
                <a:spcPct val="110000"/>
              </a:lnSpc>
              <a:spcBef>
                <a:spcPts val="0"/>
              </a:spcBef>
              <a:spcAft>
                <a:spcPts val="600"/>
              </a:spcAft>
            </a:pPr>
            <a:r>
              <a:rPr lang="en-US" sz="2200" dirty="0">
                <a:latin typeface="Arial" panose="020B0604020202020204" pitchFamily="34" charset="0"/>
                <a:cs typeface="Arial" panose="020B0604020202020204" pitchFamily="34" charset="0"/>
              </a:rPr>
              <a:t>User context, e.g., user’s bookmarks, …</a:t>
            </a:r>
          </a:p>
          <a:p>
            <a:pPr>
              <a:lnSpc>
                <a:spcPct val="110000"/>
              </a:lnSpc>
              <a:spcBef>
                <a:spcPts val="0"/>
              </a:spcBef>
              <a:spcAft>
                <a:spcPts val="600"/>
              </a:spcAft>
            </a:pPr>
            <a:endParaRPr lang="en-US" sz="2200" dirty="0">
              <a:latin typeface="Arial" panose="020B0604020202020204" pitchFamily="34" charset="0"/>
              <a:cs typeface="Arial" panose="020B0604020202020204" pitchFamily="34" charset="0"/>
            </a:endParaRPr>
          </a:p>
          <a:p>
            <a:pPr>
              <a:lnSpc>
                <a:spcPct val="110000"/>
              </a:lnSpc>
              <a:spcBef>
                <a:spcPts val="0"/>
              </a:spcBef>
              <a:spcAft>
                <a:spcPts val="600"/>
              </a:spcAft>
            </a:pPr>
            <a:endParaRPr lang="en-US" sz="22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3462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Link analysis algorithms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Web as a Graph</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Topic specific page rank</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2214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6703</TotalTime>
  <Words>2134</Words>
  <Application>Microsoft Office PowerPoint</Application>
  <PresentationFormat>Widescreen</PresentationFormat>
  <Paragraphs>261</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(Body)</vt:lpstr>
      <vt:lpstr>Calibri Light</vt:lpstr>
      <vt:lpstr>Cambria Math</vt:lpstr>
      <vt:lpstr>Office Theme</vt:lpstr>
      <vt:lpstr>Course code : CSE3009 Course title  : No SQL Data Bases Module  : 6     Topic   : 6</vt:lpstr>
      <vt:lpstr>Objectives</vt:lpstr>
      <vt:lpstr>Introduction to Link analysis</vt:lpstr>
      <vt:lpstr>Introduction to Link analysis</vt:lpstr>
      <vt:lpstr>Introduction to Link analysis</vt:lpstr>
      <vt:lpstr>Kinds of Link Analysis Tasks</vt:lpstr>
      <vt:lpstr>Link-based Object Classification (LOC)</vt:lpstr>
      <vt:lpstr> Link-based Object Ranking (LOR)</vt:lpstr>
      <vt:lpstr> Link-based Object Ranking (LOR)</vt:lpstr>
      <vt:lpstr>Link prediction</vt:lpstr>
      <vt:lpstr>Link prediction</vt:lpstr>
      <vt:lpstr>Common Neighbours </vt:lpstr>
      <vt:lpstr>Common Neighbours algorithm sample</vt:lpstr>
      <vt:lpstr>Common Neighbors algorithm sample</vt:lpstr>
      <vt:lpstr>Common Neighbors algorithm sample</vt:lpstr>
      <vt:lpstr>Web as a Graph</vt:lpstr>
      <vt:lpstr>Web as a Directed Graph</vt:lpstr>
      <vt:lpstr>Web as a Directed Graph</vt:lpstr>
      <vt:lpstr>Web Search: Challenges</vt:lpstr>
      <vt:lpstr>Ranking Nodes on the Graph</vt:lpstr>
      <vt:lpstr>Link Analysis Algorithms</vt:lpstr>
      <vt:lpstr>Some Problems with PageRank</vt:lpstr>
      <vt:lpstr>Topic-Specific PageRank</vt:lpstr>
      <vt:lpstr>Topic-Specific PageRank</vt:lpstr>
      <vt:lpstr>Matrix Formulation</vt:lpstr>
      <vt:lpstr>Example: Topic-Specific PageRank</vt:lpstr>
      <vt:lpstr>Discovering the Topic Vector 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258</cp:revision>
  <dcterms:created xsi:type="dcterms:W3CDTF">2019-11-30T05:18:24Z</dcterms:created>
  <dcterms:modified xsi:type="dcterms:W3CDTF">2023-05-06T04:34:25Z</dcterms:modified>
</cp:coreProperties>
</file>