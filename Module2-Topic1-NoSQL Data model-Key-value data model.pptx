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8" r:id="rId3"/>
    <p:sldId id="260" r:id="rId4"/>
    <p:sldId id="288" r:id="rId5"/>
    <p:sldId id="290" r:id="rId6"/>
    <p:sldId id="292" r:id="rId7"/>
    <p:sldId id="291" r:id="rId8"/>
    <p:sldId id="316" r:id="rId9"/>
    <p:sldId id="293" r:id="rId10"/>
    <p:sldId id="295" r:id="rId11"/>
    <p:sldId id="315" r:id="rId12"/>
    <p:sldId id="296" r:id="rId13"/>
    <p:sldId id="297" r:id="rId14"/>
    <p:sldId id="299" r:id="rId15"/>
    <p:sldId id="298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25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00FF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070DDA-CF3D-48BA-A0B0-D24E17EB741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19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23-08-2024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23-08-2024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23-08-2024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23-08-2024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23-08-2024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23-08-2024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NoSQL Data model: Aggregate Models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23-08-2024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Aggregate Models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Types of NoSQL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Key-value stores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714375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data architecture pattern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consistent way of representing data in a regular structure that will be stored in memory.</a:t>
            </a:r>
          </a:p>
          <a:p>
            <a:pPr marL="714375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aggregate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collection of data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we interact with as a unit. </a:t>
            </a:r>
          </a:p>
          <a:p>
            <a:pPr marL="714375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units of data or aggregates form the boundaries for ACID operations with the database, </a:t>
            </a:r>
            <a:r>
              <a:rPr lang="en-US" sz="2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Key-value, Document, Column-family and Graph-Based databases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grouped as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aggregate-oriented database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14375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5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Aggregates make it easier for the database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manage data storage over clusters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Aggregate-oriented databases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best when most data interaction is done with the same aggregate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 when there is need to get an order and all its details, it better to store order as an aggregate object.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Aggregate-oriented databases make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inter-aggregate relationships more difficult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handle than intra-aggregate relationships.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668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 oriented databases make distribution of data easier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There are two styles of distributing data: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sz="2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distributes different data across multiple servers, so each server acts as the single source for a subset of data.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Replication copies data across multiple servers, so each bit of data can be found in multiple places. Replication comes in two forms,</a:t>
            </a:r>
          </a:p>
          <a:p>
            <a:pPr lvl="1">
              <a:lnSpc>
                <a:spcPct val="120000"/>
              </a:lnSpc>
              <a:spcBef>
                <a:spcPts val="1800"/>
              </a:spcBef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Master-slave replication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makes one node the authoritative copy that handles writes while slaves synchronize with the master and may handle reads.</a:t>
            </a:r>
          </a:p>
          <a:p>
            <a:pPr lvl="1">
              <a:lnSpc>
                <a:spcPct val="120000"/>
              </a:lnSpc>
              <a:spcBef>
                <a:spcPts val="1800"/>
              </a:spcBef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Peer-to-peer replication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allows writes to any node; the nodes coordinate to synchronize their copies of the data.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723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NoSQL data architecture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One of the challenges for users of NoSQL systems is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many different architectural patterns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from which to choose.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There are 4 basic types of NoSQL databases:</a:t>
            </a:r>
          </a:p>
          <a:p>
            <a:pPr marL="722313" indent="-366713">
              <a:lnSpc>
                <a:spcPct val="110000"/>
              </a:lnSpc>
              <a:spcBef>
                <a:spcPts val="1800"/>
              </a:spcBef>
            </a:pPr>
            <a:r>
              <a:rPr lang="en-I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 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– It has a Big Hash Table of keys &amp; values {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Example-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Riak</a:t>
            </a:r>
            <a:r>
              <a:rPr lang="en-IN" sz="2000" b="1">
                <a:latin typeface="Arial" panose="020B0604020202020204" pitchFamily="34" charset="0"/>
                <a:cs typeface="Arial" panose="020B0604020202020204" pitchFamily="34" charset="0"/>
              </a:rPr>
              <a:t>, Redis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Amazon S3 (Dynamo)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722313" indent="-366713">
              <a:lnSpc>
                <a:spcPct val="110000"/>
              </a:lnSpc>
              <a:spcBef>
                <a:spcPts val="1800"/>
              </a:spcBef>
            </a:pPr>
            <a:r>
              <a:rPr lang="en-I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Document-based Store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- It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stores documents made up of tagged elements. {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Example- Mongo DB,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CouchDB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722313" indent="-366713">
              <a:lnSpc>
                <a:spcPct val="110000"/>
              </a:lnSpc>
              <a:spcBef>
                <a:spcPts val="1800"/>
              </a:spcBef>
            </a:pPr>
            <a:r>
              <a:rPr lang="en-I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Column-based Store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- 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Each storage block contains data from only one column, {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Example-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HBase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, Cassandra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722313" indent="-366713">
              <a:lnSpc>
                <a:spcPct val="110000"/>
              </a:lnSpc>
              <a:spcBef>
                <a:spcPts val="1800"/>
              </a:spcBef>
            </a:pPr>
            <a:r>
              <a:rPr lang="en-I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Graph-based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- A network database that uses edges and nodes to represent and store data. {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Example- Neo4J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491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NoSQL data architecture patterns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207" y="1508319"/>
            <a:ext cx="959558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90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NoSQL data architecture patterns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73444F-3608-3DE3-963E-62B0E0790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528942"/>
              </p:ext>
            </p:extLst>
          </p:nvPr>
        </p:nvGraphicFramePr>
        <p:xfrm>
          <a:off x="838200" y="1690688"/>
          <a:ext cx="10515600" cy="4562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8200">
                  <a:extLst>
                    <a:ext uri="{9D8B030D-6E8A-4147-A177-3AD203B41FA5}">
                      <a16:colId xmlns:a16="http://schemas.microsoft.com/office/drawing/2014/main" val="469961826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1466410632"/>
                    </a:ext>
                  </a:extLst>
                </a:gridCol>
              </a:tblGrid>
              <a:tr h="39936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Key-Value</a:t>
                      </a:r>
                      <a:endParaRPr lang="en-IN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 Oriented </a:t>
                      </a:r>
                      <a:endParaRPr lang="en-IN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064143"/>
                  </a:ext>
                </a:extLst>
              </a:tr>
              <a:tr h="1511559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Caching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Used for caching data, </a:t>
                      </a:r>
                    </a:p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Session Management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Storing session information in web applications.</a:t>
                      </a:r>
                    </a:p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Systems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Managing user logs in e-commerce platforms.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Management Systems (CMS)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Managing and storing varied content like articles, blogs, etc., </a:t>
                      </a:r>
                    </a:p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Profiles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Storing user data with varying attributes.</a:t>
                      </a:r>
                    </a:p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Analytics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Used for applications requiring real-time data processing and storage.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271343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Columnar model</a:t>
                      </a:r>
                      <a:endParaRPr lang="en-IN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Graph Base</a:t>
                      </a:r>
                      <a:endParaRPr lang="en-IN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93888"/>
                  </a:ext>
                </a:extLst>
              </a:tr>
              <a:tr h="1166416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Warehousing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large-scale data analysis and reporting are required.</a:t>
                      </a:r>
                    </a:p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Time-Series Data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Efficiently stores and queries time-series data, often used in IoT or financial data applications.</a:t>
                      </a:r>
                    </a:p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OLAP (Online Analytical Processing)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Optimized for analytical queries involving large datasets.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 Networks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I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Modeling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querying social connections, e.g., Facebook's Graph</a:t>
                      </a:r>
                    </a:p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Recommendation Engines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recommending products, friends, or content based on relationships</a:t>
                      </a:r>
                    </a:p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Fraud Detection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Identifying patterns and connections that might indicate fraudulent </a:t>
                      </a:r>
                      <a:r>
                        <a:rPr lang="en-I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behavior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Knowledge Graphs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643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678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key-value store is a simple database that when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with a simple string (the key) returns an arbitrary large BLOB of data (the value)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 have no query language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 they provide a way to add and remove key-value pairs into/from a database.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key-value store is like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dictionary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dictionary is a simple key-value store where word entries represent keys and definitions represent values.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34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key value type basically,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a hash table in which there exists a unique key and a pointer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a particular item of data.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bucket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logical group of keys – but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don’t physically group the data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There can be identical keys in different buckets.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can be synthetic or auto-generated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while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can be String, JSON, BLOB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(basic large object) etc.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read a value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need to know both the key and the bucket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because the real key is a hash (Bucket + Key).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91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 – Data types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641" y="1606921"/>
            <a:ext cx="4030717" cy="474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881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 –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key in a key-value store is flexible and can be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represented by many formats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Logical path names to images or files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Artificially generated strings created from a hash of the value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REST web service calls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SQL queries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Values, like keys, are also flexible and can be any BLOB of data, such as images, web pages, documents, or videos.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563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items in a key-value store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970" y="1690688"/>
            <a:ext cx="9098060" cy="41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467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Consider the data subset represented in the following table. Here the key is the state name, while the value is a list of addresses of VIT campuses.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779076"/>
              </p:ext>
            </p:extLst>
          </p:nvPr>
        </p:nvGraphicFramePr>
        <p:xfrm>
          <a:off x="838200" y="2905815"/>
          <a:ext cx="10515600" cy="2866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0338">
                  <a:extLst>
                    <a:ext uri="{9D8B030D-6E8A-4147-A177-3AD203B41FA5}">
                      <a16:colId xmlns:a16="http://schemas.microsoft.com/office/drawing/2014/main" val="1432214286"/>
                    </a:ext>
                  </a:extLst>
                </a:gridCol>
                <a:gridCol w="6235262">
                  <a:extLst>
                    <a:ext uri="{9D8B030D-6E8A-4147-A177-3AD203B41FA5}">
                      <a16:colId xmlns:a16="http://schemas.microsoft.com/office/drawing/2014/main" val="4290187018"/>
                    </a:ext>
                  </a:extLst>
                </a:gridCol>
              </a:tblGrid>
              <a:tr h="671046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530482"/>
                  </a:ext>
                </a:extLst>
              </a:tr>
              <a:tr h="671046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Tamilnadu</a:t>
                      </a:r>
                      <a:endParaRPr lang="en-IN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{“Gorbachev Rd, Vellore, Tamil Nadu 632014”}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4221686"/>
                  </a:ext>
                </a:extLst>
              </a:tr>
              <a:tr h="671046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Andhra Pradesh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{“</a:t>
                      </a:r>
                      <a:r>
                        <a:rPr lang="en-IN" sz="2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VIT-AP University, G-30, </a:t>
                      </a:r>
                      <a:r>
                        <a:rPr lang="en-IN" sz="22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Inavolu</a:t>
                      </a:r>
                      <a:r>
                        <a:rPr lang="en-IN" sz="2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Beside AP Secretariat Amaravati, Andhra Pradesh 522237”}</a:t>
                      </a:r>
                      <a:endParaRPr lang="en-IN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981855"/>
                  </a:ext>
                </a:extLst>
              </a:tr>
              <a:tr h="671046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Bopal</a:t>
                      </a:r>
                      <a:endParaRPr lang="en-IN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{“</a:t>
                      </a:r>
                      <a:r>
                        <a:rPr lang="en-IN" sz="2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Kotri</a:t>
                      </a:r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Kalan, </a:t>
                      </a:r>
                      <a:r>
                        <a:rPr lang="en-IN" sz="2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Ashta</a:t>
                      </a:r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Near, Indore Road, Bhopal, Madhya Pradesh 466114”}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488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362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 -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best way to think about using a key-value store is to visualize a single table with two columns.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first column is called the key and the second column is called the value.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operations performed on a key-value store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714375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put, </a:t>
            </a:r>
          </a:p>
          <a:p>
            <a:pPr marL="714375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get, and </a:t>
            </a:r>
          </a:p>
          <a:p>
            <a:pPr marL="714375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delete.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101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 -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of using a query language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application developers access and manipulate a key-value store with the put, get, and delete functions, as shown here:</a:t>
            </a:r>
          </a:p>
          <a:p>
            <a:pPr marL="714375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put($key as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xs:string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$value as item())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adds a new key-value pair to the table and will update a value if this key is already present.</a:t>
            </a:r>
          </a:p>
          <a:p>
            <a:pPr marL="714375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get($key as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xs:string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as item()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returns the value for any given key, or it may return an error message if there’s no key in the key-value store.</a:t>
            </a:r>
          </a:p>
          <a:p>
            <a:pPr marL="714375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delete($key as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xs:string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removes a key and its value from the table, or it many return an error message if there’s no key in the key-value store.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265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 - Operations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58" y="1949173"/>
            <a:ext cx="9085083" cy="385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51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 – Operations - Output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62" y="2221944"/>
            <a:ext cx="10310659" cy="308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90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 -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addition to the put, get, and delete API,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 has two rules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distinct keys and no queries on values:</a:t>
            </a:r>
          </a:p>
          <a:p>
            <a:pPr marL="714375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Distinct keys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can never have two rows with the same key-value. This means that all the keys in any given key-value store are unique.</a:t>
            </a:r>
          </a:p>
          <a:p>
            <a:pPr marL="714375" indent="-357188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queries on values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can’t perform queries on the values of the table.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911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 -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key-value store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prohibits where clause type of operation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as you can’t select a key-value pair using the value.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key-value store resolves the issues of indexing and retrieval in large datasets by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transferring the association of the key with the value to the application layer, allowing the key-value store to retain a simple and flexible structure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872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stores - Operations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771" y="1806642"/>
            <a:ext cx="6265911" cy="23659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28" y="4022285"/>
            <a:ext cx="6124463" cy="226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57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using a key-value store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NoSQL have simplicity and generality to save time and money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 moving the focus from architectural design to reducing the data services costs through</a:t>
            </a:r>
          </a:p>
          <a:p>
            <a:pPr marL="714375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Precision service levels</a:t>
            </a:r>
          </a:p>
          <a:p>
            <a:pPr marL="714375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Precision service monitoring and notification</a:t>
            </a:r>
          </a:p>
          <a:p>
            <a:pPr marL="714375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Scalability and reliability</a:t>
            </a:r>
          </a:p>
          <a:p>
            <a:pPr marL="714375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Portability and lower operational costs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502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- Precision service levels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For any data service the </a:t>
            </a:r>
            <a:r>
              <a:rPr lang="en-US" sz="2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precision service levels might specify </a:t>
            </a:r>
          </a:p>
          <a:p>
            <a:pPr marL="714375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read time to return a value </a:t>
            </a: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and write time to store a new key-value pair</a:t>
            </a:r>
          </a:p>
          <a:p>
            <a:pPr marL="714375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reads per second </a:t>
            </a: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the service must support </a:t>
            </a:r>
            <a:r>
              <a:rPr lang="en-US" sz="2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writes per second </a:t>
            </a: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the service must support</a:t>
            </a:r>
          </a:p>
          <a:p>
            <a:pPr marL="714375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duplicate copies </a:t>
            </a: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of the data should be created for enhanced reliability</a:t>
            </a:r>
          </a:p>
          <a:p>
            <a:pPr marL="714375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Whether the </a:t>
            </a:r>
            <a:r>
              <a:rPr lang="en-US" sz="2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should be duplicated across multiple geographic regions </a:t>
            </a: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if some data centers experience failures</a:t>
            </a:r>
          </a:p>
          <a:p>
            <a:pPr marL="714375" indent="-35718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Whether to use transaction guarantees for consistency </a:t>
            </a: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of data or whether eventual consistency is adequate</a:t>
            </a:r>
            <a:endParaRPr lang="en-IN" sz="2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364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- Precision service levels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configure your system to use a simple input form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setting up and allocating resources to new data services.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By changing the information using the form, you can quickly change the number of resources allocated to the service.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NoSQL data services can be adjusted like the tuning knobs on a radio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knob can individually be adjusted to control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how many resources are used to provide service guarantees. The more resources you use, the higher the cost will be.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647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- Precision service levels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05724"/>
            <a:ext cx="10510215" cy="241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592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- Precision service monitoring and notification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addition to specifying service levels, you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also invest in tools to monitor your service level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When you configure the number of reads per second a service performs, setting the parameter too low may lead a delay during peak times.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using a simple API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detailed reports showing the expected versus actual loads can point you to system bottlenecks that may need additional resource adjustments.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Automatic notification systems can also trigger email messages when the volume of reads or writes exceeds a threshold within a specified period of time.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176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- Scalability and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a database interface is simple, the resulting systems can have higher scalability and reliability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means you can tune any solution to the desired requirements.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Keeping an interface simple allows novice as well as advanced data modelers to build systems that utilize this power.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781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- Scalability and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simple interface allows you to focus on load and stress testing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monitoring of service levels.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Because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key-value store is simple to set up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you can spend more time looking at how long it takes to put or get 10,000 items.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also allows you to share these load- and stress-testing tools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with other members of your development team.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107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- Portability and lower operational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1186" y="1690688"/>
            <a:ext cx="6592614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IN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Portability of any application depends on database interface complexity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low-portability system on the left has many complex interfaces between the application and the database, and porting the application between two databases might be a complex process requiring a large testing effort.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 contrast, the high portability application on the right only uses a few standardized interfaces, such as put, get, and delete, and could be quickly ported to a new database with </a:t>
            </a:r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lower testing cost.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4612"/>
            <a:ext cx="377190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63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first, storing web pages in a key-value store, shows how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search engines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such as Google easily store entire websites in a key-value store. So if you want to store external websites in your own local database, this type of key-value store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is for you.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second use case,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simple storage service (S3)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shows how you can use a key-value store like S3 as a repository for your content in the cloud. If you have digital media assets such as images, music, or video, you should consider using a key-value store to increase the reliability and performance for a fraction of the cost.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6605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Aggregate Models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Types of NoSQL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Key-value stores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23-08-2024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585</TotalTime>
  <Words>2195</Words>
  <Application>Microsoft Office PowerPoint</Application>
  <PresentationFormat>Widescreen</PresentationFormat>
  <Paragraphs>236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2     Topic   : 1</vt:lpstr>
      <vt:lpstr>Objectives</vt:lpstr>
      <vt:lpstr>Aggregate Models</vt:lpstr>
      <vt:lpstr>Aggregate Models</vt:lpstr>
      <vt:lpstr>Distribution Models</vt:lpstr>
      <vt:lpstr>NoSQL data architecture patterns</vt:lpstr>
      <vt:lpstr>NoSQL data architecture patterns</vt:lpstr>
      <vt:lpstr>NoSQL data architecture patterns</vt:lpstr>
      <vt:lpstr>Key-value stores</vt:lpstr>
      <vt:lpstr>Key-value stores</vt:lpstr>
      <vt:lpstr>Key-value stores – Data types</vt:lpstr>
      <vt:lpstr>Key-value stores – Data types</vt:lpstr>
      <vt:lpstr>Sample items in a key-value store</vt:lpstr>
      <vt:lpstr>Key-value stores - Example</vt:lpstr>
      <vt:lpstr>Key-value stores - Operations</vt:lpstr>
      <vt:lpstr>Key-value stores - Operations</vt:lpstr>
      <vt:lpstr>Key-value stores - Operations</vt:lpstr>
      <vt:lpstr>Key-value stores – Operations - Output</vt:lpstr>
      <vt:lpstr>Key-value stores - Operations</vt:lpstr>
      <vt:lpstr>Key-value stores - Operations</vt:lpstr>
      <vt:lpstr>Key-value stores - Operations</vt:lpstr>
      <vt:lpstr>Benefits of using a key-value store</vt:lpstr>
      <vt:lpstr>Benefits - Precision service levels</vt:lpstr>
      <vt:lpstr>Benefits - Precision service levels</vt:lpstr>
      <vt:lpstr>Benefits - Precision service levels</vt:lpstr>
      <vt:lpstr>Benefits - Precision service monitoring and notification</vt:lpstr>
      <vt:lpstr>Benefits - Scalability and reliability</vt:lpstr>
      <vt:lpstr>Benefits - Scalability and reliability</vt:lpstr>
      <vt:lpstr>Benefits - Portability and lower operational costs</vt:lpstr>
      <vt:lpstr>Case Studies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Dr. Gopikrishnan S</cp:lastModifiedBy>
  <cp:revision>53</cp:revision>
  <dcterms:created xsi:type="dcterms:W3CDTF">2019-11-30T05:18:24Z</dcterms:created>
  <dcterms:modified xsi:type="dcterms:W3CDTF">2024-08-23T06:26:22Z</dcterms:modified>
</cp:coreProperties>
</file>