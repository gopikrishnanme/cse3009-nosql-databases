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8" r:id="rId3"/>
    <p:sldId id="260" r:id="rId4"/>
    <p:sldId id="305" r:id="rId5"/>
    <p:sldId id="304" r:id="rId6"/>
    <p:sldId id="306" r:id="rId7"/>
    <p:sldId id="307" r:id="rId8"/>
    <p:sldId id="308" r:id="rId9"/>
    <p:sldId id="309" r:id="rId10"/>
    <p:sldId id="314" r:id="rId11"/>
    <p:sldId id="319" r:id="rId12"/>
    <p:sldId id="315" r:id="rId13"/>
    <p:sldId id="318" r:id="rId14"/>
    <p:sldId id="311" r:id="rId15"/>
    <p:sldId id="312" r:id="rId16"/>
    <p:sldId id="317" r:id="rId17"/>
    <p:sldId id="288" r:id="rId18"/>
    <p:sldId id="25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CC00"/>
    <a:srgbClr val="2102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643"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F716F9-1CCB-412E-807B-54E78A47C39C}" type="datetimeFigureOut">
              <a:rPr lang="en-IN" smtClean="0"/>
              <a:t>31-07-2024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070DDA-CF3D-48BA-A0B0-D24E17EB7419}" type="slidenum">
              <a:rPr lang="en-IN" smtClean="0"/>
              <a:t>‹#›</a:t>
            </a:fld>
            <a:endParaRPr lang="en-IN"/>
          </a:p>
        </p:txBody>
      </p:sp>
    </p:spTree>
    <p:extLst>
      <p:ext uri="{BB962C8B-B14F-4D97-AF65-F5344CB8AC3E}">
        <p14:creationId xmlns:p14="http://schemas.microsoft.com/office/powerpoint/2010/main" val="2542869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18207AF-BBE6-41CB-838F-3B91C45E6842}" type="datetime1">
              <a:rPr lang="en-IN" smtClean="0"/>
              <a:t>31-07-2024</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pic>
        <p:nvPicPr>
          <p:cNvPr id="7" name="Picture 6">
            <a:extLst>
              <a:ext uri="{FF2B5EF4-FFF2-40B4-BE49-F238E27FC236}">
                <a16:creationId xmlns:a16="http://schemas.microsoft.com/office/drawing/2014/main" id="{FC8CFF80-FB6D-CE6C-6C8F-58AC6AE5648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75656" y="249844"/>
            <a:ext cx="1835504" cy="568303"/>
          </a:xfrm>
          <a:prstGeom prst="rect">
            <a:avLst/>
          </a:prstGeom>
        </p:spPr>
      </p:pic>
    </p:spTree>
    <p:extLst>
      <p:ext uri="{BB962C8B-B14F-4D97-AF65-F5344CB8AC3E}">
        <p14:creationId xmlns:p14="http://schemas.microsoft.com/office/powerpoint/2010/main" val="41205776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42001CB-2F0D-4565-974A-BB3B4237F7A0}" type="datetime1">
              <a:rPr lang="en-IN" smtClean="0"/>
              <a:t>31-07-2024</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pic>
        <p:nvPicPr>
          <p:cNvPr id="7" name="Picture 6">
            <a:extLst>
              <a:ext uri="{FF2B5EF4-FFF2-40B4-BE49-F238E27FC236}">
                <a16:creationId xmlns:a16="http://schemas.microsoft.com/office/drawing/2014/main" id="{3AED5B7A-B9A5-E284-E432-4BEF5EC8B9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75656" y="249844"/>
            <a:ext cx="1835504" cy="568303"/>
          </a:xfrm>
          <a:prstGeom prst="rect">
            <a:avLst/>
          </a:prstGeom>
        </p:spPr>
      </p:pic>
    </p:spTree>
    <p:extLst>
      <p:ext uri="{BB962C8B-B14F-4D97-AF65-F5344CB8AC3E}">
        <p14:creationId xmlns:p14="http://schemas.microsoft.com/office/powerpoint/2010/main" val="242886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325E08F-6321-4732-8935-8B18B4878320}" type="datetime1">
              <a:rPr lang="en-IN" smtClean="0"/>
              <a:t>31-07-2024</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pic>
        <p:nvPicPr>
          <p:cNvPr id="7" name="Picture 6">
            <a:extLst>
              <a:ext uri="{FF2B5EF4-FFF2-40B4-BE49-F238E27FC236}">
                <a16:creationId xmlns:a16="http://schemas.microsoft.com/office/drawing/2014/main" id="{0C47B384-99C4-57BE-F55A-0D5EA57A3D8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75656" y="249844"/>
            <a:ext cx="1835504" cy="568303"/>
          </a:xfrm>
          <a:prstGeom prst="rect">
            <a:avLst/>
          </a:prstGeom>
        </p:spPr>
      </p:pic>
    </p:spTree>
    <p:extLst>
      <p:ext uri="{BB962C8B-B14F-4D97-AF65-F5344CB8AC3E}">
        <p14:creationId xmlns:p14="http://schemas.microsoft.com/office/powerpoint/2010/main" val="1870895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FAE6CD2-53BA-43CE-85B2-BECBEC79BED8}" type="datetime1">
              <a:rPr lang="en-IN" smtClean="0"/>
              <a:t>31-07-2024</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pic>
        <p:nvPicPr>
          <p:cNvPr id="8" name="Picture 7">
            <a:extLst>
              <a:ext uri="{FF2B5EF4-FFF2-40B4-BE49-F238E27FC236}">
                <a16:creationId xmlns:a16="http://schemas.microsoft.com/office/drawing/2014/main" id="{2C4659FA-CC3B-9882-E122-48D6E095072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75656" y="249844"/>
            <a:ext cx="1835504" cy="568303"/>
          </a:xfrm>
          <a:prstGeom prst="rect">
            <a:avLst/>
          </a:prstGeom>
        </p:spPr>
      </p:pic>
    </p:spTree>
    <p:extLst>
      <p:ext uri="{BB962C8B-B14F-4D97-AF65-F5344CB8AC3E}">
        <p14:creationId xmlns:p14="http://schemas.microsoft.com/office/powerpoint/2010/main" val="11329585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010AD05-A4E4-4CA4-974B-F265446B2FC3}" type="datetime1">
              <a:rPr lang="en-IN" smtClean="0"/>
              <a:t>31-07-2024</a:t>
            </a:fld>
            <a:endParaRPr lang="en-IN"/>
          </a:p>
        </p:txBody>
      </p:sp>
      <p:sp>
        <p:nvSpPr>
          <p:cNvPr id="8" name="Footer Placeholder 7"/>
          <p:cNvSpPr>
            <a:spLocks noGrp="1"/>
          </p:cNvSpPr>
          <p:nvPr>
            <p:ph type="ftr" sz="quarter" idx="11"/>
          </p:nvPr>
        </p:nvSpPr>
        <p:spPr/>
        <p:txBody>
          <a:bodyPr/>
          <a:lstStyle/>
          <a:p>
            <a:r>
              <a:rPr lang="en-IN"/>
              <a:t>Dr. S. Gopikrishnan</a:t>
            </a:r>
          </a:p>
        </p:txBody>
      </p:sp>
      <p:sp>
        <p:nvSpPr>
          <p:cNvPr id="9" name="Slide Number Placeholder 8"/>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855418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28D32E8-1E32-4E2A-B217-B612998A856C}" type="datetime1">
              <a:rPr lang="en-IN" smtClean="0"/>
              <a:t>31-07-2024</a:t>
            </a:fld>
            <a:endParaRPr lang="en-IN"/>
          </a:p>
        </p:txBody>
      </p:sp>
      <p:sp>
        <p:nvSpPr>
          <p:cNvPr id="4" name="Footer Placeholder 3"/>
          <p:cNvSpPr>
            <a:spLocks noGrp="1"/>
          </p:cNvSpPr>
          <p:nvPr>
            <p:ph type="ftr" sz="quarter" idx="11"/>
          </p:nvPr>
        </p:nvSpPr>
        <p:spPr/>
        <p:txBody>
          <a:bodyPr/>
          <a:lstStyle/>
          <a:p>
            <a:r>
              <a:rPr lang="en-IN"/>
              <a:t>Dr. S. Gopikrishnan</a:t>
            </a:r>
          </a:p>
        </p:txBody>
      </p:sp>
      <p:sp>
        <p:nvSpPr>
          <p:cNvPr id="5" name="Slide Number Placeholder 4"/>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2777863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CE7F75-E219-4A7A-86AA-8B901170D2FE}" type="datetime1">
              <a:rPr lang="en-IN" smtClean="0"/>
              <a:t>31-07-2024</a:t>
            </a:fld>
            <a:endParaRPr lang="en-IN"/>
          </a:p>
        </p:txBody>
      </p:sp>
      <p:sp>
        <p:nvSpPr>
          <p:cNvPr id="3" name="Footer Placeholder 2"/>
          <p:cNvSpPr>
            <a:spLocks noGrp="1"/>
          </p:cNvSpPr>
          <p:nvPr>
            <p:ph type="ftr" sz="quarter" idx="11"/>
          </p:nvPr>
        </p:nvSpPr>
        <p:spPr/>
        <p:txBody>
          <a:bodyPr/>
          <a:lstStyle/>
          <a:p>
            <a:r>
              <a:rPr lang="en-IN"/>
              <a:t>Dr. S. Gopikrishnan</a:t>
            </a:r>
          </a:p>
        </p:txBody>
      </p:sp>
      <p:sp>
        <p:nvSpPr>
          <p:cNvPr id="4" name="Slide Number Placeholder 3"/>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262413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6F16AFA-FDBE-49F0-A857-020340421B04}" type="datetime1">
              <a:rPr lang="en-IN" smtClean="0"/>
              <a:t>31-07-2024</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441355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F176920-F609-41C5-957C-A5E46109118D}" type="datetime1">
              <a:rPr lang="en-IN" smtClean="0"/>
              <a:t>31-07-2024</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397715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8908AA1-2BEE-4CB8-A992-73CF63948E2E}" type="datetime1">
              <a:rPr lang="en-IN" smtClean="0"/>
              <a:t>31-07-2024</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2486892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957EAF6-71C1-4CCC-BB0E-BC6703073DD8}" type="datetime1">
              <a:rPr lang="en-IN" smtClean="0"/>
              <a:t>31-07-2024</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98657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A101D-20D2-4D81-A838-9588DFC7E809}" type="datetime1">
              <a:rPr lang="en-IN" smtClean="0"/>
              <a:t>31-07-2024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Dr. S. Gopikrishnan</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2F8B39-E037-49D7-848F-F055834E3AA1}" type="slidenum">
              <a:rPr lang="en-IN" smtClean="0"/>
              <a:t>‹#›</a:t>
            </a:fld>
            <a:endParaRPr lang="en-IN"/>
          </a:p>
        </p:txBody>
      </p:sp>
    </p:spTree>
    <p:extLst>
      <p:ext uri="{BB962C8B-B14F-4D97-AF65-F5344CB8AC3E}">
        <p14:creationId xmlns:p14="http://schemas.microsoft.com/office/powerpoint/2010/main" val="37427917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ctrTitle"/>
          </p:nvPr>
        </p:nvSpPr>
        <p:spPr>
          <a:xfrm>
            <a:off x="1524000" y="2178260"/>
            <a:ext cx="9144000" cy="953575"/>
          </a:xfrm>
        </p:spPr>
        <p:txBody>
          <a:bodyPr>
            <a:noAutofit/>
          </a:bodyPr>
          <a:lstStyle/>
          <a:p>
            <a:pPr algn="l">
              <a:lnSpc>
                <a:spcPct val="100000"/>
              </a:lnSpc>
            </a:pPr>
            <a:r>
              <a:rPr lang="en-IN" sz="2800" dirty="0">
                <a:solidFill>
                  <a:srgbClr val="00B050"/>
                </a:solidFill>
                <a:latin typeface="Arial" panose="020B0604020202020204" pitchFamily="34" charset="0"/>
                <a:cs typeface="Arial" panose="020B0604020202020204" pitchFamily="34" charset="0"/>
              </a:rPr>
              <a:t>Course code	: </a:t>
            </a:r>
            <a:r>
              <a:rPr lang="en-IN" sz="2800" b="1" dirty="0">
                <a:solidFill>
                  <a:srgbClr val="00B050"/>
                </a:solidFill>
                <a:latin typeface="Arial" panose="020B0604020202020204" pitchFamily="34" charset="0"/>
                <a:cs typeface="Arial" panose="020B0604020202020204" pitchFamily="34" charset="0"/>
              </a:rPr>
              <a:t>CSE3009</a:t>
            </a:r>
            <a:br>
              <a:rPr lang="en-IN" sz="2800"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Course title		: </a:t>
            </a:r>
            <a:r>
              <a:rPr lang="en-IN" sz="2800" b="1" dirty="0">
                <a:solidFill>
                  <a:srgbClr val="00B050"/>
                </a:solidFill>
                <a:latin typeface="Arial" panose="020B0604020202020204" pitchFamily="34" charset="0"/>
                <a:cs typeface="Arial" panose="020B0604020202020204" pitchFamily="34" charset="0"/>
              </a:rPr>
              <a:t>No SQL Data Bases</a:t>
            </a:r>
            <a:br>
              <a:rPr lang="en-IN" sz="2800" b="1"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Module		: </a:t>
            </a:r>
            <a:r>
              <a:rPr lang="en-IN" sz="2800" b="1" dirty="0">
                <a:solidFill>
                  <a:srgbClr val="00B050"/>
                </a:solidFill>
                <a:latin typeface="Arial" panose="020B0604020202020204" pitchFamily="34" charset="0"/>
                <a:cs typeface="Arial" panose="020B0604020202020204" pitchFamily="34" charset="0"/>
              </a:rPr>
              <a:t>1</a:t>
            </a:r>
            <a:r>
              <a:rPr lang="en-IN" sz="2800" dirty="0">
                <a:solidFill>
                  <a:srgbClr val="00B050"/>
                </a:solidFill>
                <a:latin typeface="Arial" panose="020B0604020202020204" pitchFamily="34" charset="0"/>
                <a:cs typeface="Arial" panose="020B0604020202020204" pitchFamily="34" charset="0"/>
              </a:rPr>
              <a:t> 			</a:t>
            </a:r>
            <a:br>
              <a:rPr lang="en-IN" sz="2800"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Topic			: </a:t>
            </a:r>
            <a:r>
              <a:rPr lang="en-IN" sz="2800" b="1" dirty="0">
                <a:solidFill>
                  <a:srgbClr val="00B050"/>
                </a:solidFill>
                <a:latin typeface="Arial" panose="020B0604020202020204" pitchFamily="34" charset="0"/>
                <a:cs typeface="Arial" panose="020B0604020202020204" pitchFamily="34" charset="0"/>
              </a:rPr>
              <a:t>3</a:t>
            </a:r>
          </a:p>
        </p:txBody>
      </p:sp>
      <p:sp>
        <p:nvSpPr>
          <p:cNvPr id="6" name="Subtitle 2"/>
          <p:cNvSpPr>
            <a:spLocks noGrp="1"/>
          </p:cNvSpPr>
          <p:nvPr>
            <p:ph type="subTitle" idx="1"/>
          </p:nvPr>
        </p:nvSpPr>
        <p:spPr>
          <a:xfrm>
            <a:off x="1402183" y="3677818"/>
            <a:ext cx="9144000" cy="1655762"/>
          </a:xfrm>
        </p:spPr>
        <p:txBody>
          <a:bodyPr>
            <a:normAutofit/>
          </a:bodyPr>
          <a:lstStyle/>
          <a:p>
            <a:r>
              <a:rPr lang="en-US" sz="4000" b="1" dirty="0">
                <a:solidFill>
                  <a:srgbClr val="0070C0"/>
                </a:solidFill>
                <a:latin typeface="Arial" panose="020B0604020202020204" pitchFamily="34" charset="0"/>
                <a:cs typeface="Arial" panose="020B0604020202020204" pitchFamily="34" charset="0"/>
              </a:rPr>
              <a:t>Comparing ACID and BASE</a:t>
            </a:r>
            <a:endParaRPr lang="en-IN" sz="4000" b="1" dirty="0">
              <a:solidFill>
                <a:srgbClr val="0070C0"/>
              </a:solidFill>
              <a:latin typeface="Arial" panose="020B0604020202020204" pitchFamily="34" charset="0"/>
              <a:cs typeface="Arial" panose="020B0604020202020204" pitchFamily="34" charset="0"/>
            </a:endParaRPr>
          </a:p>
        </p:txBody>
      </p:sp>
      <p:sp>
        <p:nvSpPr>
          <p:cNvPr id="8" name="Date Placeholder 7"/>
          <p:cNvSpPr>
            <a:spLocks noGrp="1"/>
          </p:cNvSpPr>
          <p:nvPr>
            <p:ph type="dt" sz="half" idx="10"/>
          </p:nvPr>
        </p:nvSpPr>
        <p:spPr/>
        <p:txBody>
          <a:bodyPr/>
          <a:lstStyle/>
          <a:p>
            <a:fld id="{756728E3-B72D-49A5-85A2-5AE45557AE43}" type="datetime1">
              <a:rPr lang="en-IN" smtClean="0">
                <a:latin typeface="Calibri (Body)"/>
              </a:rPr>
              <a:t>31-07-2024</a:t>
            </a:fld>
            <a:endParaRPr lang="en-IN" dirty="0">
              <a:latin typeface="Calibri (Body)"/>
            </a:endParaRPr>
          </a:p>
        </p:txBody>
      </p:sp>
      <p:sp>
        <p:nvSpPr>
          <p:cNvPr id="9" name="Footer Placeholder 8"/>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Gopikrishnan</a:t>
            </a:r>
          </a:p>
        </p:txBody>
      </p:sp>
      <p:sp>
        <p:nvSpPr>
          <p:cNvPr id="10" name="Slide Number Placeholder 9"/>
          <p:cNvSpPr>
            <a:spLocks noGrp="1"/>
          </p:cNvSpPr>
          <p:nvPr>
            <p:ph type="sldNum" sz="quarter" idx="12"/>
          </p:nvPr>
        </p:nvSpPr>
        <p:spPr/>
        <p:txBody>
          <a:bodyPr/>
          <a:lstStyle/>
          <a:p>
            <a:fld id="{E02F8B39-E037-49D7-848F-F055834E3AA1}" type="slidenum">
              <a:rPr lang="en-IN" smtClean="0">
                <a:latin typeface="Arial" panose="020B0604020202020204" pitchFamily="34" charset="0"/>
                <a:cs typeface="Arial" panose="020B0604020202020204" pitchFamily="34" charset="0"/>
              </a:rPr>
              <a:t>1</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589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Objectives</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600"/>
              </a:spcBef>
              <a:spcAft>
                <a:spcPts val="600"/>
              </a:spcAft>
              <a:buNone/>
            </a:pPr>
            <a:r>
              <a:rPr lang="en-IN" sz="2400" dirty="0">
                <a:latin typeface="Arial" panose="020B0604020202020204" pitchFamily="34" charset="0"/>
                <a:cs typeface="Arial" panose="020B0604020202020204" pitchFamily="34" charset="0"/>
              </a:rPr>
              <a:t>This session will give the knowledge about</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Understanding RDBMS and ACID transactions</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Understanding NoSQL and BASE transactions</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ACID vs BASE</a:t>
            </a:r>
          </a:p>
          <a:p>
            <a:pPr marL="457200" lvl="1" indent="0">
              <a:lnSpc>
                <a:spcPct val="120000"/>
              </a:lnSpc>
              <a:spcBef>
                <a:spcPts val="600"/>
              </a:spcBef>
              <a:spcAft>
                <a:spcPts val="600"/>
              </a:spcAft>
              <a:buNone/>
            </a:pPr>
            <a:endParaRPr lang="en-IN" dirty="0">
              <a:latin typeface="Arial" panose="020B0604020202020204" pitchFamily="34" charset="0"/>
              <a:cs typeface="Arial" panose="020B0604020202020204" pitchFamily="34" charset="0"/>
            </a:endParaRPr>
          </a:p>
          <a:p>
            <a:pPr marL="0" indent="0">
              <a:lnSpc>
                <a:spcPct val="120000"/>
              </a:lnSpc>
              <a:spcBef>
                <a:spcPts val="600"/>
              </a:spcBef>
              <a:spcAft>
                <a:spcPts val="600"/>
              </a:spcAft>
              <a:buNone/>
            </a:pP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31-07-2024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066111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Two methods of reliable database transactions</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lnSpcReduction="10000"/>
          </a:bodyPr>
          <a:lstStyle/>
          <a:p>
            <a:pPr marL="0" indent="0">
              <a:lnSpc>
                <a:spcPct val="120000"/>
              </a:lnSpc>
              <a:spcBef>
                <a:spcPts val="2400"/>
              </a:spcBef>
              <a:spcAft>
                <a:spcPts val="600"/>
              </a:spcAft>
              <a:buNone/>
            </a:pPr>
            <a:r>
              <a:rPr lang="en-US" sz="2400" dirty="0">
                <a:latin typeface="Arial" panose="020B0604020202020204" pitchFamily="34" charset="0"/>
                <a:cs typeface="Arial" panose="020B0604020202020204" pitchFamily="34" charset="0"/>
              </a:rPr>
              <a:t>Transaction control is important in distributed computing environments with respect to performance and consistency. </a:t>
            </a:r>
          </a:p>
          <a:p>
            <a:pPr marL="0" indent="0">
              <a:lnSpc>
                <a:spcPct val="120000"/>
              </a:lnSpc>
              <a:spcBef>
                <a:spcPts val="2400"/>
              </a:spcBef>
              <a:spcAft>
                <a:spcPts val="600"/>
              </a:spcAft>
              <a:buNone/>
            </a:pPr>
            <a:r>
              <a:rPr lang="en-US" sz="2400" dirty="0">
                <a:latin typeface="Arial" panose="020B0604020202020204" pitchFamily="34" charset="0"/>
                <a:cs typeface="Arial" panose="020B0604020202020204" pitchFamily="34" charset="0"/>
              </a:rPr>
              <a:t>Typically one of </a:t>
            </a:r>
            <a:r>
              <a:rPr lang="en-US" sz="2400" dirty="0">
                <a:solidFill>
                  <a:srgbClr val="FF0000"/>
                </a:solidFill>
                <a:latin typeface="Arial" panose="020B0604020202020204" pitchFamily="34" charset="0"/>
                <a:cs typeface="Arial" panose="020B0604020202020204" pitchFamily="34" charset="0"/>
              </a:rPr>
              <a:t>two types of transaction control models </a:t>
            </a:r>
            <a:r>
              <a:rPr lang="en-US" sz="2400" dirty="0">
                <a:latin typeface="Arial" panose="020B0604020202020204" pitchFamily="34" charset="0"/>
                <a:cs typeface="Arial" panose="020B0604020202020204" pitchFamily="34" charset="0"/>
              </a:rPr>
              <a:t>are used: </a:t>
            </a:r>
          </a:p>
          <a:p>
            <a:pPr marL="722313" indent="-366713">
              <a:lnSpc>
                <a:spcPct val="120000"/>
              </a:lnSpc>
              <a:spcBef>
                <a:spcPts val="2400"/>
              </a:spcBef>
              <a:spcAft>
                <a:spcPts val="600"/>
              </a:spcAft>
            </a:pPr>
            <a:r>
              <a:rPr lang="en-US" sz="2400" dirty="0">
                <a:latin typeface="Arial" panose="020B0604020202020204" pitchFamily="34" charset="0"/>
                <a:cs typeface="Arial" panose="020B0604020202020204" pitchFamily="34" charset="0"/>
              </a:rPr>
              <a:t>ACID, used in RDBMS, and </a:t>
            </a:r>
          </a:p>
          <a:p>
            <a:pPr marL="722313" indent="-366713">
              <a:lnSpc>
                <a:spcPct val="120000"/>
              </a:lnSpc>
              <a:spcBef>
                <a:spcPts val="2400"/>
              </a:spcBef>
              <a:spcAft>
                <a:spcPts val="600"/>
              </a:spcAft>
            </a:pPr>
            <a:r>
              <a:rPr lang="en-US" sz="2400" dirty="0">
                <a:latin typeface="Arial" panose="020B0604020202020204" pitchFamily="34" charset="0"/>
                <a:cs typeface="Arial" panose="020B0604020202020204" pitchFamily="34" charset="0"/>
              </a:rPr>
              <a:t>BASE, found in many NoSQL systems.</a:t>
            </a:r>
          </a:p>
          <a:p>
            <a:pPr marL="0" indent="0">
              <a:lnSpc>
                <a:spcPct val="120000"/>
              </a:lnSpc>
              <a:spcBef>
                <a:spcPts val="2400"/>
              </a:spcBef>
              <a:spcAft>
                <a:spcPts val="600"/>
              </a:spcAft>
              <a:buNone/>
            </a:pPr>
            <a:r>
              <a:rPr lang="en-US" sz="2400" dirty="0">
                <a:latin typeface="Arial" panose="020B0604020202020204" pitchFamily="34" charset="0"/>
                <a:cs typeface="Arial" panose="020B0604020202020204" pitchFamily="34" charset="0"/>
              </a:rPr>
              <a:t>The </a:t>
            </a:r>
            <a:r>
              <a:rPr lang="en-US" sz="2400" dirty="0">
                <a:solidFill>
                  <a:srgbClr val="FF0000"/>
                </a:solidFill>
                <a:latin typeface="Arial" panose="020B0604020202020204" pitchFamily="34" charset="0"/>
                <a:cs typeface="Arial" panose="020B0604020202020204" pitchFamily="34" charset="0"/>
              </a:rPr>
              <a:t>difference between these models is in the amount of effort required by application developers and the location (tier) of the transactional controls</a:t>
            </a:r>
            <a:r>
              <a:rPr lang="en-US" sz="2400" dirty="0">
                <a:latin typeface="Arial" panose="020B0604020202020204" pitchFamily="34" charset="0"/>
                <a:cs typeface="Arial" panose="020B0604020202020204" pitchFamily="34" charset="0"/>
              </a:rPr>
              <a:t>.</a:t>
            </a: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31-07-2024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3</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383513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Database transactions - Example</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2400"/>
              </a:spcBef>
              <a:spcAft>
                <a:spcPts val="600"/>
              </a:spcAft>
              <a:buNone/>
            </a:pPr>
            <a:r>
              <a:rPr lang="en-US" sz="2400" dirty="0">
                <a:latin typeface="Arial" panose="020B0604020202020204" pitchFamily="34" charset="0"/>
                <a:cs typeface="Arial" panose="020B0604020202020204" pitchFamily="34" charset="0"/>
              </a:rPr>
              <a:t>Consider this example</a:t>
            </a: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31-07-2024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4</a:t>
            </a:fld>
            <a:endParaRPr lang="en-IN"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1443788" y="2360904"/>
            <a:ext cx="9317856" cy="3478784"/>
          </a:xfrm>
          <a:prstGeom prst="rect">
            <a:avLst/>
          </a:prstGeom>
        </p:spPr>
      </p:pic>
    </p:spTree>
    <p:extLst>
      <p:ext uri="{BB962C8B-B14F-4D97-AF65-F5344CB8AC3E}">
        <p14:creationId xmlns:p14="http://schemas.microsoft.com/office/powerpoint/2010/main" val="12503264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Database transactions - Example</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fontScale="85000" lnSpcReduction="10000"/>
          </a:bodyPr>
          <a:lstStyle/>
          <a:p>
            <a:pPr marL="0" indent="0">
              <a:lnSpc>
                <a:spcPct val="120000"/>
              </a:lnSpc>
              <a:spcBef>
                <a:spcPts val="2400"/>
              </a:spcBef>
              <a:spcAft>
                <a:spcPts val="600"/>
              </a:spcAft>
              <a:buNone/>
            </a:pPr>
            <a:r>
              <a:rPr lang="en-US" sz="2400" dirty="0">
                <a:solidFill>
                  <a:srgbClr val="FF0000"/>
                </a:solidFill>
                <a:latin typeface="Arial" panose="020B0604020202020204" pitchFamily="34" charset="0"/>
                <a:cs typeface="Arial" panose="020B0604020202020204" pitchFamily="34" charset="0"/>
              </a:rPr>
              <a:t>Two Operations: </a:t>
            </a:r>
            <a:r>
              <a:rPr lang="en-US" sz="2400" dirty="0">
                <a:latin typeface="Arial" panose="020B0604020202020204" pitchFamily="34" charset="0"/>
                <a:cs typeface="Arial" panose="020B0604020202020204" pitchFamily="34" charset="0"/>
              </a:rPr>
              <a:t>The funds are subtracted from your savings account and then added to your checking account.</a:t>
            </a:r>
          </a:p>
          <a:p>
            <a:pPr marL="0" indent="0">
              <a:lnSpc>
                <a:spcPct val="120000"/>
              </a:lnSpc>
              <a:spcBef>
                <a:spcPts val="2400"/>
              </a:spcBef>
              <a:spcAft>
                <a:spcPts val="600"/>
              </a:spcAft>
              <a:buNone/>
            </a:pPr>
            <a:r>
              <a:rPr lang="en-US" sz="2400" dirty="0">
                <a:latin typeface="Arial" panose="020B0604020202020204" pitchFamily="34" charset="0"/>
                <a:cs typeface="Arial" panose="020B0604020202020204" pitchFamily="34" charset="0"/>
              </a:rPr>
              <a:t>Transaction management is the process of making sure that these two operations happen together as a single unit of work or not at all.</a:t>
            </a:r>
          </a:p>
          <a:p>
            <a:pPr marL="0" indent="0">
              <a:lnSpc>
                <a:spcPct val="120000"/>
              </a:lnSpc>
              <a:spcBef>
                <a:spcPts val="2400"/>
              </a:spcBef>
              <a:spcAft>
                <a:spcPts val="600"/>
              </a:spcAft>
              <a:buNone/>
            </a:pPr>
            <a:r>
              <a:rPr lang="en-US" sz="2400" dirty="0">
                <a:latin typeface="Arial" panose="020B0604020202020204" pitchFamily="34" charset="0"/>
                <a:cs typeface="Arial" panose="020B0604020202020204" pitchFamily="34" charset="0"/>
              </a:rPr>
              <a:t>RDBMS have made it easy for programmers to make transactions reliable by wrapping critical transactions in statements that indicate where transactions begin and end. </a:t>
            </a:r>
          </a:p>
          <a:p>
            <a:pPr marL="0" indent="0">
              <a:lnSpc>
                <a:spcPct val="120000"/>
              </a:lnSpc>
              <a:spcBef>
                <a:spcPts val="2400"/>
              </a:spcBef>
              <a:spcAft>
                <a:spcPts val="600"/>
              </a:spcAft>
              <a:buNone/>
            </a:pPr>
            <a:r>
              <a:rPr lang="en-US" sz="2400" dirty="0">
                <a:latin typeface="Arial" panose="020B0604020202020204" pitchFamily="34" charset="0"/>
                <a:cs typeface="Arial" panose="020B0604020202020204" pitchFamily="34" charset="0"/>
              </a:rPr>
              <a:t>These are often called </a:t>
            </a:r>
            <a:r>
              <a:rPr lang="en-US" sz="2400" dirty="0">
                <a:solidFill>
                  <a:srgbClr val="FF0000"/>
                </a:solidFill>
                <a:latin typeface="Arial" panose="020B0604020202020204" pitchFamily="34" charset="0"/>
                <a:cs typeface="Arial" panose="020B0604020202020204" pitchFamily="34" charset="0"/>
              </a:rPr>
              <a:t>BEGIN TRANSACTION </a:t>
            </a:r>
            <a:r>
              <a:rPr lang="en-US" sz="2400" dirty="0">
                <a:latin typeface="Arial" panose="020B0604020202020204" pitchFamily="34" charset="0"/>
                <a:cs typeface="Arial" panose="020B0604020202020204" pitchFamily="34" charset="0"/>
              </a:rPr>
              <a:t>and </a:t>
            </a:r>
            <a:r>
              <a:rPr lang="en-US" sz="2400" dirty="0">
                <a:solidFill>
                  <a:srgbClr val="FF0000"/>
                </a:solidFill>
                <a:latin typeface="Arial" panose="020B0604020202020204" pitchFamily="34" charset="0"/>
                <a:cs typeface="Arial" panose="020B0604020202020204" pitchFamily="34" charset="0"/>
              </a:rPr>
              <a:t>END TRANSACTION </a:t>
            </a:r>
            <a:r>
              <a:rPr lang="en-US" sz="2400" dirty="0">
                <a:latin typeface="Arial" panose="020B0604020202020204" pitchFamily="34" charset="0"/>
                <a:cs typeface="Arial" panose="020B0604020202020204" pitchFamily="34" charset="0"/>
              </a:rPr>
              <a:t>statements. </a:t>
            </a:r>
          </a:p>
          <a:p>
            <a:pPr marL="0" indent="0">
              <a:lnSpc>
                <a:spcPct val="120000"/>
              </a:lnSpc>
              <a:spcBef>
                <a:spcPts val="2400"/>
              </a:spcBef>
              <a:spcAft>
                <a:spcPts val="600"/>
              </a:spcAft>
              <a:buNone/>
            </a:pPr>
            <a:r>
              <a:rPr lang="en-US" sz="2400" dirty="0">
                <a:latin typeface="Arial" panose="020B0604020202020204" pitchFamily="34" charset="0"/>
                <a:cs typeface="Arial" panose="020B0604020202020204" pitchFamily="34" charset="0"/>
              </a:rPr>
              <a:t>By adding them, developers can get high-reliability transaction support.</a:t>
            </a: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31-07-2024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5</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534462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RDBMS transaction control using ACID</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lnSpcReduction="10000"/>
          </a:bodyPr>
          <a:lstStyle/>
          <a:p>
            <a:pPr marL="0" indent="0">
              <a:lnSpc>
                <a:spcPct val="120000"/>
              </a:lnSpc>
              <a:spcBef>
                <a:spcPts val="2400"/>
              </a:spcBef>
              <a:spcAft>
                <a:spcPts val="600"/>
              </a:spcAft>
              <a:buNone/>
            </a:pPr>
            <a:r>
              <a:rPr lang="en-US" sz="2400" dirty="0">
                <a:latin typeface="Arial" panose="020B0604020202020204" pitchFamily="34" charset="0"/>
                <a:cs typeface="Arial" panose="020B0604020202020204" pitchFamily="34" charset="0"/>
              </a:rPr>
              <a:t>RDBMSs maintain transaction control by using atomic, consistent, independent, and durable (ACID) properties to insure transactions are reliable.</a:t>
            </a:r>
          </a:p>
          <a:p>
            <a:pPr marL="0" indent="0">
              <a:lnSpc>
                <a:spcPct val="120000"/>
              </a:lnSpc>
              <a:spcBef>
                <a:spcPts val="2400"/>
              </a:spcBef>
              <a:spcAft>
                <a:spcPts val="600"/>
              </a:spcAft>
              <a:buNone/>
            </a:pPr>
            <a:r>
              <a:rPr lang="en-US" sz="2400" dirty="0">
                <a:solidFill>
                  <a:srgbClr val="FF0000"/>
                </a:solidFill>
                <a:latin typeface="Arial" panose="020B0604020202020204" pitchFamily="34" charset="0"/>
                <a:cs typeface="Arial" panose="020B0604020202020204" pitchFamily="34" charset="0"/>
              </a:rPr>
              <a:t>Atomicity</a:t>
            </a:r>
            <a:r>
              <a:rPr lang="en-US" sz="2400" dirty="0">
                <a:latin typeface="Arial" panose="020B0604020202020204" pitchFamily="34" charset="0"/>
                <a:cs typeface="Arial" panose="020B0604020202020204" pitchFamily="34" charset="0"/>
              </a:rPr>
              <a:t> - In the banking transaction example, we said that the exchange of funds from savings to checking must happen as an all-or-nothing transaction. The technical term for this is atomicity</a:t>
            </a:r>
          </a:p>
          <a:p>
            <a:pPr marL="0" indent="0">
              <a:lnSpc>
                <a:spcPct val="120000"/>
              </a:lnSpc>
              <a:spcBef>
                <a:spcPts val="2400"/>
              </a:spcBef>
              <a:spcAft>
                <a:spcPts val="600"/>
              </a:spcAft>
              <a:buNone/>
            </a:pPr>
            <a:r>
              <a:rPr lang="en-US" sz="2400" dirty="0">
                <a:solidFill>
                  <a:srgbClr val="FF0000"/>
                </a:solidFill>
                <a:latin typeface="Arial" panose="020B0604020202020204" pitchFamily="34" charset="0"/>
                <a:cs typeface="Arial" panose="020B0604020202020204" pitchFamily="34" charset="0"/>
              </a:rPr>
              <a:t>Consistency</a:t>
            </a:r>
            <a:r>
              <a:rPr lang="en-US" sz="2400" dirty="0">
                <a:latin typeface="Arial" panose="020B0604020202020204" pitchFamily="34" charset="0"/>
                <a:cs typeface="Arial" panose="020B0604020202020204" pitchFamily="34" charset="0"/>
              </a:rPr>
              <a:t> - In the banking transaction example, we talked about the fact that when moving funds between two related accounts, the total account balance must never change. This is the principle of consistency</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31-07-2024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6</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58443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RDBMS transaction control using ACID</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2400"/>
              </a:spcBef>
              <a:spcAft>
                <a:spcPts val="600"/>
              </a:spcAft>
              <a:buNone/>
            </a:pPr>
            <a:r>
              <a:rPr lang="en-US" sz="2400" dirty="0">
                <a:solidFill>
                  <a:srgbClr val="FF0000"/>
                </a:solidFill>
                <a:latin typeface="Arial" panose="020B0604020202020204" pitchFamily="34" charset="0"/>
                <a:cs typeface="Arial" panose="020B0604020202020204" pitchFamily="34" charset="0"/>
              </a:rPr>
              <a:t>Isolation</a:t>
            </a:r>
            <a:r>
              <a:rPr lang="en-US" sz="2400" dirty="0">
                <a:latin typeface="Arial" panose="020B0604020202020204" pitchFamily="34" charset="0"/>
                <a:cs typeface="Arial" panose="020B0604020202020204" pitchFamily="34" charset="0"/>
              </a:rPr>
              <a:t> - Isolation refers to the concept that each part of a transaction occurs without knowledge of any other transaction. For example, the transaction that adds funds doesn’t know about the transaction that subtracts funds from an account.</a:t>
            </a:r>
          </a:p>
          <a:p>
            <a:pPr marL="0" indent="0">
              <a:lnSpc>
                <a:spcPct val="120000"/>
              </a:lnSpc>
              <a:spcBef>
                <a:spcPts val="2400"/>
              </a:spcBef>
              <a:spcAft>
                <a:spcPts val="600"/>
              </a:spcAft>
              <a:buNone/>
            </a:pPr>
            <a:r>
              <a:rPr lang="en-US" sz="2400" dirty="0">
                <a:solidFill>
                  <a:srgbClr val="FF0000"/>
                </a:solidFill>
                <a:latin typeface="Arial" panose="020B0604020202020204" pitchFamily="34" charset="0"/>
                <a:cs typeface="Arial" panose="020B0604020202020204" pitchFamily="34" charset="0"/>
              </a:rPr>
              <a:t>Durability</a:t>
            </a:r>
            <a:r>
              <a:rPr lang="en-US" sz="2400" dirty="0">
                <a:latin typeface="Arial" panose="020B0604020202020204" pitchFamily="34" charset="0"/>
                <a:cs typeface="Arial" panose="020B0604020202020204" pitchFamily="34" charset="0"/>
              </a:rPr>
              <a:t> - Durability refers to the fact that once all aspects of a transaction are complete, it’s permanent. Once the transfer button is selected, you have the right to spend the money in your checking account.</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31-07-2024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7</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188451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a:solidFill>
                  <a:srgbClr val="0070C0"/>
                </a:solidFill>
                <a:latin typeface="Arial" panose="020B0604020202020204" pitchFamily="34" charset="0"/>
                <a:cs typeface="Arial" panose="020B0604020202020204" pitchFamily="34" charset="0"/>
              </a:rPr>
              <a:t>Drawbacks of RDBMS</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fontScale="92500"/>
          </a:bodyPr>
          <a:lstStyle/>
          <a:p>
            <a:pPr marL="0" indent="0">
              <a:lnSpc>
                <a:spcPct val="120000"/>
              </a:lnSpc>
              <a:spcBef>
                <a:spcPts val="2400"/>
              </a:spcBef>
              <a:spcAft>
                <a:spcPts val="600"/>
              </a:spcAft>
              <a:buNone/>
            </a:pPr>
            <a:r>
              <a:rPr lang="en-US" sz="2400" dirty="0">
                <a:latin typeface="Arial" panose="020B0604020202020204" pitchFamily="34" charset="0"/>
                <a:cs typeface="Arial" panose="020B0604020202020204" pitchFamily="34" charset="0"/>
              </a:rPr>
              <a:t>It’s very complex and </a:t>
            </a:r>
            <a:r>
              <a:rPr lang="en-US" sz="2400" dirty="0">
                <a:solidFill>
                  <a:srgbClr val="FF0000"/>
                </a:solidFill>
                <a:latin typeface="Arial" panose="020B0604020202020204" pitchFamily="34" charset="0"/>
                <a:cs typeface="Arial" panose="020B0604020202020204" pitchFamily="34" charset="0"/>
              </a:rPr>
              <a:t>relational databases can be expensive.</a:t>
            </a:r>
          </a:p>
          <a:p>
            <a:pPr marL="0" indent="0">
              <a:lnSpc>
                <a:spcPct val="120000"/>
              </a:lnSpc>
              <a:spcBef>
                <a:spcPts val="2400"/>
              </a:spcBef>
              <a:spcAft>
                <a:spcPts val="600"/>
              </a:spcAft>
              <a:buNone/>
            </a:pPr>
            <a:r>
              <a:rPr lang="en-US" sz="2400" dirty="0">
                <a:solidFill>
                  <a:srgbClr val="FF0000"/>
                </a:solidFill>
                <a:latin typeface="Arial" panose="020B0604020202020204" pitchFamily="34" charset="0"/>
                <a:cs typeface="Arial" panose="020B0604020202020204" pitchFamily="34" charset="0"/>
              </a:rPr>
              <a:t>Many RDBMSs restrict transaction location to a single CPU.</a:t>
            </a:r>
          </a:p>
          <a:p>
            <a:pPr marL="0" indent="0">
              <a:lnSpc>
                <a:spcPct val="120000"/>
              </a:lnSpc>
              <a:spcBef>
                <a:spcPts val="2400"/>
              </a:spcBef>
              <a:spcAft>
                <a:spcPts val="600"/>
              </a:spcAft>
              <a:buNone/>
            </a:pPr>
            <a:r>
              <a:rPr lang="en-US" sz="2400" dirty="0">
                <a:latin typeface="Arial" panose="020B0604020202020204" pitchFamily="34" charset="0"/>
                <a:cs typeface="Arial" panose="020B0604020202020204" pitchFamily="34" charset="0"/>
              </a:rPr>
              <a:t>Although ACID transactions is complex, there are well-known and well publicized strategies to do this. </a:t>
            </a:r>
          </a:p>
          <a:p>
            <a:pPr marL="0" indent="0">
              <a:lnSpc>
                <a:spcPct val="120000"/>
              </a:lnSpc>
              <a:spcBef>
                <a:spcPts val="2400"/>
              </a:spcBef>
              <a:spcAft>
                <a:spcPts val="600"/>
              </a:spcAft>
              <a:buNone/>
            </a:pPr>
            <a:r>
              <a:rPr lang="en-US" sz="2400" dirty="0">
                <a:latin typeface="Arial" panose="020B0604020202020204" pitchFamily="34" charset="0"/>
                <a:cs typeface="Arial" panose="020B0604020202020204" pitchFamily="34" charset="0"/>
              </a:rPr>
              <a:t>All of them depend on </a:t>
            </a:r>
            <a:r>
              <a:rPr lang="en-US" sz="2400" dirty="0">
                <a:solidFill>
                  <a:srgbClr val="FF0000"/>
                </a:solidFill>
                <a:latin typeface="Arial" panose="020B0604020202020204" pitchFamily="34" charset="0"/>
                <a:cs typeface="Arial" panose="020B0604020202020204" pitchFamily="34" charset="0"/>
              </a:rPr>
              <a:t>locking resources</a:t>
            </a:r>
            <a:r>
              <a:rPr lang="en-US" sz="2400" dirty="0">
                <a:latin typeface="Arial" panose="020B0604020202020204" pitchFamily="34" charset="0"/>
                <a:cs typeface="Arial" panose="020B0604020202020204" pitchFamily="34" charset="0"/>
              </a:rPr>
              <a:t>, putting extra copies of the resources aside, performing the transaction and then, if all is well, unlocking the resources.</a:t>
            </a:r>
          </a:p>
          <a:p>
            <a:pPr marL="0" indent="0">
              <a:lnSpc>
                <a:spcPct val="120000"/>
              </a:lnSpc>
              <a:spcBef>
                <a:spcPts val="2400"/>
              </a:spcBef>
              <a:spcAft>
                <a:spcPts val="600"/>
              </a:spcAft>
              <a:buNone/>
            </a:pPr>
            <a:r>
              <a:rPr lang="en-US" sz="2400" dirty="0">
                <a:solidFill>
                  <a:srgbClr val="FF0000"/>
                </a:solidFill>
                <a:latin typeface="Arial" panose="020B0604020202020204" pitchFamily="34" charset="0"/>
                <a:cs typeface="Arial" panose="020B0604020202020204" pitchFamily="34" charset="0"/>
              </a:rPr>
              <a:t>ACID systems focus on the consistency and integrity</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31-07-2024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8</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493728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Non-RDBMS transaction control using BASE</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fontScale="92500" lnSpcReduction="10000"/>
          </a:bodyPr>
          <a:lstStyle/>
          <a:p>
            <a:pPr marL="0" indent="0">
              <a:lnSpc>
                <a:spcPct val="120000"/>
              </a:lnSpc>
              <a:spcBef>
                <a:spcPts val="600"/>
              </a:spcBef>
              <a:spcAft>
                <a:spcPts val="600"/>
              </a:spcAft>
              <a:buNone/>
            </a:pPr>
            <a:r>
              <a:rPr lang="en-US" sz="2400" dirty="0">
                <a:latin typeface="Arial" panose="020B0604020202020204" pitchFamily="34" charset="0"/>
                <a:cs typeface="Arial" panose="020B0604020202020204" pitchFamily="34" charset="0"/>
              </a:rPr>
              <a:t>Consider you have a website that relies on computers all over the world.</a:t>
            </a:r>
          </a:p>
          <a:p>
            <a:pPr marL="1077913" lvl="1" indent="-355600">
              <a:lnSpc>
                <a:spcPct val="120000"/>
              </a:lnSpc>
              <a:spcBef>
                <a:spcPts val="600"/>
              </a:spcBef>
              <a:spcAft>
                <a:spcPts val="600"/>
              </a:spcAft>
            </a:pPr>
            <a:r>
              <a:rPr lang="en-US" sz="2000" dirty="0">
                <a:latin typeface="Arial" panose="020B0604020202020204" pitchFamily="34" charset="0"/>
                <a:cs typeface="Arial" panose="020B0604020202020204" pitchFamily="34" charset="0"/>
              </a:rPr>
              <a:t>A computer in USA manages your inventory, </a:t>
            </a:r>
          </a:p>
          <a:p>
            <a:pPr marL="1077913" lvl="1" indent="-355600">
              <a:lnSpc>
                <a:spcPct val="120000"/>
              </a:lnSpc>
              <a:spcBef>
                <a:spcPts val="600"/>
              </a:spcBef>
              <a:spcAft>
                <a:spcPts val="600"/>
              </a:spcAft>
            </a:pPr>
            <a:r>
              <a:rPr lang="en-US" sz="2000" dirty="0">
                <a:latin typeface="Arial" panose="020B0604020202020204" pitchFamily="34" charset="0"/>
                <a:cs typeface="Arial" panose="020B0604020202020204" pitchFamily="34" charset="0"/>
              </a:rPr>
              <a:t>Product photos are on an image database in UK,</a:t>
            </a:r>
          </a:p>
          <a:p>
            <a:pPr marL="1077913" lvl="1" indent="-355600">
              <a:lnSpc>
                <a:spcPct val="120000"/>
              </a:lnSpc>
              <a:spcBef>
                <a:spcPts val="600"/>
              </a:spcBef>
              <a:spcAft>
                <a:spcPts val="600"/>
              </a:spcAft>
            </a:pPr>
            <a:r>
              <a:rPr lang="en-US" sz="2000" dirty="0">
                <a:latin typeface="Arial" panose="020B0604020202020204" pitchFamily="34" charset="0"/>
                <a:cs typeface="Arial" panose="020B0604020202020204" pitchFamily="34" charset="0"/>
              </a:rPr>
              <a:t>Tax calculations are performed in India, and</a:t>
            </a:r>
          </a:p>
          <a:p>
            <a:pPr marL="1077913" lvl="1" indent="-355600">
              <a:lnSpc>
                <a:spcPct val="120000"/>
              </a:lnSpc>
              <a:spcBef>
                <a:spcPts val="600"/>
              </a:spcBef>
              <a:spcAft>
                <a:spcPts val="600"/>
              </a:spcAft>
            </a:pPr>
            <a:r>
              <a:rPr lang="en-US" sz="2000" dirty="0">
                <a:latin typeface="Arial" panose="020B0604020202020204" pitchFamily="34" charset="0"/>
                <a:cs typeface="Arial" panose="020B0604020202020204" pitchFamily="34" charset="0"/>
              </a:rPr>
              <a:t>Your accounting system is in Australia. </a:t>
            </a:r>
          </a:p>
          <a:p>
            <a:pPr marL="0" indent="0">
              <a:lnSpc>
                <a:spcPct val="120000"/>
              </a:lnSpc>
              <a:spcBef>
                <a:spcPts val="600"/>
              </a:spcBef>
              <a:spcAft>
                <a:spcPts val="600"/>
              </a:spcAft>
              <a:buNone/>
            </a:pPr>
            <a:r>
              <a:rPr lang="en-US" sz="2400" dirty="0">
                <a:latin typeface="Arial" panose="020B0604020202020204" pitchFamily="34" charset="0"/>
                <a:cs typeface="Arial" panose="020B0604020202020204" pitchFamily="34" charset="0"/>
              </a:rPr>
              <a:t>What if one site goes down? </a:t>
            </a:r>
          </a:p>
          <a:p>
            <a:pPr marL="0" indent="0">
              <a:lnSpc>
                <a:spcPct val="120000"/>
              </a:lnSpc>
              <a:spcBef>
                <a:spcPts val="600"/>
              </a:spcBef>
              <a:spcAft>
                <a:spcPts val="600"/>
              </a:spcAft>
              <a:buNone/>
            </a:pPr>
            <a:r>
              <a:rPr lang="en-US" sz="2400" dirty="0">
                <a:latin typeface="Arial" panose="020B0604020202020204" pitchFamily="34" charset="0"/>
                <a:cs typeface="Arial" panose="020B0604020202020204" pitchFamily="34" charset="0"/>
              </a:rPr>
              <a:t>Should you tell your customers to check back in 20 minutes while you solve the problem? </a:t>
            </a:r>
          </a:p>
          <a:p>
            <a:pPr marL="0" indent="0">
              <a:lnSpc>
                <a:spcPct val="120000"/>
              </a:lnSpc>
              <a:spcBef>
                <a:spcPts val="600"/>
              </a:spcBef>
              <a:spcAft>
                <a:spcPts val="600"/>
              </a:spcAft>
              <a:buNone/>
            </a:pPr>
            <a:r>
              <a:rPr lang="en-US" sz="2400" dirty="0">
                <a:latin typeface="Arial" panose="020B0604020202020204" pitchFamily="34" charset="0"/>
                <a:cs typeface="Arial" panose="020B0604020202020204" pitchFamily="34" charset="0"/>
              </a:rPr>
              <a:t>Is it realistic to use ACID software for every order that comes in? </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31-07-2024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9</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94290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Non-RDBMS transaction control using BASE</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fontScale="92500"/>
          </a:bodyPr>
          <a:lstStyle/>
          <a:p>
            <a:pPr marL="457200" indent="-457200">
              <a:lnSpc>
                <a:spcPct val="120000"/>
              </a:lnSpc>
              <a:spcBef>
                <a:spcPts val="1200"/>
              </a:spcBef>
              <a:spcAft>
                <a:spcPts val="600"/>
              </a:spcAft>
            </a:pPr>
            <a:r>
              <a:rPr lang="en-US" sz="2400" dirty="0">
                <a:latin typeface="Arial" panose="020B0604020202020204" pitchFamily="34" charset="0"/>
                <a:cs typeface="Arial" panose="020B0604020202020204" pitchFamily="34" charset="0"/>
              </a:rPr>
              <a:t>The BASE model (Basically Available, Soft state, Eventual consistency) is often used instead of the traditional ACID properties to handle transactions. </a:t>
            </a:r>
          </a:p>
          <a:p>
            <a:pPr marL="457200" indent="-457200">
              <a:lnSpc>
                <a:spcPct val="120000"/>
              </a:lnSpc>
              <a:spcBef>
                <a:spcPts val="1200"/>
              </a:spcBef>
              <a:spcAft>
                <a:spcPts val="600"/>
              </a:spcAft>
            </a:pPr>
            <a:r>
              <a:rPr lang="en-US" sz="2400" dirty="0">
                <a:latin typeface="Arial" panose="020B0604020202020204" pitchFamily="34" charset="0"/>
                <a:cs typeface="Arial" panose="020B0604020202020204" pitchFamily="34" charset="0"/>
              </a:rPr>
              <a:t>BASE is designed to achieve high availability and scalability, sacrificing some consistency guarantees for better performance and fault tolerance.</a:t>
            </a:r>
          </a:p>
          <a:p>
            <a:pPr marL="457200" indent="-457200">
              <a:lnSpc>
                <a:spcPct val="120000"/>
              </a:lnSpc>
              <a:spcBef>
                <a:spcPts val="1200"/>
              </a:spcBef>
              <a:spcAft>
                <a:spcPts val="600"/>
              </a:spcAft>
            </a:pPr>
            <a:r>
              <a:rPr lang="en-US" sz="2400" dirty="0">
                <a:latin typeface="Arial" panose="020B0604020202020204" pitchFamily="34" charset="0"/>
                <a:cs typeface="Arial" panose="020B0604020202020204" pitchFamily="34" charset="0"/>
              </a:rPr>
              <a:t>BASE guarantees that the system remains operational even when some of its components fail.</a:t>
            </a:r>
          </a:p>
          <a:p>
            <a:pPr marL="457200" indent="-457200">
              <a:lnSpc>
                <a:spcPct val="120000"/>
              </a:lnSpc>
              <a:spcBef>
                <a:spcPts val="1200"/>
              </a:spcBef>
              <a:spcAft>
                <a:spcPts val="600"/>
              </a:spcAft>
            </a:pPr>
            <a:r>
              <a:rPr lang="en-US" sz="2400" dirty="0">
                <a:latin typeface="Arial" panose="020B0604020202020204" pitchFamily="34" charset="0"/>
                <a:cs typeface="Arial" panose="020B0604020202020204" pitchFamily="34" charset="0"/>
              </a:rPr>
              <a:t>By relaxing consistency requirements, BASE systems can provide faster responses to queries and updates, reducing the overall latency experienced by end-users.</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31-07-2024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10</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98179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Non-RDBMS transaction control using BASE</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fontScale="92500" lnSpcReduction="10000"/>
          </a:bodyPr>
          <a:lstStyle/>
          <a:p>
            <a:pPr marL="0" indent="0">
              <a:lnSpc>
                <a:spcPct val="120000"/>
              </a:lnSpc>
              <a:spcBef>
                <a:spcPts val="1200"/>
              </a:spcBef>
              <a:spcAft>
                <a:spcPts val="600"/>
              </a:spcAft>
              <a:buNone/>
            </a:pPr>
            <a:r>
              <a:rPr lang="en-US" sz="2400" dirty="0">
                <a:solidFill>
                  <a:srgbClr val="FF0000"/>
                </a:solidFill>
                <a:latin typeface="Arial" panose="020B0604020202020204" pitchFamily="34" charset="0"/>
                <a:cs typeface="Arial" panose="020B0604020202020204" pitchFamily="34" charset="0"/>
              </a:rPr>
              <a:t>Basically Available:</a:t>
            </a:r>
          </a:p>
          <a:p>
            <a:pPr marL="569913" indent="-336550">
              <a:lnSpc>
                <a:spcPct val="120000"/>
              </a:lnSpc>
              <a:spcBef>
                <a:spcPts val="1200"/>
              </a:spcBef>
              <a:spcAft>
                <a:spcPts val="600"/>
              </a:spcAft>
            </a:pPr>
            <a:r>
              <a:rPr lang="en-US" sz="2400" dirty="0">
                <a:latin typeface="Arial" panose="020B0604020202020204" pitchFamily="34" charset="0"/>
                <a:cs typeface="Arial" panose="020B0604020202020204" pitchFamily="34" charset="0"/>
              </a:rPr>
              <a:t>The system guarantees availability, meaning </a:t>
            </a:r>
            <a:r>
              <a:rPr lang="en-US" sz="2400" dirty="0">
                <a:solidFill>
                  <a:srgbClr val="FF0000"/>
                </a:solidFill>
                <a:latin typeface="Arial" panose="020B0604020202020204" pitchFamily="34" charset="0"/>
                <a:cs typeface="Arial" panose="020B0604020202020204" pitchFamily="34" charset="0"/>
              </a:rPr>
              <a:t>it will always respond to requests, even if the responses are not immediately consistent</a:t>
            </a:r>
            <a:r>
              <a:rPr lang="en-US" sz="2400" dirty="0">
                <a:latin typeface="Arial" panose="020B0604020202020204" pitchFamily="34" charset="0"/>
                <a:cs typeface="Arial" panose="020B0604020202020204" pitchFamily="34" charset="0"/>
              </a:rPr>
              <a:t>.</a:t>
            </a:r>
          </a:p>
          <a:p>
            <a:pPr marL="569913" indent="-336550">
              <a:lnSpc>
                <a:spcPct val="120000"/>
              </a:lnSpc>
              <a:spcBef>
                <a:spcPts val="1200"/>
              </a:spcBef>
              <a:spcAft>
                <a:spcPts val="600"/>
              </a:spcAft>
            </a:pPr>
            <a:r>
              <a:rPr lang="en-US" sz="2400" dirty="0">
                <a:latin typeface="Arial" panose="020B0604020202020204" pitchFamily="34" charset="0"/>
                <a:cs typeface="Arial" panose="020B0604020202020204" pitchFamily="34" charset="0"/>
              </a:rPr>
              <a:t>This ensures that the system remains operational under various conditions, including network partitions.</a:t>
            </a:r>
          </a:p>
          <a:p>
            <a:pPr marL="569913" indent="-336550">
              <a:lnSpc>
                <a:spcPct val="120000"/>
              </a:lnSpc>
              <a:spcBef>
                <a:spcPts val="1200"/>
              </a:spcBef>
              <a:spcAft>
                <a:spcPts val="600"/>
              </a:spcAft>
            </a:pPr>
            <a:r>
              <a:rPr lang="en-US" sz="2400" dirty="0">
                <a:latin typeface="Arial" panose="020B0604020202020204" pitchFamily="34" charset="0"/>
                <a:cs typeface="Arial" panose="020B0604020202020204" pitchFamily="34" charset="0"/>
              </a:rPr>
              <a:t>A retail website like </a:t>
            </a:r>
            <a:r>
              <a:rPr lang="en-US" sz="2400" dirty="0">
                <a:solidFill>
                  <a:srgbClr val="FF0000"/>
                </a:solidFill>
                <a:latin typeface="Arial" panose="020B0604020202020204" pitchFamily="34" charset="0"/>
                <a:cs typeface="Arial" panose="020B0604020202020204" pitchFamily="34" charset="0"/>
              </a:rPr>
              <a:t>Amazon</a:t>
            </a:r>
            <a:r>
              <a:rPr lang="en-US" sz="2400" dirty="0">
                <a:latin typeface="Arial" panose="020B0604020202020204" pitchFamily="34" charset="0"/>
                <a:cs typeface="Arial" panose="020B0604020202020204" pitchFamily="34" charset="0"/>
              </a:rPr>
              <a:t> needs to handle millions of transactions during a sale event. To ensure the system remains available, the database might allow some flexibility in data consistency. For instance, if a product's inventory is temporarily out of sync due to high demand, the website still allows users to add items to their cart, and updates the inventory asynchronously.</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31-07-2024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11</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728418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Non-RDBMS transaction control using BASE</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fontScale="92500" lnSpcReduction="10000"/>
          </a:bodyPr>
          <a:lstStyle/>
          <a:p>
            <a:pPr marL="0" indent="0">
              <a:lnSpc>
                <a:spcPct val="120000"/>
              </a:lnSpc>
              <a:spcBef>
                <a:spcPts val="1200"/>
              </a:spcBef>
              <a:spcAft>
                <a:spcPts val="600"/>
              </a:spcAft>
              <a:buNone/>
            </a:pPr>
            <a:r>
              <a:rPr lang="en-US" sz="2400" dirty="0">
                <a:solidFill>
                  <a:srgbClr val="FF0000"/>
                </a:solidFill>
                <a:latin typeface="Arial" panose="020B0604020202020204" pitchFamily="34" charset="0"/>
                <a:cs typeface="Arial" panose="020B0604020202020204" pitchFamily="34" charset="0"/>
              </a:rPr>
              <a:t>Soft State:</a:t>
            </a:r>
          </a:p>
          <a:p>
            <a:pPr marL="569913" indent="-336550">
              <a:lnSpc>
                <a:spcPct val="120000"/>
              </a:lnSpc>
              <a:spcBef>
                <a:spcPts val="1200"/>
              </a:spcBef>
              <a:spcAft>
                <a:spcPts val="600"/>
              </a:spcAft>
            </a:pPr>
            <a:r>
              <a:rPr lang="en-US" sz="2400" dirty="0">
                <a:latin typeface="Arial" panose="020B0604020202020204" pitchFamily="34" charset="0"/>
                <a:cs typeface="Arial" panose="020B0604020202020204" pitchFamily="34" charset="0"/>
              </a:rPr>
              <a:t>The state of the system may change over time, even without input, due to the asynchronous propagation of updates.</a:t>
            </a:r>
          </a:p>
          <a:p>
            <a:pPr marL="569913" indent="-336550">
              <a:lnSpc>
                <a:spcPct val="120000"/>
              </a:lnSpc>
              <a:spcBef>
                <a:spcPts val="1200"/>
              </a:spcBef>
              <a:spcAft>
                <a:spcPts val="600"/>
              </a:spcAft>
            </a:pPr>
            <a:r>
              <a:rPr lang="en-US" sz="2400" dirty="0">
                <a:solidFill>
                  <a:srgbClr val="FF0000"/>
                </a:solidFill>
                <a:latin typeface="Arial" panose="020B0604020202020204" pitchFamily="34" charset="0"/>
                <a:cs typeface="Arial" panose="020B0604020202020204" pitchFamily="34" charset="0"/>
              </a:rPr>
              <a:t>The system does not need to be immediately consistent</a:t>
            </a:r>
            <a:r>
              <a:rPr lang="en-US" sz="2400" dirty="0">
                <a:latin typeface="Arial" panose="020B0604020202020204" pitchFamily="34" charset="0"/>
                <a:cs typeface="Arial" panose="020B0604020202020204" pitchFamily="34" charset="0"/>
              </a:rPr>
              <a:t>, allowing for greater flexibility in handling data.</a:t>
            </a:r>
          </a:p>
          <a:p>
            <a:pPr marL="569913" indent="-336550">
              <a:lnSpc>
                <a:spcPct val="120000"/>
              </a:lnSpc>
              <a:spcBef>
                <a:spcPts val="1200"/>
              </a:spcBef>
              <a:spcAft>
                <a:spcPts val="600"/>
              </a:spcAft>
            </a:pPr>
            <a:r>
              <a:rPr lang="en-US" sz="2400" dirty="0">
                <a:latin typeface="Arial" panose="020B0604020202020204" pitchFamily="34" charset="0"/>
                <a:cs typeface="Arial" panose="020B0604020202020204" pitchFamily="34" charset="0"/>
              </a:rPr>
              <a:t>A distributed database used by a global social media platform like </a:t>
            </a:r>
            <a:r>
              <a:rPr lang="en-US" sz="2400" dirty="0">
                <a:solidFill>
                  <a:srgbClr val="FF0000"/>
                </a:solidFill>
                <a:latin typeface="Arial" panose="020B0604020202020204" pitchFamily="34" charset="0"/>
                <a:cs typeface="Arial" panose="020B0604020202020204" pitchFamily="34" charset="0"/>
              </a:rPr>
              <a:t>Facebook</a:t>
            </a:r>
            <a:r>
              <a:rPr lang="en-US" sz="2400" dirty="0">
                <a:latin typeface="Arial" panose="020B0604020202020204" pitchFamily="34" charset="0"/>
                <a:cs typeface="Arial" panose="020B0604020202020204" pitchFamily="34" charset="0"/>
              </a:rPr>
              <a:t> might have nodes spread across different regions. As users update their profiles or post new content, these changes might not be immediately reflected in all nodes. The system's state is considered "soft" because it is continually changing and eventually synchronizes across all nodes.</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31-07-2024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12</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883276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Non-RDBMS transaction control using BASE</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fontScale="92500" lnSpcReduction="10000"/>
          </a:bodyPr>
          <a:lstStyle/>
          <a:p>
            <a:pPr marL="0" indent="0">
              <a:lnSpc>
                <a:spcPct val="120000"/>
              </a:lnSpc>
              <a:spcBef>
                <a:spcPts val="1200"/>
              </a:spcBef>
              <a:spcAft>
                <a:spcPts val="600"/>
              </a:spcAft>
              <a:buNone/>
            </a:pPr>
            <a:r>
              <a:rPr lang="en-US" sz="2400" dirty="0">
                <a:solidFill>
                  <a:srgbClr val="FF0000"/>
                </a:solidFill>
                <a:latin typeface="Arial" panose="020B0604020202020204" pitchFamily="34" charset="0"/>
                <a:cs typeface="Arial" panose="020B0604020202020204" pitchFamily="34" charset="0"/>
              </a:rPr>
              <a:t>Eventual Consistency:</a:t>
            </a:r>
          </a:p>
          <a:p>
            <a:pPr marL="569913" indent="-336550">
              <a:lnSpc>
                <a:spcPct val="120000"/>
              </a:lnSpc>
              <a:spcBef>
                <a:spcPts val="1200"/>
              </a:spcBef>
              <a:spcAft>
                <a:spcPts val="600"/>
              </a:spcAft>
            </a:pPr>
            <a:r>
              <a:rPr lang="en-US" sz="2400" dirty="0">
                <a:latin typeface="Arial" panose="020B0604020202020204" pitchFamily="34" charset="0"/>
                <a:cs typeface="Arial" panose="020B0604020202020204" pitchFamily="34" charset="0"/>
              </a:rPr>
              <a:t>The system guarantees that, given enough time, </a:t>
            </a:r>
            <a:r>
              <a:rPr lang="en-US" sz="2400" dirty="0">
                <a:solidFill>
                  <a:srgbClr val="0000FF"/>
                </a:solidFill>
                <a:latin typeface="Arial" panose="020B0604020202020204" pitchFamily="34" charset="0"/>
                <a:cs typeface="Arial" panose="020B0604020202020204" pitchFamily="34" charset="0"/>
              </a:rPr>
              <a:t>all replicas will converge to the same state</a:t>
            </a:r>
            <a:r>
              <a:rPr lang="en-US" sz="2400" dirty="0">
                <a:latin typeface="Arial" panose="020B0604020202020204" pitchFamily="34" charset="0"/>
                <a:cs typeface="Arial" panose="020B0604020202020204" pitchFamily="34" charset="0"/>
              </a:rPr>
              <a:t>.</a:t>
            </a:r>
          </a:p>
          <a:p>
            <a:pPr marL="569913" indent="-336550">
              <a:lnSpc>
                <a:spcPct val="120000"/>
              </a:lnSpc>
              <a:spcBef>
                <a:spcPts val="1200"/>
              </a:spcBef>
              <a:spcAft>
                <a:spcPts val="600"/>
              </a:spcAft>
            </a:pPr>
            <a:r>
              <a:rPr lang="en-US" sz="2400" dirty="0">
                <a:latin typeface="Arial" panose="020B0604020202020204" pitchFamily="34" charset="0"/>
                <a:cs typeface="Arial" panose="020B0604020202020204" pitchFamily="34" charset="0"/>
              </a:rPr>
              <a:t>This allows for temporary inconsistencies while ensuring long-term data integrity.</a:t>
            </a:r>
          </a:p>
          <a:p>
            <a:pPr marL="569913" indent="-336550">
              <a:lnSpc>
                <a:spcPct val="120000"/>
              </a:lnSpc>
              <a:spcBef>
                <a:spcPts val="1200"/>
              </a:spcBef>
              <a:spcAft>
                <a:spcPts val="600"/>
              </a:spcAft>
            </a:pPr>
            <a:r>
              <a:rPr lang="en-US" sz="2400" dirty="0">
                <a:latin typeface="Arial" panose="020B0604020202020204" pitchFamily="34" charset="0"/>
                <a:cs typeface="Arial" panose="020B0604020202020204" pitchFamily="34" charset="0"/>
              </a:rPr>
              <a:t>In a NoSQL database like </a:t>
            </a:r>
            <a:r>
              <a:rPr lang="en-US" sz="2400" dirty="0">
                <a:solidFill>
                  <a:srgbClr val="0000FF"/>
                </a:solidFill>
                <a:latin typeface="Arial" panose="020B0604020202020204" pitchFamily="34" charset="0"/>
                <a:cs typeface="Arial" panose="020B0604020202020204" pitchFamily="34" charset="0"/>
              </a:rPr>
              <a:t>Cassandra used by Netflix</a:t>
            </a:r>
            <a:r>
              <a:rPr lang="en-US" sz="2400" dirty="0">
                <a:latin typeface="Arial" panose="020B0604020202020204" pitchFamily="34" charset="0"/>
                <a:cs typeface="Arial" panose="020B0604020202020204" pitchFamily="34" charset="0"/>
              </a:rPr>
              <a:t>, when a user updates their watchlist, the update might not be instantly visible across all devices due to network latency or partitioning. However, within a short period, all copies of the data across different nodes will eventually be consistent, ensuring that the user's watchlist is accurately reflected on all devices.</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31-07-2024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13</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879173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Conclusion</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fontScale="92500" lnSpcReduction="20000"/>
          </a:bodyPr>
          <a:lstStyle/>
          <a:p>
            <a:pPr marL="457200" indent="-366713">
              <a:lnSpc>
                <a:spcPct val="120000"/>
              </a:lnSpc>
              <a:spcBef>
                <a:spcPts val="1800"/>
              </a:spcBef>
              <a:spcAft>
                <a:spcPts val="600"/>
              </a:spcAft>
            </a:pPr>
            <a:r>
              <a:rPr lang="en-US" sz="2400" dirty="0">
                <a:latin typeface="Arial" panose="020B0604020202020204" pitchFamily="34" charset="0"/>
                <a:cs typeface="Arial" panose="020B0604020202020204" pitchFamily="34" charset="0"/>
              </a:rPr>
              <a:t>Unlike RDBMSs that focus on consistency, BASE systems </a:t>
            </a:r>
            <a:r>
              <a:rPr lang="en-US" sz="2400" dirty="0">
                <a:solidFill>
                  <a:srgbClr val="FF0000"/>
                </a:solidFill>
                <a:latin typeface="Arial" panose="020B0604020202020204" pitchFamily="34" charset="0"/>
                <a:cs typeface="Arial" panose="020B0604020202020204" pitchFamily="34" charset="0"/>
              </a:rPr>
              <a:t>focus on availability</a:t>
            </a:r>
          </a:p>
          <a:p>
            <a:pPr marL="457200" indent="-366713">
              <a:lnSpc>
                <a:spcPct val="120000"/>
              </a:lnSpc>
              <a:spcBef>
                <a:spcPts val="1800"/>
              </a:spcBef>
              <a:spcAft>
                <a:spcPts val="600"/>
              </a:spcAft>
            </a:pPr>
            <a:r>
              <a:rPr lang="en-US" sz="2400" dirty="0">
                <a:solidFill>
                  <a:srgbClr val="FF0000"/>
                </a:solidFill>
                <a:latin typeface="Arial" panose="020B0604020202020204" pitchFamily="34" charset="0"/>
                <a:cs typeface="Arial" panose="020B0604020202020204" pitchFamily="34" charset="0"/>
              </a:rPr>
              <a:t>They relax the rules</a:t>
            </a:r>
            <a:r>
              <a:rPr lang="en-US" sz="2400" dirty="0">
                <a:latin typeface="Arial" panose="020B0604020202020204" pitchFamily="34" charset="0"/>
                <a:cs typeface="Arial" panose="020B0604020202020204" pitchFamily="34" charset="0"/>
              </a:rPr>
              <a:t> and allow reports to run even if not all portions of the database are synchronized.</a:t>
            </a:r>
          </a:p>
          <a:p>
            <a:pPr marL="457200" indent="-366713">
              <a:lnSpc>
                <a:spcPct val="120000"/>
              </a:lnSpc>
              <a:spcBef>
                <a:spcPts val="1800"/>
              </a:spcBef>
              <a:spcAft>
                <a:spcPts val="600"/>
              </a:spcAft>
            </a:pPr>
            <a:r>
              <a:rPr lang="en-US" sz="2400" dirty="0">
                <a:latin typeface="Arial" panose="020B0604020202020204" pitchFamily="34" charset="0"/>
                <a:cs typeface="Arial" panose="020B0604020202020204" pitchFamily="34" charset="0"/>
              </a:rPr>
              <a:t>BASE systems tend to be simpler and faster because </a:t>
            </a:r>
            <a:r>
              <a:rPr lang="en-US" sz="2400" dirty="0">
                <a:solidFill>
                  <a:srgbClr val="FF0000"/>
                </a:solidFill>
                <a:latin typeface="Arial" panose="020B0604020202020204" pitchFamily="34" charset="0"/>
                <a:cs typeface="Arial" panose="020B0604020202020204" pitchFamily="34" charset="0"/>
              </a:rPr>
              <a:t>they don’t have to write code that deals with locking and unlocking resources</a:t>
            </a:r>
            <a:r>
              <a:rPr lang="en-US" sz="2400" dirty="0">
                <a:latin typeface="Arial" panose="020B0604020202020204" pitchFamily="34" charset="0"/>
                <a:cs typeface="Arial" panose="020B0604020202020204" pitchFamily="34" charset="0"/>
              </a:rPr>
              <a:t>.</a:t>
            </a:r>
          </a:p>
          <a:p>
            <a:pPr marL="457200" indent="-366713">
              <a:lnSpc>
                <a:spcPct val="120000"/>
              </a:lnSpc>
              <a:spcBef>
                <a:spcPts val="1800"/>
              </a:spcBef>
              <a:spcAft>
                <a:spcPts val="600"/>
              </a:spcAft>
            </a:pPr>
            <a:r>
              <a:rPr lang="en-US" sz="2400" dirty="0">
                <a:latin typeface="Arial" panose="020B0604020202020204" pitchFamily="34" charset="0"/>
                <a:cs typeface="Arial" panose="020B0604020202020204" pitchFamily="34" charset="0"/>
              </a:rPr>
              <a:t>BASE systems are ideal for web storefronts, where filling a shopping cart and placing an order is the main priority.</a:t>
            </a:r>
          </a:p>
          <a:p>
            <a:pPr marL="457200" indent="-366713">
              <a:lnSpc>
                <a:spcPct val="120000"/>
              </a:lnSpc>
              <a:spcBef>
                <a:spcPts val="1800"/>
              </a:spcBef>
              <a:spcAft>
                <a:spcPts val="600"/>
              </a:spcAft>
            </a:pPr>
            <a:r>
              <a:rPr lang="en-US" sz="2400" dirty="0">
                <a:latin typeface="Arial" panose="020B0604020202020204" pitchFamily="34" charset="0"/>
                <a:cs typeface="Arial" panose="020B0604020202020204" pitchFamily="34" charset="0"/>
              </a:rPr>
              <a:t>NoSQL systems are </a:t>
            </a:r>
            <a:r>
              <a:rPr lang="en-US" sz="2400" dirty="0">
                <a:solidFill>
                  <a:srgbClr val="FF0000"/>
                </a:solidFill>
                <a:latin typeface="Arial" panose="020B0604020202020204" pitchFamily="34" charset="0"/>
                <a:cs typeface="Arial" panose="020B0604020202020204" pitchFamily="34" charset="0"/>
              </a:rPr>
              <a:t>highly decentralized </a:t>
            </a:r>
            <a:r>
              <a:rPr lang="en-US" sz="2400" dirty="0">
                <a:latin typeface="Arial" panose="020B0604020202020204" pitchFamily="34" charset="0"/>
                <a:cs typeface="Arial" panose="020B0604020202020204" pitchFamily="34" charset="0"/>
              </a:rPr>
              <a:t>and ACID guarantees may not be necessary, so they use BASE and take a more relaxed approach</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31-07-2024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14</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902759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ACID vs BASE</a:t>
            </a:r>
            <a:endParaRPr lang="en-IN" sz="3200" b="1" u="sng" dirty="0">
              <a:solidFill>
                <a:srgbClr val="0070C0"/>
              </a:solidFill>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31-07-2024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15</a:t>
            </a:fld>
            <a:endParaRPr lang="en-IN" dirty="0">
              <a:latin typeface="Arial" panose="020B0604020202020204" pitchFamily="34" charset="0"/>
              <a:cs typeface="Arial" panose="020B0604020202020204" pitchFamily="34" charset="0"/>
            </a:endParaRPr>
          </a:p>
        </p:txBody>
      </p:sp>
      <p:graphicFrame>
        <p:nvGraphicFramePr>
          <p:cNvPr id="17" name="Table 16">
            <a:extLst>
              <a:ext uri="{FF2B5EF4-FFF2-40B4-BE49-F238E27FC236}">
                <a16:creationId xmlns:a16="http://schemas.microsoft.com/office/drawing/2014/main" id="{D55F7AD4-60D3-B68B-FA88-0BAE63A77CFC}"/>
              </a:ext>
            </a:extLst>
          </p:cNvPr>
          <p:cNvGraphicFramePr>
            <a:graphicFrameLocks noGrp="1"/>
          </p:cNvGraphicFramePr>
          <p:nvPr>
            <p:extLst>
              <p:ext uri="{D42A27DB-BD31-4B8C-83A1-F6EECF244321}">
                <p14:modId xmlns:p14="http://schemas.microsoft.com/office/powerpoint/2010/main" val="2006987140"/>
              </p:ext>
            </p:extLst>
          </p:nvPr>
        </p:nvGraphicFramePr>
        <p:xfrm>
          <a:off x="838200" y="1690687"/>
          <a:ext cx="10515600" cy="4271573"/>
        </p:xfrm>
        <a:graphic>
          <a:graphicData uri="http://schemas.openxmlformats.org/drawingml/2006/table">
            <a:tbl>
              <a:tblPr firstRow="1" firstCol="1" bandRow="1">
                <a:tableStyleId>{5940675A-B579-460E-94D1-54222C63F5DA}</a:tableStyleId>
              </a:tblPr>
              <a:tblGrid>
                <a:gridCol w="5257800">
                  <a:extLst>
                    <a:ext uri="{9D8B030D-6E8A-4147-A177-3AD203B41FA5}">
                      <a16:colId xmlns:a16="http://schemas.microsoft.com/office/drawing/2014/main" val="1121774444"/>
                    </a:ext>
                  </a:extLst>
                </a:gridCol>
                <a:gridCol w="5257800">
                  <a:extLst>
                    <a:ext uri="{9D8B030D-6E8A-4147-A177-3AD203B41FA5}">
                      <a16:colId xmlns:a16="http://schemas.microsoft.com/office/drawing/2014/main" val="569312900"/>
                    </a:ext>
                  </a:extLst>
                </a:gridCol>
              </a:tblGrid>
              <a:tr h="446857">
                <a:tc>
                  <a:txBody>
                    <a:bodyPr/>
                    <a:lstStyle/>
                    <a:p>
                      <a:pPr marL="0" marR="0" algn="ctr">
                        <a:lnSpc>
                          <a:spcPct val="110000"/>
                        </a:lnSpc>
                        <a:spcBef>
                          <a:spcPts val="0"/>
                        </a:spcBef>
                        <a:spcAft>
                          <a:spcPts val="0"/>
                        </a:spcAft>
                      </a:pPr>
                      <a:r>
                        <a:rPr lang="en-IN" sz="2200" b="1" kern="100" dirty="0">
                          <a:effectLst/>
                          <a:latin typeface="Arial" panose="020B0604020202020204" pitchFamily="34" charset="0"/>
                          <a:cs typeface="Arial" panose="020B0604020202020204" pitchFamily="34" charset="0"/>
                        </a:rPr>
                        <a:t>ACID</a:t>
                      </a:r>
                      <a:endParaRPr lang="en-IN" sz="2200" b="1" kern="100" dirty="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0000"/>
                        </a:lnSpc>
                        <a:spcBef>
                          <a:spcPts val="0"/>
                        </a:spcBef>
                        <a:spcAft>
                          <a:spcPts val="0"/>
                        </a:spcAft>
                      </a:pPr>
                      <a:r>
                        <a:rPr lang="en-IN" sz="2200" b="1" kern="100" dirty="0">
                          <a:effectLst/>
                          <a:latin typeface="Arial" panose="020B0604020202020204" pitchFamily="34" charset="0"/>
                          <a:cs typeface="Arial" panose="020B0604020202020204" pitchFamily="34" charset="0"/>
                        </a:rPr>
                        <a:t>BASE</a:t>
                      </a:r>
                      <a:endParaRPr lang="en-IN" sz="2200" b="1" kern="100" dirty="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105870225"/>
                  </a:ext>
                </a:extLst>
              </a:tr>
              <a:tr h="762934">
                <a:tc>
                  <a:txBody>
                    <a:bodyPr/>
                    <a:lstStyle/>
                    <a:p>
                      <a:pPr marL="182880" marR="0">
                        <a:lnSpc>
                          <a:spcPct val="110000"/>
                        </a:lnSpc>
                        <a:spcBef>
                          <a:spcPts val="0"/>
                        </a:spcBef>
                        <a:spcAft>
                          <a:spcPts val="0"/>
                        </a:spcAft>
                      </a:pPr>
                      <a:r>
                        <a:rPr lang="en-IN" sz="2200" kern="100" dirty="0">
                          <a:effectLst/>
                          <a:latin typeface="Arial" panose="020B0604020202020204" pitchFamily="34" charset="0"/>
                          <a:cs typeface="Arial" panose="020B0604020202020204" pitchFamily="34" charset="0"/>
                        </a:rPr>
                        <a:t>Atomicity, Consistency, Isolation, Durability</a:t>
                      </a:r>
                      <a:endParaRPr lang="en-IN" sz="2200" kern="100" dirty="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182880" marR="0">
                        <a:lnSpc>
                          <a:spcPct val="110000"/>
                        </a:lnSpc>
                        <a:spcBef>
                          <a:spcPts val="0"/>
                        </a:spcBef>
                        <a:spcAft>
                          <a:spcPts val="0"/>
                        </a:spcAft>
                      </a:pPr>
                      <a:r>
                        <a:rPr lang="en-IN" sz="2200" kern="100">
                          <a:effectLst/>
                          <a:latin typeface="Arial" panose="020B0604020202020204" pitchFamily="34" charset="0"/>
                          <a:cs typeface="Arial" panose="020B0604020202020204" pitchFamily="34" charset="0"/>
                        </a:rPr>
                        <a:t>Basically Available, Soft state, Eventual consistency</a:t>
                      </a:r>
                      <a:endParaRPr lang="en-IN" sz="2200" kern="1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476142805"/>
                  </a:ext>
                </a:extLst>
              </a:tr>
              <a:tr h="1149424">
                <a:tc>
                  <a:txBody>
                    <a:bodyPr/>
                    <a:lstStyle/>
                    <a:p>
                      <a:pPr marL="182880" marR="0">
                        <a:lnSpc>
                          <a:spcPct val="110000"/>
                        </a:lnSpc>
                        <a:spcBef>
                          <a:spcPts val="0"/>
                        </a:spcBef>
                        <a:spcAft>
                          <a:spcPts val="0"/>
                        </a:spcAft>
                      </a:pPr>
                      <a:r>
                        <a:rPr lang="en-IN" sz="2200" kern="100" dirty="0">
                          <a:effectLst/>
                          <a:latin typeface="Arial" panose="020B0604020202020204" pitchFamily="34" charset="0"/>
                          <a:cs typeface="Arial" panose="020B0604020202020204" pitchFamily="34" charset="0"/>
                        </a:rPr>
                        <a:t>Strong consistency; transactions always bring the database from one valid state to another</a:t>
                      </a:r>
                      <a:endParaRPr lang="en-IN" sz="2200" kern="100" dirty="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182880" marR="0">
                        <a:lnSpc>
                          <a:spcPct val="110000"/>
                        </a:lnSpc>
                        <a:spcBef>
                          <a:spcPts val="0"/>
                        </a:spcBef>
                        <a:spcAft>
                          <a:spcPts val="0"/>
                        </a:spcAft>
                      </a:pPr>
                      <a:r>
                        <a:rPr lang="en-IN" sz="2200" kern="100" dirty="0">
                          <a:effectLst/>
                          <a:latin typeface="Arial" panose="020B0604020202020204" pitchFamily="34" charset="0"/>
                          <a:cs typeface="Arial" panose="020B0604020202020204" pitchFamily="34" charset="0"/>
                        </a:rPr>
                        <a:t>Eventual consistency; the system will become consistent over time</a:t>
                      </a:r>
                      <a:endParaRPr lang="en-IN" sz="2200" kern="100" dirty="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915429649"/>
                  </a:ext>
                </a:extLst>
              </a:tr>
              <a:tr h="762934">
                <a:tc>
                  <a:txBody>
                    <a:bodyPr/>
                    <a:lstStyle/>
                    <a:p>
                      <a:pPr marL="182880" marR="0">
                        <a:lnSpc>
                          <a:spcPct val="110000"/>
                        </a:lnSpc>
                        <a:spcBef>
                          <a:spcPts val="0"/>
                        </a:spcBef>
                        <a:spcAft>
                          <a:spcPts val="0"/>
                        </a:spcAft>
                      </a:pPr>
                      <a:r>
                        <a:rPr lang="en-IN" sz="2200" kern="100" dirty="0">
                          <a:effectLst/>
                          <a:latin typeface="Arial" panose="020B0604020202020204" pitchFamily="34" charset="0"/>
                          <a:cs typeface="Arial" panose="020B0604020202020204" pitchFamily="34" charset="0"/>
                        </a:rPr>
                        <a:t>May sacrifice availability for consistency, especially during network partitions</a:t>
                      </a:r>
                      <a:endParaRPr lang="en-IN" sz="2200" kern="100" dirty="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182880" marR="0">
                        <a:lnSpc>
                          <a:spcPct val="110000"/>
                        </a:lnSpc>
                        <a:spcBef>
                          <a:spcPts val="0"/>
                        </a:spcBef>
                        <a:spcAft>
                          <a:spcPts val="0"/>
                        </a:spcAft>
                      </a:pPr>
                      <a:r>
                        <a:rPr lang="en-IN" sz="2200" kern="100" dirty="0">
                          <a:effectLst/>
                          <a:latin typeface="Arial" panose="020B0604020202020204" pitchFamily="34" charset="0"/>
                          <a:cs typeface="Arial" panose="020B0604020202020204" pitchFamily="34" charset="0"/>
                        </a:rPr>
                        <a:t>Prioritizes availability, always responds to requests even if data is inconsistent</a:t>
                      </a:r>
                      <a:endParaRPr lang="en-IN" sz="2200" kern="100" dirty="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043526478"/>
                  </a:ext>
                </a:extLst>
              </a:tr>
              <a:tr h="1149424">
                <a:tc>
                  <a:txBody>
                    <a:bodyPr/>
                    <a:lstStyle/>
                    <a:p>
                      <a:pPr marL="182880" marR="0">
                        <a:lnSpc>
                          <a:spcPct val="110000"/>
                        </a:lnSpc>
                        <a:spcBef>
                          <a:spcPts val="0"/>
                        </a:spcBef>
                        <a:spcAft>
                          <a:spcPts val="0"/>
                        </a:spcAft>
                      </a:pPr>
                      <a:r>
                        <a:rPr lang="en-IN" sz="2200" kern="100">
                          <a:effectLst/>
                          <a:latin typeface="Arial" panose="020B0604020202020204" pitchFamily="34" charset="0"/>
                          <a:cs typeface="Arial" panose="020B0604020202020204" pitchFamily="34" charset="0"/>
                        </a:rPr>
                        <a:t>Maintains a hard state; transactions always leave the database in a valid state</a:t>
                      </a:r>
                      <a:endParaRPr lang="en-IN" sz="2200" kern="1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182880" marR="0">
                        <a:lnSpc>
                          <a:spcPct val="110000"/>
                        </a:lnSpc>
                        <a:spcBef>
                          <a:spcPts val="0"/>
                        </a:spcBef>
                        <a:spcAft>
                          <a:spcPts val="0"/>
                        </a:spcAft>
                      </a:pPr>
                      <a:r>
                        <a:rPr lang="en-IN" sz="2200" kern="100" dirty="0">
                          <a:effectLst/>
                          <a:latin typeface="Arial" panose="020B0604020202020204" pitchFamily="34" charset="0"/>
                          <a:cs typeface="Arial" panose="020B0604020202020204" pitchFamily="34" charset="0"/>
                        </a:rPr>
                        <a:t>Maintains a soft state; data may change over time until it becomes consistent</a:t>
                      </a:r>
                      <a:endParaRPr lang="en-IN" sz="2200" kern="100" dirty="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694020185"/>
                  </a:ext>
                </a:extLst>
              </a:tr>
            </a:tbl>
          </a:graphicData>
        </a:graphic>
      </p:graphicFrame>
    </p:spTree>
    <p:extLst>
      <p:ext uri="{BB962C8B-B14F-4D97-AF65-F5344CB8AC3E}">
        <p14:creationId xmlns:p14="http://schemas.microsoft.com/office/powerpoint/2010/main" val="28452097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ACID vs BASE</a:t>
            </a:r>
            <a:endParaRPr lang="en-IN" sz="3200" b="1" u="sng" dirty="0">
              <a:solidFill>
                <a:srgbClr val="0070C0"/>
              </a:solidFill>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31-07-2024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16</a:t>
            </a:fld>
            <a:endParaRPr lang="en-IN" dirty="0">
              <a:latin typeface="Arial" panose="020B0604020202020204" pitchFamily="34" charset="0"/>
              <a:cs typeface="Arial" panose="020B0604020202020204" pitchFamily="34" charset="0"/>
            </a:endParaRPr>
          </a:p>
        </p:txBody>
      </p:sp>
      <p:graphicFrame>
        <p:nvGraphicFramePr>
          <p:cNvPr id="17" name="Table 16">
            <a:extLst>
              <a:ext uri="{FF2B5EF4-FFF2-40B4-BE49-F238E27FC236}">
                <a16:creationId xmlns:a16="http://schemas.microsoft.com/office/drawing/2014/main" id="{D55F7AD4-60D3-B68B-FA88-0BAE63A77CFC}"/>
              </a:ext>
            </a:extLst>
          </p:cNvPr>
          <p:cNvGraphicFramePr>
            <a:graphicFrameLocks noGrp="1"/>
          </p:cNvGraphicFramePr>
          <p:nvPr>
            <p:extLst>
              <p:ext uri="{D42A27DB-BD31-4B8C-83A1-F6EECF244321}">
                <p14:modId xmlns:p14="http://schemas.microsoft.com/office/powerpoint/2010/main" val="272733056"/>
              </p:ext>
            </p:extLst>
          </p:nvPr>
        </p:nvGraphicFramePr>
        <p:xfrm>
          <a:off x="838200" y="1690688"/>
          <a:ext cx="10515600" cy="4502552"/>
        </p:xfrm>
        <a:graphic>
          <a:graphicData uri="http://schemas.openxmlformats.org/drawingml/2006/table">
            <a:tbl>
              <a:tblPr firstRow="1" firstCol="1" bandRow="1">
                <a:tableStyleId>{5940675A-B579-460E-94D1-54222C63F5DA}</a:tableStyleId>
              </a:tblPr>
              <a:tblGrid>
                <a:gridCol w="5257800">
                  <a:extLst>
                    <a:ext uri="{9D8B030D-6E8A-4147-A177-3AD203B41FA5}">
                      <a16:colId xmlns:a16="http://schemas.microsoft.com/office/drawing/2014/main" val="1121774444"/>
                    </a:ext>
                  </a:extLst>
                </a:gridCol>
                <a:gridCol w="5257800">
                  <a:extLst>
                    <a:ext uri="{9D8B030D-6E8A-4147-A177-3AD203B41FA5}">
                      <a16:colId xmlns:a16="http://schemas.microsoft.com/office/drawing/2014/main" val="569312900"/>
                    </a:ext>
                  </a:extLst>
                </a:gridCol>
              </a:tblGrid>
              <a:tr h="426412">
                <a:tc>
                  <a:txBody>
                    <a:bodyPr/>
                    <a:lstStyle/>
                    <a:p>
                      <a:pPr marL="0" marR="0" algn="ctr">
                        <a:lnSpc>
                          <a:spcPct val="110000"/>
                        </a:lnSpc>
                        <a:spcBef>
                          <a:spcPts val="0"/>
                        </a:spcBef>
                        <a:spcAft>
                          <a:spcPts val="0"/>
                        </a:spcAft>
                      </a:pPr>
                      <a:r>
                        <a:rPr lang="en-IN" sz="2200" b="1" kern="100" dirty="0">
                          <a:effectLst/>
                          <a:latin typeface="Arial" panose="020B0604020202020204" pitchFamily="34" charset="0"/>
                          <a:cs typeface="Arial" panose="020B0604020202020204" pitchFamily="34" charset="0"/>
                        </a:rPr>
                        <a:t>ACID</a:t>
                      </a:r>
                      <a:endParaRPr lang="en-IN" sz="2200" b="1" kern="100" dirty="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0000"/>
                        </a:lnSpc>
                        <a:spcBef>
                          <a:spcPts val="0"/>
                        </a:spcBef>
                        <a:spcAft>
                          <a:spcPts val="0"/>
                        </a:spcAft>
                      </a:pPr>
                      <a:r>
                        <a:rPr lang="en-IN" sz="2200" b="1" kern="100" dirty="0">
                          <a:effectLst/>
                          <a:latin typeface="Arial" panose="020B0604020202020204" pitchFamily="34" charset="0"/>
                          <a:cs typeface="Arial" panose="020B0604020202020204" pitchFamily="34" charset="0"/>
                        </a:rPr>
                        <a:t>BASE</a:t>
                      </a:r>
                      <a:endParaRPr lang="en-IN" sz="2200" b="1" kern="100" dirty="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105870225"/>
                  </a:ext>
                </a:extLst>
              </a:tr>
              <a:tr h="364014">
                <a:tc>
                  <a:txBody>
                    <a:bodyPr/>
                    <a:lstStyle/>
                    <a:p>
                      <a:pPr marL="182880" marR="0">
                        <a:lnSpc>
                          <a:spcPct val="110000"/>
                        </a:lnSpc>
                        <a:spcBef>
                          <a:spcPts val="0"/>
                        </a:spcBef>
                        <a:spcAft>
                          <a:spcPts val="0"/>
                        </a:spcAft>
                      </a:pPr>
                      <a:r>
                        <a:rPr lang="en-IN" sz="2200" kern="100" dirty="0">
                          <a:effectLst/>
                          <a:latin typeface="Arial" panose="020B0604020202020204" pitchFamily="34" charset="0"/>
                          <a:cs typeface="Arial" panose="020B0604020202020204" pitchFamily="34" charset="0"/>
                        </a:rPr>
                        <a:t>Transactions are atomic, all-or-nothing</a:t>
                      </a:r>
                      <a:endParaRPr lang="en-IN" sz="2200" kern="100" dirty="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182880" marR="0">
                        <a:lnSpc>
                          <a:spcPct val="110000"/>
                        </a:lnSpc>
                        <a:spcBef>
                          <a:spcPts val="0"/>
                        </a:spcBef>
                        <a:spcAft>
                          <a:spcPts val="0"/>
                        </a:spcAft>
                      </a:pPr>
                      <a:r>
                        <a:rPr lang="en-IN" sz="2200" kern="100" dirty="0">
                          <a:effectLst/>
                          <a:latin typeface="Arial" panose="020B0604020202020204" pitchFamily="34" charset="0"/>
                          <a:cs typeface="Arial" panose="020B0604020202020204" pitchFamily="34" charset="0"/>
                        </a:rPr>
                        <a:t>Transactions are not necessarily atomic; some parts may be partially complete</a:t>
                      </a:r>
                      <a:endParaRPr lang="en-IN" sz="2200" kern="100" dirty="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403202430"/>
                  </a:ext>
                </a:extLst>
              </a:tr>
              <a:tr h="364014">
                <a:tc>
                  <a:txBody>
                    <a:bodyPr/>
                    <a:lstStyle/>
                    <a:p>
                      <a:pPr marL="182880" marR="0">
                        <a:lnSpc>
                          <a:spcPct val="110000"/>
                        </a:lnSpc>
                        <a:spcBef>
                          <a:spcPts val="0"/>
                        </a:spcBef>
                        <a:spcAft>
                          <a:spcPts val="0"/>
                        </a:spcAft>
                      </a:pPr>
                      <a:r>
                        <a:rPr lang="en-IN" sz="2200" kern="100" dirty="0">
                          <a:effectLst/>
                          <a:latin typeface="Arial" panose="020B0604020202020204" pitchFamily="34" charset="0"/>
                          <a:cs typeface="Arial" panose="020B0604020202020204" pitchFamily="34" charset="0"/>
                        </a:rPr>
                        <a:t>Transactions are isolated, intermediate states are not visible</a:t>
                      </a:r>
                      <a:endParaRPr lang="en-IN" sz="2200" kern="100" dirty="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182880" marR="0">
                        <a:lnSpc>
                          <a:spcPct val="110000"/>
                        </a:lnSpc>
                        <a:spcBef>
                          <a:spcPts val="0"/>
                        </a:spcBef>
                        <a:spcAft>
                          <a:spcPts val="0"/>
                        </a:spcAft>
                      </a:pPr>
                      <a:r>
                        <a:rPr lang="en-IN" sz="2200" kern="100" dirty="0">
                          <a:effectLst/>
                          <a:latin typeface="Arial" panose="020B0604020202020204" pitchFamily="34" charset="0"/>
                          <a:cs typeface="Arial" panose="020B0604020202020204" pitchFamily="34" charset="0"/>
                        </a:rPr>
                        <a:t>Intermediate states may be visible, and updates propagate asynchronously</a:t>
                      </a:r>
                      <a:endParaRPr lang="en-IN" sz="2200" kern="100" dirty="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4019226571"/>
                  </a:ext>
                </a:extLst>
              </a:tr>
              <a:tr h="426412">
                <a:tc>
                  <a:txBody>
                    <a:bodyPr/>
                    <a:lstStyle/>
                    <a:p>
                      <a:pPr marL="182880" marR="0">
                        <a:lnSpc>
                          <a:spcPct val="110000"/>
                        </a:lnSpc>
                        <a:spcBef>
                          <a:spcPts val="0"/>
                        </a:spcBef>
                        <a:spcAft>
                          <a:spcPts val="0"/>
                        </a:spcAft>
                      </a:pPr>
                      <a:r>
                        <a:rPr lang="en-IN" sz="2200" kern="100" dirty="0">
                          <a:effectLst/>
                          <a:latin typeface="Arial" panose="020B0604020202020204" pitchFamily="34" charset="0"/>
                          <a:cs typeface="Arial" panose="020B0604020202020204" pitchFamily="34" charset="0"/>
                        </a:rPr>
                        <a:t>Once a transaction is committed, it remains so even in the event of a system crash</a:t>
                      </a:r>
                      <a:endParaRPr lang="en-IN" sz="2200" kern="100" dirty="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182880" marR="0">
                        <a:lnSpc>
                          <a:spcPct val="110000"/>
                        </a:lnSpc>
                        <a:spcBef>
                          <a:spcPts val="0"/>
                        </a:spcBef>
                        <a:spcAft>
                          <a:spcPts val="0"/>
                        </a:spcAft>
                      </a:pPr>
                      <a:r>
                        <a:rPr lang="en-IN" sz="2200" kern="100" dirty="0">
                          <a:effectLst/>
                          <a:latin typeface="Arial" panose="020B0604020202020204" pitchFamily="34" charset="0"/>
                          <a:cs typeface="Arial" panose="020B0604020202020204" pitchFamily="34" charset="0"/>
                        </a:rPr>
                        <a:t>Durability is less emphasized, focusing more on availability and partition tolerance</a:t>
                      </a:r>
                      <a:endParaRPr lang="en-IN" sz="2200" kern="100" dirty="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892248681"/>
                  </a:ext>
                </a:extLst>
              </a:tr>
              <a:tr h="827952">
                <a:tc>
                  <a:txBody>
                    <a:bodyPr/>
                    <a:lstStyle/>
                    <a:p>
                      <a:pPr marL="182880" marR="0">
                        <a:lnSpc>
                          <a:spcPct val="110000"/>
                        </a:lnSpc>
                        <a:spcBef>
                          <a:spcPts val="0"/>
                        </a:spcBef>
                        <a:spcAft>
                          <a:spcPts val="0"/>
                        </a:spcAft>
                      </a:pPr>
                      <a:r>
                        <a:rPr lang="en-IN" sz="2200" kern="100">
                          <a:effectLst/>
                          <a:latin typeface="Arial" panose="020B0604020202020204" pitchFamily="34" charset="0"/>
                          <a:cs typeface="Arial" panose="020B0604020202020204" pitchFamily="34" charset="0"/>
                        </a:rPr>
                        <a:t>Suitable for financial systems, banking, transaction processing where data integrity is crucial</a:t>
                      </a:r>
                      <a:endParaRPr lang="en-IN" sz="2200" kern="1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182880" marR="0">
                        <a:lnSpc>
                          <a:spcPct val="110000"/>
                        </a:lnSpc>
                        <a:spcBef>
                          <a:spcPts val="0"/>
                        </a:spcBef>
                        <a:spcAft>
                          <a:spcPts val="0"/>
                        </a:spcAft>
                      </a:pPr>
                      <a:r>
                        <a:rPr lang="en-IN" sz="2200" kern="100" dirty="0">
                          <a:effectLst/>
                          <a:latin typeface="Arial" panose="020B0604020202020204" pitchFamily="34" charset="0"/>
                          <a:cs typeface="Arial" panose="020B0604020202020204" pitchFamily="34" charset="0"/>
                        </a:rPr>
                        <a:t>Suitable for distributed systems, social media platforms, online shopping where high availability is critical</a:t>
                      </a:r>
                      <a:endParaRPr lang="en-IN" sz="2200" kern="100" dirty="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082365889"/>
                  </a:ext>
                </a:extLst>
              </a:tr>
              <a:tr h="426412">
                <a:tc>
                  <a:txBody>
                    <a:bodyPr/>
                    <a:lstStyle/>
                    <a:p>
                      <a:pPr marL="182880" marR="0">
                        <a:lnSpc>
                          <a:spcPct val="110000"/>
                        </a:lnSpc>
                        <a:spcBef>
                          <a:spcPts val="0"/>
                        </a:spcBef>
                        <a:spcAft>
                          <a:spcPts val="0"/>
                        </a:spcAft>
                      </a:pPr>
                      <a:r>
                        <a:rPr lang="en-IN" sz="2200" kern="100" dirty="0">
                          <a:effectLst/>
                          <a:latin typeface="Arial" panose="020B0604020202020204" pitchFamily="34" charset="0"/>
                          <a:cs typeface="Arial" panose="020B0604020202020204" pitchFamily="34" charset="0"/>
                        </a:rPr>
                        <a:t>PostgreSQL, MySQL, Oracle</a:t>
                      </a:r>
                      <a:endParaRPr lang="en-IN" sz="2200" kern="100" dirty="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182880" marR="0">
                        <a:lnSpc>
                          <a:spcPct val="110000"/>
                        </a:lnSpc>
                        <a:spcBef>
                          <a:spcPts val="0"/>
                        </a:spcBef>
                        <a:spcAft>
                          <a:spcPts val="0"/>
                        </a:spcAft>
                      </a:pPr>
                      <a:r>
                        <a:rPr lang="en-IN" sz="2200" kern="100" dirty="0">
                          <a:effectLst/>
                          <a:latin typeface="Arial" panose="020B0604020202020204" pitchFamily="34" charset="0"/>
                          <a:cs typeface="Arial" panose="020B0604020202020204" pitchFamily="34" charset="0"/>
                        </a:rPr>
                        <a:t>Cassandra, DynamoDB, Couchbase</a:t>
                      </a:r>
                      <a:endParaRPr lang="en-IN" sz="2200" kern="100" dirty="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602757169"/>
                  </a:ext>
                </a:extLst>
              </a:tr>
            </a:tbl>
          </a:graphicData>
        </a:graphic>
      </p:graphicFrame>
    </p:spTree>
    <p:extLst>
      <p:ext uri="{BB962C8B-B14F-4D97-AF65-F5344CB8AC3E}">
        <p14:creationId xmlns:p14="http://schemas.microsoft.com/office/powerpoint/2010/main" val="24277268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At Conclusion</a:t>
            </a:r>
          </a:p>
        </p:txBody>
      </p:sp>
      <p:sp>
        <p:nvSpPr>
          <p:cNvPr id="3" name="Content Placeholder 2"/>
          <p:cNvSpPr>
            <a:spLocks noGrp="1"/>
          </p:cNvSpPr>
          <p:nvPr>
            <p:ph idx="1"/>
          </p:nvPr>
        </p:nvSpPr>
        <p:spPr>
          <a:xfrm>
            <a:off x="838200" y="1690688"/>
            <a:ext cx="10515600" cy="4486275"/>
          </a:xfrm>
        </p:spPr>
        <p:txBody>
          <a:bodyPr>
            <a:normAutofit fontScale="92500" lnSpcReduction="10000"/>
          </a:bodyPr>
          <a:lstStyle/>
          <a:p>
            <a:pPr marL="722313" indent="-366713">
              <a:lnSpc>
                <a:spcPct val="120000"/>
              </a:lnSpc>
              <a:spcBef>
                <a:spcPts val="1800"/>
              </a:spcBef>
              <a:spcAft>
                <a:spcPts val="600"/>
              </a:spcAft>
            </a:pPr>
            <a:r>
              <a:rPr lang="en-US" sz="2400" dirty="0">
                <a:latin typeface="Arial" panose="020B0604020202020204" pitchFamily="34" charset="0"/>
                <a:cs typeface="Arial" panose="020B0604020202020204" pitchFamily="34" charset="0"/>
              </a:rPr>
              <a:t>ACID and BASE aren’t rigid points on a line; they lie on a continuum where organizations and systems can decide where and how to architect systems.</a:t>
            </a:r>
          </a:p>
          <a:p>
            <a:pPr marL="722313" indent="-366713">
              <a:lnSpc>
                <a:spcPct val="120000"/>
              </a:lnSpc>
              <a:spcBef>
                <a:spcPts val="1800"/>
              </a:spcBef>
              <a:spcAft>
                <a:spcPts val="600"/>
              </a:spcAft>
            </a:pPr>
            <a:r>
              <a:rPr lang="en-US" sz="2400" dirty="0">
                <a:latin typeface="Arial" panose="020B0604020202020204" pitchFamily="34" charset="0"/>
                <a:cs typeface="Arial" panose="020B0604020202020204" pitchFamily="34" charset="0"/>
              </a:rPr>
              <a:t>They may allow ACID transactions on some key areas but relax them in others. </a:t>
            </a:r>
          </a:p>
          <a:p>
            <a:pPr marL="722313" indent="-366713">
              <a:lnSpc>
                <a:spcPct val="120000"/>
              </a:lnSpc>
              <a:spcBef>
                <a:spcPts val="1800"/>
              </a:spcBef>
              <a:spcAft>
                <a:spcPts val="600"/>
              </a:spcAft>
            </a:pPr>
            <a:r>
              <a:rPr lang="en-US" sz="2400" dirty="0">
                <a:latin typeface="Arial" panose="020B0604020202020204" pitchFamily="34" charset="0"/>
                <a:cs typeface="Arial" panose="020B0604020202020204" pitchFamily="34" charset="0"/>
              </a:rPr>
              <a:t>Some database systems offer both options by changing a configuration file or using a different API.</a:t>
            </a:r>
          </a:p>
          <a:p>
            <a:pPr marL="722313" indent="-366713">
              <a:lnSpc>
                <a:spcPct val="120000"/>
              </a:lnSpc>
              <a:spcBef>
                <a:spcPts val="1800"/>
              </a:spcBef>
              <a:spcAft>
                <a:spcPts val="600"/>
              </a:spcAft>
            </a:pPr>
            <a:r>
              <a:rPr lang="en-US" sz="2400" dirty="0">
                <a:latin typeface="Arial" panose="020B0604020202020204" pitchFamily="34" charset="0"/>
                <a:cs typeface="Arial" panose="020B0604020202020204" pitchFamily="34" charset="0"/>
              </a:rPr>
              <a:t>When the amount of data you manage exceeds the size of your current system and you need to </a:t>
            </a:r>
            <a:r>
              <a:rPr lang="en-US" sz="2400" dirty="0">
                <a:solidFill>
                  <a:srgbClr val="FF0000"/>
                </a:solidFill>
                <a:latin typeface="Arial" panose="020B0604020202020204" pitchFamily="34" charset="0"/>
                <a:cs typeface="Arial" panose="020B0604020202020204" pitchFamily="34" charset="0"/>
              </a:rPr>
              <a:t>use database </a:t>
            </a:r>
            <a:r>
              <a:rPr lang="en-US" sz="2400" dirty="0" err="1">
                <a:solidFill>
                  <a:srgbClr val="FF0000"/>
                </a:solidFill>
                <a:latin typeface="Arial" panose="020B0604020202020204" pitchFamily="34" charset="0"/>
                <a:cs typeface="Arial" panose="020B0604020202020204" pitchFamily="34" charset="0"/>
              </a:rPr>
              <a:t>sharding</a:t>
            </a:r>
            <a:r>
              <a:rPr lang="en-US" sz="2400" dirty="0">
                <a:solidFill>
                  <a:srgbClr val="FF0000"/>
                </a:solidFill>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to keep systems running and minimize downtime.</a:t>
            </a: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31-07-2024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17</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733759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Summary</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600"/>
              </a:spcBef>
              <a:spcAft>
                <a:spcPts val="600"/>
              </a:spcAft>
              <a:buNone/>
            </a:pPr>
            <a:r>
              <a:rPr lang="en-IN" sz="2400" dirty="0">
                <a:latin typeface="Arial" panose="020B0604020202020204" pitchFamily="34" charset="0"/>
                <a:cs typeface="Arial" panose="020B0604020202020204" pitchFamily="34" charset="0"/>
              </a:rPr>
              <a:t>This session will give the knowledge about</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Understanding RDBMS and ACID transactions</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Understanding NoSQL and BASE transactions</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ACID vs BASE</a:t>
            </a:r>
          </a:p>
          <a:p>
            <a:pPr marL="0" indent="0">
              <a:lnSpc>
                <a:spcPct val="120000"/>
              </a:lnSpc>
              <a:spcBef>
                <a:spcPts val="600"/>
              </a:spcBef>
              <a:spcAft>
                <a:spcPts val="600"/>
              </a:spcAft>
              <a:buNone/>
            </a:pP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1E4FA2B1-6748-41D8-AB75-02C9BD84395F}" type="datetime1">
              <a:rPr lang="en-IN" smtClean="0">
                <a:latin typeface="Arial" panose="020B0604020202020204" pitchFamily="34" charset="0"/>
                <a:cs typeface="Arial" panose="020B0604020202020204" pitchFamily="34" charset="0"/>
              </a:rPr>
              <a:t>31-07-2024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18</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905780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IT PPT Template.pptx" id="{54091FC3-898D-497D-92ED-2AD4019B5909}" vid="{614E3B1B-8E84-45D1-BB2E-2BDD1EEBD4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VIT PPT Template</Template>
  <TotalTime>724</TotalTime>
  <Words>1544</Words>
  <Application>Microsoft Office PowerPoint</Application>
  <PresentationFormat>Widescreen</PresentationFormat>
  <Paragraphs>157</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(Body)</vt:lpstr>
      <vt:lpstr>Calibri Light</vt:lpstr>
      <vt:lpstr>Office Theme</vt:lpstr>
      <vt:lpstr>Course code : CSE3009 Course title  : No SQL Data Bases Module  : 1     Topic   : 3</vt:lpstr>
      <vt:lpstr>Objectives</vt:lpstr>
      <vt:lpstr>Two methods of reliable database transactions</vt:lpstr>
      <vt:lpstr>Database transactions - Example</vt:lpstr>
      <vt:lpstr>Database transactions - Example</vt:lpstr>
      <vt:lpstr>RDBMS transaction control using ACID</vt:lpstr>
      <vt:lpstr>RDBMS transaction control using ACID</vt:lpstr>
      <vt:lpstr>Drawbacks of RDBMS</vt:lpstr>
      <vt:lpstr>Non-RDBMS transaction control using BASE</vt:lpstr>
      <vt:lpstr>Non-RDBMS transaction control using BASE</vt:lpstr>
      <vt:lpstr>Non-RDBMS transaction control using BASE</vt:lpstr>
      <vt:lpstr>Non-RDBMS transaction control using BASE</vt:lpstr>
      <vt:lpstr>Non-RDBMS transaction control using BASE</vt:lpstr>
      <vt:lpstr>Conclusion</vt:lpstr>
      <vt:lpstr>ACID vs BASE</vt:lpstr>
      <vt:lpstr>ACID vs BASE</vt:lpstr>
      <vt:lpstr>At Conclusion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code : CSE1004 Course title  : Database Management System</dc:title>
  <dc:creator>gopikrishnan sundaram</dc:creator>
  <cp:lastModifiedBy>Dr. Gopikrishnan S</cp:lastModifiedBy>
  <cp:revision>56</cp:revision>
  <dcterms:created xsi:type="dcterms:W3CDTF">2019-11-30T05:18:24Z</dcterms:created>
  <dcterms:modified xsi:type="dcterms:W3CDTF">2024-07-31T03:45:09Z</dcterms:modified>
</cp:coreProperties>
</file>