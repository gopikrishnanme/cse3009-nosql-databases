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8" r:id="rId3"/>
    <p:sldId id="454" r:id="rId4"/>
    <p:sldId id="478" r:id="rId5"/>
    <p:sldId id="530" r:id="rId6"/>
    <p:sldId id="479" r:id="rId7"/>
    <p:sldId id="480" r:id="rId8"/>
    <p:sldId id="531" r:id="rId9"/>
    <p:sldId id="481" r:id="rId10"/>
    <p:sldId id="482" r:id="rId11"/>
    <p:sldId id="532" r:id="rId12"/>
    <p:sldId id="483" r:id="rId13"/>
    <p:sldId id="533" r:id="rId14"/>
    <p:sldId id="484" r:id="rId15"/>
    <p:sldId id="485" r:id="rId16"/>
    <p:sldId id="486" r:id="rId17"/>
    <p:sldId id="487" r:id="rId18"/>
    <p:sldId id="488" r:id="rId19"/>
    <p:sldId id="489" r:id="rId20"/>
    <p:sldId id="490" r:id="rId21"/>
    <p:sldId id="491" r:id="rId22"/>
    <p:sldId id="492" r:id="rId23"/>
    <p:sldId id="493" r:id="rId24"/>
    <p:sldId id="25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CC00"/>
    <a:srgbClr val="2102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F716F9-1CCB-412E-807B-54E78A47C39C}" type="datetimeFigureOut">
              <a:rPr lang="en-IN" smtClean="0"/>
              <a:t>18-03-2023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070DDA-CF3D-48BA-A0B0-D24E17EB7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2869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207AF-BBE6-41CB-838F-3B91C45E6842}" type="datetime1">
              <a:rPr lang="en-IN" smtClean="0"/>
              <a:t>18-03-2023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577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001CB-2F0D-4565-974A-BB3B4237F7A0}" type="datetime1">
              <a:rPr lang="en-IN" smtClean="0"/>
              <a:t>18-03-2023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86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5E08F-6321-4732-8935-8B18B4878320}" type="datetime1">
              <a:rPr lang="en-IN" smtClean="0"/>
              <a:t>18-03-2023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0895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E6CD2-53BA-43CE-85B2-BECBEC79BED8}" type="datetime1">
              <a:rPr lang="en-IN" smtClean="0"/>
              <a:t>18-03-2023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2958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0AD05-A4E4-4CA4-974B-F265446B2FC3}" type="datetime1">
              <a:rPr lang="en-IN" smtClean="0"/>
              <a:t>18-03-2023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5418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D32E8-1E32-4E2A-B217-B612998A856C}" type="datetime1">
              <a:rPr lang="en-IN" smtClean="0"/>
              <a:t>18-03-2023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7863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E7F75-E219-4A7A-86AA-8B901170D2FE}" type="datetime1">
              <a:rPr lang="en-IN" smtClean="0"/>
              <a:t>18-03-2023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2413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16AFA-FDBE-49F0-A857-020340421B04}" type="datetime1">
              <a:rPr lang="en-IN" smtClean="0"/>
              <a:t>18-03-2023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355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76920-F609-41C5-957C-A5E46109118D}" type="datetime1">
              <a:rPr lang="en-IN" smtClean="0"/>
              <a:t>18-03-2023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715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08AA1-2BEE-4CB8-A992-73CF63948E2E}" type="datetime1">
              <a:rPr lang="en-IN" smtClean="0"/>
              <a:t>18-03-2023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6892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EAF6-71C1-4CCC-BB0E-BC6703073DD8}" type="datetime1">
              <a:rPr lang="en-IN" smtClean="0"/>
              <a:t>18-03-2023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57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6A101D-20D2-4D81-A838-9588DFC7E809}" type="datetime1">
              <a:rPr lang="en-IN" smtClean="0"/>
              <a:t>18-03-2023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791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docs.mongodb.com/manual/tutorial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1524000" y="2178260"/>
            <a:ext cx="9144000" cy="953575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</a:pPr>
            <a: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code	: </a:t>
            </a:r>
            <a: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CSE3009</a:t>
            </a:r>
            <a:b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title		: </a:t>
            </a:r>
            <a: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SQL Data Bases</a:t>
            </a:r>
            <a:b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		: </a:t>
            </a:r>
            <a: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			</a:t>
            </a:r>
            <a:b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			: </a:t>
            </a:r>
            <a: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1402183" y="3677818"/>
            <a:ext cx="9144000" cy="1655762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Indexing</a:t>
            </a:r>
            <a:endParaRPr lang="en-IN" sz="40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728E3-B72D-49A5-85A2-5AE45557AE43}" type="datetime1">
              <a:rPr lang="en-IN" smtClean="0">
                <a:latin typeface="Calibri (Body)"/>
              </a:rPr>
              <a:t>18-03-2023</a:t>
            </a:fld>
            <a:endParaRPr lang="en-IN" dirty="0">
              <a:latin typeface="Calibri (Body)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Gopikrishnan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89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This session will give the knowledge about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Indexing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18-03-2023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6611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Indexing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Indexes allow efficient execution of MongoDB queries. 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we don’t have indexes, MongoDB has to scan all the documents in the collection to select those documents that match the criteria. 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If proper indexing is used, MongoDB can limit the scanning of documents and select documents efficiently. 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Indexes are a special data structure that store some field values of documents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in an easy-to-traverse way.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18-03-2023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6194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Indexing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Indexes store the values of specific fields or sets of fields, ordered by the values of fields. 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ordering of field values allows us to apply effective algorithms of traversing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such as the mid-search algorithm, and also supports range-based operations effectively. In addition, MongoDB can return sorted results easily.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Indexes in MongoDB are the same as indexes in other database systems.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MongoDB defines indexes at the collection level and supports indexes on fields and sub-fields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of documents.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18-03-2023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6698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Indexing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The following diagram illustrates a query that selects and orders the matching documents using an index.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18-03-2023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7815" y="2640759"/>
            <a:ext cx="7424198" cy="371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399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Indexing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default _id index</a:t>
            </a:r>
          </a:p>
          <a:p>
            <a:pPr marL="539750" indent="-357188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MongoDB creates the default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_id index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when creating a document. </a:t>
            </a:r>
          </a:p>
          <a:p>
            <a:pPr marL="539750" indent="-357188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_id index prevents users from inserting two documents with the same _id value.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cannot drop an index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on an _id field.</a:t>
            </a:r>
          </a:p>
          <a:p>
            <a:pPr marL="0" indent="0">
              <a:lnSpc>
                <a:spcPct val="13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following syntax is used to create an index in MongoDB:</a:t>
            </a:r>
          </a:p>
          <a:p>
            <a:pPr marL="355600" indent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r>
              <a:rPr lang="en-US" sz="2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db.collection.createIndex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();</a:t>
            </a:r>
          </a:p>
          <a:p>
            <a:pPr marL="539750" indent="-357188">
              <a:lnSpc>
                <a:spcPct val="13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preceding method creates an index only if an index with the same specification does not exist. </a:t>
            </a:r>
          </a:p>
          <a:p>
            <a:pPr marL="539750" indent="-357188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MongoDB indexes use the B-tree data structure.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18-03-2023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3147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 of Indexing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Single field</a:t>
            </a:r>
          </a:p>
          <a:p>
            <a:pPr marL="539750" indent="-357188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addition to the _id field index,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MongoDB allows the creation of an index on any single field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in ascending or descending order. </a:t>
            </a:r>
          </a:p>
          <a:p>
            <a:pPr marL="539750" indent="-357188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For a single field index, the order of the index does not matter as MongoDB can traverse indexes in any order. </a:t>
            </a:r>
          </a:p>
          <a:p>
            <a:pPr marL="539750" indent="-357188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following is an example of creating an index on the single field where we are creating an index on the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firstName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field of the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user_profiles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collection: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18-03-2023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099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 of Indexing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For a single-field index and sort operations, the sort order (i.e. ascending or descending) of the index key does not matter because MongoDB can traverse the index in either direction.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18-03-2023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9163" y="3157972"/>
            <a:ext cx="8333673" cy="3018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900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 of Indexing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3000"/>
              </a:spcBef>
              <a:spcAft>
                <a:spcPts val="18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query gives acknowledgment after creating the index: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This will create an ascending index on the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firstName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field. To create a descending index, we have to provide -1 instead of 1.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18-03-2023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 descr="https://packt-type-cloud.s3.amazonaws.com/uploads/sites/2626/2018/05/5700c707-dd2e-45ea-a26f-147da7b61186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5977" y="1690688"/>
            <a:ext cx="7060045" cy="838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s://packt-type-cloud.s3.amazonaws.com/uploads/sites/2626/2018/05/2cf9a1c6-88be-44d1-a313-4e1d44a66590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3299" y="3333953"/>
            <a:ext cx="6645400" cy="1773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26899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 of Indexing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Compound index: </a:t>
            </a:r>
          </a:p>
          <a:p>
            <a:pPr marL="539750" indent="-357188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MongoDB also supports </a:t>
            </a:r>
            <a:r>
              <a:rPr lang="en-US" sz="2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user-defined indexes on multiple fields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539750" indent="-357188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The order of fields defined while creating an index has a significant effect. </a:t>
            </a:r>
          </a:p>
          <a:p>
            <a:pPr marL="539750" indent="-357188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For instance, if a compound index consists of { </a:t>
            </a:r>
            <a:r>
              <a:rPr lang="en-US" sz="2300" dirty="0" err="1">
                <a:latin typeface="Arial" panose="020B0604020202020204" pitchFamily="34" charset="0"/>
                <a:cs typeface="Arial" panose="020B0604020202020204" pitchFamily="34" charset="0"/>
              </a:rPr>
              <a:t>userid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: 1, score: -1 }, the index sorts first by </a:t>
            </a:r>
            <a:r>
              <a:rPr lang="en-US" sz="2300" dirty="0" err="1">
                <a:latin typeface="Arial" panose="020B0604020202020204" pitchFamily="34" charset="0"/>
                <a:cs typeface="Arial" panose="020B0604020202020204" pitchFamily="34" charset="0"/>
              </a:rPr>
              <a:t>userid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 and then, within each </a:t>
            </a:r>
            <a:r>
              <a:rPr lang="en-US" sz="2300" dirty="0" err="1">
                <a:latin typeface="Arial" panose="020B0604020202020204" pitchFamily="34" charset="0"/>
                <a:cs typeface="Arial" panose="020B0604020202020204" pitchFamily="34" charset="0"/>
              </a:rPr>
              <a:t>userid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 value, sorts by score.</a:t>
            </a:r>
          </a:p>
          <a:p>
            <a:pPr marL="539750" indent="-357188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Compound indexes can be used with text indexes to define an ascending or descending order of the index.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18-03-2023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5334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Indexing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For compound indexes and sort operations, the sort order (i.e. ascending or descending) of the index keys can determine whether the index can support a sort operation. See Sort Order for more information on the impact of index order on results in compound indexes.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18-03-2023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9928" y="3337835"/>
            <a:ext cx="8132144" cy="3018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5313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 of Indexing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Multikey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index: </a:t>
            </a:r>
          </a:p>
          <a:p>
            <a:pPr marL="539750" indent="-357188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MongoDB uses multi-key indexes to index the content in the array. </a:t>
            </a:r>
          </a:p>
          <a:p>
            <a:pPr marL="539750" indent="-357188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If you index the field that contains the array values, MongoDB creates an index for each field in the object of an array. </a:t>
            </a:r>
          </a:p>
          <a:p>
            <a:pPr marL="539750" indent="-357188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These indexes allow queries to select the document by matching the element or set of elements of the array. </a:t>
            </a:r>
          </a:p>
          <a:p>
            <a:pPr marL="539750" indent="-357188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MongoDB automatically decides whether to create multi-key indexes or not.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18-03-2023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12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69006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 of Indexing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18-03-2023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2663" y="1780510"/>
            <a:ext cx="7729537" cy="4390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1816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 of Indexing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 indexes: </a:t>
            </a:r>
          </a:p>
          <a:p>
            <a:pPr marL="539750" indent="-357188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MongoDB provides text indexes that support the searching of string contents in the MongoDB collection. </a:t>
            </a:r>
          </a:p>
          <a:p>
            <a:pPr marL="539750" indent="-357188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To create text indexes, we have to use the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db.collection.createIndex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() method, but we need to pass a text string literal in the query: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18-03-2023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123" name="Picture 3" descr="https://packt-type-cloud.s3.amazonaws.com/uploads/sites/2626/2018/05/75b35591-422e-406d-a8b5-18e96b1d091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3646" y="4767797"/>
            <a:ext cx="7641874" cy="558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65088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 of Indexing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You can also create text indexes on multiple fields, for example: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Once the index is created, we get an acknowledgment: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18-03-2023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170" name="Picture 2" descr="https://packt-type-cloud.s3.amazonaws.com/uploads/sites/2626/2018/05/cbcba3e5-547e-4b66-887c-cc0e645ee51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2920" y="2294998"/>
            <a:ext cx="5685161" cy="1442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https://packt-type-cloud.s3.amazonaws.com/uploads/sites/2626/2018/05/44910b48-edfd-438a-9d03-63b5345d7c17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2226" y="4501889"/>
            <a:ext cx="5735855" cy="1675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33704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 of Indexing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Hashed index: </a:t>
            </a:r>
          </a:p>
          <a:p>
            <a:pPr marL="539750" indent="-357188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To support hash-based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sharding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MongoDB supports hashed indexes. </a:t>
            </a:r>
          </a:p>
          <a:p>
            <a:pPr marL="539750" indent="-357188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this approach, indexes store the hash value and query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and the select operation checks the hashed indexes. </a:t>
            </a:r>
          </a:p>
          <a:p>
            <a:pPr marL="539750" indent="-357188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Hashed indexes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support only equality-based operations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539750" indent="-357188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They are limited in their performance of range-based operations.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18-03-2023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16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45260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Indexing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Unique indexes: </a:t>
            </a:r>
          </a:p>
          <a:p>
            <a:pPr marL="539750" indent="-357188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Indexes should maintain uniqueness. This makes MongoDB drop the duplicate value from indexes.</a:t>
            </a:r>
          </a:p>
          <a:p>
            <a:pPr marL="0" indent="0">
              <a:lnSpc>
                <a:spcPct val="13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Partial Indexes: </a:t>
            </a:r>
          </a:p>
          <a:p>
            <a:pPr marL="539750" indent="-357188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Partial indexes apply the index on documents of a collection that match a specified condition. </a:t>
            </a:r>
          </a:p>
          <a:p>
            <a:pPr marL="539750" indent="-357188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By applying an index on the subset of documents in the collection, partial indexes have a lower storage requirement as well as a reduced performance cost.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18-03-2023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17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7018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Indexing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Sparse index: </a:t>
            </a:r>
          </a:p>
          <a:p>
            <a:pPr marL="539750" indent="-357188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the sparse index,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MongoDB includes only those documents in the index in which the index field is present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other documents are discarded. </a:t>
            </a:r>
          </a:p>
          <a:p>
            <a:pPr marL="539750" indent="-357188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 can combine unique indexes with a sparse index to reject documents that have duplicate values but ignore documents that have an indexed key.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18-03-2023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18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53283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Indexing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TTL index: </a:t>
            </a:r>
          </a:p>
          <a:p>
            <a:pPr marL="539750" indent="-357188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TTL indexes are a special type of indexes where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MongoDB will automatically remove the document from the collection after a certain amount of time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539750" indent="-357188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Such indexes are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ideal to remove machine-generated data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logs, and session information that we need for a finite duration. </a:t>
            </a:r>
          </a:p>
          <a:p>
            <a:pPr marL="539750" indent="-357188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following TTL index will automatically delete data from the log table after 3000 seconds: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18-03-2023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19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42511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Indexing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Once the index is created, we get an acknowledgment message: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18-03-2023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290" name="Picture 2" descr="https://packt-type-cloud.s3.amazonaws.com/uploads/sites/2626/2018/05/15387e18-287f-49ee-8d4b-e30335d95299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1992" y="1690688"/>
            <a:ext cx="5428015" cy="1716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 descr="https://packt-type-cloud.s3.amazonaws.com/uploads/sites/2626/2018/05/59bf3fb7-8f50-4489-a08d-93f821fe1ac2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1022" y="4212309"/>
            <a:ext cx="6501481" cy="1735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56815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limitations of indexes: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pPr marL="539750" indent="-357188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A single collection can have </a:t>
            </a:r>
            <a:r>
              <a:rPr lang="en-US" sz="2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 to 64 indexes only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539750" indent="-357188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The qualified index name is ..$ and cannot have more than 128 characters. By default, the index name is a combination of index type and field name. </a:t>
            </a:r>
          </a:p>
          <a:p>
            <a:pPr marL="539750" indent="-357188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You can specify an index name while using the </a:t>
            </a:r>
            <a:r>
              <a:rPr lang="en-US" sz="2300" dirty="0" err="1">
                <a:latin typeface="Arial" panose="020B0604020202020204" pitchFamily="34" charset="0"/>
                <a:cs typeface="Arial" panose="020B0604020202020204" pitchFamily="34" charset="0"/>
              </a:rPr>
              <a:t>createIndex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() method to ensure that the fully-qualified name does not exceed the limit.</a:t>
            </a:r>
          </a:p>
          <a:p>
            <a:pPr marL="539750" indent="-357188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There can be no more than 31 fields in the compound index.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18-03-2023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12346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limitations of indexes: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pPr marL="539750" indent="-357188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sz="228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28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query cannot use both text and geospatial indexes</a:t>
            </a:r>
            <a:r>
              <a:rPr lang="en-US" sz="2280" dirty="0">
                <a:latin typeface="Arial" panose="020B0604020202020204" pitchFamily="34" charset="0"/>
                <a:cs typeface="Arial" panose="020B0604020202020204" pitchFamily="34" charset="0"/>
              </a:rPr>
              <a:t>. You cannot combine the $text operator, which requires text indexes, with some other query operator required for special indexes. </a:t>
            </a:r>
          </a:p>
          <a:p>
            <a:pPr marL="539750" indent="0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80" dirty="0">
                <a:latin typeface="Arial" panose="020B0604020202020204" pitchFamily="34" charset="0"/>
                <a:cs typeface="Arial" panose="020B0604020202020204" pitchFamily="34" charset="0"/>
              </a:rPr>
              <a:t>For example, you cannot combine the $text operator with the $near operator.</a:t>
            </a:r>
          </a:p>
          <a:p>
            <a:pPr marL="539750" indent="-357188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sz="2280" dirty="0">
                <a:latin typeface="Arial" panose="020B0604020202020204" pitchFamily="34" charset="0"/>
                <a:cs typeface="Arial" panose="020B0604020202020204" pitchFamily="34" charset="0"/>
              </a:rPr>
              <a:t>Fields with 2d sphere indexes can only hold geometry data. 2d sphere indexes are specially provided for geometric data operations. </a:t>
            </a:r>
          </a:p>
          <a:p>
            <a:pPr marL="539750" indent="0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80" dirty="0">
                <a:latin typeface="Arial" panose="020B0604020202020204" pitchFamily="34" charset="0"/>
                <a:cs typeface="Arial" panose="020B0604020202020204" pitchFamily="34" charset="0"/>
              </a:rPr>
              <a:t>For example, to perform operations on co-ordinate, we have to provide data as points on a planer co-ordinate system, [x, y]. For non-geometries, the data query operation will fail.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18-03-2023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22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96879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limitation on data: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pPr marL="539750" indent="-357188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The maximum number of documents in a </a:t>
            </a:r>
            <a:r>
              <a:rPr lang="en-US" sz="2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capped collection must be less than 2^32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. We should define it by the max parameter while creating it. If you do not specify, the capped collection can have any number of documents, which will slow down the queries.</a:t>
            </a:r>
          </a:p>
          <a:p>
            <a:pPr marL="539750" indent="-357188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The MMAPv1 storage engine will allow 16,000 data files per database, which means it provides the maximum size of 32 TB.</a:t>
            </a:r>
          </a:p>
          <a:p>
            <a:pPr marL="539750" indent="-357188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We can set the storage.mmapv1.smallfile parameter to reduce the size of the database to 8 TB only.</a:t>
            </a:r>
          </a:p>
          <a:p>
            <a:pPr marL="539750" indent="-357188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Replica sets can have up to 50 members.</a:t>
            </a:r>
          </a:p>
          <a:p>
            <a:pPr marL="539750" indent="-357188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Shard keys cannot exceed 512 bytes.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18-03-2023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77637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This session will give the knowledge about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Indexing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References:   </a:t>
            </a:r>
          </a:p>
          <a:p>
            <a:pPr marL="1454150" lvl="2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https://docs.mongodb.com/manual/tutorial/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454150" lvl="2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“Seven NoSQL Databases in a Week” Author: Aaron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Ploetz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Aaron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FA2B1-6748-41D8-AB75-02C9BD84395F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18-03-2023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0578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T PPT Template.pptx" id="{54091FC3-898D-497D-92ED-2AD4019B5909}" vid="{614E3B1B-8E84-45D1-BB2E-2BDD1EEBD4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VIT PPT Template</Template>
  <TotalTime>4030</TotalTime>
  <Words>1541</Words>
  <Application>Microsoft Office PowerPoint</Application>
  <PresentationFormat>Widescreen</PresentationFormat>
  <Paragraphs>182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(Body)</vt:lpstr>
      <vt:lpstr>Calibri Light</vt:lpstr>
      <vt:lpstr>Office Theme</vt:lpstr>
      <vt:lpstr>Course code : CSE3009 Course title  : No SQL Data Bases Module  : 4     Topic   : 3</vt:lpstr>
      <vt:lpstr>Objectives</vt:lpstr>
      <vt:lpstr>Indexing</vt:lpstr>
      <vt:lpstr>Indexing</vt:lpstr>
      <vt:lpstr>Indexing</vt:lpstr>
      <vt:lpstr>Indexing</vt:lpstr>
      <vt:lpstr>Type of Indexing</vt:lpstr>
      <vt:lpstr>Type of Indexing</vt:lpstr>
      <vt:lpstr>Type of Indexing</vt:lpstr>
      <vt:lpstr>Type of Indexing</vt:lpstr>
      <vt:lpstr>Indexing</vt:lpstr>
      <vt:lpstr>Type of Indexing</vt:lpstr>
      <vt:lpstr>Type of Indexing</vt:lpstr>
      <vt:lpstr>Type of Indexing</vt:lpstr>
      <vt:lpstr>Type of Indexing</vt:lpstr>
      <vt:lpstr>Type of Indexing</vt:lpstr>
      <vt:lpstr>Indexing Properties</vt:lpstr>
      <vt:lpstr>Indexing Properties</vt:lpstr>
      <vt:lpstr>Indexing Properties</vt:lpstr>
      <vt:lpstr>Indexing Properties</vt:lpstr>
      <vt:lpstr>The limitations of indexes:</vt:lpstr>
      <vt:lpstr>The limitations of indexes:</vt:lpstr>
      <vt:lpstr>The limitation on data: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code : CSE1004 Course title  : Database Management System</dc:title>
  <dc:creator>gopikrishnan sundaram</dc:creator>
  <cp:lastModifiedBy>Dr. Gopikrishnan S</cp:lastModifiedBy>
  <cp:revision>222</cp:revision>
  <dcterms:created xsi:type="dcterms:W3CDTF">2019-11-30T05:18:24Z</dcterms:created>
  <dcterms:modified xsi:type="dcterms:W3CDTF">2023-03-18T03:53:16Z</dcterms:modified>
</cp:coreProperties>
</file>