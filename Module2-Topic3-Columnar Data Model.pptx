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60" r:id="rId4"/>
    <p:sldId id="316" r:id="rId5"/>
    <p:sldId id="288" r:id="rId6"/>
    <p:sldId id="317" r:id="rId7"/>
    <p:sldId id="319" r:id="rId8"/>
    <p:sldId id="320" r:id="rId9"/>
    <p:sldId id="321" r:id="rId10"/>
    <p:sldId id="318" r:id="rId11"/>
    <p:sldId id="326" r:id="rId12"/>
    <p:sldId id="322" r:id="rId13"/>
    <p:sldId id="323" r:id="rId14"/>
    <p:sldId id="324" r:id="rId15"/>
    <p:sldId id="325" r:id="rId16"/>
    <p:sldId id="331" r:id="rId17"/>
    <p:sldId id="327" r:id="rId18"/>
    <p:sldId id="329" r:id="rId19"/>
    <p:sldId id="330" r:id="rId20"/>
    <p:sldId id="328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2102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716F9-1CCB-412E-807B-54E78A47C39C}" type="datetimeFigureOut">
              <a:rPr lang="en-IN" smtClean="0"/>
              <a:t>03-02-2023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070DDA-CF3D-48BA-A0B0-D24E17EB74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69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207AF-BBE6-41CB-838F-3B91C45E6842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3D2BB9-5697-580A-C3E5-26A577C9C9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54438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7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001CB-2F0D-4565-974A-BB3B4237F7A0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F47B03-E612-FDE1-1DE0-40E6E6F19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54438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5E08F-6321-4732-8935-8B18B4878320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258E3D-2D87-C741-EDFB-362D0681BD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54438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9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6CD2-53BA-43CE-85B2-BECBEC79BED8}" type="datetime1">
              <a:rPr lang="en-IN" smtClean="0"/>
              <a:t>03-02-2023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F82EDD-FEAA-43AB-82E6-876FC5AAAB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5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AD05-A4E4-4CA4-974B-F265446B2FC3}" type="datetime1">
              <a:rPr lang="en-IN" smtClean="0"/>
              <a:t>03-02-2023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B0FC8D-6CC1-6057-072E-978E496DB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54438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1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D32E8-1E32-4E2A-B217-B612998A856C}" type="datetime1">
              <a:rPr lang="en-IN" smtClean="0"/>
              <a:t>03-02-2023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F707E-19BA-F621-CF47-D2AD533C8E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531" y="245107"/>
            <a:ext cx="1630037" cy="50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86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E7F75-E219-4A7A-86AA-8B901170D2FE}" type="datetime1">
              <a:rPr lang="en-IN" smtClean="0"/>
              <a:t>03-02-2023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1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6AFA-FDBE-49F0-A857-020340421B04}" type="datetime1">
              <a:rPr lang="en-IN" smtClean="0"/>
              <a:t>03-02-2023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5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20-F609-41C5-957C-A5E46109118D}" type="datetime1">
              <a:rPr lang="en-IN" smtClean="0"/>
              <a:t>03-02-2023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1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08AA1-2BEE-4CB8-A992-73CF63948E2E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8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EAF6-71C1-4CCC-BB0E-BC6703073DD8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5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101D-20D2-4D81-A838-9588DFC7E809}" type="datetime1">
              <a:rPr lang="en-IN" smtClean="0"/>
              <a:t>03-02-2023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S. Gopikrishnan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8B39-E037-49D7-848F-F055834E3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9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524000" y="2178260"/>
            <a:ext cx="9144000" cy="95357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code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CSE3009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title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SQL Data Bases</a:t>
            </a:r>
            <a:b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	</a:t>
            </a:r>
            <a:b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			: </a:t>
            </a:r>
            <a:r>
              <a:rPr lang="en-IN" sz="2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1402183" y="3677818"/>
            <a:ext cx="9144000" cy="1655762"/>
          </a:xfrm>
        </p:spPr>
        <p:txBody>
          <a:bodyPr>
            <a:normAutofit/>
          </a:bodyPr>
          <a:lstStyle/>
          <a:p>
            <a:r>
              <a:rPr lang="it-IT" sz="4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</a:t>
            </a:r>
            <a:endParaRPr lang="en-IN" sz="4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728E3-B72D-49A5-85A2-5AE45557AE43}" type="datetime1">
              <a:rPr lang="en-IN" smtClean="0">
                <a:latin typeface="Calibri (Body)"/>
              </a:rPr>
              <a:t>03-02-2023</a:t>
            </a:fld>
            <a:endParaRPr lang="en-IN" dirty="0">
              <a:latin typeface="Calibri (Body)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Gopikrishnan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8B39-E037-49D7-848F-F055834E3AA1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Columnar Data Model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6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column-oriented NoSQL database,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is stored in cells grouped in columns of data rather than as rows of data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Columns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logically grouped into column families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Column families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contain a virtually unlimited number of columns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created at runtime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 the definition of the schema.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Read and write is done using columns rather than rows.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can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 to manage large volumes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data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5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insights-images.thoughtworks.com/nosqlcolumnfamily_90a547fcf1885c36c9e82c27f4964cf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827" y="1780510"/>
            <a:ext cx="10634345" cy="4041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28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Column-family databases store data in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families as rows that have many columns associated with a row key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 mentioned in previous Fig.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column family can be compared to a container of rows in an RDBMS table where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identifies the row and the row consists of multiple columns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difference is that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various rows do not have to have the same columns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columns can be added to any row at any time without having to add it to other rows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668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a column consists of a map of columns, then we have a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column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column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(container of columns) </a:t>
            </a: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consists of a name and a value which is a map of columns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Cassandra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one of the popular column-family databases.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Cassandra can be described as fast and easily scalable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with write operations spread across the cluster.  </a:t>
            </a:r>
          </a:p>
          <a:p>
            <a:pPr marL="0" indent="0">
              <a:lnSpc>
                <a:spcPct val="120000"/>
              </a:lnSpc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cluster does not have a master node, so any read and write can be handled by any node in the cluster.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735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722313" indent="-366713">
              <a:lnSpc>
                <a:spcPct val="110000"/>
              </a:lnSpc>
              <a:spcAft>
                <a:spcPts val="600"/>
              </a:spcAft>
            </a:pP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ColumnFamily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 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ColumnFamily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a single structure that can group Columns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SuperColumns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 ease.</a:t>
            </a:r>
          </a:p>
          <a:p>
            <a:pPr marL="722313" indent="-366713">
              <a:lnSpc>
                <a:spcPct val="110000"/>
              </a:lnSpc>
              <a:spcAft>
                <a:spcPts val="600"/>
              </a:spcAft>
            </a:pP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RowKey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permanent name of the record. Keys have different numbers of columns, so the database can scale in an irregular way.</a:t>
            </a:r>
          </a:p>
          <a:p>
            <a:pPr marL="722313" indent="-366713">
              <a:lnSpc>
                <a:spcPct val="110000"/>
              </a:lnSpc>
              <a:spcAft>
                <a:spcPts val="600"/>
              </a:spcAft>
            </a:pP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Keyspace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This defines the outermost level of an organization, typically the name of the application. For example, 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InfosysDataBase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 (database name).</a:t>
            </a:r>
          </a:p>
          <a:p>
            <a:pPr marL="722313" indent="-366713">
              <a:lnSpc>
                <a:spcPct val="11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It has an ordered list of elements as tuple with a name and a value defined.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80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keyspace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containing  	          A column family containing         how each row is constructed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column families.   	          3 rows. Each row contains its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	          own set of columns.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 descr="Diagram of a keyspace containing column famili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10957"/>
            <a:ext cx="2902052" cy="326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iagram of a column family in a wide column store databas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104" y="2962339"/>
            <a:ext cx="3687361" cy="321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iagram of rows and columns in a wide column store database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063" y="3016251"/>
            <a:ext cx="3910955" cy="962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054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Here’s a breakdown of each element in the row: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 Key: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row has a unique key, which is a unique identifier for that row.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column contains a name, a value, and timestamp.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is the name of the name/value pair.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is the value of the name/value pair.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Timestamp: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provides the date and time that the data was inserted. This can be used to determine the most recent version of data.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234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family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Using a row and column to address a cell.           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Spreadsheets use a row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column pair as a key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look up the value of a cell.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family stores</a:t>
            </a: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90399"/>
            <a:ext cx="6381750" cy="2028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578" y="3236173"/>
            <a:ext cx="3724275" cy="9429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762" y="4962107"/>
            <a:ext cx="60864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35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best known examples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Google’s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BigTable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HBase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&amp; Cassandra that were inspired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BigTable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example,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 Information System (GIS)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like Google Earth might have a row ID for the longitude portion of a map and use the column name for the latitude of the map. 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 have one map for each square mile on Earth, you could have 15,000 distinct row IDs and 15,000 distinct column IDs.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505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BigTable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is a high performance, compressed and proprietary data storage system owned by Google. It has the following attributes: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2313" indent="-366713">
              <a:lnSpc>
                <a:spcPct val="110000"/>
              </a:lnSpc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Sparse – some cells can be empty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Distributed – data is partitioned across many hosts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Persistent – stored to disk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Multidimensional – more than 1 dimension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Map – key and value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Sorted – maps are generally not sorted but this one is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187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2-dimensional table comprising of rows and columns is part of the relational database system.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2818097"/>
            <a:ext cx="72390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05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860007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previous RDBMS table 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BigTable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map can be visualized as shown below.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990600" y="2738647"/>
            <a:ext cx="1925855" cy="3770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InfosysNoida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address: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city: Noida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pincode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 201301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},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details: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strength: 250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projects: 20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507405" y="2738644"/>
            <a:ext cx="1925855" cy="3770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InfosysCluj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address: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city: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Cluj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pincode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 400606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},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details: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strength: 200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projects: 15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},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174605" y="2662446"/>
            <a:ext cx="2074246" cy="3770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Infosys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Timisoara: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address: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city: Timisoara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pincode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: 300011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},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details: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strength: 150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projects: 10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8894745" y="2662445"/>
            <a:ext cx="1925855" cy="3770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Infosys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Fairfax 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address: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city: Fairfax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 err="1">
                <a:latin typeface="Arial" panose="020B0604020202020204" pitchFamily="34" charset="0"/>
                <a:cs typeface="Arial" panose="020B0604020202020204" pitchFamily="34" charset="0"/>
              </a:rPr>
              <a:t>pincode</a:t>
            </a: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: VA 22033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},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details: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strength: 100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projects: 5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sz="17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IN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023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outermost keys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InfosysNoida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InfosysCluj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InfosysTimisoara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InfosysFairfax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are analogues to rows.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‘address’ and ‘details’ are called column families.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column-family ‘address’ has columns ‘city’ and ‘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pincode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’.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column-family details’ has columns ‘strength’ and ‘projects’.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Columns can be referenced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CloumnFamily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Google’s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BigTable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HBase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Cassandra are the most popular column store based databases.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366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Columnar Data Model – Example in Cassandra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InfosysNoida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.address(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city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pincode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) values(‘Noida’,201301);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Insert into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InfosysNoida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.details(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strength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,projects) values(250,20);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Update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InfosysNoida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.address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Set city=‘UP‘ Where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pincode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=201301;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Delete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InfosysNoida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.address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pincode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=201301;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322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Column Store Databases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column family approach of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a row ID and column name as a lookup key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 a flexible way to 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store data, 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gives you benefits of higher scalability and availability, and 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saves you time and hassles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when adding new data to your system.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Column family systems have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 failover built in to detect failing nodes and algorithms to identify corrupt data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hashing and indexing tools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such as Bloom filters are used in column data stores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perform probabilistic analysis on large data sets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51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Column Store Databases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scalability: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Column family systems are scalable by nature. You can add more data to your system, you can add more cluster to the computing cluster.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availability: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that holds part of the sparse matrix crashes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other computers are available to provide the data service for those cells. Because 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column family systems use efficient communication, the cost of replication is lower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lack of join operations allows you to store any portion of a column family matrix on remote computers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073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Column Store Databases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 to add new data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Like the key-value and graph stores, a key feature of the column family store is that </a:t>
            </a: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don’t need to fully design your data model before you begin inserting data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But there are a couple constraints:</a:t>
            </a:r>
          </a:p>
          <a:p>
            <a:pPr marL="1179513" lvl="1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groupings of column families should be known in advance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, but row IDs and column names can be created at any time.</a:t>
            </a:r>
          </a:p>
          <a:p>
            <a:pPr marL="1179513" lvl="1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Column family systems also don’t support standard SQL queries for real-time data access. </a:t>
            </a:r>
            <a:r>
              <a:rPr lang="en-US" sz="2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may have higher-level custom API written in a procedural language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623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Column Store Databases</a:t>
            </a:r>
            <a:endParaRPr lang="en-IN" sz="32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Some other key benefits of columnar databases include: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Compression: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Column stores are very efficient at data compression and/or partitioning.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Aggregation queries: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Due to their structure, columnar databases perform particularly well with aggregation queries (such as SUM, COUNT, AVG,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722313" indent="-3667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 to load and query: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Columnar stores can be loaded extremely fast. A billion row table could be loaded within a few seconds. You can start querying and analyzing almost immediately.</a:t>
            </a:r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5C4A8-1BA0-468A-B855-2EFA71CD0C96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400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session will give the knowledge about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Columnar Data Model</a:t>
            </a:r>
          </a:p>
          <a:p>
            <a:pPr marL="996950" lvl="1" indent="-539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FA2B1-6748-41D8-AB75-02C9BD84395F}" type="datetime1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03-02-2023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Gopikrishnan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11AD3-8200-41C9-B135-CD8425EA2F68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57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T PPT Template.pptx" id="{54091FC3-898D-497D-92ED-2AD4019B5909}" vid="{614E3B1B-8E84-45D1-BB2E-2BDD1EEBD4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VIT PPT Template</Template>
  <TotalTime>821</TotalTime>
  <Words>1551</Words>
  <Application>Microsoft Office PowerPoint</Application>
  <PresentationFormat>Widescreen</PresentationFormat>
  <Paragraphs>213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(Body)</vt:lpstr>
      <vt:lpstr>Calibri Light</vt:lpstr>
      <vt:lpstr>Office Theme</vt:lpstr>
      <vt:lpstr>Course code : CSE3009 Course title  : No SQL Data Bases Module  : 2     Topic   : 3</vt:lpstr>
      <vt:lpstr>Objectives</vt:lpstr>
      <vt:lpstr>Columnar Data Model</vt:lpstr>
      <vt:lpstr>Columnar Data Model</vt:lpstr>
      <vt:lpstr>Columnar Data Model</vt:lpstr>
      <vt:lpstr>Columnar Data Model</vt:lpstr>
      <vt:lpstr>Columnar Data Model</vt:lpstr>
      <vt:lpstr>Columnar Data Model</vt:lpstr>
      <vt:lpstr>Columnar Data Model</vt:lpstr>
      <vt:lpstr>Column family basics</vt:lpstr>
      <vt:lpstr>Columnar Data Model - Example</vt:lpstr>
      <vt:lpstr>Columnar Data Model - Example</vt:lpstr>
      <vt:lpstr>Columnar Data Model - Example</vt:lpstr>
      <vt:lpstr>Columnar Data Model - Example</vt:lpstr>
      <vt:lpstr>Columnar Data Model - Example</vt:lpstr>
      <vt:lpstr>Columnar Data Model – Example in Cassandra</vt:lpstr>
      <vt:lpstr>Benefits of Column Store Databases</vt:lpstr>
      <vt:lpstr>Benefits of Column Store Databases</vt:lpstr>
      <vt:lpstr>Benefits of Column Store Databases</vt:lpstr>
      <vt:lpstr>Benefits of Column Store Databases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code : CSE1004 Course title  : Database Management System</dc:title>
  <dc:creator>gopikrishnan sundaram</dc:creator>
  <cp:lastModifiedBy>gopikrishnan sundaram</cp:lastModifiedBy>
  <cp:revision>68</cp:revision>
  <dcterms:created xsi:type="dcterms:W3CDTF">2019-11-30T05:18:24Z</dcterms:created>
  <dcterms:modified xsi:type="dcterms:W3CDTF">2023-02-03T02:33:19Z</dcterms:modified>
</cp:coreProperties>
</file>