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258" r:id="rId3"/>
    <p:sldId id="260" r:id="rId4"/>
    <p:sldId id="288" r:id="rId5"/>
    <p:sldId id="289" r:id="rId6"/>
    <p:sldId id="305" r:id="rId7"/>
    <p:sldId id="290" r:id="rId8"/>
    <p:sldId id="291" r:id="rId9"/>
    <p:sldId id="292" r:id="rId10"/>
    <p:sldId id="293" r:id="rId11"/>
    <p:sldId id="294" r:id="rId12"/>
    <p:sldId id="295" r:id="rId13"/>
    <p:sldId id="297" r:id="rId14"/>
    <p:sldId id="298" r:id="rId15"/>
    <p:sldId id="299" r:id="rId16"/>
    <p:sldId id="300" r:id="rId17"/>
    <p:sldId id="304" r:id="rId18"/>
    <p:sldId id="301" r:id="rId19"/>
    <p:sldId id="302" r:id="rId20"/>
    <p:sldId id="303"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E367B2-407B-BACA-8D44-C93D692DCC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684EC2E-793D-C2F5-EAD9-448A67C6D4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8AD806-D47A-45C9-A345-53C568C37FB5}" type="datetimeFigureOut">
              <a:rPr lang="en-IN" smtClean="0"/>
              <a:t>26-07-2024</a:t>
            </a:fld>
            <a:endParaRPr lang="en-IN"/>
          </a:p>
        </p:txBody>
      </p:sp>
      <p:sp>
        <p:nvSpPr>
          <p:cNvPr id="4" name="Footer Placeholder 3">
            <a:extLst>
              <a:ext uri="{FF2B5EF4-FFF2-40B4-BE49-F238E27FC236}">
                <a16:creationId xmlns:a16="http://schemas.microsoft.com/office/drawing/2014/main" id="{C7227C47-B40D-39CC-6319-342BA77320F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E607822-A3CD-F224-C584-73F3EBF2C0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D4249D-CDD0-40AF-AB5B-2084C1996988}" type="slidenum">
              <a:rPr lang="en-IN" smtClean="0"/>
              <a:t>‹#›</a:t>
            </a:fld>
            <a:endParaRPr lang="en-IN"/>
          </a:p>
        </p:txBody>
      </p:sp>
    </p:spTree>
    <p:extLst>
      <p:ext uri="{BB962C8B-B14F-4D97-AF65-F5344CB8AC3E}">
        <p14:creationId xmlns:p14="http://schemas.microsoft.com/office/powerpoint/2010/main" val="3126489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26-07-2024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26-07-2024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F073710F-4393-EE52-DB88-D81F7D0D67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26-07-2024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3602EBA4-0BAF-C10C-67F6-5DEE41C9B92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26-07-2024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7830F195-828C-02D7-15BB-E757E622B8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26-07-2024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a:extLst>
              <a:ext uri="{FF2B5EF4-FFF2-40B4-BE49-F238E27FC236}">
                <a16:creationId xmlns:a16="http://schemas.microsoft.com/office/drawing/2014/main" id="{1F291B64-9866-D879-4847-CA4FB544BD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26-07-2024</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26-07-2024</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26-07-2024</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26-07-2024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26-07-2024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26-07-2024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26-07-2024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26-07-2024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1</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2</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Managing Transactions and Data Integrity</a:t>
            </a:r>
            <a:endParaRPr lang="en-IN" sz="4000" b="1" dirty="0">
              <a:solidFill>
                <a:srgbClr val="0070C0"/>
              </a:solidFill>
              <a:latin typeface="Arial" panose="020B060402020202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756728E3-B72D-49A5-85A2-5AE45557AE43}" type="datetime1">
              <a:rPr lang="en-IN" smtClean="0">
                <a:latin typeface="Calibri (Body)"/>
              </a:rPr>
              <a:t>26-07-2024</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essentials of ACID transactions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Applying transactional guarantee in distributed systems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Brewer’s CAP Theorem</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Exploring transactional support in NoSQL products</a:t>
            </a: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RDBMS and ACID</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ACID is the key standard and feature of RDBMS</a:t>
            </a:r>
          </a:p>
          <a:p>
            <a:pPr marL="722313" indent="-357188">
              <a:lnSpc>
                <a:spcPct val="120000"/>
              </a:lnSpc>
              <a:spcBef>
                <a:spcPts val="600"/>
              </a:spcBef>
              <a:spcAft>
                <a:spcPts val="600"/>
              </a:spcAft>
            </a:pPr>
            <a:r>
              <a:rPr lang="en-IN" sz="2400" dirty="0">
                <a:solidFill>
                  <a:srgbClr val="FF0000"/>
                </a:solidFill>
                <a:latin typeface="Arial" panose="020B0604020202020204" pitchFamily="34" charset="0"/>
                <a:cs typeface="Arial" panose="020B0604020202020204" pitchFamily="34" charset="0"/>
              </a:rPr>
              <a:t>Atomicity</a:t>
            </a:r>
            <a:r>
              <a:rPr lang="en-IN" sz="2400" dirty="0">
                <a:latin typeface="Arial" panose="020B0604020202020204" pitchFamily="34" charset="0"/>
                <a:cs typeface="Arial" panose="020B0604020202020204" pitchFamily="34" charset="0"/>
              </a:rPr>
              <a:t> – the entire transaction takes place at once or does not happen at all.</a:t>
            </a:r>
          </a:p>
          <a:p>
            <a:pPr marL="722313" indent="-357188">
              <a:lnSpc>
                <a:spcPct val="120000"/>
              </a:lnSpc>
              <a:spcBef>
                <a:spcPts val="600"/>
              </a:spcBef>
              <a:spcAft>
                <a:spcPts val="600"/>
              </a:spcAft>
            </a:pPr>
            <a:r>
              <a:rPr lang="en-IN" sz="2400" dirty="0">
                <a:solidFill>
                  <a:srgbClr val="FF0000"/>
                </a:solidFill>
                <a:latin typeface="Arial" panose="020B0604020202020204" pitchFamily="34" charset="0"/>
                <a:cs typeface="Arial" panose="020B0604020202020204" pitchFamily="34" charset="0"/>
              </a:rPr>
              <a:t>Consistency</a:t>
            </a:r>
            <a:r>
              <a:rPr lang="en-IN" sz="2400" dirty="0">
                <a:latin typeface="Arial" panose="020B0604020202020204" pitchFamily="34" charset="0"/>
                <a:cs typeface="Arial" panose="020B0604020202020204" pitchFamily="34" charset="0"/>
              </a:rPr>
              <a:t> – the database must be consistent before and after the transaction</a:t>
            </a:r>
          </a:p>
          <a:p>
            <a:pPr marL="722313" indent="-357188">
              <a:lnSpc>
                <a:spcPct val="120000"/>
              </a:lnSpc>
              <a:spcBef>
                <a:spcPts val="600"/>
              </a:spcBef>
              <a:spcAft>
                <a:spcPts val="600"/>
              </a:spcAft>
            </a:pPr>
            <a:r>
              <a:rPr lang="en-IN" sz="2400" dirty="0">
                <a:solidFill>
                  <a:srgbClr val="FF0000"/>
                </a:solidFill>
                <a:latin typeface="Arial" panose="020B0604020202020204" pitchFamily="34" charset="0"/>
                <a:cs typeface="Arial" panose="020B0604020202020204" pitchFamily="34" charset="0"/>
              </a:rPr>
              <a:t>Isolation</a:t>
            </a:r>
            <a:r>
              <a:rPr lang="en-IN" sz="2400" dirty="0">
                <a:latin typeface="Arial" panose="020B0604020202020204" pitchFamily="34" charset="0"/>
                <a:cs typeface="Arial" panose="020B0604020202020204" pitchFamily="34" charset="0"/>
              </a:rPr>
              <a:t> – Multiple transactions occur independently without interference</a:t>
            </a:r>
          </a:p>
          <a:p>
            <a:pPr marL="722313" indent="-357188">
              <a:lnSpc>
                <a:spcPct val="120000"/>
              </a:lnSpc>
              <a:spcBef>
                <a:spcPts val="600"/>
              </a:spcBef>
              <a:spcAft>
                <a:spcPts val="600"/>
              </a:spcAft>
            </a:pPr>
            <a:r>
              <a:rPr lang="en-IN" sz="2400" dirty="0">
                <a:solidFill>
                  <a:srgbClr val="FF0000"/>
                </a:solidFill>
                <a:latin typeface="Arial" panose="020B0604020202020204" pitchFamily="34" charset="0"/>
                <a:cs typeface="Arial" panose="020B0604020202020204" pitchFamily="34" charset="0"/>
              </a:rPr>
              <a:t>Durability</a:t>
            </a:r>
            <a:r>
              <a:rPr lang="en-IN" sz="2400" dirty="0">
                <a:latin typeface="Arial" panose="020B0604020202020204" pitchFamily="34" charset="0"/>
                <a:cs typeface="Arial" panose="020B0604020202020204" pitchFamily="34" charset="0"/>
              </a:rPr>
              <a:t> – the changes of a successful transaction occurs even if the system failure occurs.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35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ACID in Distributed Systems</a:t>
            </a:r>
          </a:p>
        </p:txBody>
      </p:sp>
      <p:sp>
        <p:nvSpPr>
          <p:cNvPr id="3" name="Content Placeholder 2"/>
          <p:cNvSpPr>
            <a:spLocks noGrp="1"/>
          </p:cNvSpPr>
          <p:nvPr>
            <p:ph idx="1"/>
          </p:nvPr>
        </p:nvSpPr>
        <p:spPr>
          <a:xfrm>
            <a:off x="838200" y="1690688"/>
            <a:ext cx="5283467" cy="4486275"/>
          </a:xfrm>
        </p:spPr>
        <p:txBody>
          <a:bodyPr>
            <a:normAutofit/>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In distributed systems, the </a:t>
            </a:r>
            <a:r>
              <a:rPr lang="en-US" sz="2400" dirty="0">
                <a:solidFill>
                  <a:srgbClr val="FF0000"/>
                </a:solidFill>
                <a:latin typeface="Arial" panose="020B0604020202020204" pitchFamily="34" charset="0"/>
                <a:cs typeface="Arial" panose="020B0604020202020204" pitchFamily="34" charset="0"/>
              </a:rPr>
              <a:t>ACID principles are applied using the concept of transaction manager or coordinator to manage transactions.</a:t>
            </a:r>
          </a:p>
          <a:p>
            <a:pPr marL="0" indent="0">
              <a:lnSpc>
                <a:spcPct val="120000"/>
              </a:lnSpc>
              <a:spcBef>
                <a:spcPts val="600"/>
              </a:spcBef>
              <a:spcAft>
                <a:spcPts val="600"/>
              </a:spcAft>
              <a:buNone/>
            </a:pPr>
            <a:endParaRPr lang="en-US" sz="2400" dirty="0">
              <a:solidFill>
                <a:srgbClr val="FF0000"/>
              </a:solidFill>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To understand about how ACID properties are achieved in distributed systems, it is important to explore the </a:t>
            </a:r>
            <a:r>
              <a:rPr lang="en-US" sz="2400" dirty="0">
                <a:solidFill>
                  <a:srgbClr val="FF0000"/>
                </a:solidFill>
                <a:latin typeface="Arial" panose="020B0604020202020204" pitchFamily="34" charset="0"/>
                <a:cs typeface="Arial" panose="020B0604020202020204" pitchFamily="34" charset="0"/>
              </a:rPr>
              <a:t>properties of distributed systems</a:t>
            </a:r>
            <a:endParaRPr lang="en-IN" sz="24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178162" y="1690688"/>
            <a:ext cx="3448128" cy="4093845"/>
          </a:xfrm>
          <a:prstGeom prst="rect">
            <a:avLst/>
          </a:prstGeom>
        </p:spPr>
      </p:pic>
    </p:spTree>
    <p:extLst>
      <p:ext uri="{BB962C8B-B14F-4D97-AF65-F5344CB8AC3E}">
        <p14:creationId xmlns:p14="http://schemas.microsoft.com/office/powerpoint/2010/main" val="473375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ACID in Distributed Systems</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The ACID principles are applied </a:t>
            </a:r>
            <a:r>
              <a:rPr lang="en-US" sz="2400" dirty="0">
                <a:solidFill>
                  <a:srgbClr val="0000FF"/>
                </a:solidFill>
                <a:latin typeface="Arial" panose="020B0604020202020204" pitchFamily="34" charset="0"/>
                <a:cs typeface="Arial" panose="020B0604020202020204" pitchFamily="34" charset="0"/>
              </a:rPr>
              <a:t>using the concept laid down by the open XA consortium.</a:t>
            </a:r>
          </a:p>
          <a:p>
            <a:pPr marL="0" indent="0">
              <a:lnSpc>
                <a:spcPct val="120000"/>
              </a:lnSpc>
              <a:spcBef>
                <a:spcPts val="600"/>
              </a:spcBef>
              <a:spcAft>
                <a:spcPts val="600"/>
              </a:spcAft>
              <a:buNone/>
            </a:pPr>
            <a:endParaRPr lang="en-US" sz="24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400" dirty="0">
                <a:solidFill>
                  <a:srgbClr val="FF0000"/>
                </a:solidFill>
                <a:latin typeface="Arial" panose="020B0604020202020204" pitchFamily="34" charset="0"/>
                <a:cs typeface="Arial" panose="020B0604020202020204" pitchFamily="34" charset="0"/>
              </a:rPr>
              <a:t>It specifies the need for a transaction manager </a:t>
            </a:r>
            <a:r>
              <a:rPr lang="en-US" sz="2400" dirty="0">
                <a:latin typeface="Arial" panose="020B0604020202020204" pitchFamily="34" charset="0"/>
                <a:cs typeface="Arial" panose="020B0604020202020204" pitchFamily="34" charset="0"/>
              </a:rPr>
              <a:t>or coordinator to manage transactions.</a:t>
            </a:r>
          </a:p>
          <a:p>
            <a:pPr marL="0" indent="0">
              <a:lnSpc>
                <a:spcPct val="120000"/>
              </a:lnSpc>
              <a:spcBef>
                <a:spcPts val="600"/>
              </a:spcBef>
              <a:spcAft>
                <a:spcPts val="600"/>
              </a:spcAft>
              <a:buNone/>
            </a:pPr>
            <a:endParaRPr lang="en-US" sz="24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Even with a central coordinator, </a:t>
            </a:r>
            <a:r>
              <a:rPr lang="en-US" sz="2400" dirty="0">
                <a:solidFill>
                  <a:srgbClr val="FF0000"/>
                </a:solidFill>
                <a:latin typeface="Arial" panose="020B0604020202020204" pitchFamily="34" charset="0"/>
                <a:cs typeface="Arial" panose="020B0604020202020204" pitchFamily="34" charset="0"/>
              </a:rPr>
              <a:t>implementing isolation across multiple databases is extremely difficult</a:t>
            </a:r>
            <a:r>
              <a:rPr lang="en-US" sz="2400" dirty="0">
                <a:latin typeface="Arial" panose="020B0604020202020204" pitchFamily="34" charset="0"/>
                <a:cs typeface="Arial" panose="020B0604020202020204" pitchFamily="34" charset="0"/>
              </a:rPr>
              <a:t>. This is because different databases provide isolation guarantees differently.</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8821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Techniques to implement ACID in Distributed Systems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spcAft>
                <a:spcPts val="600"/>
              </a:spcAft>
              <a:buNone/>
            </a:pPr>
            <a:r>
              <a:rPr lang="en-US" sz="2300" dirty="0">
                <a:solidFill>
                  <a:srgbClr val="0000FF"/>
                </a:solidFill>
                <a:latin typeface="Arial" panose="020B0604020202020204" pitchFamily="34" charset="0"/>
                <a:cs typeface="Arial" panose="020B0604020202020204" pitchFamily="34" charset="0"/>
              </a:rPr>
              <a:t>Two-Phase Locking (2PL):</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Ensures isolation by dividing the transaction into a growing phase (acquiring locks) and a shrinking phase (releasing locks).</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Guarantees serializability but may lead to deadlocks.</a:t>
            </a:r>
          </a:p>
          <a:p>
            <a:pPr marL="0" indent="0">
              <a:lnSpc>
                <a:spcPct val="110000"/>
              </a:lnSpc>
              <a:spcBef>
                <a:spcPts val="0"/>
              </a:spcBef>
              <a:spcAft>
                <a:spcPts val="600"/>
              </a:spcAft>
              <a:buNone/>
            </a:pPr>
            <a:endParaRPr lang="en-US" sz="2300"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sz="2300" dirty="0">
                <a:solidFill>
                  <a:srgbClr val="0000FF"/>
                </a:solidFill>
                <a:latin typeface="Arial" panose="020B0604020202020204" pitchFamily="34" charset="0"/>
                <a:cs typeface="Arial" panose="020B0604020202020204" pitchFamily="34" charset="0"/>
              </a:rPr>
              <a:t>Strong Strict Two-Phase Locking (SS2PL):</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Extends 2PL by holding all locks until the transaction commits.</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Prevents cascading aborts and ensures a stronger level of consistency.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6220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Techniques to implement ACID in Distributed Systems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spcAft>
                <a:spcPts val="600"/>
              </a:spcAft>
              <a:buNone/>
            </a:pPr>
            <a:r>
              <a:rPr lang="en-US" sz="2300" dirty="0">
                <a:solidFill>
                  <a:srgbClr val="FF0000"/>
                </a:solidFill>
                <a:latin typeface="Arial" panose="020B0604020202020204" pitchFamily="34" charset="0"/>
                <a:cs typeface="Arial" panose="020B0604020202020204" pitchFamily="34" charset="0"/>
              </a:rPr>
              <a:t>Two-Phase Commit (2PC):</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Ensures atomicity in distributed transactions by coordinating commit or abort decisions across all participants.</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Involves a prepare phase (collecting votes) and a commit phase (executing the decision).</a:t>
            </a:r>
          </a:p>
          <a:p>
            <a:pPr marL="0" indent="0">
              <a:lnSpc>
                <a:spcPct val="110000"/>
              </a:lnSpc>
              <a:spcBef>
                <a:spcPts val="0"/>
              </a:spcBef>
              <a:spcAft>
                <a:spcPts val="600"/>
              </a:spcAft>
              <a:buNone/>
            </a:pPr>
            <a:endParaRPr lang="en-US" sz="2300" dirty="0">
              <a:solidFill>
                <a:srgbClr val="FF0000"/>
              </a:solidFill>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sz="2300" dirty="0">
                <a:solidFill>
                  <a:srgbClr val="FF0000"/>
                </a:solidFill>
                <a:latin typeface="Arial" panose="020B0604020202020204" pitchFamily="34" charset="0"/>
                <a:cs typeface="Arial" panose="020B0604020202020204" pitchFamily="34" charset="0"/>
              </a:rPr>
              <a:t>Three-Phase Commit (3PC):</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Advance of 2PC to reduce the risk of blocking if the coordinator fails.</a:t>
            </a:r>
          </a:p>
          <a:p>
            <a:pPr marL="690563" indent="-457200">
              <a:lnSpc>
                <a:spcPct val="110000"/>
              </a:lnSpc>
              <a:spcBef>
                <a:spcPts val="0"/>
              </a:spcBef>
              <a:spcAft>
                <a:spcPts val="600"/>
              </a:spcAft>
            </a:pPr>
            <a:r>
              <a:rPr lang="en-US" sz="2300" dirty="0">
                <a:latin typeface="Arial" panose="020B0604020202020204" pitchFamily="34" charset="0"/>
                <a:cs typeface="Arial" panose="020B0604020202020204" pitchFamily="34" charset="0"/>
              </a:rPr>
              <a:t>Adds a pre-commit phase to ensure that all participants are ready to commit before making the final decision.</a:t>
            </a:r>
            <a:endParaRPr lang="en-IN" sz="23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9456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Factors to consider</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Assuring ACID-like guarantees in distributed systems is to understand how the following three factors get impacted in such systems:</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Consistency</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Availability</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Partition Tolerance</a:t>
            </a:r>
            <a:endParaRPr lang="en-IN" sz="24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400" dirty="0">
                <a:solidFill>
                  <a:srgbClr val="FF0000"/>
                </a:solidFill>
                <a:latin typeface="Arial" panose="020B0604020202020204" pitchFamily="34" charset="0"/>
                <a:cs typeface="Arial" panose="020B0604020202020204" pitchFamily="34" charset="0"/>
              </a:rPr>
              <a:t>Consistency, Availability, and Partition Tolerance (CAP) </a:t>
            </a:r>
            <a:r>
              <a:rPr lang="en-US" sz="2400" dirty="0">
                <a:latin typeface="Arial" panose="020B0604020202020204" pitchFamily="34" charset="0"/>
                <a:cs typeface="Arial" panose="020B0604020202020204" pitchFamily="34" charset="0"/>
              </a:rPr>
              <a:t>are the three pillars of </a:t>
            </a:r>
            <a:r>
              <a:rPr lang="en-US" sz="2400" dirty="0">
                <a:solidFill>
                  <a:srgbClr val="0000FF"/>
                </a:solidFill>
                <a:latin typeface="Arial" panose="020B0604020202020204" pitchFamily="34" charset="0"/>
                <a:cs typeface="Arial" panose="020B0604020202020204" pitchFamily="34" charset="0"/>
              </a:rPr>
              <a:t>Brewer’s Theorem </a:t>
            </a:r>
            <a:r>
              <a:rPr lang="en-US" sz="2400" dirty="0">
                <a:latin typeface="Arial" panose="020B0604020202020204" pitchFamily="34" charset="0"/>
                <a:cs typeface="Arial" panose="020B0604020202020204" pitchFamily="34" charset="0"/>
              </a:rPr>
              <a:t>that underlies much of the recent generation of thinking around transactional integrity in large and scalable distributed systems.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1953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Consistency</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In the context of CAP it deals with atomicity and isolation.</a:t>
            </a:r>
          </a:p>
          <a:p>
            <a:pPr marL="0" indent="0">
              <a:lnSpc>
                <a:spcPct val="120000"/>
              </a:lnSpc>
              <a:spcBef>
                <a:spcPts val="600"/>
              </a:spcBef>
              <a:spcAft>
                <a:spcPts val="600"/>
              </a:spcAft>
              <a:buNone/>
            </a:pPr>
            <a:endParaRPr lang="en-US" sz="24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In ACID, consistency means that data that does not satisfy predefined constraints is not persisted. That’s not the same as the consistency in CAP.</a:t>
            </a:r>
          </a:p>
          <a:p>
            <a:pPr marL="0" indent="0">
              <a:lnSpc>
                <a:spcPct val="120000"/>
              </a:lnSpc>
              <a:spcBef>
                <a:spcPts val="600"/>
              </a:spcBef>
              <a:spcAft>
                <a:spcPts val="600"/>
              </a:spcAft>
              <a:buNone/>
            </a:pPr>
            <a:endParaRPr lang="en-US" sz="24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400" dirty="0">
                <a:solidFill>
                  <a:srgbClr val="FF0000"/>
                </a:solidFill>
                <a:latin typeface="Arial" panose="020B0604020202020204" pitchFamily="34" charset="0"/>
                <a:cs typeface="Arial" panose="020B0604020202020204" pitchFamily="34" charset="0"/>
              </a:rPr>
              <a:t>Consistency means that all clients see the same data at the same time, no matter which node they connect to. For this to happen, whenever data is written to one node, it must be instantly forwarded or replicated to all the other nodes in the system before the write is deemed ‘successful.’</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0517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Availability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Availability means the system is available to serve at the time when it’s needed.</a:t>
            </a:r>
          </a:p>
          <a:p>
            <a:pPr marL="0" indent="0">
              <a:lnSpc>
                <a:spcPct val="120000"/>
              </a:lnSpc>
              <a:spcBef>
                <a:spcPts val="600"/>
              </a:spcBef>
              <a:spcAft>
                <a:spcPts val="600"/>
              </a:spcAft>
              <a:buNone/>
            </a:pPr>
            <a:endParaRPr lang="en-US" sz="24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In terms of CAP </a:t>
            </a:r>
          </a:p>
          <a:p>
            <a:pPr marL="722313" indent="-3667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Even if one or more nodes are down, any client making a data request receives a response. (</a:t>
            </a:r>
            <a:r>
              <a:rPr lang="en-US" sz="2400" dirty="0" err="1">
                <a:solidFill>
                  <a:srgbClr val="FF0000"/>
                </a:solidFill>
                <a:latin typeface="Arial" panose="020B0604020202020204" pitchFamily="34" charset="0"/>
                <a:cs typeface="Arial" panose="020B0604020202020204" pitchFamily="34" charset="0"/>
              </a:rPr>
              <a:t>i</a:t>
            </a:r>
            <a:r>
              <a:rPr lang="en-US" sz="2400" dirty="0">
                <a:solidFill>
                  <a:srgbClr val="FF0000"/>
                </a:solidFill>
                <a:latin typeface="Arial" panose="020B0604020202020204" pitchFamily="34" charset="0"/>
                <a:cs typeface="Arial" panose="020B0604020202020204" pitchFamily="34" charset="0"/>
              </a:rPr>
              <a:t>,.e), when any request is made, without exception, all working nodes in a distributed system return a valid response.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2615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Partition Tolerance </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Partition tolerance measures </a:t>
            </a:r>
            <a:r>
              <a:rPr lang="en-US" sz="2400" dirty="0">
                <a:solidFill>
                  <a:srgbClr val="FF0000"/>
                </a:solidFill>
                <a:latin typeface="Arial" panose="020B0604020202020204" pitchFamily="34" charset="0"/>
                <a:cs typeface="Arial" panose="020B0604020202020204" pitchFamily="34" charset="0"/>
              </a:rPr>
              <a:t>the ability of a system to continue to service in the event a few of its cluster members become unavailable</a:t>
            </a:r>
            <a:r>
              <a:rPr lang="en-US" sz="2400" dirty="0">
                <a:latin typeface="Arial" panose="020B0604020202020204" pitchFamily="34" charset="0"/>
                <a:cs typeface="Arial" panose="020B0604020202020204" pitchFamily="34" charset="0"/>
              </a:rPr>
              <a:t>.</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A partition is a communications break within a distributed system - a lost or temporarily delayed connection between two nodes. Partition tolerance means that </a:t>
            </a:r>
            <a:r>
              <a:rPr lang="en-US" sz="2400" dirty="0">
                <a:solidFill>
                  <a:srgbClr val="FF0000"/>
                </a:solidFill>
                <a:latin typeface="Arial" panose="020B0604020202020204" pitchFamily="34" charset="0"/>
                <a:cs typeface="Arial" panose="020B0604020202020204" pitchFamily="34" charset="0"/>
              </a:rPr>
              <a:t>the cluster must continue to work despite any number of communication breakdowns</a:t>
            </a:r>
            <a:r>
              <a:rPr lang="en-US" sz="2400" dirty="0">
                <a:latin typeface="Arial" panose="020B0604020202020204" pitchFamily="34" charset="0"/>
                <a:cs typeface="Arial" panose="020B0604020202020204" pitchFamily="34" charset="0"/>
              </a:rPr>
              <a:t> between nodes in the system.</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Parallel processing and scaling out </a:t>
            </a:r>
            <a:r>
              <a:rPr lang="en-US" sz="2400" dirty="0">
                <a:latin typeface="Arial" panose="020B0604020202020204" pitchFamily="34" charset="0"/>
                <a:cs typeface="Arial" panose="020B0604020202020204" pitchFamily="34" charset="0"/>
              </a:rPr>
              <a:t>are proven methods and are being adopted as the </a:t>
            </a:r>
            <a:r>
              <a:rPr lang="en-US" sz="2400" dirty="0">
                <a:solidFill>
                  <a:srgbClr val="FF0000"/>
                </a:solidFill>
                <a:latin typeface="Arial" panose="020B0604020202020204" pitchFamily="34" charset="0"/>
                <a:cs typeface="Arial" panose="020B0604020202020204" pitchFamily="34" charset="0"/>
              </a:rPr>
              <a:t>model for scalability </a:t>
            </a:r>
            <a:r>
              <a:rPr lang="en-US" sz="2400" dirty="0">
                <a:latin typeface="Arial" panose="020B0604020202020204" pitchFamily="34" charset="0"/>
                <a:cs typeface="Arial" panose="020B0604020202020204" pitchFamily="34" charset="0"/>
              </a:rPr>
              <a:t>and higher performance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7448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Upholding CAP</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As proved in Brewer’s Theorem, Achieving consistency, availability, and partition tolerance at all times in a large distributed system is </a:t>
            </a:r>
            <a:r>
              <a:rPr lang="en-US" sz="2400" dirty="0">
                <a:solidFill>
                  <a:srgbClr val="FF0000"/>
                </a:solidFill>
                <a:latin typeface="Arial" panose="020B0604020202020204" pitchFamily="34" charset="0"/>
                <a:cs typeface="Arial" panose="020B0604020202020204" pitchFamily="34" charset="0"/>
              </a:rPr>
              <a:t>not possible</a:t>
            </a:r>
            <a:r>
              <a:rPr lang="en-US" sz="24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1145406" y="2893953"/>
            <a:ext cx="3270241" cy="2890829"/>
          </a:xfrm>
          <a:prstGeom prst="rect">
            <a:avLst/>
          </a:prstGeom>
        </p:spPr>
      </p:pic>
      <p:pic>
        <p:nvPicPr>
          <p:cNvPr id="6" name="Picture 5"/>
          <p:cNvPicPr>
            <a:picLocks noChangeAspect="1"/>
          </p:cNvPicPr>
          <p:nvPr/>
        </p:nvPicPr>
        <p:blipFill>
          <a:blip r:embed="rId3"/>
          <a:stretch>
            <a:fillRect/>
          </a:stretch>
        </p:blipFill>
        <p:spPr>
          <a:xfrm>
            <a:off x="4722853" y="2893953"/>
            <a:ext cx="3258853" cy="3051225"/>
          </a:xfrm>
          <a:prstGeom prst="rect">
            <a:avLst/>
          </a:prstGeom>
        </p:spPr>
      </p:pic>
      <p:pic>
        <p:nvPicPr>
          <p:cNvPr id="10" name="Picture 9"/>
          <p:cNvPicPr>
            <a:picLocks noChangeAspect="1"/>
          </p:cNvPicPr>
          <p:nvPr/>
        </p:nvPicPr>
        <p:blipFill>
          <a:blip r:embed="rId4"/>
          <a:stretch>
            <a:fillRect/>
          </a:stretch>
        </p:blipFill>
        <p:spPr>
          <a:xfrm>
            <a:off x="8334647" y="2893953"/>
            <a:ext cx="2666212" cy="3198629"/>
          </a:xfrm>
          <a:prstGeom prst="rect">
            <a:avLst/>
          </a:prstGeom>
        </p:spPr>
      </p:pic>
    </p:spTree>
    <p:extLst>
      <p:ext uri="{BB962C8B-B14F-4D97-AF65-F5344CB8AC3E}">
        <p14:creationId xmlns:p14="http://schemas.microsoft.com/office/powerpoint/2010/main" val="982462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Upholding CAP - Conclusion</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The choices could be as follows:</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Option 1  - </a:t>
            </a:r>
            <a:r>
              <a:rPr lang="en-US" sz="2400" dirty="0">
                <a:solidFill>
                  <a:srgbClr val="FF0000"/>
                </a:solidFill>
                <a:latin typeface="Arial" panose="020B0604020202020204" pitchFamily="34" charset="0"/>
                <a:cs typeface="Arial" panose="020B0604020202020204" pitchFamily="34" charset="0"/>
              </a:rPr>
              <a:t>Availability is compromised </a:t>
            </a:r>
            <a:r>
              <a:rPr lang="en-US" sz="2400" dirty="0">
                <a:latin typeface="Arial" panose="020B0604020202020204" pitchFamily="34" charset="0"/>
                <a:cs typeface="Arial" panose="020B0604020202020204" pitchFamily="34" charset="0"/>
              </a:rPr>
              <a:t>but consistency and partition tolerance are preferred over it.</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Option 2 - The system has little or </a:t>
            </a:r>
            <a:r>
              <a:rPr lang="en-US" sz="2400" dirty="0">
                <a:solidFill>
                  <a:srgbClr val="FF0000"/>
                </a:solidFill>
                <a:latin typeface="Arial" panose="020B0604020202020204" pitchFamily="34" charset="0"/>
                <a:cs typeface="Arial" panose="020B0604020202020204" pitchFamily="34" charset="0"/>
              </a:rPr>
              <a:t>no partition tolerance</a:t>
            </a:r>
            <a:r>
              <a:rPr lang="en-US" sz="2400" dirty="0">
                <a:latin typeface="Arial" panose="020B0604020202020204" pitchFamily="34" charset="0"/>
                <a:cs typeface="Arial" panose="020B0604020202020204" pitchFamily="34" charset="0"/>
              </a:rPr>
              <a:t>. Consistency and availability are preferred.</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Option 3 - </a:t>
            </a:r>
            <a:r>
              <a:rPr lang="en-US" sz="2400" dirty="0">
                <a:solidFill>
                  <a:srgbClr val="FF0000"/>
                </a:solidFill>
                <a:latin typeface="Arial" panose="020B0604020202020204" pitchFamily="34" charset="0"/>
                <a:cs typeface="Arial" panose="020B0604020202020204" pitchFamily="34" charset="0"/>
              </a:rPr>
              <a:t>Consistency is compromised </a:t>
            </a:r>
            <a:r>
              <a:rPr lang="en-US" sz="2400" dirty="0">
                <a:latin typeface="Arial" panose="020B0604020202020204" pitchFamily="34" charset="0"/>
                <a:cs typeface="Arial" panose="020B0604020202020204" pitchFamily="34" charset="0"/>
              </a:rPr>
              <a:t>but systems are always available and can work when parts of it are partitioned.</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49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Compromising on Availability</a:t>
            </a:r>
          </a:p>
        </p:txBody>
      </p:sp>
      <p:sp>
        <p:nvSpPr>
          <p:cNvPr id="3" name="Content Placeholder 2"/>
          <p:cNvSpPr>
            <a:spLocks noGrp="1"/>
          </p:cNvSpPr>
          <p:nvPr>
            <p:ph idx="1"/>
          </p:nvPr>
        </p:nvSpPr>
        <p:spPr>
          <a:xfrm>
            <a:off x="838200" y="1690688"/>
            <a:ext cx="10515600" cy="4486275"/>
          </a:xfrm>
        </p:spPr>
        <p:txBody>
          <a:bodyPr>
            <a:normAutofit/>
          </a:bodyPr>
          <a:lstStyle/>
          <a:p>
            <a:pPr marL="457200" indent="-457200">
              <a:lnSpc>
                <a:spcPct val="110000"/>
              </a:lnSpc>
              <a:spcBef>
                <a:spcPts val="1800"/>
              </a:spcBef>
            </a:pPr>
            <a:r>
              <a:rPr lang="en-US" sz="2300" dirty="0">
                <a:latin typeface="Arial" panose="020B0604020202020204" pitchFamily="34" charset="0"/>
                <a:cs typeface="Arial" panose="020B0604020202020204" pitchFamily="34" charset="0"/>
              </a:rPr>
              <a:t>Compromising on availability means that </a:t>
            </a:r>
            <a:r>
              <a:rPr lang="en-US" sz="2300" dirty="0">
                <a:solidFill>
                  <a:srgbClr val="FF0000"/>
                </a:solidFill>
                <a:latin typeface="Arial" panose="020B0604020202020204" pitchFamily="34" charset="0"/>
                <a:cs typeface="Arial" panose="020B0604020202020204" pitchFamily="34" charset="0"/>
              </a:rPr>
              <a:t>the system may not be able to provide a response to every request </a:t>
            </a:r>
            <a:r>
              <a:rPr lang="en-US" sz="2300" dirty="0">
                <a:latin typeface="Arial" panose="020B0604020202020204" pitchFamily="34" charset="0"/>
                <a:cs typeface="Arial" panose="020B0604020202020204" pitchFamily="34" charset="0"/>
              </a:rPr>
              <a:t>in the event of a network partition. </a:t>
            </a:r>
          </a:p>
          <a:p>
            <a:pPr marL="457200" indent="-457200">
              <a:lnSpc>
                <a:spcPct val="110000"/>
              </a:lnSpc>
              <a:spcBef>
                <a:spcPts val="1800"/>
              </a:spcBef>
            </a:pPr>
            <a:r>
              <a:rPr lang="en-US" sz="2300" dirty="0">
                <a:latin typeface="Arial" panose="020B0604020202020204" pitchFamily="34" charset="0"/>
                <a:cs typeface="Arial" panose="020B0604020202020204" pitchFamily="34" charset="0"/>
              </a:rPr>
              <a:t>This trade-off prioritizes consistency and partition tolerance over availability, ensuring that the system remains in a consistent state even if it means some requests cannot be fulfilled immediately. </a:t>
            </a:r>
          </a:p>
          <a:p>
            <a:pPr marL="457200" indent="-457200">
              <a:lnSpc>
                <a:spcPct val="110000"/>
              </a:lnSpc>
              <a:spcBef>
                <a:spcPts val="1800"/>
              </a:spcBef>
            </a:pPr>
            <a:r>
              <a:rPr lang="en-US" sz="2300" dirty="0">
                <a:solidFill>
                  <a:srgbClr val="FF0000"/>
                </a:solidFill>
                <a:latin typeface="Arial" panose="020B0604020202020204" pitchFamily="34" charset="0"/>
                <a:cs typeface="Arial" panose="020B0604020202020204" pitchFamily="34" charset="0"/>
              </a:rPr>
              <a:t>This is common in transactions where failure is not an option, such as money transfers between accounts</a:t>
            </a:r>
            <a:r>
              <a:rPr lang="en-US" sz="2300" dirty="0">
                <a:latin typeface="Arial" panose="020B0604020202020204" pitchFamily="34" charset="0"/>
                <a:cs typeface="Arial" panose="020B0604020202020204" pitchFamily="34" charset="0"/>
              </a:rPr>
              <a:t>. In these cases, systems often have backup and quick recovery mechanisms, like replication, to minimize downtime. Although the system might still be unavailable for a short period, this minor unavailability is usually acceptable.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3328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Compromising on Partition Tolerance</a:t>
            </a:r>
          </a:p>
        </p:txBody>
      </p:sp>
      <p:sp>
        <p:nvSpPr>
          <p:cNvPr id="3" name="Content Placeholder 2"/>
          <p:cNvSpPr>
            <a:spLocks noGrp="1"/>
          </p:cNvSpPr>
          <p:nvPr>
            <p:ph idx="1"/>
          </p:nvPr>
        </p:nvSpPr>
        <p:spPr>
          <a:xfrm>
            <a:off x="838200" y="1690688"/>
            <a:ext cx="10515600" cy="4486275"/>
          </a:xfrm>
        </p:spPr>
        <p:txBody>
          <a:bodyPr>
            <a:noAutofit/>
          </a:bodyPr>
          <a:lstStyle/>
          <a:p>
            <a:pPr marL="457200" indent="-457200">
              <a:lnSpc>
                <a:spcPct val="110000"/>
              </a:lnSpc>
              <a:spcBef>
                <a:spcPts val="1800"/>
              </a:spcBef>
            </a:pPr>
            <a:r>
              <a:rPr lang="en-US" sz="2000" dirty="0">
                <a:latin typeface="Arial" panose="020B0604020202020204" pitchFamily="34" charset="0"/>
                <a:cs typeface="Arial" panose="020B0604020202020204" pitchFamily="34" charset="0"/>
              </a:rPr>
              <a:t>Compromising on partition tolerance means prioritizing consistency and availability over </a:t>
            </a:r>
            <a:r>
              <a:rPr lang="en-US" sz="2000" dirty="0">
                <a:solidFill>
                  <a:srgbClr val="FF0000"/>
                </a:solidFill>
                <a:latin typeface="Arial" panose="020B0604020202020204" pitchFamily="34" charset="0"/>
                <a:cs typeface="Arial" panose="020B0604020202020204" pitchFamily="34" charset="0"/>
              </a:rPr>
              <a:t>the ability to continue functioning during network partitions</a:t>
            </a:r>
            <a:r>
              <a:rPr lang="en-US" sz="2000" dirty="0">
                <a:latin typeface="Arial" panose="020B0604020202020204" pitchFamily="34" charset="0"/>
                <a:cs typeface="Arial" panose="020B0604020202020204" pitchFamily="34" charset="0"/>
              </a:rPr>
              <a:t>. This approach is typically taken when ensuring data accuracy and continuous operation is more important than handling network failures.</a:t>
            </a:r>
          </a:p>
          <a:p>
            <a:pPr marL="457200" indent="-457200">
              <a:lnSpc>
                <a:spcPct val="110000"/>
              </a:lnSpc>
              <a:spcBef>
                <a:spcPts val="1800"/>
              </a:spcBef>
            </a:pPr>
            <a:r>
              <a:rPr lang="en-US" sz="2000" dirty="0">
                <a:solidFill>
                  <a:srgbClr val="FF0000"/>
                </a:solidFill>
                <a:latin typeface="Arial" panose="020B0604020202020204" pitchFamily="34" charset="0"/>
                <a:cs typeface="Arial" panose="020B0604020202020204" pitchFamily="34" charset="0"/>
              </a:rPr>
              <a:t>Google’s Bigtable </a:t>
            </a:r>
            <a:r>
              <a:rPr lang="en-US" sz="2000" dirty="0">
                <a:latin typeface="Arial" panose="020B0604020202020204" pitchFamily="34" charset="0"/>
                <a:cs typeface="Arial" panose="020B0604020202020204" pitchFamily="34" charset="0"/>
              </a:rPr>
              <a:t>is a highly available and strongly consistent data store that compromises on partition tolerance. It can handle node failures but not network partitions. In such cases, it identifies primary and secondary parts and tries to resolve issues by forming a quorum.</a:t>
            </a:r>
          </a:p>
          <a:p>
            <a:pPr marL="457200" indent="-457200">
              <a:lnSpc>
                <a:spcPct val="110000"/>
              </a:lnSpc>
              <a:spcBef>
                <a:spcPts val="1800"/>
              </a:spcBef>
            </a:pPr>
            <a:r>
              <a:rPr lang="en-US" sz="2000" dirty="0">
                <a:solidFill>
                  <a:srgbClr val="FF0000"/>
                </a:solidFill>
                <a:latin typeface="Arial" panose="020B0604020202020204" pitchFamily="34" charset="0"/>
                <a:cs typeface="Arial" panose="020B0604020202020204" pitchFamily="34" charset="0"/>
              </a:rPr>
              <a:t>Bigtable and HBase</a:t>
            </a:r>
            <a:r>
              <a:rPr lang="en-US" sz="2000" dirty="0">
                <a:latin typeface="Arial" panose="020B0604020202020204" pitchFamily="34" charset="0"/>
                <a:cs typeface="Arial" panose="020B0604020202020204" pitchFamily="34" charset="0"/>
              </a:rPr>
              <a:t>, along with their underlying filesystems (GFS and HDFS), store three copies of every data set. This ensures consistency by consensus, allowing the system to remain consistent even if one copy fails or falls out of sync. Fewer than three copies would not guarantee consensus.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8357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Compromising on Consistency</a:t>
            </a:r>
          </a:p>
        </p:txBody>
      </p:sp>
      <p:sp>
        <p:nvSpPr>
          <p:cNvPr id="3" name="Content Placeholder 2"/>
          <p:cNvSpPr>
            <a:spLocks noGrp="1"/>
          </p:cNvSpPr>
          <p:nvPr>
            <p:ph idx="1"/>
          </p:nvPr>
        </p:nvSpPr>
        <p:spPr>
          <a:xfrm>
            <a:off x="838200" y="1690688"/>
            <a:ext cx="10515600" cy="4486275"/>
          </a:xfrm>
        </p:spPr>
        <p:txBody>
          <a:bodyPr>
            <a:noAutofit/>
          </a:bodyPr>
          <a:lstStyle/>
          <a:p>
            <a:pPr marL="457200" indent="-457200">
              <a:lnSpc>
                <a:spcPct val="120000"/>
              </a:lnSpc>
              <a:spcBef>
                <a:spcPts val="600"/>
              </a:spcBef>
              <a:spcAft>
                <a:spcPts val="600"/>
              </a:spcAft>
            </a:pPr>
            <a:r>
              <a:rPr lang="en-US" sz="2000" dirty="0">
                <a:solidFill>
                  <a:srgbClr val="FF0000"/>
                </a:solidFill>
                <a:latin typeface="Arial" panose="020B0604020202020204" pitchFamily="34" charset="0"/>
                <a:cs typeface="Arial" panose="020B0604020202020204" pitchFamily="34" charset="0"/>
              </a:rPr>
              <a:t>Compromising on consistency involves prioritizing availability and partition tolerance over ensuring that all nodes always have the same data. This approach is often used in systems where it is more important to remain operational and responsive, even if some nodes temporarily have outdated or inconsistent data. </a:t>
            </a:r>
          </a:p>
          <a:p>
            <a:pPr marL="457200" indent="-457200">
              <a:lnSpc>
                <a:spcPct val="120000"/>
              </a:lnSpc>
              <a:spcBef>
                <a:spcPts val="1200"/>
              </a:spcBef>
              <a:spcAft>
                <a:spcPts val="600"/>
              </a:spcAft>
            </a:pPr>
            <a:r>
              <a:rPr lang="en-US" sz="2000" dirty="0">
                <a:latin typeface="Arial" panose="020B0604020202020204" pitchFamily="34" charset="0"/>
                <a:cs typeface="Arial" panose="020B0604020202020204" pitchFamily="34" charset="0"/>
              </a:rPr>
              <a:t>Example-1: A shopping cart could </a:t>
            </a:r>
            <a:r>
              <a:rPr lang="en-US" sz="2000" dirty="0">
                <a:solidFill>
                  <a:srgbClr val="FF0000"/>
                </a:solidFill>
                <a:latin typeface="Arial" panose="020B0604020202020204" pitchFamily="34" charset="0"/>
                <a:cs typeface="Arial" panose="020B0604020202020204" pitchFamily="34" charset="0"/>
              </a:rPr>
              <a:t>allow orders even if it’s not able to confirm </a:t>
            </a:r>
            <a:r>
              <a:rPr lang="en-US" sz="2000" dirty="0">
                <a:latin typeface="Arial" panose="020B0604020202020204" pitchFamily="34" charset="0"/>
                <a:cs typeface="Arial" panose="020B0604020202020204" pitchFamily="34" charset="0"/>
              </a:rPr>
              <a:t>with the inventory system about availability. In a possible limit case, the product ordered may be out of stock. In such a case, the order could be taken as a back order and filled when the inventory is restocked.</a:t>
            </a:r>
          </a:p>
          <a:p>
            <a:pPr marL="457200" indent="-457200">
              <a:lnSpc>
                <a:spcPct val="120000"/>
              </a:lnSpc>
              <a:spcBef>
                <a:spcPts val="600"/>
              </a:spcBef>
              <a:spcAft>
                <a:spcPts val="600"/>
              </a:spcAft>
            </a:pPr>
            <a:r>
              <a:rPr lang="en-US" sz="2000" dirty="0">
                <a:latin typeface="Arial" panose="020B0604020202020204" pitchFamily="34" charset="0"/>
                <a:cs typeface="Arial" panose="020B0604020202020204" pitchFamily="34" charset="0"/>
              </a:rPr>
              <a:t>Example-2: A bank could </a:t>
            </a:r>
            <a:r>
              <a:rPr lang="en-US" sz="2000" dirty="0">
                <a:solidFill>
                  <a:srgbClr val="FF0000"/>
                </a:solidFill>
                <a:latin typeface="Arial" panose="020B0604020202020204" pitchFamily="34" charset="0"/>
                <a:cs typeface="Arial" panose="020B0604020202020204" pitchFamily="34" charset="0"/>
              </a:rPr>
              <a:t>allow a customer to withdraw up to an overdraft amount </a:t>
            </a:r>
            <a:r>
              <a:rPr lang="en-US" sz="2000" dirty="0">
                <a:latin typeface="Arial" panose="020B0604020202020204" pitchFamily="34" charset="0"/>
                <a:cs typeface="Arial" panose="020B0604020202020204" pitchFamily="34" charset="0"/>
              </a:rPr>
              <a:t>even if it’s unable to confirm the available balance so that in the worst situation if the money isn’t sufficient the transaction could still be valid and the overdraft facility could be used.</a:t>
            </a:r>
          </a:p>
          <a:p>
            <a:pPr marL="457200" indent="-457200">
              <a:lnSpc>
                <a:spcPct val="120000"/>
              </a:lnSpc>
              <a:spcBef>
                <a:spcPts val="600"/>
              </a:spcBef>
              <a:spcAft>
                <a:spcPts val="600"/>
              </a:spcAft>
            </a:pPr>
            <a:endParaRPr lang="en-US" sz="2000" dirty="0">
              <a:latin typeface="Arial" panose="020B0604020202020204" pitchFamily="34" charset="0"/>
              <a:cs typeface="Arial" panose="020B0604020202020204" pitchFamily="34" charset="0"/>
            </a:endParaRPr>
          </a:p>
          <a:p>
            <a:pPr marL="457200" indent="-457200">
              <a:lnSpc>
                <a:spcPct val="120000"/>
              </a:lnSpc>
              <a:spcBef>
                <a:spcPts val="600"/>
              </a:spcBef>
              <a:spcAft>
                <a:spcPts val="600"/>
              </a:spcAft>
            </a:pPr>
            <a:endParaRPr lang="en-US" sz="20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9515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Eventual Consistency</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0"/>
              </a:spcBef>
              <a:buNone/>
            </a:pPr>
            <a:r>
              <a:rPr lang="en-US" sz="2300" dirty="0">
                <a:latin typeface="Arial" panose="020B0604020202020204" pitchFamily="34" charset="0"/>
                <a:cs typeface="Arial" panose="020B0604020202020204" pitchFamily="34" charset="0"/>
              </a:rPr>
              <a:t>NoSQL databases (for example, </a:t>
            </a:r>
            <a:r>
              <a:rPr lang="en-US" sz="2300" dirty="0" err="1">
                <a:latin typeface="Arial" panose="020B0604020202020204" pitchFamily="34" charset="0"/>
                <a:cs typeface="Arial" panose="020B0604020202020204" pitchFamily="34" charset="0"/>
              </a:rPr>
              <a:t>ScyllaDB</a:t>
            </a:r>
            <a:r>
              <a:rPr lang="en-US" sz="2300" dirty="0">
                <a:latin typeface="Arial" panose="020B0604020202020204" pitchFamily="34" charset="0"/>
                <a:cs typeface="Arial" panose="020B0604020202020204" pitchFamily="34" charset="0"/>
              </a:rPr>
              <a:t>) use  a model of </a:t>
            </a:r>
            <a:r>
              <a:rPr lang="en-US" sz="2300" dirty="0">
                <a:solidFill>
                  <a:srgbClr val="FF0000"/>
                </a:solidFill>
                <a:latin typeface="Arial" panose="020B0604020202020204" pitchFamily="34" charset="0"/>
                <a:cs typeface="Arial" panose="020B0604020202020204" pitchFamily="34" charset="0"/>
              </a:rPr>
              <a:t>tunable eventual consistency</a:t>
            </a:r>
            <a:r>
              <a:rPr lang="en-US" sz="2300" dirty="0">
                <a:latin typeface="Arial" panose="020B0604020202020204" pitchFamily="34" charset="0"/>
                <a:cs typeface="Arial" panose="020B0604020202020204" pitchFamily="34" charset="0"/>
              </a:rPr>
              <a:t> to deliver multi datacenter high availability and fast and efficient write and read operations. </a:t>
            </a:r>
          </a:p>
          <a:p>
            <a:pPr marL="0" indent="0">
              <a:lnSpc>
                <a:spcPct val="120000"/>
              </a:lnSpc>
              <a:spcBef>
                <a:spcPts val="0"/>
              </a:spcBef>
              <a:buNone/>
            </a:pPr>
            <a:endParaRPr lang="en-US" sz="23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300" dirty="0">
                <a:latin typeface="Arial" panose="020B0604020202020204" pitchFamily="34" charset="0"/>
                <a:cs typeface="Arial" panose="020B0604020202020204" pitchFamily="34" charset="0"/>
              </a:rPr>
              <a:t>In this case, all nodes are equal; this means any node can serve any request, there is no single point of coordination, and all nodes in the system continue to cooperatively provide service, even when nodes become unavailable. </a:t>
            </a:r>
          </a:p>
          <a:p>
            <a:pPr marL="0" indent="0">
              <a:lnSpc>
                <a:spcPct val="120000"/>
              </a:lnSpc>
              <a:spcBef>
                <a:spcPts val="0"/>
              </a:spcBef>
              <a:buNone/>
            </a:pPr>
            <a:endParaRPr lang="en-US" sz="23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300" dirty="0">
                <a:latin typeface="Arial" panose="020B0604020202020204" pitchFamily="34" charset="0"/>
                <a:cs typeface="Arial" panose="020B0604020202020204" pitchFamily="34" charset="0"/>
              </a:rPr>
              <a:t>Eventual consistency supports modern workloads that are </a:t>
            </a:r>
            <a:r>
              <a:rPr lang="en-US" sz="2300" dirty="0">
                <a:solidFill>
                  <a:srgbClr val="FF0000"/>
                </a:solidFill>
                <a:latin typeface="Arial" panose="020B0604020202020204" pitchFamily="34" charset="0"/>
                <a:cs typeface="Arial" panose="020B0604020202020204" pitchFamily="34" charset="0"/>
              </a:rPr>
              <a:t>less dependent on strong consistency but rely heavily on availability</a:t>
            </a:r>
            <a:r>
              <a:rPr lang="en-US" sz="23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132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Compromising on Consistency</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600"/>
              </a:spcBef>
              <a:spcAft>
                <a:spcPts val="600"/>
              </a:spcAft>
              <a:buNone/>
            </a:pPr>
            <a:r>
              <a:rPr lang="en-US" sz="2200" dirty="0">
                <a:latin typeface="Arial" panose="020B0604020202020204" pitchFamily="34" charset="0"/>
                <a:cs typeface="Arial" panose="020B0604020202020204" pitchFamily="34" charset="0"/>
              </a:rPr>
              <a:t>To understand </a:t>
            </a:r>
            <a:r>
              <a:rPr lang="en-US" sz="2200" dirty="0">
                <a:solidFill>
                  <a:srgbClr val="FF0000"/>
                </a:solidFill>
                <a:latin typeface="Arial" panose="020B0604020202020204" pitchFamily="34" charset="0"/>
                <a:cs typeface="Arial" panose="020B0604020202020204" pitchFamily="34" charset="0"/>
              </a:rPr>
              <a:t>eventual consistency </a:t>
            </a:r>
            <a:r>
              <a:rPr lang="en-US" sz="2200" dirty="0">
                <a:latin typeface="Arial" panose="020B0604020202020204" pitchFamily="34" charset="0"/>
                <a:cs typeface="Arial" panose="020B0604020202020204" pitchFamily="34" charset="0"/>
              </a:rPr>
              <a:t>one may try to illustrate a situation in terms of the following three criteria:</a:t>
            </a:r>
          </a:p>
          <a:p>
            <a:pPr marL="722313" indent="-366713">
              <a:lnSpc>
                <a:spcPct val="120000"/>
              </a:lnSpc>
              <a:spcBef>
                <a:spcPts val="600"/>
              </a:spcBef>
              <a:spcAft>
                <a:spcPts val="600"/>
              </a:spcAft>
            </a:pPr>
            <a:r>
              <a:rPr lang="en-US" sz="2200" dirty="0">
                <a:latin typeface="Arial" panose="020B0604020202020204" pitchFamily="34" charset="0"/>
                <a:cs typeface="Arial" panose="020B0604020202020204" pitchFamily="34" charset="0"/>
              </a:rPr>
              <a:t>R — Number of nodes that are read from.</a:t>
            </a:r>
          </a:p>
          <a:p>
            <a:pPr marL="722313" indent="-366713">
              <a:lnSpc>
                <a:spcPct val="120000"/>
              </a:lnSpc>
              <a:spcBef>
                <a:spcPts val="600"/>
              </a:spcBef>
              <a:spcAft>
                <a:spcPts val="600"/>
              </a:spcAft>
            </a:pPr>
            <a:r>
              <a:rPr lang="en-US" sz="2200" dirty="0">
                <a:latin typeface="Arial" panose="020B0604020202020204" pitchFamily="34" charset="0"/>
                <a:cs typeface="Arial" panose="020B0604020202020204" pitchFamily="34" charset="0"/>
              </a:rPr>
              <a:t>W — Number of nodes that are written to.</a:t>
            </a:r>
          </a:p>
          <a:p>
            <a:pPr marL="722313" indent="-366713">
              <a:lnSpc>
                <a:spcPct val="120000"/>
              </a:lnSpc>
              <a:spcBef>
                <a:spcPts val="600"/>
              </a:spcBef>
              <a:spcAft>
                <a:spcPts val="600"/>
              </a:spcAft>
            </a:pPr>
            <a:r>
              <a:rPr lang="en-US" sz="2200" dirty="0">
                <a:latin typeface="Arial" panose="020B0604020202020204" pitchFamily="34" charset="0"/>
                <a:cs typeface="Arial" panose="020B0604020202020204" pitchFamily="34" charset="0"/>
              </a:rPr>
              <a:t>N — Total number of nodes in the cluster.</a:t>
            </a:r>
          </a:p>
          <a:p>
            <a:pPr marL="0" indent="0">
              <a:lnSpc>
                <a:spcPct val="120000"/>
              </a:lnSpc>
              <a:spcBef>
                <a:spcPts val="600"/>
              </a:spcBef>
              <a:spcAft>
                <a:spcPts val="600"/>
              </a:spcAft>
              <a:buNone/>
            </a:pPr>
            <a:endParaRPr lang="en-US" sz="22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200" dirty="0">
                <a:latin typeface="Arial" panose="020B0604020202020204" pitchFamily="34" charset="0"/>
                <a:cs typeface="Arial" panose="020B0604020202020204" pitchFamily="34" charset="0"/>
              </a:rPr>
              <a:t>Different combinations of these three parameters can have different impacts on overall consistency. </a:t>
            </a:r>
            <a:r>
              <a:rPr lang="en-US" sz="2200" dirty="0">
                <a:solidFill>
                  <a:srgbClr val="FF0000"/>
                </a:solidFill>
                <a:latin typeface="Arial" panose="020B0604020202020204" pitchFamily="34" charset="0"/>
                <a:cs typeface="Arial" panose="020B0604020202020204" pitchFamily="34" charset="0"/>
              </a:rPr>
              <a:t>Keeping R &lt; N and W &lt; N allows for higher availability</a:t>
            </a:r>
            <a:r>
              <a:rPr lang="en-US" sz="22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5470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Compromising on Consistency</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600"/>
              </a:spcBef>
              <a:spcAft>
                <a:spcPts val="600"/>
              </a:spcAft>
              <a:buNone/>
            </a:pPr>
            <a:r>
              <a:rPr lang="en-US" sz="2200" dirty="0">
                <a:latin typeface="Arial" panose="020B0604020202020204" pitchFamily="34" charset="0"/>
                <a:cs typeface="Arial" panose="020B0604020202020204" pitchFamily="34" charset="0"/>
              </a:rPr>
              <a:t>Following are some common situations</a:t>
            </a:r>
          </a:p>
          <a:p>
            <a:pPr marL="722313" indent="-366713">
              <a:lnSpc>
                <a:spcPct val="120000"/>
              </a:lnSpc>
              <a:spcBef>
                <a:spcPts val="600"/>
              </a:spcBef>
              <a:spcAft>
                <a:spcPts val="600"/>
              </a:spcAft>
            </a:pPr>
            <a:r>
              <a:rPr lang="en-US" sz="2200" dirty="0">
                <a:latin typeface="Arial" panose="020B0604020202020204" pitchFamily="34" charset="0"/>
                <a:cs typeface="Arial" panose="020B0604020202020204" pitchFamily="34" charset="0"/>
              </a:rPr>
              <a:t>R + W &gt; N — In such situations, a consistent state can easily be established, because there is an overlap between some read and write nodes.</a:t>
            </a:r>
          </a:p>
          <a:p>
            <a:pPr marL="722313" indent="-366713">
              <a:lnSpc>
                <a:spcPct val="120000"/>
              </a:lnSpc>
              <a:spcBef>
                <a:spcPts val="600"/>
              </a:spcBef>
              <a:spcAft>
                <a:spcPts val="600"/>
              </a:spcAft>
            </a:pPr>
            <a:r>
              <a:rPr lang="en-US" sz="2200" dirty="0">
                <a:latin typeface="Arial" panose="020B0604020202020204" pitchFamily="34" charset="0"/>
                <a:cs typeface="Arial" panose="020B0604020202020204" pitchFamily="34" charset="0"/>
              </a:rPr>
              <a:t>R = 1, W = N — When a system has more reads than writes, it makes sense to balance the read load out to all nodes of the cluster.</a:t>
            </a:r>
          </a:p>
          <a:p>
            <a:pPr marL="722313" indent="-366713">
              <a:lnSpc>
                <a:spcPct val="120000"/>
              </a:lnSpc>
              <a:spcBef>
                <a:spcPts val="600"/>
              </a:spcBef>
              <a:spcAft>
                <a:spcPts val="600"/>
              </a:spcAft>
            </a:pPr>
            <a:r>
              <a:rPr lang="en-US" sz="2200" dirty="0">
                <a:latin typeface="Arial" panose="020B0604020202020204" pitchFamily="34" charset="0"/>
                <a:cs typeface="Arial" panose="020B0604020202020204" pitchFamily="34" charset="0"/>
              </a:rPr>
              <a:t>R = N, W = 1 — When writing to one node is enough, the chance of data inconsistency can be quite high.</a:t>
            </a:r>
          </a:p>
          <a:p>
            <a:pPr marL="722313" indent="-366713">
              <a:lnSpc>
                <a:spcPct val="120000"/>
              </a:lnSpc>
              <a:spcBef>
                <a:spcPts val="600"/>
              </a:spcBef>
              <a:spcAft>
                <a:spcPts val="600"/>
              </a:spcAft>
            </a:pPr>
            <a:r>
              <a:rPr lang="en-US" sz="2200" dirty="0">
                <a:latin typeface="Arial" panose="020B0604020202020204" pitchFamily="34" charset="0"/>
                <a:cs typeface="Arial" panose="020B0604020202020204" pitchFamily="34" charset="0"/>
              </a:rPr>
              <a:t>R = W = ceiling ((N + 1)/2) — Such a situation provides an effective quorum to provide eventual consistency.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089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Conclusion</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2400"/>
              </a:spcBef>
              <a:spcAft>
                <a:spcPts val="600"/>
              </a:spcAft>
              <a:buNone/>
            </a:pPr>
            <a:r>
              <a:rPr lang="en-US" sz="2300" dirty="0">
                <a:solidFill>
                  <a:srgbClr val="FF0000"/>
                </a:solidFill>
                <a:latin typeface="Arial" panose="020B0604020202020204" pitchFamily="34" charset="0"/>
                <a:cs typeface="Arial" panose="020B0604020202020204" pitchFamily="34" charset="0"/>
              </a:rPr>
              <a:t>Strong consistency suggest declined to consider NoSQL databases </a:t>
            </a:r>
            <a:r>
              <a:rPr lang="en-US" sz="2300" dirty="0">
                <a:latin typeface="Arial" panose="020B0604020202020204" pitchFamily="34" charset="0"/>
                <a:cs typeface="Arial" panose="020B0604020202020204" pitchFamily="34" charset="0"/>
              </a:rPr>
              <a:t>seriously due to its relaxed consistency configurations.</a:t>
            </a:r>
          </a:p>
          <a:p>
            <a:pPr marL="0" indent="0">
              <a:lnSpc>
                <a:spcPct val="120000"/>
              </a:lnSpc>
              <a:spcBef>
                <a:spcPts val="2400"/>
              </a:spcBef>
              <a:spcAft>
                <a:spcPts val="600"/>
              </a:spcAft>
              <a:buNone/>
            </a:pPr>
            <a:r>
              <a:rPr lang="en-US" sz="2300" dirty="0">
                <a:latin typeface="Arial" panose="020B0604020202020204" pitchFamily="34" charset="0"/>
                <a:cs typeface="Arial" panose="020B0604020202020204" pitchFamily="34" charset="0"/>
              </a:rPr>
              <a:t>Though consistency is an important requirement in many transactional systems, the strong-or-nothing approach has created a lot of fear, uncertainty, and doubt among users.</a:t>
            </a:r>
          </a:p>
          <a:p>
            <a:pPr marL="0" indent="0">
              <a:lnSpc>
                <a:spcPct val="120000"/>
              </a:lnSpc>
              <a:spcBef>
                <a:spcPts val="2400"/>
              </a:spcBef>
              <a:spcAft>
                <a:spcPts val="600"/>
              </a:spcAft>
              <a:buNone/>
            </a:pPr>
            <a:r>
              <a:rPr lang="en-US" sz="2300" dirty="0">
                <a:solidFill>
                  <a:srgbClr val="FF0000"/>
                </a:solidFill>
                <a:latin typeface="Arial" panose="020B0604020202020204" pitchFamily="34" charset="0"/>
                <a:cs typeface="Arial" panose="020B0604020202020204" pitchFamily="34" charset="0"/>
              </a:rPr>
              <a:t>Eventual consistency has its place and should be used where it safely provides high availability under partition conditions.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7673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essentials of ACID transactions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Applying transactional guarantee in distributed systems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Brewer’s CAP Theorem</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Exploring transactional support in NoSQL products</a:t>
            </a: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26-07-2024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740</TotalTime>
  <Words>1753</Words>
  <Application>Microsoft Office PowerPoint</Application>
  <PresentationFormat>Widescreen</PresentationFormat>
  <Paragraphs>172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(Body)</vt:lpstr>
      <vt:lpstr>Calibri Light</vt:lpstr>
      <vt:lpstr>Office Theme</vt:lpstr>
      <vt:lpstr>Course code : CSE3009 Course title  : No SQL Data Bases Module  : 1     Topic   : 2</vt:lpstr>
      <vt:lpstr>Objectives</vt:lpstr>
      <vt:lpstr>RDBMS and ACID</vt:lpstr>
      <vt:lpstr>ACID in Distributed Systems</vt:lpstr>
      <vt:lpstr>ACID in Distributed Systems</vt:lpstr>
      <vt:lpstr>Techniques to implement ACID in Distributed Systems</vt:lpstr>
      <vt:lpstr>Techniques to implement ACID in Distributed Systems</vt:lpstr>
      <vt:lpstr>Factors to consider</vt:lpstr>
      <vt:lpstr>Consistency</vt:lpstr>
      <vt:lpstr>Availability</vt:lpstr>
      <vt:lpstr>Partition Tolerance </vt:lpstr>
      <vt:lpstr>Upholding CAP</vt:lpstr>
      <vt:lpstr>Upholding CAP - Conclusion</vt:lpstr>
      <vt:lpstr>Compromising on Availability</vt:lpstr>
      <vt:lpstr>Compromising on Partition Tolerance</vt:lpstr>
      <vt:lpstr>Compromising on Consistency</vt:lpstr>
      <vt:lpstr>Eventual Consistency</vt:lpstr>
      <vt:lpstr>Compromising on Consistency</vt:lpstr>
      <vt:lpstr>Compromising on Consistency</vt:lpstr>
      <vt:lpstr>Conclusion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50</cp:revision>
  <dcterms:created xsi:type="dcterms:W3CDTF">2019-11-30T05:18:24Z</dcterms:created>
  <dcterms:modified xsi:type="dcterms:W3CDTF">2024-07-26T06:06:10Z</dcterms:modified>
</cp:coreProperties>
</file>