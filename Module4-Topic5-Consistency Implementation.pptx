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332" r:id="rId4"/>
    <p:sldId id="530" r:id="rId5"/>
    <p:sldId id="531" r:id="rId6"/>
    <p:sldId id="532" r:id="rId7"/>
    <p:sldId id="533" r:id="rId8"/>
    <p:sldId id="534" r:id="rId9"/>
    <p:sldId id="535" r:id="rId10"/>
    <p:sldId id="537" r:id="rId11"/>
    <p:sldId id="536" r:id="rId12"/>
    <p:sldId id="538" r:id="rId13"/>
    <p:sldId id="539" r:id="rId14"/>
    <p:sldId id="540" r:id="rId15"/>
    <p:sldId id="541" r:id="rId16"/>
    <p:sldId id="542" r:id="rId17"/>
    <p:sldId id="544" r:id="rId18"/>
    <p:sldId id="543" r:id="rId19"/>
    <p:sldId id="545" r:id="rId20"/>
    <p:sldId id="546"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18-03-2023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18-03-2023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18-03-2023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18-03-2023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18-03-2023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18-03-2023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18-03-2023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18-03-2023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18-03-2023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18-03-2023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18-03-2023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18-03-2023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18-03-2023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docs.mongodb.com/manual/tutoria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4</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5</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Consistency Implementation and Capped Collection</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18-03-2023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Consistency Implementation</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Distributed consistency</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Eventual Consistency</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Capped Collection</a:t>
            </a: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Consistency Implementation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It’s perfectly </a:t>
            </a:r>
            <a:r>
              <a:rPr lang="en-US" sz="2400" dirty="0">
                <a:solidFill>
                  <a:srgbClr val="FF0000"/>
                </a:solidFill>
                <a:latin typeface="Arial" panose="020B0604020202020204" pitchFamily="34" charset="0"/>
                <a:cs typeface="Arial" panose="020B0604020202020204" pitchFamily="34" charset="0"/>
              </a:rPr>
              <a:t>acceptable in some applications </a:t>
            </a:r>
            <a:r>
              <a:rPr lang="en-US" sz="2400" dirty="0">
                <a:latin typeface="Arial" panose="020B0604020202020204" pitchFamily="34" charset="0"/>
                <a:cs typeface="Arial" panose="020B0604020202020204" pitchFamily="34" charset="0"/>
              </a:rPr>
              <a:t>to have a slight lag in the time.</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Facebook posts don’t appear instantly to all users. </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You can also see on Twitter that someone new is following you before the total number of followers is updated.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the same </a:t>
            </a:r>
            <a:r>
              <a:rPr lang="en-US" sz="2400" dirty="0">
                <a:solidFill>
                  <a:srgbClr val="FF0000"/>
                </a:solidFill>
                <a:latin typeface="Arial" panose="020B0604020202020204" pitchFamily="34" charset="0"/>
                <a:cs typeface="Arial" panose="020B0604020202020204" pitchFamily="34" charset="0"/>
              </a:rPr>
              <a:t>isn’t true in situations such as </a:t>
            </a:r>
            <a:r>
              <a:rPr lang="en-US" sz="2400" dirty="0">
                <a:latin typeface="Arial" panose="020B0604020202020204" pitchFamily="34" charset="0"/>
                <a:cs typeface="Arial" panose="020B0604020202020204" pitchFamily="34" charset="0"/>
              </a:rPr>
              <a:t>in the following:</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Primary trading systems for billion dollar transactions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Emergency medical information in an emergency room</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Target tracking information in a battle group headquarters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22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Consistency Implementation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Not all NoSQL databases support full ACID guarantees, unlike their relational database management systems counterparts.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It’s not that you’re either consistent or inconsistent. Instead, there’s a range of consistency levels.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Some </a:t>
            </a:r>
            <a:r>
              <a:rPr lang="en-US" sz="2400" dirty="0">
                <a:solidFill>
                  <a:srgbClr val="FF0000"/>
                </a:solidFill>
                <a:latin typeface="Arial" panose="020B0604020202020204" pitchFamily="34" charset="0"/>
                <a:cs typeface="Arial" panose="020B0604020202020204" pitchFamily="34" charset="0"/>
              </a:rPr>
              <a:t>products support just one level; others allow you to select from a range of levels</a:t>
            </a:r>
            <a:r>
              <a:rPr lang="en-US" sz="2400" dirty="0">
                <a:latin typeface="Arial" panose="020B0604020202020204" pitchFamily="34" charset="0"/>
                <a:cs typeface="Arial" panose="020B0604020202020204" pitchFamily="34" charset="0"/>
              </a:rPr>
              <a:t> for each database operation.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022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Consistency in MongoDB</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By default - in a single-server deployment </a:t>
            </a:r>
            <a:r>
              <a:rPr lang="en-US" sz="2400" dirty="0">
                <a:latin typeface="Arial" panose="020B0604020202020204" pitchFamily="34" charset="0"/>
                <a:cs typeface="Arial" panose="020B0604020202020204" pitchFamily="34" charset="0"/>
              </a:rPr>
              <a:t>- a MongoDB database provides strict single-document consistency.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a </a:t>
            </a:r>
            <a:r>
              <a:rPr lang="en-US" sz="2400" dirty="0">
                <a:solidFill>
                  <a:srgbClr val="0000FF"/>
                </a:solidFill>
                <a:latin typeface="Arial" panose="020B0604020202020204" pitchFamily="34" charset="0"/>
                <a:cs typeface="Arial" panose="020B0604020202020204" pitchFamily="34" charset="0"/>
              </a:rPr>
              <a:t>MongoDB document is being modified, it is locked against both reads and writes by other sessions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when </a:t>
            </a:r>
            <a:r>
              <a:rPr lang="en-US" sz="2400" dirty="0">
                <a:solidFill>
                  <a:srgbClr val="0000FF"/>
                </a:solidFill>
                <a:latin typeface="Arial" panose="020B0604020202020204" pitchFamily="34" charset="0"/>
                <a:cs typeface="Arial" panose="020B0604020202020204" pitchFamily="34" charset="0"/>
              </a:rPr>
              <a:t>MongoDB replica sets are implemented</a:t>
            </a:r>
            <a:r>
              <a:rPr lang="en-US" sz="2400" dirty="0">
                <a:latin typeface="Arial" panose="020B0604020202020204" pitchFamily="34" charset="0"/>
                <a:cs typeface="Arial" panose="020B0604020202020204" pitchFamily="34" charset="0"/>
              </a:rPr>
              <a:t>, it is possible to configure something closer to </a:t>
            </a:r>
            <a:r>
              <a:rPr lang="en-US" sz="2400" dirty="0">
                <a:solidFill>
                  <a:srgbClr val="FF0000"/>
                </a:solidFill>
                <a:latin typeface="Arial" panose="020B0604020202020204" pitchFamily="34" charset="0"/>
                <a:cs typeface="Arial" panose="020B0604020202020204" pitchFamily="34" charset="0"/>
              </a:rPr>
              <a:t>eventual consistency by allowing reads to complete against secondary servers</a:t>
            </a:r>
            <a:r>
              <a:rPr lang="en-US" sz="2400" dirty="0">
                <a:latin typeface="Arial" panose="020B0604020202020204" pitchFamily="34" charset="0"/>
                <a:cs typeface="Arial" panose="020B0604020202020204" pitchFamily="34" charset="0"/>
              </a:rPr>
              <a:t> that may contain out-of-date data.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4226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MongoDB Locking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Consistency for individual documents is achieved in MongoDB </a:t>
            </a:r>
            <a:r>
              <a:rPr lang="en-US" sz="2400" dirty="0">
                <a:solidFill>
                  <a:srgbClr val="FF0000"/>
                </a:solidFill>
                <a:latin typeface="Arial" panose="020B0604020202020204" pitchFamily="34" charset="0"/>
                <a:cs typeface="Arial" panose="020B0604020202020204" pitchFamily="34" charset="0"/>
              </a:rPr>
              <a:t>by the use of locks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Locks are used to ensure that two writes do not attempt to modify a document simultaneously</a:t>
            </a:r>
            <a:r>
              <a:rPr lang="en-US" sz="2400" dirty="0">
                <a:latin typeface="Arial" panose="020B0604020202020204" pitchFamily="34" charset="0"/>
                <a:cs typeface="Arial" panose="020B0604020202020204" pitchFamily="34" charset="0"/>
              </a:rPr>
              <a:t>, and also that a reader will not see an inconsistent view of the data.</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Multi-version concurrency control (MVCC) </a:t>
            </a:r>
            <a:r>
              <a:rPr lang="en-US" sz="2400" dirty="0">
                <a:latin typeface="Arial" panose="020B0604020202020204" pitchFamily="34" charset="0"/>
                <a:cs typeface="Arial" panose="020B0604020202020204" pitchFamily="34" charset="0"/>
              </a:rPr>
              <a:t>algorithm can be used to allow readers to continue to read consistent versions of data concurrently with update activity. MVCC is widely used in relational databases because it avoids blocking.</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MongoDB does not implement an MVCC system</a:t>
            </a:r>
            <a:r>
              <a:rPr lang="en-US" sz="2400" dirty="0">
                <a:latin typeface="Arial" panose="020B0604020202020204" pitchFamily="34" charset="0"/>
                <a:cs typeface="Arial" panose="020B0604020202020204" pitchFamily="34" charset="0"/>
              </a:rPr>
              <a:t>, and therefore readers are prevented from reading a document that is being updated.</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147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MongoDB Locking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t>
            </a:r>
            <a:r>
              <a:rPr lang="en-US" sz="2400" dirty="0">
                <a:solidFill>
                  <a:srgbClr val="0000FF"/>
                </a:solidFill>
                <a:latin typeface="Arial" panose="020B0604020202020204" pitchFamily="34" charset="0"/>
                <a:cs typeface="Arial" panose="020B0604020202020204" pitchFamily="34" charset="0"/>
              </a:rPr>
              <a:t>granularity of MongoDB locks has changed </a:t>
            </a:r>
            <a:r>
              <a:rPr lang="en-US" sz="2400" dirty="0">
                <a:latin typeface="Arial" panose="020B0604020202020204" pitchFamily="34" charset="0"/>
                <a:cs typeface="Arial" panose="020B0604020202020204" pitchFamily="34" charset="0"/>
              </a:rPr>
              <a:t>during its history.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t>
            </a:r>
            <a:r>
              <a:rPr lang="en-US" sz="2400" dirty="0">
                <a:solidFill>
                  <a:srgbClr val="FF0000"/>
                </a:solidFill>
                <a:latin typeface="Arial" panose="020B0604020202020204" pitchFamily="34" charset="0"/>
                <a:cs typeface="Arial" panose="020B0604020202020204" pitchFamily="34" charset="0"/>
              </a:rPr>
              <a:t>versions prior to MongoDB 2.0, a single global lock serialized all write activity</a:t>
            </a:r>
            <a:r>
              <a:rPr lang="en-US" sz="2400" dirty="0">
                <a:latin typeface="Arial" panose="020B0604020202020204" pitchFamily="34" charset="0"/>
                <a:cs typeface="Arial" panose="020B0604020202020204" pitchFamily="34" charset="0"/>
              </a:rPr>
              <a:t>, blocking all concurrent readers and writers of any document across the server for the duration of any write.</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Lock scope was increased to the database level in 2.2, and to the collection level in 2.8</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the </a:t>
            </a:r>
            <a:r>
              <a:rPr lang="en-US" sz="2400" dirty="0">
                <a:solidFill>
                  <a:srgbClr val="0000FF"/>
                </a:solidFill>
                <a:latin typeface="Arial" panose="020B0604020202020204" pitchFamily="34" charset="0"/>
                <a:cs typeface="Arial" panose="020B0604020202020204" pitchFamily="34" charset="0"/>
              </a:rPr>
              <a:t>MongoDB 3.0 release, locking is applied at the document level, providing the collection is stored using the </a:t>
            </a:r>
            <a:r>
              <a:rPr lang="en-US" sz="2400" dirty="0" err="1">
                <a:solidFill>
                  <a:srgbClr val="0000FF"/>
                </a:solidFill>
                <a:latin typeface="Arial" panose="020B0604020202020204" pitchFamily="34" charset="0"/>
                <a:cs typeface="Arial" panose="020B0604020202020204" pitchFamily="34" charset="0"/>
              </a:rPr>
              <a:t>WiredTiger</a:t>
            </a:r>
            <a:r>
              <a:rPr lang="en-US" sz="2400" dirty="0">
                <a:solidFill>
                  <a:srgbClr val="0000FF"/>
                </a:solidFill>
                <a:latin typeface="Arial" panose="020B0604020202020204" pitchFamily="34" charset="0"/>
                <a:cs typeface="Arial" panose="020B0604020202020204" pitchFamily="34" charset="0"/>
              </a:rPr>
              <a:t> storage engine</a:t>
            </a:r>
            <a:r>
              <a:rPr lang="en-US" sz="2400" dirty="0">
                <a:latin typeface="Arial" panose="020B0604020202020204" pitchFamily="34" charset="0"/>
                <a:cs typeface="Arial" panose="020B0604020202020204" pitchFamily="34" charset="0"/>
              </a:rPr>
              <a:t>.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174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MongoDB Locking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document-level locking is in effect, </a:t>
            </a:r>
            <a:r>
              <a:rPr lang="en-US" sz="2400" dirty="0">
                <a:solidFill>
                  <a:srgbClr val="0000FF"/>
                </a:solidFill>
                <a:latin typeface="Arial" panose="020B0604020202020204" pitchFamily="34" charset="0"/>
                <a:cs typeface="Arial" panose="020B0604020202020204" pitchFamily="34" charset="0"/>
              </a:rPr>
              <a:t>an update to a document will only block readers or writers who wish to access the same document</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Locking is a controversial topic in MongoDB; </a:t>
            </a:r>
            <a:r>
              <a:rPr lang="en-US" sz="2400" dirty="0">
                <a:solidFill>
                  <a:srgbClr val="FF0000"/>
                </a:solidFill>
                <a:latin typeface="Arial" panose="020B0604020202020204" pitchFamily="34" charset="0"/>
                <a:cs typeface="Arial" panose="020B0604020202020204" pitchFamily="34" charset="0"/>
              </a:rPr>
              <a:t>the original “global” lock and lack of MVCC compared poorly</a:t>
            </a:r>
            <a:r>
              <a:rPr lang="en-US" sz="2400" dirty="0">
                <a:latin typeface="Arial" panose="020B0604020202020204" pitchFamily="34" charset="0"/>
                <a:cs typeface="Arial" panose="020B0604020202020204" pitchFamily="34" charset="0"/>
              </a:rPr>
              <a:t> with the mechanisms familiar in relational databases.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Now that lock scope is limited to the document level, these concerns have been significantly reduced.</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487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Replica Sets and Eventual Consistency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the multi-server scenario - </a:t>
            </a:r>
            <a:r>
              <a:rPr lang="en-US" sz="2400" dirty="0">
                <a:solidFill>
                  <a:srgbClr val="0000FF"/>
                </a:solidFill>
                <a:latin typeface="Arial" panose="020B0604020202020204" pitchFamily="34" charset="0"/>
                <a:cs typeface="Arial" panose="020B0604020202020204" pitchFamily="34" charset="0"/>
              </a:rPr>
              <a:t>MongoDB does not provides strict consistency</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All reads are directed to the primary server, which will always have the latest version of a document.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we saw in the previous that we can configure the MongoDB read preference to allow reads from secondary servers, which might return stale data.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Eventually all secondary servers should receive all updates, so this behavior can loosely be described as “</a:t>
            </a:r>
            <a:r>
              <a:rPr lang="en-US" sz="2400" dirty="0">
                <a:solidFill>
                  <a:srgbClr val="0000FF"/>
                </a:solidFill>
                <a:latin typeface="Arial" panose="020B0604020202020204" pitchFamily="34" charset="0"/>
                <a:cs typeface="Arial" panose="020B0604020202020204" pitchFamily="34" charset="0"/>
              </a:rPr>
              <a:t>eventually consistent</a:t>
            </a:r>
            <a:r>
              <a:rPr lang="en-US" sz="2400" dirty="0">
                <a:solidFill>
                  <a:srgbClr val="FF0000"/>
                </a:solidFill>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5475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eventual consistency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With eventual consistency, </a:t>
            </a:r>
            <a:r>
              <a:rPr lang="en-US" sz="2400" dirty="0">
                <a:solidFill>
                  <a:srgbClr val="0000FF"/>
                </a:solidFill>
                <a:latin typeface="Arial" panose="020B0604020202020204" pitchFamily="34" charset="0"/>
                <a:cs typeface="Arial" panose="020B0604020202020204" pitchFamily="34" charset="0"/>
              </a:rPr>
              <a:t>a write operation is successful on the server that receives it but all replicas of that data aren’t updated at the same time. They are updated later based on system replication settings.</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Some databases provide only eventual consistency (</a:t>
            </a:r>
            <a:r>
              <a:rPr lang="en-US" sz="2400" dirty="0" err="1">
                <a:solidFill>
                  <a:srgbClr val="0000FF"/>
                </a:solidFill>
                <a:latin typeface="Arial" panose="020B0604020202020204" pitchFamily="34" charset="0"/>
                <a:cs typeface="Arial" panose="020B0604020202020204" pitchFamily="34" charset="0"/>
              </a:rPr>
              <a:t>Couchbase</a:t>
            </a:r>
            <a:r>
              <a:rPr lang="en-US" sz="2400" dirty="0">
                <a:solidFill>
                  <a:srgbClr val="0000FF"/>
                </a:solidFill>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whereas others </a:t>
            </a:r>
            <a:r>
              <a:rPr lang="en-US" sz="2400" dirty="0">
                <a:solidFill>
                  <a:srgbClr val="FF0000"/>
                </a:solidFill>
                <a:latin typeface="Arial" panose="020B0604020202020204" pitchFamily="34" charset="0"/>
                <a:cs typeface="Arial" panose="020B0604020202020204" pitchFamily="34" charset="0"/>
              </a:rPr>
              <a:t>allow tuning of consistency on a per operation basis, depending on the settings of the originating client request</a:t>
            </a:r>
            <a:r>
              <a:rPr lang="en-US" sz="2400" dirty="0">
                <a:latin typeface="Arial" panose="020B0604020202020204" pitchFamily="34" charset="0"/>
                <a:cs typeface="Arial" panose="020B0604020202020204" pitchFamily="34" charset="0"/>
              </a:rPr>
              <a:t> (MongoDB, Microsoft </a:t>
            </a:r>
            <a:r>
              <a:rPr lang="en-US" sz="2400" dirty="0" err="1">
                <a:latin typeface="Arial" panose="020B0604020202020204" pitchFamily="34" charset="0"/>
                <a:cs typeface="Arial" panose="020B0604020202020204" pitchFamily="34" charset="0"/>
              </a:rPr>
              <a:t>DocumentDB</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Most social networks use tuning consistency model for new posts</a:t>
            </a:r>
            <a:r>
              <a:rPr lang="en-US" sz="2400" dirty="0">
                <a:latin typeface="Arial" panose="020B0604020202020204" pitchFamily="34" charset="0"/>
                <a:cs typeface="Arial" panose="020B0604020202020204" pitchFamily="34" charset="0"/>
              </a:rPr>
              <a:t>. This model gives you very fast write operations, because you don’t have to wait for all replicas to be updated in order for the write operation to be complete.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Inconsistency tends to last only a few seconds while the replicas catch up.</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6101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ACID consistency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ACID consistency is the gold standard of consistency guarantees. An ACID-compliant database ensures that</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All data is safe in event of failure.</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Database updates always keep the database in a valid state (no conflicts).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One set of operations doesn’t interfere with another set of operations.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Once the save completes, reading data from any replica will always give the new “current” result.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849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ACID consistency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err="1">
                <a:solidFill>
                  <a:srgbClr val="0000FF"/>
                </a:solidFill>
                <a:latin typeface="Arial" panose="020B0604020202020204" pitchFamily="34" charset="0"/>
                <a:cs typeface="Arial" panose="020B0604020202020204" pitchFamily="34" charset="0"/>
              </a:rPr>
              <a:t>MarkLogic</a:t>
            </a:r>
            <a:r>
              <a:rPr lang="en-US" sz="2400" dirty="0">
                <a:solidFill>
                  <a:srgbClr val="0000FF"/>
                </a:solidFill>
                <a:latin typeface="Arial" panose="020B0604020202020204" pitchFamily="34" charset="0"/>
                <a:cs typeface="Arial" panose="020B0604020202020204" pitchFamily="34" charset="0"/>
              </a:rPr>
              <a:t> Server provides ACID transactions</a:t>
            </a:r>
            <a:r>
              <a:rPr lang="en-US" sz="2400" dirty="0">
                <a:latin typeface="Arial" panose="020B0604020202020204" pitchFamily="34" charset="0"/>
                <a:cs typeface="Arial" panose="020B0604020202020204" pitchFamily="34" charset="0"/>
              </a:rPr>
              <a:t> both on the server-side (when applying a set of changes in a single operation) and across several client requests in an application (when applying each change individually, then having a user select ‘apply’).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Microsoft’s </a:t>
            </a:r>
            <a:r>
              <a:rPr lang="en-US" sz="2400" dirty="0" err="1">
                <a:solidFill>
                  <a:srgbClr val="FF0000"/>
                </a:solidFill>
                <a:latin typeface="Arial" panose="020B0604020202020204" pitchFamily="34" charset="0"/>
                <a:cs typeface="Arial" panose="020B0604020202020204" pitchFamily="34" charset="0"/>
              </a:rPr>
              <a:t>DocumentDB</a:t>
            </a:r>
            <a:r>
              <a:rPr lang="en-US" sz="2400" dirty="0">
                <a:solidFill>
                  <a:srgbClr val="FF0000"/>
                </a:solidFill>
                <a:latin typeface="Arial" panose="020B0604020202020204" pitchFamily="34" charset="0"/>
                <a:cs typeface="Arial" panose="020B0604020202020204" pitchFamily="34" charset="0"/>
              </a:rPr>
              <a:t> provides ACID transactions only on the server-side</a:t>
            </a:r>
            <a:r>
              <a:rPr lang="en-US" sz="2400" dirty="0">
                <a:latin typeface="Arial" panose="020B0604020202020204" pitchFamily="34" charset="0"/>
                <a:cs typeface="Arial" panose="020B0604020202020204" pitchFamily="34" charset="0"/>
              </a:rPr>
              <a:t>, when executing a JavaScript stored procedure.</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The </a:t>
            </a:r>
            <a:r>
              <a:rPr lang="en-US" sz="2400" dirty="0" err="1">
                <a:solidFill>
                  <a:srgbClr val="FF0000"/>
                </a:solidFill>
                <a:latin typeface="Arial" panose="020B0604020202020204" pitchFamily="34" charset="0"/>
                <a:cs typeface="Arial" panose="020B0604020202020204" pitchFamily="34" charset="0"/>
              </a:rPr>
              <a:t>MarkLogic</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Data Hub Platform </a:t>
            </a:r>
            <a:r>
              <a:rPr lang="en-US" sz="2400" dirty="0">
                <a:solidFill>
                  <a:srgbClr val="FF0000"/>
                </a:solidFill>
                <a:latin typeface="Arial" panose="020B0604020202020204" pitchFamily="34" charset="0"/>
                <a:cs typeface="Arial" panose="020B0604020202020204" pitchFamily="34" charset="0"/>
              </a:rPr>
              <a:t>integrates and curates your enterprise data </a:t>
            </a:r>
            <a:r>
              <a:rPr lang="en-US" sz="2400" dirty="0">
                <a:latin typeface="Arial" panose="020B0604020202020204" pitchFamily="34" charset="0"/>
                <a:cs typeface="Arial" panose="020B0604020202020204" pitchFamily="34" charset="0"/>
              </a:rPr>
              <a:t>to provide immediate business value. </a:t>
            </a:r>
            <a:r>
              <a:rPr lang="en-US" sz="2400" dirty="0">
                <a:solidFill>
                  <a:srgbClr val="FF0000"/>
                </a:solidFill>
                <a:latin typeface="Arial" panose="020B0604020202020204" pitchFamily="34" charset="0"/>
                <a:cs typeface="Arial" panose="020B0604020202020204" pitchFamily="34" charset="0"/>
              </a:rPr>
              <a:t>Running on a NoSQL foundation for speed and scale, it’s multi-model, elastic, transactional, secure, and built for the cloud</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9263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Capped Collections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Capped collections are fixed-size collections that support high-throughput operations</a:t>
            </a:r>
            <a:r>
              <a:rPr lang="en-US" sz="2400" dirty="0">
                <a:latin typeface="Arial" panose="020B0604020202020204" pitchFamily="34" charset="0"/>
                <a:cs typeface="Arial" panose="020B0604020202020204" pitchFamily="34" charset="0"/>
              </a:rPr>
              <a:t> that insert and retrieve documents based on insertion order.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Capped collections </a:t>
            </a:r>
            <a:r>
              <a:rPr lang="en-US" sz="2400" dirty="0">
                <a:solidFill>
                  <a:srgbClr val="0000FF"/>
                </a:solidFill>
                <a:latin typeface="Arial" panose="020B0604020202020204" pitchFamily="34" charset="0"/>
                <a:cs typeface="Arial" panose="020B0604020202020204" pitchFamily="34" charset="0"/>
              </a:rPr>
              <a:t>work in a way similar to circular buffers</a:t>
            </a: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once a collection fills its allocated space, it makes room for new documents by overwriting the oldest documents in the collection.</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an alternative to capped collections, consider MongoDB’s TTL (Time To Live) indexes.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TTL indexes are not compatible with capped collections.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806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Create a Capped Collection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creating a capped collection </a:t>
            </a:r>
            <a:r>
              <a:rPr lang="en-US" sz="2400" dirty="0">
                <a:solidFill>
                  <a:srgbClr val="FF0000"/>
                </a:solidFill>
                <a:latin typeface="Arial" panose="020B0604020202020204" pitchFamily="34" charset="0"/>
                <a:cs typeface="Arial" panose="020B0604020202020204" pitchFamily="34" charset="0"/>
              </a:rPr>
              <a:t>you must specify the maximum size of the collection in bytes</a:t>
            </a:r>
            <a:r>
              <a:rPr lang="en-US" sz="2400" dirty="0">
                <a:latin typeface="Arial" panose="020B0604020202020204" pitchFamily="34" charset="0"/>
                <a:cs typeface="Arial" panose="020B0604020202020204" pitchFamily="34" charset="0"/>
              </a:rPr>
              <a:t>, which MongoDB will pre-allocate for the collection.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size of the capped collection includes a small amount of space for internal overhead.</a:t>
            </a:r>
          </a:p>
          <a:p>
            <a:pPr marL="0" indent="0">
              <a:lnSpc>
                <a:spcPct val="120000"/>
              </a:lnSpc>
              <a:spcBef>
                <a:spcPts val="1800"/>
              </a:spcBef>
              <a:spcAft>
                <a:spcPts val="600"/>
              </a:spcAft>
              <a:buNone/>
            </a:pPr>
            <a:r>
              <a:rPr lang="en-US" sz="2400" dirty="0" err="1">
                <a:solidFill>
                  <a:srgbClr val="FF0000"/>
                </a:solidFill>
                <a:latin typeface="Arial" panose="020B0604020202020204" pitchFamily="34" charset="0"/>
                <a:cs typeface="Arial" panose="020B0604020202020204" pitchFamily="34" charset="0"/>
              </a:rPr>
              <a:t>db.createCollection</a:t>
            </a:r>
            <a:r>
              <a:rPr lang="en-US" sz="2400" dirty="0">
                <a:solidFill>
                  <a:srgbClr val="FF0000"/>
                </a:solidFill>
                <a:latin typeface="Arial" panose="020B0604020202020204" pitchFamily="34" charset="0"/>
                <a:cs typeface="Arial" panose="020B0604020202020204" pitchFamily="34" charset="0"/>
              </a:rPr>
              <a:t>( "log", { capped: true, size: 100000 }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the size field is less than or equal to 4096, then the collection will have a cap of 4096 bytes. Otherwise, MongoDB will raise the provided size to </a:t>
            </a:r>
            <a:r>
              <a:rPr lang="en-US" sz="2400" dirty="0">
                <a:solidFill>
                  <a:srgbClr val="FF0000"/>
                </a:solidFill>
                <a:latin typeface="Arial" panose="020B0604020202020204" pitchFamily="34" charset="0"/>
                <a:cs typeface="Arial" panose="020B0604020202020204" pitchFamily="34" charset="0"/>
              </a:rPr>
              <a:t>make it an integer multiple of 256</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46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Create a Capped Collection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Additionally, </a:t>
            </a:r>
            <a:r>
              <a:rPr lang="en-US" sz="2400" dirty="0">
                <a:solidFill>
                  <a:srgbClr val="FF0000"/>
                </a:solidFill>
                <a:latin typeface="Arial" panose="020B0604020202020204" pitchFamily="34" charset="0"/>
                <a:cs typeface="Arial" panose="020B0604020202020204" pitchFamily="34" charset="0"/>
              </a:rPr>
              <a:t>you may also specify a maximum number of documents </a:t>
            </a:r>
            <a:r>
              <a:rPr lang="en-US" sz="2400" dirty="0">
                <a:latin typeface="Arial" panose="020B0604020202020204" pitchFamily="34" charset="0"/>
                <a:cs typeface="Arial" panose="020B0604020202020204" pitchFamily="34" charset="0"/>
              </a:rPr>
              <a:t>for the collection using the max field as in the following document:</a:t>
            </a:r>
          </a:p>
          <a:p>
            <a:pPr marL="0" indent="0">
              <a:lnSpc>
                <a:spcPct val="120000"/>
              </a:lnSpc>
              <a:spcBef>
                <a:spcPts val="1800"/>
              </a:spcBef>
              <a:spcAft>
                <a:spcPts val="600"/>
              </a:spcAft>
              <a:buNone/>
            </a:pPr>
            <a:r>
              <a:rPr lang="en-US" sz="2400" dirty="0" err="1">
                <a:solidFill>
                  <a:srgbClr val="FF0000"/>
                </a:solidFill>
                <a:latin typeface="Arial" panose="020B0604020202020204" pitchFamily="34" charset="0"/>
                <a:cs typeface="Arial" panose="020B0604020202020204" pitchFamily="34" charset="0"/>
              </a:rPr>
              <a:t>db.createCollection</a:t>
            </a:r>
            <a:r>
              <a:rPr lang="en-US" sz="2400" dirty="0">
                <a:solidFill>
                  <a:srgbClr val="FF0000"/>
                </a:solidFill>
                <a:latin typeface="Arial" panose="020B0604020202020204" pitchFamily="34" charset="0"/>
                <a:cs typeface="Arial" panose="020B0604020202020204" pitchFamily="34" charset="0"/>
              </a:rPr>
              <a:t>("log", { capped : true, size : 5242880, max : 5000 }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IMPORTANT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size argument is always required, even when you specify max number of documents. </a:t>
            </a:r>
            <a:r>
              <a:rPr lang="en-US" sz="2400" dirty="0">
                <a:solidFill>
                  <a:srgbClr val="0000FF"/>
                </a:solidFill>
                <a:latin typeface="Arial" panose="020B0604020202020204" pitchFamily="34" charset="0"/>
                <a:cs typeface="Arial" panose="020B0604020202020204" pitchFamily="34" charset="0"/>
              </a:rPr>
              <a:t>MongoDB will remove older documents if a collection reaches the maximum size limit before it reaches the maximum document count.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108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Query a Capped Collection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If you perform a find() on a capped collection with no ordering specified</a:t>
            </a:r>
            <a:r>
              <a:rPr lang="en-US" sz="2400" dirty="0">
                <a:latin typeface="Arial" panose="020B0604020202020204" pitchFamily="34" charset="0"/>
                <a:cs typeface="Arial" panose="020B0604020202020204" pitchFamily="34" charset="0"/>
              </a:rPr>
              <a:t>, MongoDB guarantees that the ordering of results is </a:t>
            </a:r>
            <a:r>
              <a:rPr lang="en-US" sz="2400" dirty="0">
                <a:solidFill>
                  <a:srgbClr val="FF0000"/>
                </a:solidFill>
                <a:latin typeface="Arial" panose="020B0604020202020204" pitchFamily="34" charset="0"/>
                <a:cs typeface="Arial" panose="020B0604020202020204" pitchFamily="34" charset="0"/>
              </a:rPr>
              <a:t>the same as the insertion order</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To retrieve documents in reverse insertion order</a:t>
            </a:r>
            <a:r>
              <a:rPr lang="en-US" sz="2400" dirty="0">
                <a:latin typeface="Arial" panose="020B0604020202020204" pitchFamily="34" charset="0"/>
                <a:cs typeface="Arial" panose="020B0604020202020204" pitchFamily="34" charset="0"/>
              </a:rPr>
              <a:t>, issue find() along with the sort() method with the $natural parameter set to -1, as shown in the following example:</a:t>
            </a:r>
          </a:p>
          <a:p>
            <a:pPr marL="0" indent="0">
              <a:lnSpc>
                <a:spcPct val="120000"/>
              </a:lnSpc>
              <a:spcBef>
                <a:spcPts val="1800"/>
              </a:spcBef>
              <a:spcAft>
                <a:spcPts val="600"/>
              </a:spcAft>
              <a:buNone/>
            </a:pPr>
            <a:r>
              <a:rPr lang="en-US" sz="2400" dirty="0" err="1">
                <a:solidFill>
                  <a:srgbClr val="FF0000"/>
                </a:solidFill>
                <a:latin typeface="Arial" panose="020B0604020202020204" pitchFamily="34" charset="0"/>
                <a:cs typeface="Arial" panose="020B0604020202020204" pitchFamily="34" charset="0"/>
              </a:rPr>
              <a:t>db.cappedCollection.find</a:t>
            </a:r>
            <a:r>
              <a:rPr lang="en-US" sz="2400" dirty="0">
                <a:solidFill>
                  <a:srgbClr val="FF0000"/>
                </a:solidFill>
                <a:latin typeface="Arial" panose="020B0604020202020204" pitchFamily="34" charset="0"/>
                <a:cs typeface="Arial" panose="020B0604020202020204" pitchFamily="34" charset="0"/>
              </a:rPr>
              <a:t>().sort( { $natural: -1 }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5756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Query a Capped Collection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10000"/>
              </a:lnSpc>
              <a:spcBef>
                <a:spcPts val="600"/>
              </a:spcBef>
              <a:buNone/>
            </a:pPr>
            <a:r>
              <a:rPr lang="en-US" sz="2400" dirty="0">
                <a:solidFill>
                  <a:srgbClr val="0000FF"/>
                </a:solidFill>
                <a:latin typeface="Arial" panose="020B0604020202020204" pitchFamily="34" charset="0"/>
                <a:cs typeface="Arial" panose="020B0604020202020204" pitchFamily="34" charset="0"/>
              </a:rPr>
              <a:t>Check if a Collection is Capped</a:t>
            </a:r>
          </a:p>
          <a:p>
            <a:pPr marL="722313" indent="0">
              <a:lnSpc>
                <a:spcPct val="110000"/>
              </a:lnSpc>
              <a:spcBef>
                <a:spcPts val="600"/>
              </a:spcBef>
              <a:buNone/>
            </a:pPr>
            <a:r>
              <a:rPr lang="en-US" sz="2400" dirty="0">
                <a:latin typeface="Arial" panose="020B0604020202020204" pitchFamily="34" charset="0"/>
                <a:cs typeface="Arial" panose="020B0604020202020204" pitchFamily="34" charset="0"/>
              </a:rPr>
              <a:t>Use the </a:t>
            </a:r>
            <a:r>
              <a:rPr lang="en-US" sz="2400" dirty="0" err="1">
                <a:latin typeface="Arial" panose="020B0604020202020204" pitchFamily="34" charset="0"/>
                <a:cs typeface="Arial" panose="020B0604020202020204" pitchFamily="34" charset="0"/>
              </a:rPr>
              <a:t>isCapped</a:t>
            </a:r>
            <a:r>
              <a:rPr lang="en-US" sz="2400" dirty="0">
                <a:latin typeface="Arial" panose="020B0604020202020204" pitchFamily="34" charset="0"/>
                <a:cs typeface="Arial" panose="020B0604020202020204" pitchFamily="34" charset="0"/>
              </a:rPr>
              <a:t>() method to determine if a collection is capped, as follows:</a:t>
            </a:r>
          </a:p>
          <a:p>
            <a:pPr marL="722313" indent="0">
              <a:lnSpc>
                <a:spcPct val="110000"/>
              </a:lnSpc>
              <a:spcBef>
                <a:spcPts val="1800"/>
              </a:spcBef>
              <a:spcAft>
                <a:spcPts val="600"/>
              </a:spcAft>
              <a:buNone/>
            </a:pPr>
            <a:r>
              <a:rPr lang="en-US" sz="2400" dirty="0" err="1">
                <a:solidFill>
                  <a:srgbClr val="FF0000"/>
                </a:solidFill>
                <a:latin typeface="Arial" panose="020B0604020202020204" pitchFamily="34" charset="0"/>
                <a:cs typeface="Arial" panose="020B0604020202020204" pitchFamily="34" charset="0"/>
              </a:rPr>
              <a:t>db.collection.isCapped</a:t>
            </a:r>
            <a:r>
              <a:rPr lang="en-US" sz="2400" dirty="0">
                <a:solidFill>
                  <a:srgbClr val="FF0000"/>
                </a:solidFill>
                <a:latin typeface="Arial" panose="020B0604020202020204" pitchFamily="34" charset="0"/>
                <a:cs typeface="Arial" panose="020B0604020202020204" pitchFamily="34" charset="0"/>
              </a:rPr>
              <a:t>()</a:t>
            </a:r>
          </a:p>
          <a:p>
            <a:pPr marL="0" indent="0">
              <a:lnSpc>
                <a:spcPct val="110000"/>
              </a:lnSpc>
              <a:spcBef>
                <a:spcPts val="1800"/>
              </a:spcBef>
              <a:buNone/>
            </a:pPr>
            <a:r>
              <a:rPr lang="en-US" sz="2400" dirty="0">
                <a:solidFill>
                  <a:srgbClr val="0000FF"/>
                </a:solidFill>
                <a:latin typeface="Arial" panose="020B0604020202020204" pitchFamily="34" charset="0"/>
                <a:cs typeface="Arial" panose="020B0604020202020204" pitchFamily="34" charset="0"/>
              </a:rPr>
              <a:t>Convert a Collection to Capped</a:t>
            </a:r>
          </a:p>
          <a:p>
            <a:pPr marL="722313" indent="0">
              <a:lnSpc>
                <a:spcPct val="110000"/>
              </a:lnSpc>
              <a:spcBef>
                <a:spcPts val="600"/>
              </a:spcBef>
              <a:buNone/>
            </a:pPr>
            <a:r>
              <a:rPr lang="en-US" sz="2400" dirty="0">
                <a:latin typeface="Arial" panose="020B0604020202020204" pitchFamily="34" charset="0"/>
                <a:cs typeface="Arial" panose="020B0604020202020204" pitchFamily="34" charset="0"/>
              </a:rPr>
              <a:t>You can convert a non-capped collection to a capped collection with the </a:t>
            </a:r>
            <a:r>
              <a:rPr lang="en-US" sz="2400" dirty="0" err="1">
                <a:latin typeface="Arial" panose="020B0604020202020204" pitchFamily="34" charset="0"/>
                <a:cs typeface="Arial" panose="020B0604020202020204" pitchFamily="34" charset="0"/>
              </a:rPr>
              <a:t>convertToCapped</a:t>
            </a:r>
            <a:r>
              <a:rPr lang="en-US" sz="2400" dirty="0">
                <a:latin typeface="Arial" panose="020B0604020202020204" pitchFamily="34" charset="0"/>
                <a:cs typeface="Arial" panose="020B0604020202020204" pitchFamily="34" charset="0"/>
              </a:rPr>
              <a:t> command:</a:t>
            </a:r>
          </a:p>
          <a:p>
            <a:pPr marL="722313" indent="0">
              <a:lnSpc>
                <a:spcPct val="110000"/>
              </a:lnSpc>
              <a:spcBef>
                <a:spcPts val="1800"/>
              </a:spcBef>
              <a:spcAft>
                <a:spcPts val="600"/>
              </a:spcAft>
              <a:buNone/>
            </a:pPr>
            <a:r>
              <a:rPr lang="en-US" sz="2400" dirty="0" err="1">
                <a:solidFill>
                  <a:srgbClr val="FF0000"/>
                </a:solidFill>
                <a:latin typeface="Arial" panose="020B0604020202020204" pitchFamily="34" charset="0"/>
                <a:cs typeface="Arial" panose="020B0604020202020204" pitchFamily="34" charset="0"/>
              </a:rPr>
              <a:t>db.runCommand</a:t>
            </a:r>
            <a:r>
              <a:rPr lang="en-US" sz="2400" dirty="0">
                <a:solidFill>
                  <a:srgbClr val="FF0000"/>
                </a:solidFill>
                <a:latin typeface="Arial" panose="020B0604020202020204" pitchFamily="34" charset="0"/>
                <a:cs typeface="Arial" panose="020B0604020202020204" pitchFamily="34" charset="0"/>
              </a:rPr>
              <a:t>({"</a:t>
            </a:r>
            <a:r>
              <a:rPr lang="en-US" sz="2400" dirty="0" err="1">
                <a:solidFill>
                  <a:srgbClr val="FF0000"/>
                </a:solidFill>
                <a:latin typeface="Arial" panose="020B0604020202020204" pitchFamily="34" charset="0"/>
                <a:cs typeface="Arial" panose="020B0604020202020204" pitchFamily="34" charset="0"/>
              </a:rPr>
              <a:t>convertToCapped</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mycoll</a:t>
            </a:r>
            <a:r>
              <a:rPr lang="en-US" sz="2400" dirty="0">
                <a:solidFill>
                  <a:srgbClr val="FF0000"/>
                </a:solidFill>
                <a:latin typeface="Arial" panose="020B0604020202020204" pitchFamily="34" charset="0"/>
                <a:cs typeface="Arial" panose="020B0604020202020204" pitchFamily="34" charset="0"/>
              </a:rPr>
              <a:t>", size: 100000});</a:t>
            </a:r>
          </a:p>
          <a:p>
            <a:pPr marL="722313" indent="0">
              <a:lnSpc>
                <a:spcPct val="110000"/>
              </a:lnSpc>
              <a:spcBef>
                <a:spcPts val="1800"/>
              </a:spcBef>
              <a:spcAft>
                <a:spcPts val="600"/>
              </a:spcAft>
              <a:buNone/>
            </a:pPr>
            <a:r>
              <a:rPr lang="en-US" sz="2400" dirty="0">
                <a:latin typeface="Arial" panose="020B0604020202020204" pitchFamily="34" charset="0"/>
                <a:cs typeface="Arial" panose="020B0604020202020204" pitchFamily="34" charset="0"/>
              </a:rPr>
              <a:t>The size parameter specifies the size of the capped collection in bytes.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6041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Behavior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600"/>
              </a:spcBef>
              <a:buNone/>
            </a:pPr>
            <a:r>
              <a:rPr lang="en-US" sz="2400" dirty="0">
                <a:latin typeface="Arial" panose="020B0604020202020204" pitchFamily="34" charset="0"/>
                <a:cs typeface="Arial" panose="020B0604020202020204" pitchFamily="34" charset="0"/>
              </a:rPr>
              <a:t>Insertion Order</a:t>
            </a:r>
          </a:p>
          <a:p>
            <a:pPr marL="355600" indent="0">
              <a:lnSpc>
                <a:spcPct val="110000"/>
              </a:lnSpc>
              <a:spcBef>
                <a:spcPts val="600"/>
              </a:spcBef>
              <a:buNone/>
            </a:pPr>
            <a:r>
              <a:rPr lang="en-US" sz="2400" dirty="0">
                <a:solidFill>
                  <a:srgbClr val="0000FF"/>
                </a:solidFill>
                <a:latin typeface="Arial" panose="020B0604020202020204" pitchFamily="34" charset="0"/>
                <a:cs typeface="Arial" panose="020B0604020202020204" pitchFamily="34" charset="0"/>
              </a:rPr>
              <a:t>Capped collections guarantee preservation of the insertion order. </a:t>
            </a:r>
            <a:r>
              <a:rPr lang="en-US" sz="2400" dirty="0">
                <a:latin typeface="Arial" panose="020B0604020202020204" pitchFamily="34" charset="0"/>
                <a:cs typeface="Arial" panose="020B0604020202020204" pitchFamily="34" charset="0"/>
              </a:rPr>
              <a:t>As a result, queries do not need an index to return documents in insertion order. Without this indexing overhead, capped collections can support higher insertion throughput.</a:t>
            </a:r>
          </a:p>
          <a:p>
            <a:pPr marL="0" indent="0">
              <a:lnSpc>
                <a:spcPct val="110000"/>
              </a:lnSpc>
              <a:spcBef>
                <a:spcPts val="600"/>
              </a:spcBef>
              <a:buNone/>
            </a:pPr>
            <a:endParaRPr lang="en-US" sz="2400" dirty="0">
              <a:latin typeface="Arial" panose="020B0604020202020204" pitchFamily="34" charset="0"/>
              <a:cs typeface="Arial" panose="020B0604020202020204" pitchFamily="34" charset="0"/>
            </a:endParaRP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Automatic Removal of Oldest Documents</a:t>
            </a:r>
          </a:p>
          <a:p>
            <a:pPr marL="355600" indent="0">
              <a:lnSpc>
                <a:spcPct val="110000"/>
              </a:lnSpc>
              <a:spcBef>
                <a:spcPts val="600"/>
              </a:spcBef>
              <a:buNone/>
            </a:pPr>
            <a:r>
              <a:rPr lang="en-US" sz="2400" dirty="0">
                <a:latin typeface="Arial" panose="020B0604020202020204" pitchFamily="34" charset="0"/>
                <a:cs typeface="Arial" panose="020B0604020202020204" pitchFamily="34" charset="0"/>
              </a:rPr>
              <a:t>To make room for new documents, </a:t>
            </a:r>
            <a:r>
              <a:rPr lang="en-US" sz="2400" dirty="0">
                <a:solidFill>
                  <a:srgbClr val="0000FF"/>
                </a:solidFill>
                <a:latin typeface="Arial" panose="020B0604020202020204" pitchFamily="34" charset="0"/>
                <a:cs typeface="Arial" panose="020B0604020202020204" pitchFamily="34" charset="0"/>
              </a:rPr>
              <a:t>capped collections automatically remove the oldest documents in the collection without requiring scripts or explicit remove operations.</a:t>
            </a:r>
          </a:p>
          <a:p>
            <a:pPr marL="0" indent="0">
              <a:lnSpc>
                <a:spcPct val="110000"/>
              </a:lnSpc>
              <a:spcBef>
                <a:spcPts val="600"/>
              </a:spcBef>
              <a:buNone/>
            </a:pPr>
            <a:endParaRPr lang="en-US"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8242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Restrictions and Recommendations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600"/>
              </a:spcBef>
              <a:buNone/>
            </a:pPr>
            <a:r>
              <a:rPr lang="en-US" sz="2100" dirty="0">
                <a:latin typeface="Arial" panose="020B0604020202020204" pitchFamily="34" charset="0"/>
                <a:cs typeface="Arial" panose="020B0604020202020204" pitchFamily="34" charset="0"/>
              </a:rPr>
              <a:t>Updates</a:t>
            </a:r>
          </a:p>
          <a:p>
            <a:pPr marL="539750" indent="-357188">
              <a:lnSpc>
                <a:spcPct val="110000"/>
              </a:lnSpc>
              <a:spcBef>
                <a:spcPts val="600"/>
              </a:spcBef>
            </a:pPr>
            <a:r>
              <a:rPr lang="en-US" sz="2100" dirty="0">
                <a:latin typeface="Arial" panose="020B0604020202020204" pitchFamily="34" charset="0"/>
                <a:cs typeface="Arial" panose="020B0604020202020204" pitchFamily="34" charset="0"/>
              </a:rPr>
              <a:t>If you plan to update documents in a capped collection, </a:t>
            </a:r>
            <a:r>
              <a:rPr lang="en-US" sz="2100" dirty="0">
                <a:solidFill>
                  <a:srgbClr val="0000FF"/>
                </a:solidFill>
                <a:latin typeface="Arial" panose="020B0604020202020204" pitchFamily="34" charset="0"/>
                <a:cs typeface="Arial" panose="020B0604020202020204" pitchFamily="34" charset="0"/>
              </a:rPr>
              <a:t>create an index so that these update operations do not require a collection scan</a:t>
            </a:r>
            <a:r>
              <a:rPr lang="en-US" sz="2100" dirty="0">
                <a:latin typeface="Arial" panose="020B0604020202020204" pitchFamily="34" charset="0"/>
                <a:cs typeface="Arial" panose="020B0604020202020204" pitchFamily="34" charset="0"/>
              </a:rPr>
              <a:t>.</a:t>
            </a:r>
          </a:p>
          <a:p>
            <a:pPr marL="0" indent="0">
              <a:lnSpc>
                <a:spcPct val="110000"/>
              </a:lnSpc>
              <a:spcBef>
                <a:spcPts val="1800"/>
              </a:spcBef>
              <a:buNone/>
            </a:pPr>
            <a:r>
              <a:rPr lang="en-US" sz="2100" dirty="0">
                <a:latin typeface="Arial" panose="020B0604020202020204" pitchFamily="34" charset="0"/>
                <a:cs typeface="Arial" panose="020B0604020202020204" pitchFamily="34" charset="0"/>
              </a:rPr>
              <a:t>Document Size</a:t>
            </a:r>
          </a:p>
          <a:p>
            <a:pPr marL="539750" indent="-357188">
              <a:lnSpc>
                <a:spcPct val="110000"/>
              </a:lnSpc>
              <a:spcBef>
                <a:spcPts val="600"/>
              </a:spcBef>
            </a:pPr>
            <a:r>
              <a:rPr lang="en-US" sz="2100" dirty="0">
                <a:solidFill>
                  <a:srgbClr val="0000FF"/>
                </a:solidFill>
                <a:latin typeface="Arial" panose="020B0604020202020204" pitchFamily="34" charset="0"/>
                <a:cs typeface="Arial" panose="020B0604020202020204" pitchFamily="34" charset="0"/>
              </a:rPr>
              <a:t>If an update or a replacement operation changes the document size, the operation will fail.</a:t>
            </a:r>
          </a:p>
          <a:p>
            <a:pPr marL="0" indent="0">
              <a:lnSpc>
                <a:spcPct val="110000"/>
              </a:lnSpc>
              <a:spcBef>
                <a:spcPts val="1800"/>
              </a:spcBef>
              <a:buNone/>
            </a:pPr>
            <a:r>
              <a:rPr lang="en-US" sz="2100" dirty="0">
                <a:latin typeface="Arial" panose="020B0604020202020204" pitchFamily="34" charset="0"/>
                <a:cs typeface="Arial" panose="020B0604020202020204" pitchFamily="34" charset="0"/>
              </a:rPr>
              <a:t>Document Deletion</a:t>
            </a:r>
          </a:p>
          <a:p>
            <a:pPr marL="539750" indent="-357188">
              <a:lnSpc>
                <a:spcPct val="110000"/>
              </a:lnSpc>
              <a:spcBef>
                <a:spcPts val="600"/>
              </a:spcBef>
            </a:pPr>
            <a:r>
              <a:rPr lang="en-US" sz="2100" dirty="0">
                <a:solidFill>
                  <a:srgbClr val="FF0000"/>
                </a:solidFill>
                <a:latin typeface="Arial" panose="020B0604020202020204" pitchFamily="34" charset="0"/>
                <a:cs typeface="Arial" panose="020B0604020202020204" pitchFamily="34" charset="0"/>
              </a:rPr>
              <a:t>You cannot delete documents from a capped collection. </a:t>
            </a:r>
            <a:r>
              <a:rPr lang="en-US" sz="2100" dirty="0">
                <a:solidFill>
                  <a:srgbClr val="0000FF"/>
                </a:solidFill>
                <a:latin typeface="Arial" panose="020B0604020202020204" pitchFamily="34" charset="0"/>
                <a:cs typeface="Arial" panose="020B0604020202020204" pitchFamily="34" charset="0"/>
              </a:rPr>
              <a:t>To remove all documents from a collection, use the drop()</a:t>
            </a:r>
            <a:r>
              <a:rPr lang="en-US" sz="2100" dirty="0">
                <a:latin typeface="Arial" panose="020B0604020202020204" pitchFamily="34" charset="0"/>
                <a:cs typeface="Arial" panose="020B0604020202020204" pitchFamily="34" charset="0"/>
              </a:rPr>
              <a:t> method to drop the collection and recreate the capped collection.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6822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Restrictions and Recommendations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85000" lnSpcReduction="10000"/>
          </a:bodyPr>
          <a:lstStyle/>
          <a:p>
            <a:pPr marL="0" indent="0">
              <a:lnSpc>
                <a:spcPct val="120000"/>
              </a:lnSpc>
              <a:spcBef>
                <a:spcPts val="0"/>
              </a:spcBef>
              <a:buNone/>
            </a:pPr>
            <a:r>
              <a:rPr lang="en-US" sz="2400" dirty="0" err="1">
                <a:latin typeface="Arial" panose="020B0604020202020204" pitchFamily="34" charset="0"/>
                <a:cs typeface="Arial" panose="020B0604020202020204" pitchFamily="34" charset="0"/>
              </a:rPr>
              <a:t>Sharding</a:t>
            </a:r>
            <a:endParaRPr lang="en-US" sz="2400" dirty="0">
              <a:latin typeface="Arial" panose="020B0604020202020204" pitchFamily="34" charset="0"/>
              <a:cs typeface="Arial" panose="020B0604020202020204" pitchFamily="34" charset="0"/>
            </a:endParaRPr>
          </a:p>
          <a:p>
            <a:pPr marL="539750" indent="-357188">
              <a:lnSpc>
                <a:spcPct val="120000"/>
              </a:lnSpc>
              <a:spcBef>
                <a:spcPts val="0"/>
              </a:spcBef>
            </a:pPr>
            <a:r>
              <a:rPr lang="en-US" sz="2400" dirty="0">
                <a:solidFill>
                  <a:srgbClr val="FF0000"/>
                </a:solidFill>
                <a:latin typeface="Arial" panose="020B0604020202020204" pitchFamily="34" charset="0"/>
                <a:cs typeface="Arial" panose="020B0604020202020204" pitchFamily="34" charset="0"/>
              </a:rPr>
              <a:t>You cannot shard a capped collection</a:t>
            </a:r>
            <a:r>
              <a:rPr lang="en-US" sz="2400" dirty="0">
                <a:latin typeface="Arial" panose="020B0604020202020204" pitchFamily="34" charset="0"/>
                <a:cs typeface="Arial" panose="020B0604020202020204" pitchFamily="34" charset="0"/>
              </a:rPr>
              <a:t>.</a:t>
            </a:r>
          </a:p>
          <a:p>
            <a:pPr marL="0" indent="0">
              <a:lnSpc>
                <a:spcPct val="12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400" dirty="0">
                <a:latin typeface="Arial" panose="020B0604020202020204" pitchFamily="34" charset="0"/>
                <a:cs typeface="Arial" panose="020B0604020202020204" pitchFamily="34" charset="0"/>
              </a:rPr>
              <a:t>Query Efficiency</a:t>
            </a:r>
          </a:p>
          <a:p>
            <a:pPr marL="539750" indent="-357188">
              <a:lnSpc>
                <a:spcPct val="120000"/>
              </a:lnSpc>
              <a:spcBef>
                <a:spcPts val="0"/>
              </a:spcBef>
            </a:pPr>
            <a:r>
              <a:rPr lang="en-US" sz="2400" dirty="0">
                <a:solidFill>
                  <a:srgbClr val="FF0000"/>
                </a:solidFill>
                <a:latin typeface="Arial" panose="020B0604020202020204" pitchFamily="34" charset="0"/>
                <a:cs typeface="Arial" panose="020B0604020202020204" pitchFamily="34" charset="0"/>
              </a:rPr>
              <a:t>Use natural ordering to retrieve the most recently inserted elements </a:t>
            </a:r>
            <a:r>
              <a:rPr lang="en-US" sz="2400" dirty="0">
                <a:latin typeface="Arial" panose="020B0604020202020204" pitchFamily="34" charset="0"/>
                <a:cs typeface="Arial" panose="020B0604020202020204" pitchFamily="34" charset="0"/>
              </a:rPr>
              <a:t>from the collection efficiently. This is (somewhat) analogous to tail on a log file.</a:t>
            </a:r>
          </a:p>
          <a:p>
            <a:pPr marL="0" indent="0">
              <a:lnSpc>
                <a:spcPct val="12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400" dirty="0">
                <a:latin typeface="Arial" panose="020B0604020202020204" pitchFamily="34" charset="0"/>
                <a:cs typeface="Arial" panose="020B0604020202020204" pitchFamily="34" charset="0"/>
              </a:rPr>
              <a:t>Aggregation $out</a:t>
            </a:r>
          </a:p>
          <a:p>
            <a:pPr marL="539750" indent="-357188">
              <a:lnSpc>
                <a:spcPct val="120000"/>
              </a:lnSpc>
              <a:spcBef>
                <a:spcPts val="0"/>
              </a:spcBef>
            </a:pPr>
            <a:r>
              <a:rPr lang="en-US" sz="2400" dirty="0">
                <a:latin typeface="Arial" panose="020B0604020202020204" pitchFamily="34" charset="0"/>
                <a:cs typeface="Arial" panose="020B0604020202020204" pitchFamily="34" charset="0"/>
              </a:rPr>
              <a:t>The </a:t>
            </a:r>
            <a:r>
              <a:rPr lang="en-US" sz="2400" dirty="0">
                <a:solidFill>
                  <a:srgbClr val="FF0000"/>
                </a:solidFill>
                <a:latin typeface="Arial" panose="020B0604020202020204" pitchFamily="34" charset="0"/>
                <a:cs typeface="Arial" panose="020B0604020202020204" pitchFamily="34" charset="0"/>
              </a:rPr>
              <a:t>aggregation pipeline stage $out cannot write results to a capped collection</a:t>
            </a:r>
            <a:r>
              <a:rPr lang="en-US" sz="2400" dirty="0">
                <a:latin typeface="Arial" panose="020B0604020202020204" pitchFamily="34" charset="0"/>
                <a:cs typeface="Arial" panose="020B0604020202020204" pitchFamily="34" charset="0"/>
              </a:rPr>
              <a:t>.</a:t>
            </a:r>
          </a:p>
          <a:p>
            <a:pPr marL="0" indent="0">
              <a:lnSpc>
                <a:spcPct val="12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400" dirty="0">
                <a:latin typeface="Arial" panose="020B0604020202020204" pitchFamily="34" charset="0"/>
                <a:cs typeface="Arial" panose="020B0604020202020204" pitchFamily="34" charset="0"/>
              </a:rPr>
              <a:t>Transactions</a:t>
            </a:r>
          </a:p>
          <a:p>
            <a:pPr marL="539750" indent="-357188">
              <a:lnSpc>
                <a:spcPct val="120000"/>
              </a:lnSpc>
              <a:spcBef>
                <a:spcPts val="0"/>
              </a:spcBef>
            </a:pPr>
            <a:r>
              <a:rPr lang="en-US" sz="2400" dirty="0">
                <a:solidFill>
                  <a:srgbClr val="FF0000"/>
                </a:solidFill>
                <a:latin typeface="Arial" panose="020B0604020202020204" pitchFamily="34" charset="0"/>
                <a:cs typeface="Arial" panose="020B0604020202020204" pitchFamily="34" charset="0"/>
              </a:rPr>
              <a:t>Starting in MongoDB 4.2, you cannot write to capped collections in transactions</a:t>
            </a:r>
            <a:r>
              <a:rPr lang="en-US" sz="2400" dirty="0">
                <a:latin typeface="Arial" panose="020B0604020202020204" pitchFamily="34" charset="0"/>
                <a:cs typeface="Arial" panose="020B0604020202020204" pitchFamily="34" charset="0"/>
              </a:rPr>
              <a:t>. Reads from capped collections are still supported in transactions.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3079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600"/>
              </a:spcBef>
              <a:spcAft>
                <a:spcPts val="600"/>
              </a:spcAft>
              <a:buNone/>
            </a:pPr>
            <a:r>
              <a:rPr lang="en-IN" sz="20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sz="2000" dirty="0">
                <a:latin typeface="Arial" panose="020B0604020202020204" pitchFamily="34" charset="0"/>
                <a:cs typeface="Arial" panose="020B0604020202020204" pitchFamily="34" charset="0"/>
              </a:rPr>
              <a:t>Consistency Implementation</a:t>
            </a:r>
          </a:p>
          <a:p>
            <a:pPr marL="996950" lvl="1" indent="-539750">
              <a:lnSpc>
                <a:spcPct val="120000"/>
              </a:lnSpc>
              <a:spcBef>
                <a:spcPts val="600"/>
              </a:spcBef>
              <a:spcAft>
                <a:spcPts val="600"/>
              </a:spcAft>
            </a:pPr>
            <a:r>
              <a:rPr lang="en-US" sz="2000" dirty="0">
                <a:latin typeface="Arial" panose="020B0604020202020204" pitchFamily="34" charset="0"/>
                <a:cs typeface="Arial" panose="020B0604020202020204" pitchFamily="34" charset="0"/>
              </a:rPr>
              <a:t>Distributed consistency</a:t>
            </a:r>
          </a:p>
          <a:p>
            <a:pPr marL="996950" lvl="1" indent="-539750">
              <a:lnSpc>
                <a:spcPct val="120000"/>
              </a:lnSpc>
              <a:spcBef>
                <a:spcPts val="600"/>
              </a:spcBef>
              <a:spcAft>
                <a:spcPts val="600"/>
              </a:spcAft>
            </a:pPr>
            <a:r>
              <a:rPr lang="en-US" sz="2000" dirty="0">
                <a:latin typeface="Arial" panose="020B0604020202020204" pitchFamily="34" charset="0"/>
                <a:cs typeface="Arial" panose="020B0604020202020204" pitchFamily="34" charset="0"/>
              </a:rPr>
              <a:t>Eventual Consistency</a:t>
            </a:r>
          </a:p>
          <a:p>
            <a:pPr marL="996950" lvl="1" indent="-539750">
              <a:lnSpc>
                <a:spcPct val="120000"/>
              </a:lnSpc>
              <a:spcBef>
                <a:spcPts val="600"/>
              </a:spcBef>
              <a:spcAft>
                <a:spcPts val="600"/>
              </a:spcAft>
            </a:pPr>
            <a:r>
              <a:rPr lang="en-US" sz="2000" dirty="0">
                <a:latin typeface="Arial" panose="020B0604020202020204" pitchFamily="34" charset="0"/>
                <a:cs typeface="Arial" panose="020B0604020202020204" pitchFamily="34" charset="0"/>
              </a:rPr>
              <a:t>Capped Collection</a:t>
            </a:r>
            <a:endParaRPr lang="en-IN" sz="2000"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r>
              <a:rPr lang="en-IN" sz="2000" dirty="0">
                <a:latin typeface="Arial" panose="020B0604020202020204" pitchFamily="34" charset="0"/>
                <a:cs typeface="Arial" panose="020B0604020202020204" pitchFamily="34" charset="0"/>
              </a:rPr>
              <a:t>References:   </a:t>
            </a:r>
          </a:p>
          <a:p>
            <a:pPr marL="1454150" lvl="2" indent="-539750">
              <a:lnSpc>
                <a:spcPct val="120000"/>
              </a:lnSpc>
              <a:spcBef>
                <a:spcPts val="600"/>
              </a:spcBef>
              <a:spcAft>
                <a:spcPts val="600"/>
              </a:spcAft>
            </a:pPr>
            <a:r>
              <a:rPr lang="en-IN" dirty="0">
                <a:latin typeface="Arial" panose="020B0604020202020204" pitchFamily="34" charset="0"/>
                <a:cs typeface="Arial" panose="020B0604020202020204" pitchFamily="34" charset="0"/>
                <a:hlinkClick r:id="rId2"/>
              </a:rPr>
              <a:t>https://docs.mongodb.com/manual/tutorial/</a:t>
            </a:r>
            <a:endParaRPr lang="en-IN" dirty="0">
              <a:latin typeface="Arial" panose="020B0604020202020204" pitchFamily="34" charset="0"/>
              <a:cs typeface="Arial" panose="020B0604020202020204" pitchFamily="34" charset="0"/>
            </a:endParaRPr>
          </a:p>
          <a:p>
            <a:pPr marL="1454150" lvl="2"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“Seven NoSQL Databases in a Week” Author: Aaron </a:t>
            </a:r>
            <a:r>
              <a:rPr lang="en-US" dirty="0" err="1">
                <a:latin typeface="Arial" panose="020B0604020202020204" pitchFamily="34" charset="0"/>
                <a:cs typeface="Arial" panose="020B0604020202020204" pitchFamily="34" charset="0"/>
              </a:rPr>
              <a:t>Ploetz</a:t>
            </a:r>
            <a:r>
              <a:rPr lang="en-US" dirty="0">
                <a:latin typeface="Arial" panose="020B0604020202020204" pitchFamily="34" charset="0"/>
                <a:cs typeface="Arial" panose="020B0604020202020204" pitchFamily="34" charset="0"/>
              </a:rPr>
              <a:t> Aaron</a:t>
            </a: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18-03-2023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4168</TotalTime>
  <Words>1797</Words>
  <Application>Microsoft Office PowerPoint</Application>
  <PresentationFormat>Widescreen</PresentationFormat>
  <Paragraphs>182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(Body)</vt:lpstr>
      <vt:lpstr>Calibri Light</vt:lpstr>
      <vt:lpstr>Office Theme</vt:lpstr>
      <vt:lpstr>Course code : CSE3009 Course title  : No SQL Data Bases Module  : 4     Topic   : 5</vt:lpstr>
      <vt:lpstr>Objectives</vt:lpstr>
      <vt:lpstr>Consistency Implementation</vt:lpstr>
      <vt:lpstr>Consistency Implementation</vt:lpstr>
      <vt:lpstr>Consistency in MongoDB</vt:lpstr>
      <vt:lpstr>MongoDB Locking</vt:lpstr>
      <vt:lpstr>MongoDB Locking</vt:lpstr>
      <vt:lpstr>MongoDB Locking</vt:lpstr>
      <vt:lpstr>Replica Sets and Eventual Consistency</vt:lpstr>
      <vt:lpstr>Using eventual consistency</vt:lpstr>
      <vt:lpstr>Using ACID consistency</vt:lpstr>
      <vt:lpstr>Using ACID consistency</vt:lpstr>
      <vt:lpstr>Capped Collections</vt:lpstr>
      <vt:lpstr>Create a Capped Collection</vt:lpstr>
      <vt:lpstr>Create a Capped Collection</vt:lpstr>
      <vt:lpstr>Query a Capped Collection</vt:lpstr>
      <vt:lpstr>Query a Capped Collection</vt:lpstr>
      <vt:lpstr>Behavior</vt:lpstr>
      <vt:lpstr>Restrictions and Recommendations</vt:lpstr>
      <vt:lpstr>Restrictions and Recommendations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238</cp:revision>
  <dcterms:created xsi:type="dcterms:W3CDTF">2019-11-30T05:18:24Z</dcterms:created>
  <dcterms:modified xsi:type="dcterms:W3CDTF">2023-03-18T04:21:14Z</dcterms:modified>
</cp:coreProperties>
</file>