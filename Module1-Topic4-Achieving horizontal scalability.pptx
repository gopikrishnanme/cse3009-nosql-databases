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8" r:id="rId3"/>
    <p:sldId id="260" r:id="rId4"/>
    <p:sldId id="313" r:id="rId5"/>
    <p:sldId id="314" r:id="rId6"/>
    <p:sldId id="315" r:id="rId7"/>
    <p:sldId id="316" r:id="rId8"/>
    <p:sldId id="319" r:id="rId9"/>
    <p:sldId id="321" r:id="rId10"/>
    <p:sldId id="322" r:id="rId11"/>
    <p:sldId id="318" r:id="rId12"/>
    <p:sldId id="317" r:id="rId13"/>
    <p:sldId id="323" r:id="rId14"/>
    <p:sldId id="330" r:id="rId15"/>
    <p:sldId id="327" r:id="rId16"/>
    <p:sldId id="329" r:id="rId17"/>
    <p:sldId id="326" r:id="rId18"/>
    <p:sldId id="328" r:id="rId19"/>
    <p:sldId id="325" r:id="rId20"/>
    <p:sldId id="320" r:id="rId21"/>
    <p:sldId id="331" r:id="rId22"/>
    <p:sldId id="333" r:id="rId23"/>
    <p:sldId id="334" r:id="rId24"/>
    <p:sldId id="25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31-07-2024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31-07-2024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3EBF3A8D-7837-A81D-4DF2-E5D6B323E5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531" y="245107"/>
            <a:ext cx="1630037" cy="504687"/>
          </a:xfrm>
          <a:prstGeom prst="rect">
            <a:avLst/>
          </a:prstGeom>
        </p:spPr>
      </p:pic>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31-07-2024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C8C62BEE-6EF5-6D86-48B6-5190019C109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531" y="245107"/>
            <a:ext cx="1630037" cy="504687"/>
          </a:xfrm>
          <a:prstGeom prst="rect">
            <a:avLst/>
          </a:prstGeom>
        </p:spPr>
      </p:pic>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31-07-2024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a:extLst>
              <a:ext uri="{FF2B5EF4-FFF2-40B4-BE49-F238E27FC236}">
                <a16:creationId xmlns:a16="http://schemas.microsoft.com/office/drawing/2014/main" id="{B52F3870-020B-63A5-72CF-BCE2420BA5E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531" y="245107"/>
            <a:ext cx="1630037" cy="504687"/>
          </a:xfrm>
          <a:prstGeom prst="rect">
            <a:avLst/>
          </a:prstGeom>
        </p:spPr>
      </p:pic>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31-07-2024</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pic>
        <p:nvPicPr>
          <p:cNvPr id="8" name="Picture 7">
            <a:extLst>
              <a:ext uri="{FF2B5EF4-FFF2-40B4-BE49-F238E27FC236}">
                <a16:creationId xmlns:a16="http://schemas.microsoft.com/office/drawing/2014/main" id="{9FC61D7F-9F32-0CE3-A382-6173C8885B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531" y="245107"/>
            <a:ext cx="1630037" cy="504687"/>
          </a:xfrm>
          <a:prstGeom prst="rect">
            <a:avLst/>
          </a:prstGeom>
        </p:spPr>
      </p:pic>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31-07-2024</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pic>
        <p:nvPicPr>
          <p:cNvPr id="10" name="Picture 9">
            <a:extLst>
              <a:ext uri="{FF2B5EF4-FFF2-40B4-BE49-F238E27FC236}">
                <a16:creationId xmlns:a16="http://schemas.microsoft.com/office/drawing/2014/main" id="{5609B843-C3E1-6764-C40F-34DD790FCA3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0531" y="245107"/>
            <a:ext cx="1630037" cy="504687"/>
          </a:xfrm>
          <a:prstGeom prst="rect">
            <a:avLst/>
          </a:prstGeom>
        </p:spPr>
      </p:pic>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31-07-2024</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31-07-2024</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31-07-2024</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31-07-2024</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31-07-2024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31-07-2024</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31-07-2024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web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a:solidFill>
                  <a:srgbClr val="00B050"/>
                </a:solidFill>
                <a:latin typeface="Arial" panose="020B0604020202020204" pitchFamily="34" charset="0"/>
                <a:cs typeface="Arial" panose="020B0604020202020204" pitchFamily="34" charset="0"/>
              </a:rPr>
              <a:t>Course code	: </a:t>
            </a:r>
            <a:r>
              <a:rPr lang="en-IN" sz="2800" b="1" dirty="0">
                <a:solidFill>
                  <a:srgbClr val="00B050"/>
                </a:solidFill>
                <a:latin typeface="Arial" panose="020B0604020202020204" pitchFamily="34" charset="0"/>
                <a:cs typeface="Arial" panose="020B0604020202020204" pitchFamily="34" charset="0"/>
              </a:rPr>
              <a:t>CSE3009</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br>
              <a:rPr lang="en-IN" sz="2800" b="1"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1</a:t>
            </a:r>
            <a:r>
              <a:rPr lang="en-IN" sz="2800" dirty="0">
                <a:solidFill>
                  <a:srgbClr val="00B050"/>
                </a:solidFill>
                <a:latin typeface="Arial" panose="020B0604020202020204" pitchFamily="34" charset="0"/>
                <a:cs typeface="Arial" panose="020B0604020202020204" pitchFamily="34" charset="0"/>
              </a:rPr>
              <a:t> 			</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4</a:t>
            </a:r>
          </a:p>
        </p:txBody>
      </p:sp>
      <p:sp>
        <p:nvSpPr>
          <p:cNvPr id="6" name="Subtitle 2"/>
          <p:cNvSpPr>
            <a:spLocks noGrp="1"/>
          </p:cNvSpPr>
          <p:nvPr>
            <p:ph type="subTitle" idx="1"/>
          </p:nvPr>
        </p:nvSpPr>
        <p:spPr>
          <a:xfrm>
            <a:off x="1402183" y="3677818"/>
            <a:ext cx="9144000" cy="1655762"/>
          </a:xfrm>
        </p:spPr>
        <p:txBody>
          <a:bodyPr>
            <a:normAutofit/>
          </a:bodyPr>
          <a:lstStyle/>
          <a:p>
            <a:r>
              <a:rPr lang="en-US" sz="4000" b="1" dirty="0">
                <a:solidFill>
                  <a:srgbClr val="0070C0"/>
                </a:solidFill>
                <a:latin typeface="Arial" panose="020B0604020202020204" pitchFamily="34" charset="0"/>
                <a:cs typeface="Arial" panose="020B0604020202020204" pitchFamily="34" charset="0"/>
              </a:rPr>
              <a:t>Achieving horizontal scalability with database </a:t>
            </a:r>
            <a:r>
              <a:rPr lang="en-US" sz="4000" b="1" dirty="0" err="1">
                <a:solidFill>
                  <a:srgbClr val="0070C0"/>
                </a:solidFill>
                <a:latin typeface="Arial" panose="020B0604020202020204" pitchFamily="34" charset="0"/>
                <a:cs typeface="Arial" panose="020B0604020202020204" pitchFamily="34" charset="0"/>
              </a:rPr>
              <a:t>sharding</a:t>
            </a:r>
            <a:endParaRPr lang="en-IN" sz="4000" b="1" dirty="0">
              <a:solidFill>
                <a:srgbClr val="0070C0"/>
              </a:solidFill>
              <a:latin typeface="Arial" panose="020B0604020202020204" pitchFamily="34" charset="0"/>
              <a:cs typeface="Arial" panose="020B0604020202020204" pitchFamily="34" charset="0"/>
            </a:endParaRPr>
          </a:p>
        </p:txBody>
      </p:sp>
      <p:sp>
        <p:nvSpPr>
          <p:cNvPr id="8" name="Date Placeholder 7"/>
          <p:cNvSpPr>
            <a:spLocks noGrp="1"/>
          </p:cNvSpPr>
          <p:nvPr>
            <p:ph type="dt" sz="half" idx="10"/>
          </p:nvPr>
        </p:nvSpPr>
        <p:spPr/>
        <p:txBody>
          <a:bodyPr/>
          <a:lstStyle/>
          <a:p>
            <a:fld id="{756728E3-B72D-49A5-85A2-5AE45557AE43}" type="datetime1">
              <a:rPr lang="en-IN" smtClean="0">
                <a:latin typeface="Calibri (Body)"/>
              </a:rPr>
              <a:t>31-07-2024</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8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Achieving horizontal scalability with database </a:t>
            </a:r>
            <a:r>
              <a:rPr lang="en-US" dirty="0" err="1">
                <a:latin typeface="Arial" panose="020B0604020202020204" pitchFamily="34" charset="0"/>
                <a:cs typeface="Arial" panose="020B0604020202020204" pitchFamily="34" charset="0"/>
              </a:rPr>
              <a:t>sharding</a:t>
            </a:r>
            <a:endParaRPr lang="en-IN" dirty="0">
              <a:latin typeface="Arial" panose="020B0604020202020204" pitchFamily="34" charset="0"/>
              <a:cs typeface="Arial" panose="020B0604020202020204" pitchFamily="34" charset="0"/>
            </a:endParaRPr>
          </a:p>
          <a:p>
            <a:pPr marL="457200" lvl="1" indent="0">
              <a:lnSpc>
                <a:spcPct val="120000"/>
              </a:lnSpc>
              <a:spcBef>
                <a:spcPts val="600"/>
              </a:spcBef>
              <a:spcAft>
                <a:spcPts val="600"/>
              </a:spcAft>
              <a:buNone/>
            </a:pPr>
            <a:endParaRPr lang="en-IN"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Data Storage Limitations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The amount of data needed to run the business exceeds the current environment and some mechanism for breaking the information into reasonable chunks is required.</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Organizations and systems that reach this capacity can use automatic database </a:t>
            </a:r>
            <a:r>
              <a:rPr lang="en-US" sz="2400" dirty="0" err="1">
                <a:solidFill>
                  <a:srgbClr val="FF0000"/>
                </a:solidFill>
                <a:latin typeface="Arial" panose="020B0604020202020204" pitchFamily="34" charset="0"/>
                <a:cs typeface="Arial" panose="020B0604020202020204" pitchFamily="34" charset="0"/>
              </a:rPr>
              <a:t>sharding</a:t>
            </a:r>
            <a:r>
              <a:rPr lang="en-US" sz="2400" dirty="0">
                <a:latin typeface="Arial" panose="020B0604020202020204" pitchFamily="34" charset="0"/>
                <a:cs typeface="Arial" panose="020B0604020202020204" pitchFamily="34" charset="0"/>
              </a:rPr>
              <a:t> as a means to continuing to store data while minimizing system downtime.</a:t>
            </a:r>
          </a:p>
          <a:p>
            <a:pPr marL="0" indent="0">
              <a:lnSpc>
                <a:spcPct val="120000"/>
              </a:lnSpc>
              <a:spcBef>
                <a:spcPts val="2400"/>
              </a:spcBef>
              <a:spcAft>
                <a:spcPts val="600"/>
              </a:spcAft>
              <a:buNone/>
            </a:pPr>
            <a:r>
              <a:rPr lang="en-US" sz="2400" dirty="0" err="1">
                <a:solidFill>
                  <a:srgbClr val="FF0000"/>
                </a:solidFill>
                <a:latin typeface="Arial" panose="020B0604020202020204" pitchFamily="34" charset="0"/>
                <a:cs typeface="Arial" panose="020B0604020202020204" pitchFamily="34" charset="0"/>
              </a:rPr>
              <a:t>Sharding</a:t>
            </a:r>
            <a:r>
              <a:rPr lang="en-US" sz="2400" dirty="0">
                <a:solidFill>
                  <a:srgbClr val="FF0000"/>
                </a:solidFill>
                <a:latin typeface="Arial" panose="020B0604020202020204" pitchFamily="34" charset="0"/>
                <a:cs typeface="Arial" panose="020B0604020202020204" pitchFamily="34" charset="0"/>
              </a:rPr>
              <a:t>: breaking a database into chunks called shards and spreading the chunks across a number of distributed servers</a:t>
            </a:r>
            <a:endParaRPr lang="en-IN" sz="24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8351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Data Storage Limitations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2400"/>
              </a:spcBef>
              <a:spcAft>
                <a:spcPts val="600"/>
              </a:spcAft>
              <a:buNone/>
            </a:pPr>
            <a:r>
              <a:rPr lang="en-US" sz="2400" dirty="0" err="1">
                <a:latin typeface="Arial" panose="020B0604020202020204" pitchFamily="34" charset="0"/>
                <a:cs typeface="Arial" panose="020B0604020202020204" pitchFamily="34" charset="0"/>
              </a:rPr>
              <a:t>Sharding</a:t>
            </a:r>
            <a:r>
              <a:rPr lang="en-US" sz="2400" dirty="0">
                <a:latin typeface="Arial" panose="020B0604020202020204" pitchFamily="34" charset="0"/>
                <a:cs typeface="Arial" panose="020B0604020202020204" pitchFamily="34" charset="0"/>
              </a:rPr>
              <a:t> has become a highly automated process in both big data and fault-tolerant systems. </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Consider, you’ve created a website that allows users to log in and create their own personal space to share with friends. They have profiles, text, and product information on things they like (or don’t like). You set up your website, store the information in a MySQL database, and you run it on a single CPU. People love it, they log in, create pages, invite their friends, and before you realize it your disk space is 95% full. </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What do you do? </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9657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Data Storage Limitations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The process of moving from a single to multiple databases can be done in a number of ways; for example:</a:t>
            </a:r>
          </a:p>
          <a:p>
            <a:pPr marL="722313" indent="-457200">
              <a:lnSpc>
                <a:spcPct val="120000"/>
              </a:lnSpc>
              <a:spcBef>
                <a:spcPts val="2400"/>
              </a:spcBef>
              <a:spcAft>
                <a:spcPts val="600"/>
              </a:spcAft>
              <a:buFont typeface="+mj-lt"/>
              <a:buAutoNum type="arabicPeriod"/>
            </a:pPr>
            <a:r>
              <a:rPr lang="en-US" sz="2400" dirty="0">
                <a:latin typeface="Arial" panose="020B0604020202020204" pitchFamily="34" charset="0"/>
                <a:cs typeface="Arial" panose="020B0604020202020204" pitchFamily="34" charset="0"/>
              </a:rPr>
              <a:t>You can keep the users with account names that start with the letters A-N on the first drive and put users from O-Z on the new system.</a:t>
            </a:r>
          </a:p>
          <a:p>
            <a:pPr marL="722313" indent="-457200">
              <a:lnSpc>
                <a:spcPct val="120000"/>
              </a:lnSpc>
              <a:spcBef>
                <a:spcPts val="2400"/>
              </a:spcBef>
              <a:spcAft>
                <a:spcPts val="600"/>
              </a:spcAft>
              <a:buFont typeface="+mj-lt"/>
              <a:buAutoNum type="arabicPeriod"/>
            </a:pPr>
            <a:r>
              <a:rPr lang="en-US" sz="2400" dirty="0">
                <a:latin typeface="Arial" panose="020B0604020202020204" pitchFamily="34" charset="0"/>
                <a:cs typeface="Arial" panose="020B0604020202020204" pitchFamily="34" charset="0"/>
              </a:rPr>
              <a:t>You can keep the people in the United States on the original system and put the people who live in Europe on the new system.</a:t>
            </a:r>
          </a:p>
          <a:p>
            <a:pPr marL="722313" indent="-457200">
              <a:lnSpc>
                <a:spcPct val="120000"/>
              </a:lnSpc>
              <a:spcBef>
                <a:spcPts val="2400"/>
              </a:spcBef>
              <a:spcAft>
                <a:spcPts val="600"/>
              </a:spcAft>
              <a:buFont typeface="+mj-lt"/>
              <a:buAutoNum type="arabicPeriod"/>
            </a:pPr>
            <a:r>
              <a:rPr lang="en-US" sz="2400" dirty="0">
                <a:latin typeface="Arial" panose="020B0604020202020204" pitchFamily="34" charset="0"/>
                <a:cs typeface="Arial" panose="020B0604020202020204" pitchFamily="34" charset="0"/>
              </a:rPr>
              <a:t>You can randomly move half the users to the new system.</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7928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Data Storage Limitations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70000" lnSpcReduction="20000"/>
          </a:bodyPr>
          <a:lstStyle/>
          <a:p>
            <a:pPr marL="0" indent="0">
              <a:lnSpc>
                <a:spcPct val="130000"/>
              </a:lnSpc>
              <a:spcBef>
                <a:spcPts val="1200"/>
              </a:spcBef>
              <a:spcAft>
                <a:spcPts val="600"/>
              </a:spcAft>
              <a:buNone/>
            </a:pPr>
            <a:r>
              <a:rPr lang="en-US" sz="2400" dirty="0">
                <a:latin typeface="Arial" panose="020B0604020202020204" pitchFamily="34" charset="0"/>
                <a:cs typeface="Arial" panose="020B0604020202020204" pitchFamily="34" charset="0"/>
              </a:rPr>
              <a:t>In option 1, if a user changes their name, should they be automatically moved to the new drive? </a:t>
            </a:r>
          </a:p>
          <a:p>
            <a:pPr marL="0" indent="0">
              <a:lnSpc>
                <a:spcPct val="130000"/>
              </a:lnSpc>
              <a:spcBef>
                <a:spcPts val="1200"/>
              </a:spcBef>
              <a:spcAft>
                <a:spcPts val="600"/>
              </a:spcAft>
              <a:buNone/>
            </a:pPr>
            <a:r>
              <a:rPr lang="en-US" sz="2400" dirty="0">
                <a:latin typeface="Arial" panose="020B0604020202020204" pitchFamily="34" charset="0"/>
                <a:cs typeface="Arial" panose="020B0604020202020204" pitchFamily="34" charset="0"/>
              </a:rPr>
              <a:t>In option 2, if a user moves to a new country, should all their data be moved? </a:t>
            </a:r>
          </a:p>
          <a:p>
            <a:pPr marL="0" indent="0">
              <a:lnSpc>
                <a:spcPct val="130000"/>
              </a:lnSpc>
              <a:spcBef>
                <a:spcPts val="1200"/>
              </a:spcBef>
              <a:spcAft>
                <a:spcPts val="600"/>
              </a:spcAft>
              <a:buNone/>
            </a:pPr>
            <a:r>
              <a:rPr lang="en-US" sz="2400" dirty="0">
                <a:latin typeface="Arial" panose="020B0604020202020204" pitchFamily="34" charset="0"/>
                <a:cs typeface="Arial" panose="020B0604020202020204" pitchFamily="34" charset="0"/>
              </a:rPr>
              <a:t>If people tend to share links with people near them, would there be performance advantages to keeping these users together? </a:t>
            </a:r>
          </a:p>
          <a:p>
            <a:pPr marL="0" indent="0">
              <a:lnSpc>
                <a:spcPct val="130000"/>
              </a:lnSpc>
              <a:spcBef>
                <a:spcPts val="1200"/>
              </a:spcBef>
              <a:spcAft>
                <a:spcPts val="600"/>
              </a:spcAft>
              <a:buNone/>
            </a:pPr>
            <a:r>
              <a:rPr lang="en-US" sz="2400" dirty="0">
                <a:latin typeface="Arial" panose="020B0604020202020204" pitchFamily="34" charset="0"/>
                <a:cs typeface="Arial" panose="020B0604020202020204" pitchFamily="34" charset="0"/>
              </a:rPr>
              <a:t>What if people in the United States tend to be active at the same time in the evening? </a:t>
            </a:r>
          </a:p>
          <a:p>
            <a:pPr marL="0" indent="0">
              <a:lnSpc>
                <a:spcPct val="130000"/>
              </a:lnSpc>
              <a:spcBef>
                <a:spcPts val="1200"/>
              </a:spcBef>
              <a:spcAft>
                <a:spcPts val="600"/>
              </a:spcAft>
              <a:buNone/>
            </a:pPr>
            <a:r>
              <a:rPr lang="en-US" sz="2400" dirty="0">
                <a:latin typeface="Arial" panose="020B0604020202020204" pitchFamily="34" charset="0"/>
                <a:cs typeface="Arial" panose="020B0604020202020204" pitchFamily="34" charset="0"/>
              </a:rPr>
              <a:t>Would one database get overwhelmed and the other be idle? </a:t>
            </a:r>
          </a:p>
          <a:p>
            <a:pPr marL="0" indent="0">
              <a:lnSpc>
                <a:spcPct val="130000"/>
              </a:lnSpc>
              <a:spcBef>
                <a:spcPts val="1200"/>
              </a:spcBef>
              <a:spcAft>
                <a:spcPts val="600"/>
              </a:spcAft>
              <a:buNone/>
            </a:pPr>
            <a:r>
              <a:rPr lang="en-US" sz="2400" dirty="0">
                <a:latin typeface="Arial" panose="020B0604020202020204" pitchFamily="34" charset="0"/>
                <a:cs typeface="Arial" panose="020B0604020202020204" pitchFamily="34" charset="0"/>
              </a:rPr>
              <a:t>What happens if your site doubles in size again? </a:t>
            </a:r>
          </a:p>
          <a:p>
            <a:pPr marL="0" indent="0">
              <a:lnSpc>
                <a:spcPct val="130000"/>
              </a:lnSpc>
              <a:spcBef>
                <a:spcPts val="1200"/>
              </a:spcBef>
              <a:spcAft>
                <a:spcPts val="600"/>
              </a:spcAft>
              <a:buNone/>
            </a:pPr>
            <a:r>
              <a:rPr lang="en-US" sz="2400" dirty="0">
                <a:latin typeface="Arial" panose="020B0604020202020204" pitchFamily="34" charset="0"/>
                <a:cs typeface="Arial" panose="020B0604020202020204" pitchFamily="34" charset="0"/>
              </a:rPr>
              <a:t>Do you have to continue to rewrite your code each time this happens? </a:t>
            </a:r>
          </a:p>
          <a:p>
            <a:pPr marL="0" indent="0">
              <a:lnSpc>
                <a:spcPct val="130000"/>
              </a:lnSpc>
              <a:spcBef>
                <a:spcPts val="1200"/>
              </a:spcBef>
              <a:spcAft>
                <a:spcPts val="600"/>
              </a:spcAft>
              <a:buNone/>
            </a:pPr>
            <a:r>
              <a:rPr lang="en-US" sz="2400" dirty="0">
                <a:latin typeface="Arial" panose="020B0604020202020204" pitchFamily="34" charset="0"/>
                <a:cs typeface="Arial" panose="020B0604020202020204" pitchFamily="34" charset="0"/>
              </a:rPr>
              <a:t>Do you have to shut the system down for a weekend while you upgrade your software?</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6006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NoSQL </a:t>
            </a:r>
            <a:r>
              <a:rPr lang="en-US" sz="3200" b="1" u="sng" dirty="0" err="1">
                <a:solidFill>
                  <a:srgbClr val="0070C0"/>
                </a:solidFill>
                <a:latin typeface="Arial" panose="020B0604020202020204" pitchFamily="34" charset="0"/>
                <a:cs typeface="Arial" panose="020B0604020202020204" pitchFamily="34" charset="0"/>
              </a:rPr>
              <a:t>Sharding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You can see that there are many questions and trade-offs to consider as your database grows.</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SQL systems have been noted for having many ways to allow you to grow your database without ever having to shut down your servers.</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Keeping your database running when there are node or network failures is called </a:t>
            </a:r>
            <a:r>
              <a:rPr lang="en-US" sz="2400" dirty="0">
                <a:solidFill>
                  <a:srgbClr val="FF0000"/>
                </a:solidFill>
                <a:latin typeface="Arial" panose="020B0604020202020204" pitchFamily="34" charset="0"/>
                <a:cs typeface="Arial" panose="020B0604020202020204" pitchFamily="34" charset="0"/>
              </a:rPr>
              <a:t>partition tolerance </a:t>
            </a:r>
            <a:r>
              <a:rPr lang="en-US" sz="2400" dirty="0">
                <a:latin typeface="Arial" panose="020B0604020202020204" pitchFamily="34" charset="0"/>
                <a:cs typeface="Arial" panose="020B0604020202020204" pitchFamily="34" charset="0"/>
              </a:rPr>
              <a:t>- a new concept in the NoSQL community</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5267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NoSQL </a:t>
            </a:r>
            <a:r>
              <a:rPr lang="en-US" sz="3200" b="1" u="sng" dirty="0" err="1">
                <a:solidFill>
                  <a:srgbClr val="0070C0"/>
                </a:solidFill>
                <a:latin typeface="Arial" panose="020B0604020202020204" pitchFamily="34" charset="0"/>
                <a:cs typeface="Arial" panose="020B0604020202020204" pitchFamily="34" charset="0"/>
              </a:rPr>
              <a:t>Sharding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a:stretch>
            <a:fillRect/>
          </a:stretch>
        </p:blipFill>
        <p:spPr>
          <a:xfrm>
            <a:off x="1057275" y="1684769"/>
            <a:ext cx="10077450" cy="4181475"/>
          </a:xfrm>
          <a:prstGeom prst="rect">
            <a:avLst/>
          </a:prstGeom>
        </p:spPr>
      </p:pic>
    </p:spTree>
    <p:extLst>
      <p:ext uri="{BB962C8B-B14F-4D97-AF65-F5344CB8AC3E}">
        <p14:creationId xmlns:p14="http://schemas.microsoft.com/office/powerpoint/2010/main" val="2200041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85E65C-00D4-3A89-ECD0-D83ABFC107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0633" y="235857"/>
            <a:ext cx="9931400" cy="5994400"/>
          </a:xfrm>
          <a:prstGeom prst="rect">
            <a:avLst/>
          </a:prstGeom>
        </p:spPr>
      </p:pic>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NoSQL </a:t>
            </a:r>
            <a:r>
              <a:rPr lang="en-US" sz="3200" b="1" u="sng" dirty="0" err="1">
                <a:solidFill>
                  <a:srgbClr val="0070C0"/>
                </a:solidFill>
                <a:latin typeface="Arial" panose="020B0604020202020204" pitchFamily="34" charset="0"/>
                <a:cs typeface="Arial" panose="020B0604020202020204" pitchFamily="34" charset="0"/>
              </a:rPr>
              <a:t>Sharding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8608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NoSQL </a:t>
            </a:r>
            <a:r>
              <a:rPr lang="en-US" sz="3200" b="1" u="sng" dirty="0" err="1">
                <a:solidFill>
                  <a:srgbClr val="0070C0"/>
                </a:solidFill>
                <a:latin typeface="Arial" panose="020B0604020202020204" pitchFamily="34" charset="0"/>
                <a:cs typeface="Arial" panose="020B0604020202020204" pitchFamily="34" charset="0"/>
              </a:rPr>
              <a:t>Sharding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79AA601-CA57-A20D-FFAA-52BA93F63F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9641" y="1380931"/>
            <a:ext cx="7952718" cy="4975419"/>
          </a:xfrm>
          <a:prstGeom prst="rect">
            <a:avLst/>
          </a:prstGeom>
        </p:spPr>
      </p:pic>
    </p:spTree>
    <p:extLst>
      <p:ext uri="{BB962C8B-B14F-4D97-AF65-F5344CB8AC3E}">
        <p14:creationId xmlns:p14="http://schemas.microsoft.com/office/powerpoint/2010/main" val="4229148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NoSQL </a:t>
            </a:r>
            <a:r>
              <a:rPr lang="en-US" sz="3200" b="1" u="sng" dirty="0" err="1">
                <a:solidFill>
                  <a:srgbClr val="0070C0"/>
                </a:solidFill>
                <a:latin typeface="Arial" panose="020B0604020202020204" pitchFamily="34" charset="0"/>
                <a:cs typeface="Arial" panose="020B0604020202020204" pitchFamily="34" charset="0"/>
              </a:rPr>
              <a:t>Sharding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2400"/>
              </a:spcBef>
              <a:spcAft>
                <a:spcPts val="600"/>
              </a:spcAft>
              <a:buNone/>
            </a:pPr>
            <a:r>
              <a:rPr lang="en-US" sz="2400" dirty="0" err="1">
                <a:solidFill>
                  <a:srgbClr val="FF0000"/>
                </a:solidFill>
                <a:latin typeface="Arial" panose="020B0604020202020204" pitchFamily="34" charset="0"/>
                <a:cs typeface="Arial" panose="020B0604020202020204" pitchFamily="34" charset="0"/>
              </a:rPr>
              <a:t>Sharding</a:t>
            </a:r>
            <a:r>
              <a:rPr lang="en-US" sz="2400" dirty="0">
                <a:solidFill>
                  <a:srgbClr val="FF0000"/>
                </a:solidFill>
                <a:latin typeface="Arial" panose="020B0604020202020204" pitchFamily="34" charset="0"/>
                <a:cs typeface="Arial" panose="020B0604020202020204" pitchFamily="34" charset="0"/>
              </a:rPr>
              <a:t> is performed when a single processor can’t handle the throughput requirements of a system. </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When this happens you will want to move the data onto two systems that each take half the work. </a:t>
            </a:r>
          </a:p>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Many NoSQL systems have automatic </a:t>
            </a:r>
            <a:r>
              <a:rPr lang="en-US" sz="2400" dirty="0" err="1">
                <a:solidFill>
                  <a:srgbClr val="FF0000"/>
                </a:solidFill>
                <a:latin typeface="Arial" panose="020B0604020202020204" pitchFamily="34" charset="0"/>
                <a:cs typeface="Arial" panose="020B0604020202020204" pitchFamily="34" charset="0"/>
              </a:rPr>
              <a:t>sharding</a:t>
            </a:r>
            <a:r>
              <a:rPr lang="en-US" sz="2400" dirty="0">
                <a:solidFill>
                  <a:srgbClr val="FF0000"/>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built in so that you only need to add a new server to a pool of working nodes and the database management system automatically moves data to the new node. </a:t>
            </a:r>
          </a:p>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Most RDBMSs don’t support automatic </a:t>
            </a:r>
            <a:r>
              <a:rPr lang="en-US" sz="2400" dirty="0" err="1">
                <a:solidFill>
                  <a:srgbClr val="FF0000"/>
                </a:solidFill>
                <a:latin typeface="Arial" panose="020B0604020202020204" pitchFamily="34" charset="0"/>
                <a:cs typeface="Arial" panose="020B0604020202020204" pitchFamily="34" charset="0"/>
              </a:rPr>
              <a:t>sharding</a:t>
            </a:r>
            <a:r>
              <a:rPr lang="en-US" sz="2400" dirty="0">
                <a:solidFill>
                  <a:srgbClr val="FF0000"/>
                </a:solidFill>
                <a:latin typeface="Arial" panose="020B0604020202020204" pitchFamily="34" charset="0"/>
                <a:cs typeface="Arial" panose="020B0604020202020204" pitchFamily="34" charset="0"/>
              </a:rPr>
              <a:t>.</a:t>
            </a:r>
            <a:endParaRPr lang="en-IN" sz="2400" dirty="0">
              <a:solidFill>
                <a:srgbClr val="FF000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481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Steps for Database Sharding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3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Step-1: Determine Sharding Strategy:</a:t>
            </a:r>
          </a:p>
          <a:p>
            <a:pPr marL="457200" indent="-457200">
              <a:lnSpc>
                <a:spcPct val="130000"/>
              </a:lnSpc>
              <a:spcBef>
                <a:spcPts val="1800"/>
              </a:spcBef>
              <a:spcAft>
                <a:spcPts val="600"/>
              </a:spcAft>
            </a:pPr>
            <a:r>
              <a:rPr lang="en-US" sz="2400" dirty="0">
                <a:solidFill>
                  <a:srgbClr val="0000FF"/>
                </a:solidFill>
                <a:latin typeface="Arial" panose="020B0604020202020204" pitchFamily="34" charset="0"/>
                <a:cs typeface="Arial" panose="020B0604020202020204" pitchFamily="34" charset="0"/>
              </a:rPr>
              <a:t>Range Sharding: </a:t>
            </a:r>
            <a:r>
              <a:rPr lang="en-US" sz="2400" dirty="0">
                <a:latin typeface="Arial" panose="020B0604020202020204" pitchFamily="34" charset="0"/>
                <a:cs typeface="Arial" panose="020B0604020202020204" pitchFamily="34" charset="0"/>
              </a:rPr>
              <a:t>Data is divided based on ranges of a specific key. For example, customer IDs 1-1000 go to Shard 1, 1001-2000 to Shard 2, etc.</a:t>
            </a:r>
          </a:p>
          <a:p>
            <a:pPr marL="457200" indent="-457200">
              <a:lnSpc>
                <a:spcPct val="130000"/>
              </a:lnSpc>
              <a:spcBef>
                <a:spcPts val="1800"/>
              </a:spcBef>
              <a:spcAft>
                <a:spcPts val="600"/>
              </a:spcAft>
            </a:pPr>
            <a:r>
              <a:rPr lang="en-US" sz="2400" dirty="0">
                <a:solidFill>
                  <a:srgbClr val="00B050"/>
                </a:solidFill>
                <a:latin typeface="Arial" panose="020B0604020202020204" pitchFamily="34" charset="0"/>
                <a:cs typeface="Arial" panose="020B0604020202020204" pitchFamily="34" charset="0"/>
              </a:rPr>
              <a:t>Hash Sharding: </a:t>
            </a:r>
            <a:r>
              <a:rPr lang="en-US" sz="2400" dirty="0">
                <a:latin typeface="Arial" panose="020B0604020202020204" pitchFamily="34" charset="0"/>
                <a:cs typeface="Arial" panose="020B0604020202020204" pitchFamily="34" charset="0"/>
              </a:rPr>
              <a:t>A hash function is applied to a key to determine the shard. This ensures an even distribution of data across shards.</a:t>
            </a:r>
          </a:p>
          <a:p>
            <a:pPr marL="457200" indent="-457200">
              <a:lnSpc>
                <a:spcPct val="130000"/>
              </a:lnSpc>
              <a:spcBef>
                <a:spcPts val="1800"/>
              </a:spcBef>
              <a:spcAft>
                <a:spcPts val="600"/>
              </a:spcAft>
            </a:pPr>
            <a:r>
              <a:rPr lang="en-US" sz="2400" dirty="0">
                <a:solidFill>
                  <a:srgbClr val="0000FF"/>
                </a:solidFill>
                <a:latin typeface="Arial" panose="020B0604020202020204" pitchFamily="34" charset="0"/>
                <a:cs typeface="Arial" panose="020B0604020202020204" pitchFamily="34" charset="0"/>
              </a:rPr>
              <a:t>Directory-Based Sharding: </a:t>
            </a:r>
            <a:r>
              <a:rPr lang="en-US" sz="2400" dirty="0">
                <a:latin typeface="Arial" panose="020B0604020202020204" pitchFamily="34" charset="0"/>
                <a:cs typeface="Arial" panose="020B0604020202020204" pitchFamily="34" charset="0"/>
              </a:rPr>
              <a:t>A lookup table (directory) maps each key to a shard. This provides flexibility but adds complexity.</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0217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Steps for Database Sharding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3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Step-2: Design the Shard Key:</a:t>
            </a:r>
          </a:p>
          <a:p>
            <a:pPr marL="457200" indent="-457200">
              <a:lnSpc>
                <a:spcPct val="130000"/>
              </a:lnSpc>
              <a:spcBef>
                <a:spcPts val="1800"/>
              </a:spcBef>
              <a:spcAft>
                <a:spcPts val="600"/>
              </a:spcAft>
            </a:pPr>
            <a:r>
              <a:rPr lang="en-US" sz="2500" dirty="0">
                <a:latin typeface="Arial" panose="020B0604020202020204" pitchFamily="34" charset="0"/>
                <a:cs typeface="Arial" panose="020B0604020202020204" pitchFamily="34" charset="0"/>
              </a:rPr>
              <a:t>Choose a key that evenly distributes data across shards to avoid hotspots.</a:t>
            </a:r>
          </a:p>
          <a:p>
            <a:pPr marL="457200" indent="-457200">
              <a:lnSpc>
                <a:spcPct val="130000"/>
              </a:lnSpc>
              <a:spcBef>
                <a:spcPts val="1800"/>
              </a:spcBef>
              <a:spcAft>
                <a:spcPts val="600"/>
              </a:spcAft>
            </a:pPr>
            <a:r>
              <a:rPr lang="en-US" sz="2500" dirty="0">
                <a:latin typeface="Arial" panose="020B0604020202020204" pitchFamily="34" charset="0"/>
                <a:cs typeface="Arial" panose="020B0604020202020204" pitchFamily="34" charset="0"/>
              </a:rPr>
              <a:t>The key should </a:t>
            </a:r>
            <a:r>
              <a:rPr lang="en-US" sz="2400" dirty="0">
                <a:latin typeface="Arial" panose="020B0604020202020204" pitchFamily="34" charset="0"/>
                <a:cs typeface="Arial" panose="020B0604020202020204" pitchFamily="34" charset="0"/>
              </a:rPr>
              <a:t>be part of most queries to direct them to the appropriate shard quickly.</a:t>
            </a:r>
          </a:p>
          <a:p>
            <a:pPr marL="0" indent="0">
              <a:lnSpc>
                <a:spcPct val="130000"/>
              </a:lnSpc>
              <a:spcBef>
                <a:spcPts val="1800"/>
              </a:spcBef>
              <a:spcAft>
                <a:spcPts val="600"/>
              </a:spcAft>
              <a:buNone/>
            </a:pPr>
            <a:endParaRPr lang="en-US"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7981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Steps for Database Sharding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3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Step-3: Setup Infrastructure:</a:t>
            </a:r>
          </a:p>
          <a:p>
            <a:pPr marL="457200" indent="-457200">
              <a:lnSpc>
                <a:spcPct val="130000"/>
              </a:lnSpc>
              <a:spcBef>
                <a:spcPts val="1800"/>
              </a:spcBef>
              <a:spcAft>
                <a:spcPts val="600"/>
              </a:spcAft>
            </a:pPr>
            <a:r>
              <a:rPr lang="en-US" sz="2500" dirty="0">
                <a:latin typeface="Arial" panose="020B0604020202020204" pitchFamily="34" charset="0"/>
                <a:cs typeface="Arial" panose="020B0604020202020204" pitchFamily="34" charset="0"/>
              </a:rPr>
              <a:t>Deploy multiple database servers to host the shards.</a:t>
            </a:r>
          </a:p>
          <a:p>
            <a:pPr marL="457200" indent="-457200">
              <a:lnSpc>
                <a:spcPct val="130000"/>
              </a:lnSpc>
              <a:spcBef>
                <a:spcPts val="1800"/>
              </a:spcBef>
              <a:spcAft>
                <a:spcPts val="600"/>
              </a:spcAft>
            </a:pPr>
            <a:r>
              <a:rPr lang="en-US" sz="2500" dirty="0">
                <a:latin typeface="Arial" panose="020B0604020202020204" pitchFamily="34" charset="0"/>
                <a:cs typeface="Arial" panose="020B0604020202020204" pitchFamily="34" charset="0"/>
              </a:rPr>
              <a:t>Ensure </a:t>
            </a:r>
            <a:r>
              <a:rPr lang="en-US" sz="2400" dirty="0">
                <a:latin typeface="Arial" panose="020B0604020202020204" pitchFamily="34" charset="0"/>
                <a:cs typeface="Arial" panose="020B0604020202020204" pitchFamily="34" charset="0"/>
              </a:rPr>
              <a:t>that servers are configured for high availability and redundancy.</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967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Steps for Database Sharding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3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Step-4: Data Partitioning:</a:t>
            </a:r>
          </a:p>
          <a:p>
            <a:pPr marL="457200" indent="-457200">
              <a:lnSpc>
                <a:spcPct val="130000"/>
              </a:lnSpc>
              <a:spcBef>
                <a:spcPts val="1800"/>
              </a:spcBef>
              <a:spcAft>
                <a:spcPts val="600"/>
              </a:spcAft>
            </a:pPr>
            <a:r>
              <a:rPr lang="en-US" sz="2500" dirty="0">
                <a:latin typeface="Arial" panose="020B0604020202020204" pitchFamily="34" charset="0"/>
                <a:cs typeface="Arial" panose="020B0604020202020204" pitchFamily="34" charset="0"/>
              </a:rPr>
              <a:t>Implement the chosen sharding strategy to partition the existing data.</a:t>
            </a:r>
          </a:p>
          <a:p>
            <a:pPr marL="457200" indent="-457200">
              <a:lnSpc>
                <a:spcPct val="130000"/>
              </a:lnSpc>
              <a:spcBef>
                <a:spcPts val="1800"/>
              </a:spcBef>
              <a:spcAft>
                <a:spcPts val="600"/>
              </a:spcAft>
            </a:pPr>
            <a:r>
              <a:rPr lang="en-US" sz="2500" dirty="0">
                <a:latin typeface="Arial" panose="020B0604020202020204" pitchFamily="34" charset="0"/>
                <a:cs typeface="Arial" panose="020B0604020202020204" pitchFamily="34" charset="0"/>
              </a:rPr>
              <a:t>Migrate data </a:t>
            </a:r>
            <a:r>
              <a:rPr lang="en-US" sz="2400" dirty="0">
                <a:latin typeface="Arial" panose="020B0604020202020204" pitchFamily="34" charset="0"/>
                <a:cs typeface="Arial" panose="020B0604020202020204" pitchFamily="34" charset="0"/>
              </a:rPr>
              <a:t>to the appropriate shards based on the shard key.</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2731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Steps for Database Sharding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3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Step-5: Modify Application Logic:</a:t>
            </a:r>
          </a:p>
          <a:p>
            <a:pPr marL="457200" indent="-457200">
              <a:lnSpc>
                <a:spcPct val="130000"/>
              </a:lnSpc>
              <a:spcBef>
                <a:spcPts val="1800"/>
              </a:spcBef>
              <a:spcAft>
                <a:spcPts val="600"/>
              </a:spcAft>
            </a:pPr>
            <a:r>
              <a:rPr lang="en-US" sz="2400" dirty="0">
                <a:latin typeface="Arial" panose="020B0604020202020204" pitchFamily="34" charset="0"/>
                <a:cs typeface="Arial" panose="020B0604020202020204" pitchFamily="34" charset="0"/>
              </a:rPr>
              <a:t>Update </a:t>
            </a:r>
            <a:r>
              <a:rPr lang="en-US" sz="2500" dirty="0">
                <a:latin typeface="Arial" panose="020B0604020202020204" pitchFamily="34" charset="0"/>
                <a:cs typeface="Arial" panose="020B0604020202020204" pitchFamily="34" charset="0"/>
              </a:rPr>
              <a:t>the application to route queries to the correct shard based on the shard key.</a:t>
            </a:r>
          </a:p>
          <a:p>
            <a:pPr marL="457200" indent="-457200">
              <a:lnSpc>
                <a:spcPct val="130000"/>
              </a:lnSpc>
              <a:spcBef>
                <a:spcPts val="1800"/>
              </a:spcBef>
              <a:spcAft>
                <a:spcPts val="600"/>
              </a:spcAft>
            </a:pPr>
            <a:r>
              <a:rPr lang="en-US" sz="2500" dirty="0">
                <a:latin typeface="Arial" panose="020B0604020202020204" pitchFamily="34" charset="0"/>
                <a:cs typeface="Arial" panose="020B0604020202020204" pitchFamily="34" charset="0"/>
              </a:rPr>
              <a:t>Ensure that </a:t>
            </a:r>
            <a:r>
              <a:rPr lang="en-US" sz="2400" dirty="0">
                <a:latin typeface="Arial" panose="020B0604020202020204" pitchFamily="34" charset="0"/>
                <a:cs typeface="Arial" panose="020B0604020202020204" pitchFamily="34" charset="0"/>
              </a:rPr>
              <a:t>write operations are directed to the shard holding the relevant data subset.</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0273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Steps for Database Sharding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3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Step-6: Implement Shard Management:</a:t>
            </a:r>
          </a:p>
          <a:p>
            <a:pPr marL="457200" indent="-457200">
              <a:lnSpc>
                <a:spcPct val="130000"/>
              </a:lnSpc>
              <a:spcBef>
                <a:spcPts val="1800"/>
              </a:spcBef>
              <a:spcAft>
                <a:spcPts val="600"/>
              </a:spcAft>
            </a:pPr>
            <a:r>
              <a:rPr lang="en-US" sz="2400" dirty="0">
                <a:latin typeface="Arial" panose="020B0604020202020204" pitchFamily="34" charset="0"/>
                <a:cs typeface="Arial" panose="020B0604020202020204" pitchFamily="34" charset="0"/>
              </a:rPr>
              <a:t>Monitor </a:t>
            </a:r>
            <a:r>
              <a:rPr lang="en-US" sz="2500" dirty="0">
                <a:latin typeface="Arial" panose="020B0604020202020204" pitchFamily="34" charset="0"/>
                <a:cs typeface="Arial" panose="020B0604020202020204" pitchFamily="34" charset="0"/>
              </a:rPr>
              <a:t>and manage the shards for load balancing and resource optimization.</a:t>
            </a:r>
          </a:p>
          <a:p>
            <a:pPr marL="457200" indent="-457200">
              <a:lnSpc>
                <a:spcPct val="130000"/>
              </a:lnSpc>
              <a:spcBef>
                <a:spcPts val="1800"/>
              </a:spcBef>
              <a:spcAft>
                <a:spcPts val="600"/>
              </a:spcAft>
            </a:pPr>
            <a:r>
              <a:rPr lang="en-US" sz="2500" dirty="0">
                <a:latin typeface="Arial" panose="020B0604020202020204" pitchFamily="34" charset="0"/>
                <a:cs typeface="Arial" panose="020B0604020202020204" pitchFamily="34" charset="0"/>
              </a:rPr>
              <a:t>Add new shards </a:t>
            </a:r>
            <a:r>
              <a:rPr lang="en-US" sz="2400" dirty="0">
                <a:latin typeface="Arial" panose="020B0604020202020204" pitchFamily="34" charset="0"/>
                <a:cs typeface="Arial" panose="020B0604020202020204" pitchFamily="34" charset="0"/>
              </a:rPr>
              <a:t>dynamically as the data grows to maintain performance and scalability.</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17239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Steps for Database Sharding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3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Step-7: Handle Cross-Shard Queries:</a:t>
            </a:r>
          </a:p>
          <a:p>
            <a:pPr marL="457200" indent="-457200">
              <a:lnSpc>
                <a:spcPct val="130000"/>
              </a:lnSpc>
              <a:spcBef>
                <a:spcPts val="1800"/>
              </a:spcBef>
              <a:spcAft>
                <a:spcPts val="600"/>
              </a:spcAft>
            </a:pPr>
            <a:r>
              <a:rPr lang="en-US" sz="2500" dirty="0">
                <a:latin typeface="Arial" panose="020B0604020202020204" pitchFamily="34" charset="0"/>
                <a:cs typeface="Arial" panose="020B0604020202020204" pitchFamily="34" charset="0"/>
              </a:rPr>
              <a:t>Implement mechanisms to handle queries that span multiple shards.</a:t>
            </a:r>
          </a:p>
          <a:p>
            <a:pPr marL="457200" indent="-457200">
              <a:lnSpc>
                <a:spcPct val="130000"/>
              </a:lnSpc>
              <a:spcBef>
                <a:spcPts val="1800"/>
              </a:spcBef>
              <a:spcAft>
                <a:spcPts val="600"/>
              </a:spcAft>
            </a:pPr>
            <a:r>
              <a:rPr lang="en-US" sz="2500" dirty="0">
                <a:latin typeface="Arial" panose="020B0604020202020204" pitchFamily="34" charset="0"/>
                <a:cs typeface="Arial" panose="020B0604020202020204" pitchFamily="34" charset="0"/>
              </a:rPr>
              <a:t>Use a middleware </a:t>
            </a:r>
            <a:r>
              <a:rPr lang="en-US" sz="2400" dirty="0">
                <a:latin typeface="Arial" panose="020B0604020202020204" pitchFamily="34" charset="0"/>
                <a:cs typeface="Arial" panose="020B0604020202020204" pitchFamily="34" charset="0"/>
              </a:rPr>
              <a:t>or query routing layer to combine results from different shards if necessary.</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7438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Steps for Database Sharding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30000"/>
              </a:lnSpc>
              <a:spcBef>
                <a:spcPts val="1800"/>
              </a:spcBef>
              <a:spcAft>
                <a:spcPts val="600"/>
              </a:spcAft>
              <a:buNone/>
            </a:pPr>
            <a:r>
              <a:rPr lang="en-US" sz="2400" dirty="0">
                <a:solidFill>
                  <a:srgbClr val="FF0000"/>
                </a:solidFill>
                <a:latin typeface="Arial" panose="020B0604020202020204" pitchFamily="34" charset="0"/>
                <a:cs typeface="Arial" panose="020B0604020202020204" pitchFamily="34" charset="0"/>
              </a:rPr>
              <a:t>Step-8: Ensure Consistency and Reliability:</a:t>
            </a:r>
          </a:p>
          <a:p>
            <a:pPr marL="457200" indent="-457200">
              <a:lnSpc>
                <a:spcPct val="130000"/>
              </a:lnSpc>
              <a:spcBef>
                <a:spcPts val="1800"/>
              </a:spcBef>
              <a:spcAft>
                <a:spcPts val="600"/>
              </a:spcAft>
            </a:pPr>
            <a:r>
              <a:rPr lang="en-US" sz="2400" dirty="0">
                <a:latin typeface="Arial" panose="020B0604020202020204" pitchFamily="34" charset="0"/>
                <a:cs typeface="Arial" panose="020B0604020202020204" pitchFamily="34" charset="0"/>
              </a:rPr>
              <a:t>Implement </a:t>
            </a:r>
            <a:r>
              <a:rPr lang="en-US" sz="2500" dirty="0">
                <a:latin typeface="Arial" panose="020B0604020202020204" pitchFamily="34" charset="0"/>
                <a:cs typeface="Arial" panose="020B0604020202020204" pitchFamily="34" charset="0"/>
              </a:rPr>
              <a:t>mechanisms for data replication and backup to ensure data consistency and reliability across shards.</a:t>
            </a:r>
          </a:p>
          <a:p>
            <a:pPr marL="457200" indent="-457200">
              <a:lnSpc>
                <a:spcPct val="130000"/>
              </a:lnSpc>
              <a:spcBef>
                <a:spcPts val="1800"/>
              </a:spcBef>
              <a:spcAft>
                <a:spcPts val="600"/>
              </a:spcAft>
            </a:pPr>
            <a:r>
              <a:rPr lang="en-US" sz="2500" dirty="0">
                <a:latin typeface="Arial" panose="020B0604020202020204" pitchFamily="34" charset="0"/>
                <a:cs typeface="Arial" panose="020B0604020202020204" pitchFamily="34" charset="0"/>
              </a:rPr>
              <a:t>Use distributed </a:t>
            </a:r>
            <a:r>
              <a:rPr lang="en-US" sz="2400" dirty="0">
                <a:latin typeface="Arial" panose="020B0604020202020204" pitchFamily="34" charset="0"/>
                <a:cs typeface="Arial" panose="020B0604020202020204" pitchFamily="34" charset="0"/>
              </a:rPr>
              <a:t>transactions carefully to maintain ACID properties where necessary.</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050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Sharding in Real-World Applications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a:bodyPr>
          <a:lstStyle/>
          <a:p>
            <a:pPr marL="457200" indent="-457200">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Social Media Platforms: </a:t>
            </a:r>
            <a:r>
              <a:rPr lang="en-US" sz="2400" dirty="0">
                <a:latin typeface="Arial" panose="020B0604020202020204" pitchFamily="34" charset="0"/>
                <a:cs typeface="Arial" panose="020B0604020202020204" pitchFamily="34" charset="0"/>
              </a:rPr>
              <a:t>Social media companies use Sharding to manage massive amounts of user-generated content, such as posts, photos, and videos. Sharding ensures fast access to user data and high availability.</a:t>
            </a:r>
          </a:p>
          <a:p>
            <a:pPr marL="457200" indent="-457200">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E-commerce: </a:t>
            </a:r>
            <a:r>
              <a:rPr lang="en-US" sz="2400" dirty="0">
                <a:latin typeface="Arial" panose="020B0604020202020204" pitchFamily="34" charset="0"/>
                <a:cs typeface="Arial" panose="020B0604020202020204" pitchFamily="34" charset="0"/>
              </a:rPr>
              <a:t>Online retailers employ sharding to handle large catalogs of products and accommodate high website traffic. Sharding is essential for managing order data and inventory.</a:t>
            </a:r>
          </a:p>
          <a:p>
            <a:pPr marL="457200" indent="-457200">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Gaming: </a:t>
            </a:r>
            <a:r>
              <a:rPr lang="en-US" sz="2400" dirty="0">
                <a:latin typeface="Arial" panose="020B0604020202020204" pitchFamily="34" charset="0"/>
                <a:cs typeface="Arial" panose="020B0604020202020204" pitchFamily="34" charset="0"/>
              </a:rPr>
              <a:t>Online gaming platforms use Sharding to distribute game state data and player profiles. Sharding ensures low-latency gaming experiences, even in globally distributed multiplayer games.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3682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Sharding in Real-World Applications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457200" indent="-457200">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Financial Services: </a:t>
            </a:r>
            <a:r>
              <a:rPr lang="en-US" sz="2400" dirty="0">
                <a:latin typeface="Arial" panose="020B0604020202020204" pitchFamily="34" charset="0"/>
                <a:cs typeface="Arial" panose="020B0604020202020204" pitchFamily="34" charset="0"/>
              </a:rPr>
              <a:t>Financial institutions rely on Sharding to manage vast amounts of transaction data, customer records, and financial histories. Sharding enhances performance and data security.</a:t>
            </a:r>
          </a:p>
          <a:p>
            <a:pPr marL="457200" indent="-457200">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Content Delivery Networks (CDNs): </a:t>
            </a:r>
            <a:r>
              <a:rPr lang="en-US" sz="2400" dirty="0">
                <a:latin typeface="Arial" panose="020B0604020202020204" pitchFamily="34" charset="0"/>
                <a:cs typeface="Arial" panose="020B0604020202020204" pitchFamily="34" charset="0"/>
              </a:rPr>
              <a:t>CDNs utilize geo-based sharding to cache and deliver web content efficiently to users worldwide. Data is distributed to edge servers close to end users to reduce latency.</a:t>
            </a:r>
          </a:p>
          <a:p>
            <a:pPr marL="457200" indent="-457200">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IoT and Telemetry: </a:t>
            </a:r>
            <a:r>
              <a:rPr lang="en-US" sz="2400" dirty="0">
                <a:latin typeface="Arial" panose="020B0604020202020204" pitchFamily="34" charset="0"/>
                <a:cs typeface="Arial" panose="020B0604020202020204" pitchFamily="34" charset="0"/>
              </a:rPr>
              <a:t>Internet of Things (IoT) platforms leverage sharding to manage the massive influx of data generated by sensors and devices. Sharding helps process and analyze telemetry data in real-time.</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0978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Factors to Consider Before Sharding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457200" indent="-457200">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Data Distribution: </a:t>
            </a:r>
            <a:r>
              <a:rPr lang="en-US" sz="2400" dirty="0">
                <a:latin typeface="Arial" panose="020B0604020202020204" pitchFamily="34" charset="0"/>
                <a:cs typeface="Arial" panose="020B0604020202020204" pitchFamily="34" charset="0"/>
              </a:rPr>
              <a:t>Ensure that the chosen shard key distributes data evenly to avoid hotspots or imbalances in shard sizes.</a:t>
            </a:r>
          </a:p>
          <a:p>
            <a:pPr marL="457200" indent="-457200">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Application Complexity: </a:t>
            </a:r>
            <a:r>
              <a:rPr lang="en-US" sz="2400" dirty="0">
                <a:latin typeface="Arial" panose="020B0604020202020204" pitchFamily="34" charset="0"/>
                <a:cs typeface="Arial" panose="020B0604020202020204" pitchFamily="34" charset="0"/>
              </a:rPr>
              <a:t>Sharding increases the complexity of the application logic. Ensure your team is equipped to handle the added complexity in terms of development, deployment, and maintenance.</a:t>
            </a:r>
          </a:p>
          <a:p>
            <a:pPr marL="457200" indent="-457200">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Cross-Shard Operations: </a:t>
            </a:r>
            <a:r>
              <a:rPr lang="en-US" sz="2400" dirty="0">
                <a:latin typeface="Arial" panose="020B0604020202020204" pitchFamily="34" charset="0"/>
                <a:cs typeface="Arial" panose="020B0604020202020204" pitchFamily="34" charset="0"/>
              </a:rPr>
              <a:t>Be aware of the challenges in handling transactions and queries that span multiple shards. Implement strategies for managing these operations efficiently.</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07353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Factors to Consider Before Sharding</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457200" indent="-457200">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Rebalancing Data: </a:t>
            </a:r>
            <a:r>
              <a:rPr lang="en-US" sz="2400" dirty="0">
                <a:latin typeface="Arial" panose="020B0604020202020204" pitchFamily="34" charset="0"/>
                <a:cs typeface="Arial" panose="020B0604020202020204" pitchFamily="34" charset="0"/>
              </a:rPr>
              <a:t>Plan for data rebalancing as your dataset grows or your access patterns change. Rebalancing can be resource-intensive and should be managed carefully.</a:t>
            </a:r>
          </a:p>
          <a:p>
            <a:pPr marL="457200" indent="-457200">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Consistency and Reliability:</a:t>
            </a:r>
            <a:r>
              <a:rPr lang="en-US" sz="2400" dirty="0">
                <a:latin typeface="Arial" panose="020B0604020202020204" pitchFamily="34" charset="0"/>
                <a:cs typeface="Arial" panose="020B0604020202020204" pitchFamily="34" charset="0"/>
              </a:rPr>
              <a:t> Consider how sharding affects data consistency and reliability. Ensure you have mechanisms in place to handle replication, backup, and recovery across shards.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1167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Achieving horizontal scalability with database </a:t>
            </a:r>
            <a:r>
              <a:rPr lang="en-US" dirty="0" err="1">
                <a:latin typeface="Arial" panose="020B0604020202020204" pitchFamily="34" charset="0"/>
                <a:cs typeface="Arial" panose="020B0604020202020204" pitchFamily="34" charset="0"/>
              </a:rPr>
              <a:t>sharding</a:t>
            </a:r>
            <a:endParaRPr lang="en-IN"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31-07-2024</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828</TotalTime>
  <Words>1497</Words>
  <Application>Microsoft Office PowerPoint</Application>
  <PresentationFormat>Widescreen</PresentationFormat>
  <Paragraphs>162</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(Body)</vt:lpstr>
      <vt:lpstr>Calibri Light</vt:lpstr>
      <vt:lpstr>Office Theme</vt:lpstr>
      <vt:lpstr>Course code : CSE3009 Course title  : No SQL Data Bases Module  : 1     Topic   : 4</vt:lpstr>
      <vt:lpstr>Objectives</vt:lpstr>
      <vt:lpstr>Data Storage Limitations</vt:lpstr>
      <vt:lpstr>Data Storage Limitations</vt:lpstr>
      <vt:lpstr>Data Storage Limitations</vt:lpstr>
      <vt:lpstr>Data Storage Limitations</vt:lpstr>
      <vt:lpstr>NoSQL Sharding</vt:lpstr>
      <vt:lpstr>NoSQL Sharding</vt:lpstr>
      <vt:lpstr>NoSQL Sharding</vt:lpstr>
      <vt:lpstr>NoSQL Sharding</vt:lpstr>
      <vt:lpstr>NoSQL Sharding</vt:lpstr>
      <vt:lpstr>Steps for Database Sharding</vt:lpstr>
      <vt:lpstr>Steps for Database Sharding</vt:lpstr>
      <vt:lpstr>Steps for Database Sharding</vt:lpstr>
      <vt:lpstr>Steps for Database Sharding</vt:lpstr>
      <vt:lpstr>Steps for Database Sharding</vt:lpstr>
      <vt:lpstr>Steps for Database Sharding</vt:lpstr>
      <vt:lpstr>Steps for Database Sharding</vt:lpstr>
      <vt:lpstr>Steps for Database Sharding</vt:lpstr>
      <vt:lpstr>Sharding in Real-World Applications</vt:lpstr>
      <vt:lpstr>Sharding in Real-World Applications</vt:lpstr>
      <vt:lpstr>Factors to Consider Before Sharding</vt:lpstr>
      <vt:lpstr>Factors to Consider Before Sharding</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Dr. Gopikrishnan S</cp:lastModifiedBy>
  <cp:revision>59</cp:revision>
  <dcterms:created xsi:type="dcterms:W3CDTF">2019-11-30T05:18:24Z</dcterms:created>
  <dcterms:modified xsi:type="dcterms:W3CDTF">2024-07-31T04:12:29Z</dcterms:modified>
</cp:coreProperties>
</file>