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3"/>
  </p:notesMasterIdLst>
  <p:sldIdLst>
    <p:sldId id="256" r:id="rId2"/>
    <p:sldId id="258" r:id="rId3"/>
    <p:sldId id="332" r:id="rId4"/>
    <p:sldId id="408" r:id="rId5"/>
    <p:sldId id="411" r:id="rId6"/>
    <p:sldId id="409" r:id="rId7"/>
    <p:sldId id="410" r:id="rId8"/>
    <p:sldId id="412" r:id="rId9"/>
    <p:sldId id="413" r:id="rId10"/>
    <p:sldId id="414" r:id="rId11"/>
    <p:sldId id="415" r:id="rId12"/>
    <p:sldId id="419" r:id="rId13"/>
    <p:sldId id="416" r:id="rId14"/>
    <p:sldId id="417" r:id="rId15"/>
    <p:sldId id="418" r:id="rId16"/>
    <p:sldId id="420" r:id="rId17"/>
    <p:sldId id="421" r:id="rId18"/>
    <p:sldId id="422" r:id="rId19"/>
    <p:sldId id="423" r:id="rId20"/>
    <p:sldId id="424" r:id="rId21"/>
    <p:sldId id="259"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00CC00"/>
    <a:srgbClr val="2102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2" d="100"/>
          <a:sy n="82" d="100"/>
        </p:scale>
        <p:origin x="643"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CF716F9-1CCB-412E-807B-54E78A47C39C}" type="datetimeFigureOut">
              <a:rPr lang="en-IN" smtClean="0"/>
              <a:t>25-04-2023</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7070DDA-CF3D-48BA-A0B0-D24E17EB7419}" type="slidenum">
              <a:rPr lang="en-IN" smtClean="0"/>
              <a:t>‹#›</a:t>
            </a:fld>
            <a:endParaRPr lang="en-IN"/>
          </a:p>
        </p:txBody>
      </p:sp>
    </p:spTree>
    <p:extLst>
      <p:ext uri="{BB962C8B-B14F-4D97-AF65-F5344CB8AC3E}">
        <p14:creationId xmlns:p14="http://schemas.microsoft.com/office/powerpoint/2010/main" val="25428697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D18207AF-BBE6-41CB-838F-3B91C45E6842}" type="datetime1">
              <a:rPr lang="en-IN" smtClean="0"/>
              <a:t>25-04-2023</a:t>
            </a:fld>
            <a:endParaRPr lang="en-IN"/>
          </a:p>
        </p:txBody>
      </p:sp>
      <p:sp>
        <p:nvSpPr>
          <p:cNvPr id="5" name="Footer Placeholder 4"/>
          <p:cNvSpPr>
            <a:spLocks noGrp="1"/>
          </p:cNvSpPr>
          <p:nvPr>
            <p:ph type="ftr" sz="quarter" idx="11"/>
          </p:nvPr>
        </p:nvSpPr>
        <p:spPr/>
        <p:txBody>
          <a:bodyPr/>
          <a:lstStyle/>
          <a:p>
            <a:r>
              <a:rPr lang="en-IN"/>
              <a:t>Dr. S. Gopikrishnan</a:t>
            </a:r>
          </a:p>
        </p:txBody>
      </p:sp>
      <p:sp>
        <p:nvSpPr>
          <p:cNvPr id="6" name="Slide Number Placeholder 5"/>
          <p:cNvSpPr>
            <a:spLocks noGrp="1"/>
          </p:cNvSpPr>
          <p:nvPr>
            <p:ph type="sldNum" sz="quarter" idx="12"/>
          </p:nvPr>
        </p:nvSpPr>
        <p:spPr/>
        <p:txBody>
          <a:bodyPr/>
          <a:lstStyle/>
          <a:p>
            <a:fld id="{E02F8B39-E037-49D7-848F-F055834E3AA1}" type="slidenum">
              <a:rPr lang="en-IN" smtClean="0"/>
              <a:t>‹#›</a:t>
            </a:fld>
            <a:endParaRPr lang="en-IN"/>
          </a:p>
        </p:txBody>
      </p:sp>
    </p:spTree>
    <p:extLst>
      <p:ext uri="{BB962C8B-B14F-4D97-AF65-F5344CB8AC3E}">
        <p14:creationId xmlns:p14="http://schemas.microsoft.com/office/powerpoint/2010/main" val="41205776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842001CB-2F0D-4565-974A-BB3B4237F7A0}" type="datetime1">
              <a:rPr lang="en-IN" smtClean="0"/>
              <a:t>25-04-2023</a:t>
            </a:fld>
            <a:endParaRPr lang="en-IN"/>
          </a:p>
        </p:txBody>
      </p:sp>
      <p:sp>
        <p:nvSpPr>
          <p:cNvPr id="5" name="Footer Placeholder 4"/>
          <p:cNvSpPr>
            <a:spLocks noGrp="1"/>
          </p:cNvSpPr>
          <p:nvPr>
            <p:ph type="ftr" sz="quarter" idx="11"/>
          </p:nvPr>
        </p:nvSpPr>
        <p:spPr/>
        <p:txBody>
          <a:bodyPr/>
          <a:lstStyle/>
          <a:p>
            <a:r>
              <a:rPr lang="en-IN"/>
              <a:t>Dr. S. Gopikrishnan</a:t>
            </a:r>
          </a:p>
        </p:txBody>
      </p:sp>
      <p:sp>
        <p:nvSpPr>
          <p:cNvPr id="6" name="Slide Number Placeholder 5"/>
          <p:cNvSpPr>
            <a:spLocks noGrp="1"/>
          </p:cNvSpPr>
          <p:nvPr>
            <p:ph type="sldNum" sz="quarter" idx="12"/>
          </p:nvPr>
        </p:nvSpPr>
        <p:spPr/>
        <p:txBody>
          <a:bodyPr/>
          <a:lstStyle/>
          <a:p>
            <a:fld id="{E02F8B39-E037-49D7-848F-F055834E3AA1}" type="slidenum">
              <a:rPr lang="en-IN" smtClean="0"/>
              <a:t>‹#›</a:t>
            </a:fld>
            <a:endParaRPr lang="en-IN"/>
          </a:p>
        </p:txBody>
      </p:sp>
    </p:spTree>
    <p:extLst>
      <p:ext uri="{BB962C8B-B14F-4D97-AF65-F5344CB8AC3E}">
        <p14:creationId xmlns:p14="http://schemas.microsoft.com/office/powerpoint/2010/main" val="2428863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E325E08F-6321-4732-8935-8B18B4878320}" type="datetime1">
              <a:rPr lang="en-IN" smtClean="0"/>
              <a:t>25-04-2023</a:t>
            </a:fld>
            <a:endParaRPr lang="en-IN"/>
          </a:p>
        </p:txBody>
      </p:sp>
      <p:sp>
        <p:nvSpPr>
          <p:cNvPr id="5" name="Footer Placeholder 4"/>
          <p:cNvSpPr>
            <a:spLocks noGrp="1"/>
          </p:cNvSpPr>
          <p:nvPr>
            <p:ph type="ftr" sz="quarter" idx="11"/>
          </p:nvPr>
        </p:nvSpPr>
        <p:spPr/>
        <p:txBody>
          <a:bodyPr/>
          <a:lstStyle/>
          <a:p>
            <a:r>
              <a:rPr lang="en-IN"/>
              <a:t>Dr. S. Gopikrishnan</a:t>
            </a:r>
          </a:p>
        </p:txBody>
      </p:sp>
      <p:sp>
        <p:nvSpPr>
          <p:cNvPr id="6" name="Slide Number Placeholder 5"/>
          <p:cNvSpPr>
            <a:spLocks noGrp="1"/>
          </p:cNvSpPr>
          <p:nvPr>
            <p:ph type="sldNum" sz="quarter" idx="12"/>
          </p:nvPr>
        </p:nvSpPr>
        <p:spPr/>
        <p:txBody>
          <a:bodyPr/>
          <a:lstStyle/>
          <a:p>
            <a:fld id="{E02F8B39-E037-49D7-848F-F055834E3AA1}" type="slidenum">
              <a:rPr lang="en-IN" smtClean="0"/>
              <a:t>‹#›</a:t>
            </a:fld>
            <a:endParaRPr lang="en-IN"/>
          </a:p>
        </p:txBody>
      </p:sp>
    </p:spTree>
    <p:extLst>
      <p:ext uri="{BB962C8B-B14F-4D97-AF65-F5344CB8AC3E}">
        <p14:creationId xmlns:p14="http://schemas.microsoft.com/office/powerpoint/2010/main" val="187089584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8FAE6CD2-53BA-43CE-85B2-BECBEC79BED8}" type="datetime1">
              <a:rPr lang="en-IN" smtClean="0"/>
              <a:t>25-04-2023</a:t>
            </a:fld>
            <a:endParaRPr lang="en-IN"/>
          </a:p>
        </p:txBody>
      </p:sp>
      <p:sp>
        <p:nvSpPr>
          <p:cNvPr id="6" name="Footer Placeholder 5"/>
          <p:cNvSpPr>
            <a:spLocks noGrp="1"/>
          </p:cNvSpPr>
          <p:nvPr>
            <p:ph type="ftr" sz="quarter" idx="11"/>
          </p:nvPr>
        </p:nvSpPr>
        <p:spPr/>
        <p:txBody>
          <a:bodyPr/>
          <a:lstStyle/>
          <a:p>
            <a:r>
              <a:rPr lang="en-IN"/>
              <a:t>Dr. S. Gopikrishnan</a:t>
            </a:r>
          </a:p>
        </p:txBody>
      </p:sp>
      <p:sp>
        <p:nvSpPr>
          <p:cNvPr id="7" name="Slide Number Placeholder 6"/>
          <p:cNvSpPr>
            <a:spLocks noGrp="1"/>
          </p:cNvSpPr>
          <p:nvPr>
            <p:ph type="sldNum" sz="quarter" idx="12"/>
          </p:nvPr>
        </p:nvSpPr>
        <p:spPr/>
        <p:txBody>
          <a:bodyPr/>
          <a:lstStyle/>
          <a:p>
            <a:fld id="{E02F8B39-E037-49D7-848F-F055834E3AA1}" type="slidenum">
              <a:rPr lang="en-IN" smtClean="0"/>
              <a:t>‹#›</a:t>
            </a:fld>
            <a:endParaRPr lang="en-IN"/>
          </a:p>
        </p:txBody>
      </p:sp>
    </p:spTree>
    <p:extLst>
      <p:ext uri="{BB962C8B-B14F-4D97-AF65-F5344CB8AC3E}">
        <p14:creationId xmlns:p14="http://schemas.microsoft.com/office/powerpoint/2010/main" val="113295858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F010AD05-A4E4-4CA4-974B-F265446B2FC3}" type="datetime1">
              <a:rPr lang="en-IN" smtClean="0"/>
              <a:t>25-04-2023</a:t>
            </a:fld>
            <a:endParaRPr lang="en-IN"/>
          </a:p>
        </p:txBody>
      </p:sp>
      <p:sp>
        <p:nvSpPr>
          <p:cNvPr id="8" name="Footer Placeholder 7"/>
          <p:cNvSpPr>
            <a:spLocks noGrp="1"/>
          </p:cNvSpPr>
          <p:nvPr>
            <p:ph type="ftr" sz="quarter" idx="11"/>
          </p:nvPr>
        </p:nvSpPr>
        <p:spPr/>
        <p:txBody>
          <a:bodyPr/>
          <a:lstStyle/>
          <a:p>
            <a:r>
              <a:rPr lang="en-IN"/>
              <a:t>Dr. S. Gopikrishnan</a:t>
            </a:r>
          </a:p>
        </p:txBody>
      </p:sp>
      <p:sp>
        <p:nvSpPr>
          <p:cNvPr id="9" name="Slide Number Placeholder 8"/>
          <p:cNvSpPr>
            <a:spLocks noGrp="1"/>
          </p:cNvSpPr>
          <p:nvPr>
            <p:ph type="sldNum" sz="quarter" idx="12"/>
          </p:nvPr>
        </p:nvSpPr>
        <p:spPr/>
        <p:txBody>
          <a:bodyPr/>
          <a:lstStyle/>
          <a:p>
            <a:fld id="{E02F8B39-E037-49D7-848F-F055834E3AA1}" type="slidenum">
              <a:rPr lang="en-IN" smtClean="0"/>
              <a:t>‹#›</a:t>
            </a:fld>
            <a:endParaRPr lang="en-IN"/>
          </a:p>
        </p:txBody>
      </p:sp>
    </p:spTree>
    <p:extLst>
      <p:ext uri="{BB962C8B-B14F-4D97-AF65-F5344CB8AC3E}">
        <p14:creationId xmlns:p14="http://schemas.microsoft.com/office/powerpoint/2010/main" val="18554184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928D32E8-1E32-4E2A-B217-B612998A856C}" type="datetime1">
              <a:rPr lang="en-IN" smtClean="0"/>
              <a:t>25-04-2023</a:t>
            </a:fld>
            <a:endParaRPr lang="en-IN"/>
          </a:p>
        </p:txBody>
      </p:sp>
      <p:sp>
        <p:nvSpPr>
          <p:cNvPr id="4" name="Footer Placeholder 3"/>
          <p:cNvSpPr>
            <a:spLocks noGrp="1"/>
          </p:cNvSpPr>
          <p:nvPr>
            <p:ph type="ftr" sz="quarter" idx="11"/>
          </p:nvPr>
        </p:nvSpPr>
        <p:spPr/>
        <p:txBody>
          <a:bodyPr/>
          <a:lstStyle/>
          <a:p>
            <a:r>
              <a:rPr lang="en-IN"/>
              <a:t>Dr. S. Gopikrishnan</a:t>
            </a:r>
          </a:p>
        </p:txBody>
      </p:sp>
      <p:sp>
        <p:nvSpPr>
          <p:cNvPr id="5" name="Slide Number Placeholder 4"/>
          <p:cNvSpPr>
            <a:spLocks noGrp="1"/>
          </p:cNvSpPr>
          <p:nvPr>
            <p:ph type="sldNum" sz="quarter" idx="12"/>
          </p:nvPr>
        </p:nvSpPr>
        <p:spPr/>
        <p:txBody>
          <a:bodyPr/>
          <a:lstStyle/>
          <a:p>
            <a:fld id="{E02F8B39-E037-49D7-848F-F055834E3AA1}" type="slidenum">
              <a:rPr lang="en-IN" smtClean="0"/>
              <a:t>‹#›</a:t>
            </a:fld>
            <a:endParaRPr lang="en-IN"/>
          </a:p>
        </p:txBody>
      </p:sp>
    </p:spTree>
    <p:extLst>
      <p:ext uri="{BB962C8B-B14F-4D97-AF65-F5344CB8AC3E}">
        <p14:creationId xmlns:p14="http://schemas.microsoft.com/office/powerpoint/2010/main" val="27778630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2CE7F75-E219-4A7A-86AA-8B901170D2FE}" type="datetime1">
              <a:rPr lang="en-IN" smtClean="0"/>
              <a:t>25-04-2023</a:t>
            </a:fld>
            <a:endParaRPr lang="en-IN"/>
          </a:p>
        </p:txBody>
      </p:sp>
      <p:sp>
        <p:nvSpPr>
          <p:cNvPr id="3" name="Footer Placeholder 2"/>
          <p:cNvSpPr>
            <a:spLocks noGrp="1"/>
          </p:cNvSpPr>
          <p:nvPr>
            <p:ph type="ftr" sz="quarter" idx="11"/>
          </p:nvPr>
        </p:nvSpPr>
        <p:spPr/>
        <p:txBody>
          <a:bodyPr/>
          <a:lstStyle/>
          <a:p>
            <a:r>
              <a:rPr lang="en-IN"/>
              <a:t>Dr. S. Gopikrishnan</a:t>
            </a:r>
          </a:p>
        </p:txBody>
      </p:sp>
      <p:sp>
        <p:nvSpPr>
          <p:cNvPr id="4" name="Slide Number Placeholder 3"/>
          <p:cNvSpPr>
            <a:spLocks noGrp="1"/>
          </p:cNvSpPr>
          <p:nvPr>
            <p:ph type="sldNum" sz="quarter" idx="12"/>
          </p:nvPr>
        </p:nvSpPr>
        <p:spPr/>
        <p:txBody>
          <a:bodyPr/>
          <a:lstStyle/>
          <a:p>
            <a:fld id="{E02F8B39-E037-49D7-848F-F055834E3AA1}" type="slidenum">
              <a:rPr lang="en-IN" smtClean="0"/>
              <a:t>‹#›</a:t>
            </a:fld>
            <a:endParaRPr lang="en-IN"/>
          </a:p>
        </p:txBody>
      </p:sp>
    </p:spTree>
    <p:extLst>
      <p:ext uri="{BB962C8B-B14F-4D97-AF65-F5344CB8AC3E}">
        <p14:creationId xmlns:p14="http://schemas.microsoft.com/office/powerpoint/2010/main" val="12624135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A6F16AFA-FDBE-49F0-A857-020340421B04}" type="datetime1">
              <a:rPr lang="en-IN" smtClean="0"/>
              <a:t>25-04-2023</a:t>
            </a:fld>
            <a:endParaRPr lang="en-IN"/>
          </a:p>
        </p:txBody>
      </p:sp>
      <p:sp>
        <p:nvSpPr>
          <p:cNvPr id="6" name="Footer Placeholder 5"/>
          <p:cNvSpPr>
            <a:spLocks noGrp="1"/>
          </p:cNvSpPr>
          <p:nvPr>
            <p:ph type="ftr" sz="quarter" idx="11"/>
          </p:nvPr>
        </p:nvSpPr>
        <p:spPr/>
        <p:txBody>
          <a:bodyPr/>
          <a:lstStyle/>
          <a:p>
            <a:r>
              <a:rPr lang="en-IN"/>
              <a:t>Dr. S. Gopikrishnan</a:t>
            </a:r>
          </a:p>
        </p:txBody>
      </p:sp>
      <p:sp>
        <p:nvSpPr>
          <p:cNvPr id="7" name="Slide Number Placeholder 6"/>
          <p:cNvSpPr>
            <a:spLocks noGrp="1"/>
          </p:cNvSpPr>
          <p:nvPr>
            <p:ph type="sldNum" sz="quarter" idx="12"/>
          </p:nvPr>
        </p:nvSpPr>
        <p:spPr/>
        <p:txBody>
          <a:bodyPr/>
          <a:lstStyle/>
          <a:p>
            <a:fld id="{E02F8B39-E037-49D7-848F-F055834E3AA1}" type="slidenum">
              <a:rPr lang="en-IN" smtClean="0"/>
              <a:t>‹#›</a:t>
            </a:fld>
            <a:endParaRPr lang="en-IN"/>
          </a:p>
        </p:txBody>
      </p:sp>
    </p:spTree>
    <p:extLst>
      <p:ext uri="{BB962C8B-B14F-4D97-AF65-F5344CB8AC3E}">
        <p14:creationId xmlns:p14="http://schemas.microsoft.com/office/powerpoint/2010/main" val="14413558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9F176920-F609-41C5-957C-A5E46109118D}" type="datetime1">
              <a:rPr lang="en-IN" smtClean="0"/>
              <a:t>25-04-2023</a:t>
            </a:fld>
            <a:endParaRPr lang="en-IN"/>
          </a:p>
        </p:txBody>
      </p:sp>
      <p:sp>
        <p:nvSpPr>
          <p:cNvPr id="6" name="Footer Placeholder 5"/>
          <p:cNvSpPr>
            <a:spLocks noGrp="1"/>
          </p:cNvSpPr>
          <p:nvPr>
            <p:ph type="ftr" sz="quarter" idx="11"/>
          </p:nvPr>
        </p:nvSpPr>
        <p:spPr/>
        <p:txBody>
          <a:bodyPr/>
          <a:lstStyle/>
          <a:p>
            <a:r>
              <a:rPr lang="en-IN"/>
              <a:t>Dr. S. Gopikrishnan</a:t>
            </a:r>
          </a:p>
        </p:txBody>
      </p:sp>
      <p:sp>
        <p:nvSpPr>
          <p:cNvPr id="7" name="Slide Number Placeholder 6"/>
          <p:cNvSpPr>
            <a:spLocks noGrp="1"/>
          </p:cNvSpPr>
          <p:nvPr>
            <p:ph type="sldNum" sz="quarter" idx="12"/>
          </p:nvPr>
        </p:nvSpPr>
        <p:spPr/>
        <p:txBody>
          <a:bodyPr/>
          <a:lstStyle/>
          <a:p>
            <a:fld id="{E02F8B39-E037-49D7-848F-F055834E3AA1}" type="slidenum">
              <a:rPr lang="en-IN" smtClean="0"/>
              <a:t>‹#›</a:t>
            </a:fld>
            <a:endParaRPr lang="en-IN"/>
          </a:p>
        </p:txBody>
      </p:sp>
    </p:spTree>
    <p:extLst>
      <p:ext uri="{BB962C8B-B14F-4D97-AF65-F5344CB8AC3E}">
        <p14:creationId xmlns:p14="http://schemas.microsoft.com/office/powerpoint/2010/main" val="3977155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18908AA1-2BEE-4CB8-A992-73CF63948E2E}" type="datetime1">
              <a:rPr lang="en-IN" smtClean="0"/>
              <a:t>25-04-2023</a:t>
            </a:fld>
            <a:endParaRPr lang="en-IN"/>
          </a:p>
        </p:txBody>
      </p:sp>
      <p:sp>
        <p:nvSpPr>
          <p:cNvPr id="5" name="Footer Placeholder 4"/>
          <p:cNvSpPr>
            <a:spLocks noGrp="1"/>
          </p:cNvSpPr>
          <p:nvPr>
            <p:ph type="ftr" sz="quarter" idx="11"/>
          </p:nvPr>
        </p:nvSpPr>
        <p:spPr/>
        <p:txBody>
          <a:bodyPr/>
          <a:lstStyle/>
          <a:p>
            <a:r>
              <a:rPr lang="en-IN"/>
              <a:t>Dr. S. Gopikrishnan</a:t>
            </a:r>
          </a:p>
        </p:txBody>
      </p:sp>
      <p:sp>
        <p:nvSpPr>
          <p:cNvPr id="6" name="Slide Number Placeholder 5"/>
          <p:cNvSpPr>
            <a:spLocks noGrp="1"/>
          </p:cNvSpPr>
          <p:nvPr>
            <p:ph type="sldNum" sz="quarter" idx="12"/>
          </p:nvPr>
        </p:nvSpPr>
        <p:spPr/>
        <p:txBody>
          <a:bodyPr/>
          <a:lstStyle/>
          <a:p>
            <a:fld id="{E02F8B39-E037-49D7-848F-F055834E3AA1}" type="slidenum">
              <a:rPr lang="en-IN" smtClean="0"/>
              <a:t>‹#›</a:t>
            </a:fld>
            <a:endParaRPr lang="en-IN"/>
          </a:p>
        </p:txBody>
      </p:sp>
    </p:spTree>
    <p:extLst>
      <p:ext uri="{BB962C8B-B14F-4D97-AF65-F5344CB8AC3E}">
        <p14:creationId xmlns:p14="http://schemas.microsoft.com/office/powerpoint/2010/main" val="24868929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C957EAF6-71C1-4CCC-BB0E-BC6703073DD8}" type="datetime1">
              <a:rPr lang="en-IN" smtClean="0"/>
              <a:t>25-04-2023</a:t>
            </a:fld>
            <a:endParaRPr lang="en-IN"/>
          </a:p>
        </p:txBody>
      </p:sp>
      <p:sp>
        <p:nvSpPr>
          <p:cNvPr id="5" name="Footer Placeholder 4"/>
          <p:cNvSpPr>
            <a:spLocks noGrp="1"/>
          </p:cNvSpPr>
          <p:nvPr>
            <p:ph type="ftr" sz="quarter" idx="11"/>
          </p:nvPr>
        </p:nvSpPr>
        <p:spPr/>
        <p:txBody>
          <a:bodyPr/>
          <a:lstStyle/>
          <a:p>
            <a:r>
              <a:rPr lang="en-IN"/>
              <a:t>Dr. S. Gopikrishnan</a:t>
            </a:r>
          </a:p>
        </p:txBody>
      </p:sp>
      <p:sp>
        <p:nvSpPr>
          <p:cNvPr id="6" name="Slide Number Placeholder 5"/>
          <p:cNvSpPr>
            <a:spLocks noGrp="1"/>
          </p:cNvSpPr>
          <p:nvPr>
            <p:ph type="sldNum" sz="quarter" idx="12"/>
          </p:nvPr>
        </p:nvSpPr>
        <p:spPr/>
        <p:txBody>
          <a:bodyPr/>
          <a:lstStyle/>
          <a:p>
            <a:fld id="{E02F8B39-E037-49D7-848F-F055834E3AA1}" type="slidenum">
              <a:rPr lang="en-IN" smtClean="0"/>
              <a:t>‹#›</a:t>
            </a:fld>
            <a:endParaRPr lang="en-IN"/>
          </a:p>
        </p:txBody>
      </p:sp>
    </p:spTree>
    <p:extLst>
      <p:ext uri="{BB962C8B-B14F-4D97-AF65-F5344CB8AC3E}">
        <p14:creationId xmlns:p14="http://schemas.microsoft.com/office/powerpoint/2010/main" val="98657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D6A101D-20D2-4D81-A838-9588DFC7E809}" type="datetime1">
              <a:rPr lang="en-IN" smtClean="0"/>
              <a:t>25-04-2023</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IN"/>
              <a:t>Dr. S. Gopikrishnan</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02F8B39-E037-49D7-848F-F055834E3AA1}" type="slidenum">
              <a:rPr lang="en-IN" smtClean="0"/>
              <a:t>‹#›</a:t>
            </a:fld>
            <a:endParaRPr lang="en-IN"/>
          </a:p>
        </p:txBody>
      </p:sp>
    </p:spTree>
    <p:extLst>
      <p:ext uri="{BB962C8B-B14F-4D97-AF65-F5344CB8AC3E}">
        <p14:creationId xmlns:p14="http://schemas.microsoft.com/office/powerpoint/2010/main" val="374279170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a:spLocks noGrp="1"/>
          </p:cNvSpPr>
          <p:nvPr>
            <p:ph type="ctrTitle"/>
          </p:nvPr>
        </p:nvSpPr>
        <p:spPr>
          <a:xfrm>
            <a:off x="1524000" y="2178260"/>
            <a:ext cx="9144000" cy="953575"/>
          </a:xfrm>
        </p:spPr>
        <p:txBody>
          <a:bodyPr>
            <a:noAutofit/>
          </a:bodyPr>
          <a:lstStyle/>
          <a:p>
            <a:pPr algn="l">
              <a:lnSpc>
                <a:spcPct val="100000"/>
              </a:lnSpc>
            </a:pPr>
            <a:r>
              <a:rPr lang="en-IN" sz="2800" dirty="0">
                <a:solidFill>
                  <a:srgbClr val="00B050"/>
                </a:solidFill>
                <a:latin typeface="Arial" panose="020B0604020202020204" pitchFamily="34" charset="0"/>
                <a:cs typeface="Arial" panose="020B0604020202020204" pitchFamily="34" charset="0"/>
              </a:rPr>
              <a:t>Course code	: </a:t>
            </a:r>
            <a:r>
              <a:rPr lang="en-IN" sz="2800" b="1" dirty="0">
                <a:solidFill>
                  <a:srgbClr val="00B050"/>
                </a:solidFill>
                <a:latin typeface="Arial" panose="020B0604020202020204" pitchFamily="34" charset="0"/>
                <a:cs typeface="Arial" panose="020B0604020202020204" pitchFamily="34" charset="0"/>
              </a:rPr>
              <a:t>CSE3009</a:t>
            </a:r>
            <a:br>
              <a:rPr lang="en-IN" sz="2800" dirty="0">
                <a:solidFill>
                  <a:srgbClr val="00B050"/>
                </a:solidFill>
                <a:latin typeface="Arial" panose="020B0604020202020204" pitchFamily="34" charset="0"/>
                <a:cs typeface="Arial" panose="020B0604020202020204" pitchFamily="34" charset="0"/>
              </a:rPr>
            </a:br>
            <a:r>
              <a:rPr lang="en-IN" sz="2800" dirty="0">
                <a:solidFill>
                  <a:srgbClr val="00B050"/>
                </a:solidFill>
                <a:latin typeface="Arial" panose="020B0604020202020204" pitchFamily="34" charset="0"/>
                <a:cs typeface="Arial" panose="020B0604020202020204" pitchFamily="34" charset="0"/>
              </a:rPr>
              <a:t>Course title		: </a:t>
            </a:r>
            <a:r>
              <a:rPr lang="en-IN" sz="2800" b="1" dirty="0">
                <a:solidFill>
                  <a:srgbClr val="00B050"/>
                </a:solidFill>
                <a:latin typeface="Arial" panose="020B0604020202020204" pitchFamily="34" charset="0"/>
                <a:cs typeface="Arial" panose="020B0604020202020204" pitchFamily="34" charset="0"/>
              </a:rPr>
              <a:t>No SQL Data Bases</a:t>
            </a:r>
            <a:br>
              <a:rPr lang="en-IN" sz="2800" b="1" dirty="0">
                <a:solidFill>
                  <a:srgbClr val="00B050"/>
                </a:solidFill>
                <a:latin typeface="Arial" panose="020B0604020202020204" pitchFamily="34" charset="0"/>
                <a:cs typeface="Arial" panose="020B0604020202020204" pitchFamily="34" charset="0"/>
              </a:rPr>
            </a:br>
            <a:r>
              <a:rPr lang="en-IN" sz="2800" dirty="0">
                <a:solidFill>
                  <a:srgbClr val="00B050"/>
                </a:solidFill>
                <a:latin typeface="Arial" panose="020B0604020202020204" pitchFamily="34" charset="0"/>
                <a:cs typeface="Arial" panose="020B0604020202020204" pitchFamily="34" charset="0"/>
              </a:rPr>
              <a:t>Module		: </a:t>
            </a:r>
            <a:r>
              <a:rPr lang="en-IN" sz="2800" b="1" dirty="0">
                <a:solidFill>
                  <a:srgbClr val="00B050"/>
                </a:solidFill>
                <a:latin typeface="Arial" panose="020B0604020202020204" pitchFamily="34" charset="0"/>
                <a:cs typeface="Arial" panose="020B0604020202020204" pitchFamily="34" charset="0"/>
              </a:rPr>
              <a:t>5</a:t>
            </a:r>
            <a:r>
              <a:rPr lang="en-IN" sz="2800" dirty="0">
                <a:solidFill>
                  <a:srgbClr val="00B050"/>
                </a:solidFill>
                <a:latin typeface="Arial" panose="020B0604020202020204" pitchFamily="34" charset="0"/>
                <a:cs typeface="Arial" panose="020B0604020202020204" pitchFamily="34" charset="0"/>
              </a:rPr>
              <a:t> 			</a:t>
            </a:r>
            <a:br>
              <a:rPr lang="en-IN" sz="2800" dirty="0">
                <a:solidFill>
                  <a:srgbClr val="00B050"/>
                </a:solidFill>
                <a:latin typeface="Arial" panose="020B0604020202020204" pitchFamily="34" charset="0"/>
                <a:cs typeface="Arial" panose="020B0604020202020204" pitchFamily="34" charset="0"/>
              </a:rPr>
            </a:br>
            <a:r>
              <a:rPr lang="en-IN" sz="2800" dirty="0">
                <a:solidFill>
                  <a:srgbClr val="00B050"/>
                </a:solidFill>
                <a:latin typeface="Arial" panose="020B0604020202020204" pitchFamily="34" charset="0"/>
                <a:cs typeface="Arial" panose="020B0604020202020204" pitchFamily="34" charset="0"/>
              </a:rPr>
              <a:t>Topic			: </a:t>
            </a:r>
            <a:r>
              <a:rPr lang="en-IN" sz="2800" b="1" dirty="0">
                <a:solidFill>
                  <a:srgbClr val="00B050"/>
                </a:solidFill>
                <a:latin typeface="Arial" panose="020B0604020202020204" pitchFamily="34" charset="0"/>
                <a:cs typeface="Arial" panose="020B0604020202020204" pitchFamily="34" charset="0"/>
              </a:rPr>
              <a:t>4</a:t>
            </a:r>
          </a:p>
        </p:txBody>
      </p:sp>
      <p:sp>
        <p:nvSpPr>
          <p:cNvPr id="6" name="Subtitle 2"/>
          <p:cNvSpPr>
            <a:spLocks noGrp="1"/>
          </p:cNvSpPr>
          <p:nvPr>
            <p:ph type="subTitle" idx="1"/>
          </p:nvPr>
        </p:nvSpPr>
        <p:spPr>
          <a:xfrm>
            <a:off x="1402183" y="3677818"/>
            <a:ext cx="9144000" cy="1655762"/>
          </a:xfrm>
        </p:spPr>
        <p:txBody>
          <a:bodyPr>
            <a:normAutofit/>
          </a:bodyPr>
          <a:lstStyle/>
          <a:p>
            <a:r>
              <a:rPr lang="en-US" sz="4000" b="1" dirty="0">
                <a:solidFill>
                  <a:srgbClr val="0070C0"/>
                </a:solidFill>
                <a:latin typeface="Arial" panose="020B0604020202020204" pitchFamily="34" charset="0"/>
                <a:cs typeface="Arial" panose="020B0604020202020204" pitchFamily="34" charset="0"/>
              </a:rPr>
              <a:t>Column-store internals</a:t>
            </a:r>
            <a:endParaRPr lang="en-IN" sz="4000" b="1" dirty="0">
              <a:solidFill>
                <a:srgbClr val="0070C0"/>
              </a:solidFill>
              <a:latin typeface="Arial" panose="020B0604020202020204" pitchFamily="34" charset="0"/>
              <a:cs typeface="Arial" panose="020B0604020202020204" pitchFamily="34" charset="0"/>
            </a:endParaRPr>
          </a:p>
        </p:txBody>
      </p:sp>
      <p:pic>
        <p:nvPicPr>
          <p:cNvPr id="7" name="Picture 2" descr="Image result for vit ap logo"/>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546183" y="275303"/>
            <a:ext cx="1324835" cy="610419"/>
          </a:xfrm>
          <a:prstGeom prst="rect">
            <a:avLst/>
          </a:prstGeom>
          <a:noFill/>
          <a:extLst>
            <a:ext uri="{909E8E84-426E-40DD-AFC4-6F175D3DCCD1}">
              <a14:hiddenFill xmlns:a14="http://schemas.microsoft.com/office/drawing/2010/main">
                <a:solidFill>
                  <a:srgbClr val="FFFFFF"/>
                </a:solidFill>
              </a14:hiddenFill>
            </a:ext>
          </a:extLst>
        </p:spPr>
      </p:pic>
      <p:sp>
        <p:nvSpPr>
          <p:cNvPr id="8" name="Date Placeholder 7"/>
          <p:cNvSpPr>
            <a:spLocks noGrp="1"/>
          </p:cNvSpPr>
          <p:nvPr>
            <p:ph type="dt" sz="half" idx="10"/>
          </p:nvPr>
        </p:nvSpPr>
        <p:spPr/>
        <p:txBody>
          <a:bodyPr/>
          <a:lstStyle/>
          <a:p>
            <a:fld id="{756728E3-B72D-49A5-85A2-5AE45557AE43}" type="datetime1">
              <a:rPr lang="en-IN" smtClean="0">
                <a:latin typeface="Calibri (Body)"/>
              </a:rPr>
              <a:t>25-04-2023</a:t>
            </a:fld>
            <a:endParaRPr lang="en-IN" dirty="0">
              <a:latin typeface="Calibri (Body)"/>
            </a:endParaRPr>
          </a:p>
        </p:txBody>
      </p:sp>
      <p:sp>
        <p:nvSpPr>
          <p:cNvPr id="9" name="Footer Placeholder 8"/>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Gopikrishnan</a:t>
            </a:r>
          </a:p>
        </p:txBody>
      </p:sp>
      <p:sp>
        <p:nvSpPr>
          <p:cNvPr id="10" name="Slide Number Placeholder 9"/>
          <p:cNvSpPr>
            <a:spLocks noGrp="1"/>
          </p:cNvSpPr>
          <p:nvPr>
            <p:ph type="sldNum" sz="quarter" idx="12"/>
          </p:nvPr>
        </p:nvSpPr>
        <p:spPr/>
        <p:txBody>
          <a:bodyPr/>
          <a:lstStyle/>
          <a:p>
            <a:fld id="{E02F8B39-E037-49D7-848F-F055834E3AA1}" type="slidenum">
              <a:rPr lang="en-IN" smtClean="0">
                <a:latin typeface="Arial" panose="020B0604020202020204" pitchFamily="34" charset="0"/>
                <a:cs typeface="Arial" panose="020B0604020202020204" pitchFamily="34" charset="0"/>
              </a:rPr>
              <a:t>1</a:t>
            </a:fld>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558950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u="sng" dirty="0">
                <a:solidFill>
                  <a:srgbClr val="0070C0"/>
                </a:solidFill>
                <a:latin typeface="Arial" panose="020B0604020202020204" pitchFamily="34" charset="0"/>
                <a:cs typeface="Arial" panose="020B0604020202020204" pitchFamily="34" charset="0"/>
              </a:rPr>
              <a:t>Objectives</a:t>
            </a:r>
          </a:p>
        </p:txBody>
      </p:sp>
      <p:sp>
        <p:nvSpPr>
          <p:cNvPr id="3" name="Content Placeholder 2"/>
          <p:cNvSpPr>
            <a:spLocks noGrp="1"/>
          </p:cNvSpPr>
          <p:nvPr>
            <p:ph idx="1"/>
          </p:nvPr>
        </p:nvSpPr>
        <p:spPr>
          <a:xfrm>
            <a:off x="838200" y="1690688"/>
            <a:ext cx="10515600" cy="4486275"/>
          </a:xfrm>
        </p:spPr>
        <p:txBody>
          <a:bodyPr>
            <a:normAutofit/>
          </a:bodyPr>
          <a:lstStyle/>
          <a:p>
            <a:pPr marL="0" indent="0">
              <a:lnSpc>
                <a:spcPct val="120000"/>
              </a:lnSpc>
              <a:spcBef>
                <a:spcPts val="600"/>
              </a:spcBef>
              <a:spcAft>
                <a:spcPts val="600"/>
              </a:spcAft>
              <a:buNone/>
            </a:pPr>
            <a:r>
              <a:rPr lang="en-IN" sz="2400" dirty="0">
                <a:latin typeface="Arial" panose="020B0604020202020204" pitchFamily="34" charset="0"/>
                <a:cs typeface="Arial" panose="020B0604020202020204" pitchFamily="34" charset="0"/>
              </a:rPr>
              <a:t>This session will give the knowledge about</a:t>
            </a:r>
          </a:p>
          <a:p>
            <a:pPr marL="996950" lvl="1" indent="-539750">
              <a:lnSpc>
                <a:spcPct val="120000"/>
              </a:lnSpc>
              <a:spcBef>
                <a:spcPts val="600"/>
              </a:spcBef>
              <a:spcAft>
                <a:spcPts val="600"/>
              </a:spcAft>
            </a:pPr>
            <a:r>
              <a:rPr lang="en-IN" dirty="0" err="1">
                <a:latin typeface="Arial" panose="020B0604020202020204" pitchFamily="34" charset="0"/>
                <a:cs typeface="Arial" panose="020B0604020202020204" pitchFamily="34" charset="0"/>
              </a:rPr>
              <a:t>Vectorized</a:t>
            </a:r>
            <a:r>
              <a:rPr lang="en-IN" dirty="0">
                <a:latin typeface="Arial" panose="020B0604020202020204" pitchFamily="34" charset="0"/>
                <a:cs typeface="Arial" panose="020B0604020202020204" pitchFamily="34" charset="0"/>
              </a:rPr>
              <a:t> Processing</a:t>
            </a:r>
          </a:p>
          <a:p>
            <a:pPr marL="996950" lvl="1" indent="-539750">
              <a:lnSpc>
                <a:spcPct val="120000"/>
              </a:lnSpc>
              <a:spcBef>
                <a:spcPts val="600"/>
              </a:spcBef>
              <a:spcAft>
                <a:spcPts val="600"/>
              </a:spcAft>
            </a:pPr>
            <a:r>
              <a:rPr lang="en-IN" dirty="0">
                <a:latin typeface="Arial" panose="020B0604020202020204" pitchFamily="34" charset="0"/>
                <a:cs typeface="Arial" panose="020B0604020202020204" pitchFamily="34" charset="0"/>
              </a:rPr>
              <a:t>Compression</a:t>
            </a:r>
          </a:p>
          <a:p>
            <a:pPr marL="996950" lvl="1" indent="-539750">
              <a:lnSpc>
                <a:spcPct val="120000"/>
              </a:lnSpc>
              <a:spcBef>
                <a:spcPts val="600"/>
              </a:spcBef>
              <a:spcAft>
                <a:spcPts val="600"/>
              </a:spcAft>
            </a:pPr>
            <a:endParaRPr lang="en-IN" dirty="0">
              <a:latin typeface="Arial" panose="020B0604020202020204" pitchFamily="34" charset="0"/>
              <a:cs typeface="Arial" panose="020B0604020202020204" pitchFamily="34" charset="0"/>
            </a:endParaRPr>
          </a:p>
          <a:p>
            <a:pPr marL="996950" lvl="1" indent="-539750">
              <a:lnSpc>
                <a:spcPct val="120000"/>
              </a:lnSpc>
              <a:spcBef>
                <a:spcPts val="600"/>
              </a:spcBef>
              <a:spcAft>
                <a:spcPts val="600"/>
              </a:spcAft>
            </a:pPr>
            <a:endParaRPr lang="en-IN" dirty="0">
              <a:latin typeface="Arial" panose="020B0604020202020204" pitchFamily="34" charset="0"/>
              <a:cs typeface="Arial" panose="020B0604020202020204" pitchFamily="34" charset="0"/>
            </a:endParaRPr>
          </a:p>
        </p:txBody>
      </p:sp>
      <p:pic>
        <p:nvPicPr>
          <p:cNvPr id="4" name="Picture 2" descr="Image result for vit ap logo"/>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546183" y="275303"/>
            <a:ext cx="1324835" cy="610419"/>
          </a:xfrm>
          <a:prstGeom prst="rect">
            <a:avLst/>
          </a:prstGeom>
          <a:noFill/>
          <a:extLst>
            <a:ext uri="{909E8E84-426E-40DD-AFC4-6F175D3DCCD1}">
              <a14:hiddenFill xmlns:a14="http://schemas.microsoft.com/office/drawing/2010/main">
                <a:solidFill>
                  <a:srgbClr val="FFFFFF"/>
                </a:solidFill>
              </a14:hiddenFill>
            </a:ext>
          </a:extLst>
        </p:spPr>
      </p:pic>
      <p:sp>
        <p:nvSpPr>
          <p:cNvPr id="7" name="Date Placeholder 6"/>
          <p:cNvSpPr>
            <a:spLocks noGrp="1"/>
          </p:cNvSpPr>
          <p:nvPr>
            <p:ph type="dt" sz="half" idx="10"/>
          </p:nvPr>
        </p:nvSpPr>
        <p:spPr/>
        <p:txBody>
          <a:bodyPr/>
          <a:lstStyle/>
          <a:p>
            <a:fld id="{2F25C4A8-1BA0-468A-B855-2EFA71CD0C96}" type="datetime1">
              <a:rPr lang="en-IN" smtClean="0">
                <a:latin typeface="Arial" panose="020B0604020202020204" pitchFamily="34" charset="0"/>
                <a:cs typeface="Arial" panose="020B0604020202020204" pitchFamily="34" charset="0"/>
              </a:rPr>
              <a:t>25-04-2023</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2</a:t>
            </a:fld>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90661119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u="sng" dirty="0" err="1">
                <a:solidFill>
                  <a:srgbClr val="0070C0"/>
                </a:solidFill>
                <a:latin typeface="Arial" panose="020B0604020202020204" pitchFamily="34" charset="0"/>
                <a:cs typeface="Arial" panose="020B0604020202020204" pitchFamily="34" charset="0"/>
              </a:rPr>
              <a:t>Vectorized</a:t>
            </a:r>
            <a:r>
              <a:rPr lang="en-IN" sz="3200" b="1" u="sng" dirty="0">
                <a:solidFill>
                  <a:srgbClr val="0070C0"/>
                </a:solidFill>
                <a:latin typeface="Arial" panose="020B0604020202020204" pitchFamily="34" charset="0"/>
                <a:cs typeface="Arial" panose="020B0604020202020204" pitchFamily="34" charset="0"/>
              </a:rPr>
              <a:t> Processing</a:t>
            </a:r>
          </a:p>
        </p:txBody>
      </p:sp>
      <p:sp>
        <p:nvSpPr>
          <p:cNvPr id="3" name="Content Placeholder 2"/>
          <p:cNvSpPr>
            <a:spLocks noGrp="1"/>
          </p:cNvSpPr>
          <p:nvPr>
            <p:ph idx="1"/>
          </p:nvPr>
        </p:nvSpPr>
        <p:spPr>
          <a:xfrm>
            <a:off x="838200" y="1690688"/>
            <a:ext cx="10515600" cy="4486275"/>
          </a:xfrm>
        </p:spPr>
        <p:txBody>
          <a:bodyPr>
            <a:normAutofit/>
          </a:bodyPr>
          <a:lstStyle/>
          <a:p>
            <a:pPr marL="0" indent="0">
              <a:lnSpc>
                <a:spcPct val="120000"/>
              </a:lnSpc>
              <a:spcBef>
                <a:spcPts val="1800"/>
              </a:spcBef>
              <a:spcAft>
                <a:spcPts val="600"/>
              </a:spcAft>
              <a:buNone/>
            </a:pPr>
            <a:r>
              <a:rPr lang="en-US" sz="2400" dirty="0">
                <a:latin typeface="Arial" panose="020B0604020202020204" pitchFamily="34" charset="0"/>
                <a:cs typeface="Arial" panose="020B0604020202020204" pitchFamily="34" charset="0"/>
              </a:rPr>
              <a:t>The </a:t>
            </a:r>
            <a:r>
              <a:rPr lang="en-US" sz="2400" dirty="0">
                <a:solidFill>
                  <a:srgbClr val="FF0000"/>
                </a:solidFill>
                <a:latin typeface="Arial" panose="020B0604020202020204" pitchFamily="34" charset="0"/>
                <a:cs typeface="Arial" panose="020B0604020202020204" pitchFamily="34" charset="0"/>
              </a:rPr>
              <a:t>query execution layer </a:t>
            </a:r>
            <a:r>
              <a:rPr lang="en-US" sz="2400" dirty="0">
                <a:latin typeface="Arial" panose="020B0604020202020204" pitchFamily="34" charset="0"/>
                <a:cs typeface="Arial" panose="020B0604020202020204" pitchFamily="34" charset="0"/>
              </a:rPr>
              <a:t>of database systems generally categorized into the following</a:t>
            </a:r>
          </a:p>
          <a:p>
            <a:pPr marL="539750" indent="-357188">
              <a:lnSpc>
                <a:spcPct val="120000"/>
              </a:lnSpc>
              <a:spcBef>
                <a:spcPts val="0"/>
              </a:spcBef>
            </a:pPr>
            <a:r>
              <a:rPr lang="en-US" sz="2400" dirty="0">
                <a:solidFill>
                  <a:srgbClr val="FF0000"/>
                </a:solidFill>
                <a:latin typeface="Arial" panose="020B0604020202020204" pitchFamily="34" charset="0"/>
                <a:cs typeface="Arial" panose="020B0604020202020204" pitchFamily="34" charset="0"/>
              </a:rPr>
              <a:t>The “Volcano-style” iterator model (tuple-at-a-time pipelining)</a:t>
            </a:r>
          </a:p>
          <a:p>
            <a:pPr marL="539750" indent="-357188">
              <a:lnSpc>
                <a:spcPct val="120000"/>
              </a:lnSpc>
              <a:spcBef>
                <a:spcPts val="0"/>
              </a:spcBef>
            </a:pPr>
            <a:r>
              <a:rPr lang="en-US" sz="2400" dirty="0">
                <a:solidFill>
                  <a:srgbClr val="FF0000"/>
                </a:solidFill>
                <a:latin typeface="Arial" panose="020B0604020202020204" pitchFamily="34" charset="0"/>
                <a:cs typeface="Arial" panose="020B0604020202020204" pitchFamily="34" charset="0"/>
              </a:rPr>
              <a:t>Full materialization</a:t>
            </a:r>
          </a:p>
          <a:p>
            <a:pPr marL="0" indent="0">
              <a:lnSpc>
                <a:spcPct val="120000"/>
              </a:lnSpc>
              <a:spcBef>
                <a:spcPts val="2400"/>
              </a:spcBef>
              <a:buNone/>
            </a:pPr>
            <a:r>
              <a:rPr lang="en-US" sz="2400" b="1" dirty="0">
                <a:latin typeface="Arial" panose="020B0604020202020204" pitchFamily="34" charset="0"/>
                <a:cs typeface="Arial" panose="020B0604020202020204" pitchFamily="34" charset="0"/>
              </a:rPr>
              <a:t>Tuple-at-a-time pipelining</a:t>
            </a:r>
            <a:r>
              <a:rPr lang="en-US" sz="2400" dirty="0">
                <a:latin typeface="Arial" panose="020B0604020202020204" pitchFamily="34" charset="0"/>
                <a:cs typeface="Arial" panose="020B0604020202020204" pitchFamily="34" charset="0"/>
              </a:rPr>
              <a:t>:</a:t>
            </a:r>
          </a:p>
          <a:p>
            <a:pPr marL="0" indent="0">
              <a:lnSpc>
                <a:spcPct val="120000"/>
              </a:lnSpc>
              <a:spcBef>
                <a:spcPts val="1200"/>
              </a:spcBef>
              <a:buNone/>
            </a:pPr>
            <a:r>
              <a:rPr lang="en-US" sz="2400" dirty="0">
                <a:latin typeface="Arial" panose="020B0604020202020204" pitchFamily="34" charset="0"/>
                <a:cs typeface="Arial" panose="020B0604020202020204" pitchFamily="34" charset="0"/>
              </a:rPr>
              <a:t>One tuple-at-a-time is pushed through the query plan tree. The next() method of each relational operator in a </a:t>
            </a:r>
            <a:r>
              <a:rPr lang="en-US" sz="2400" dirty="0">
                <a:solidFill>
                  <a:srgbClr val="0000FF"/>
                </a:solidFill>
                <a:latin typeface="Arial" panose="020B0604020202020204" pitchFamily="34" charset="0"/>
                <a:cs typeface="Arial" panose="020B0604020202020204" pitchFamily="34" charset="0"/>
              </a:rPr>
              <a:t>query tree produces one new tuple at-a-time</a:t>
            </a:r>
            <a:r>
              <a:rPr lang="en-US" sz="2400" dirty="0">
                <a:latin typeface="Arial" panose="020B0604020202020204" pitchFamily="34" charset="0"/>
                <a:cs typeface="Arial" panose="020B0604020202020204" pitchFamily="34" charset="0"/>
              </a:rPr>
              <a:t> by obtaining input data by calling the next() method.</a:t>
            </a:r>
          </a:p>
        </p:txBody>
      </p:sp>
      <p:pic>
        <p:nvPicPr>
          <p:cNvPr id="4" name="Picture 2" descr="Image result for vit ap logo"/>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546183" y="275303"/>
            <a:ext cx="1324835" cy="610419"/>
          </a:xfrm>
          <a:prstGeom prst="rect">
            <a:avLst/>
          </a:prstGeom>
          <a:noFill/>
          <a:extLst>
            <a:ext uri="{909E8E84-426E-40DD-AFC4-6F175D3DCCD1}">
              <a14:hiddenFill xmlns:a14="http://schemas.microsoft.com/office/drawing/2010/main">
                <a:solidFill>
                  <a:srgbClr val="FFFFFF"/>
                </a:solidFill>
              </a14:hiddenFill>
            </a:ext>
          </a:extLst>
        </p:spPr>
      </p:pic>
      <p:sp>
        <p:nvSpPr>
          <p:cNvPr id="7" name="Date Placeholder 6"/>
          <p:cNvSpPr>
            <a:spLocks noGrp="1"/>
          </p:cNvSpPr>
          <p:nvPr>
            <p:ph type="dt" sz="half" idx="10"/>
          </p:nvPr>
        </p:nvSpPr>
        <p:spPr/>
        <p:txBody>
          <a:bodyPr/>
          <a:lstStyle/>
          <a:p>
            <a:fld id="{2F25C4A8-1BA0-468A-B855-2EFA71CD0C96}" type="datetime1">
              <a:rPr lang="en-IN" smtClean="0">
                <a:latin typeface="Arial" panose="020B0604020202020204" pitchFamily="34" charset="0"/>
                <a:cs typeface="Arial" panose="020B0604020202020204" pitchFamily="34" charset="0"/>
              </a:rPr>
              <a:t>25-04-2023</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3</a:t>
            </a:fld>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2922436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u="sng" dirty="0">
                <a:solidFill>
                  <a:srgbClr val="0070C0"/>
                </a:solidFill>
                <a:latin typeface="Arial" panose="020B0604020202020204" pitchFamily="34" charset="0"/>
                <a:cs typeface="Arial" panose="020B0604020202020204" pitchFamily="34" charset="0"/>
              </a:rPr>
              <a:t>Tuple-At-A-Time Processing</a:t>
            </a:r>
          </a:p>
        </p:txBody>
      </p:sp>
      <p:sp>
        <p:nvSpPr>
          <p:cNvPr id="3" name="Content Placeholder 2"/>
          <p:cNvSpPr>
            <a:spLocks noGrp="1"/>
          </p:cNvSpPr>
          <p:nvPr>
            <p:ph idx="1"/>
          </p:nvPr>
        </p:nvSpPr>
        <p:spPr>
          <a:xfrm>
            <a:off x="838200" y="1690688"/>
            <a:ext cx="5649227" cy="4486275"/>
          </a:xfrm>
        </p:spPr>
        <p:txBody>
          <a:bodyPr>
            <a:normAutofit/>
          </a:bodyPr>
          <a:lstStyle/>
          <a:p>
            <a:pPr marL="0" indent="0">
              <a:lnSpc>
                <a:spcPct val="120000"/>
              </a:lnSpc>
              <a:spcBef>
                <a:spcPts val="1800"/>
              </a:spcBef>
              <a:spcAft>
                <a:spcPts val="600"/>
              </a:spcAft>
              <a:buNone/>
            </a:pPr>
            <a:r>
              <a:rPr lang="en-US" sz="2400" dirty="0">
                <a:latin typeface="Arial" panose="020B0604020202020204" pitchFamily="34" charset="0"/>
                <a:cs typeface="Arial" panose="020B0604020202020204" pitchFamily="34" charset="0"/>
              </a:rPr>
              <a:t>Most systems implement the Volcano iterator model:</a:t>
            </a:r>
          </a:p>
          <a:p>
            <a:pPr marL="539750" indent="-357188">
              <a:lnSpc>
                <a:spcPct val="120000"/>
              </a:lnSpc>
              <a:spcBef>
                <a:spcPts val="600"/>
              </a:spcBef>
              <a:spcAft>
                <a:spcPts val="600"/>
              </a:spcAft>
            </a:pPr>
            <a:r>
              <a:rPr lang="en-US" sz="2400" dirty="0">
                <a:latin typeface="Arial" panose="020B0604020202020204" pitchFamily="34" charset="0"/>
                <a:cs typeface="Arial" panose="020B0604020202020204" pitchFamily="34" charset="0"/>
              </a:rPr>
              <a:t>Operators request tuples from their input using next ().</a:t>
            </a:r>
          </a:p>
          <a:p>
            <a:pPr marL="539750" indent="-357188">
              <a:lnSpc>
                <a:spcPct val="120000"/>
              </a:lnSpc>
              <a:spcBef>
                <a:spcPts val="600"/>
              </a:spcBef>
              <a:spcAft>
                <a:spcPts val="600"/>
              </a:spcAft>
            </a:pPr>
            <a:r>
              <a:rPr lang="en-US" sz="2400" dirty="0">
                <a:latin typeface="Arial" panose="020B0604020202020204" pitchFamily="34" charset="0"/>
                <a:cs typeface="Arial" panose="020B0604020202020204" pitchFamily="34" charset="0"/>
              </a:rPr>
              <a:t>Data is processed tuple at a time.</a:t>
            </a:r>
          </a:p>
          <a:p>
            <a:pPr marL="539750" indent="-357188">
              <a:lnSpc>
                <a:spcPct val="120000"/>
              </a:lnSpc>
              <a:spcBef>
                <a:spcPts val="600"/>
              </a:spcBef>
              <a:spcAft>
                <a:spcPts val="600"/>
              </a:spcAft>
            </a:pPr>
            <a:r>
              <a:rPr lang="en-US" sz="2400" dirty="0">
                <a:latin typeface="Arial" panose="020B0604020202020204" pitchFamily="34" charset="0"/>
                <a:cs typeface="Arial" panose="020B0604020202020204" pitchFamily="34" charset="0"/>
              </a:rPr>
              <a:t>Each operator keeps its own state.</a:t>
            </a:r>
          </a:p>
        </p:txBody>
      </p:sp>
      <p:pic>
        <p:nvPicPr>
          <p:cNvPr id="4" name="Picture 2" descr="Image result for vit ap logo"/>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546183" y="275303"/>
            <a:ext cx="1324835" cy="610419"/>
          </a:xfrm>
          <a:prstGeom prst="rect">
            <a:avLst/>
          </a:prstGeom>
          <a:noFill/>
          <a:extLst>
            <a:ext uri="{909E8E84-426E-40DD-AFC4-6F175D3DCCD1}">
              <a14:hiddenFill xmlns:a14="http://schemas.microsoft.com/office/drawing/2010/main">
                <a:solidFill>
                  <a:srgbClr val="FFFFFF"/>
                </a:solidFill>
              </a14:hiddenFill>
            </a:ext>
          </a:extLst>
        </p:spPr>
      </p:pic>
      <p:sp>
        <p:nvSpPr>
          <p:cNvPr id="7" name="Date Placeholder 6"/>
          <p:cNvSpPr>
            <a:spLocks noGrp="1"/>
          </p:cNvSpPr>
          <p:nvPr>
            <p:ph type="dt" sz="half" idx="10"/>
          </p:nvPr>
        </p:nvSpPr>
        <p:spPr/>
        <p:txBody>
          <a:bodyPr/>
          <a:lstStyle/>
          <a:p>
            <a:fld id="{2F25C4A8-1BA0-468A-B855-2EFA71CD0C96}" type="datetime1">
              <a:rPr lang="en-IN" smtClean="0">
                <a:latin typeface="Arial" panose="020B0604020202020204" pitchFamily="34" charset="0"/>
                <a:cs typeface="Arial" panose="020B0604020202020204" pitchFamily="34" charset="0"/>
              </a:rPr>
              <a:t>25-04-2023</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4</a:t>
            </a:fld>
            <a:endParaRPr lang="en-IN" dirty="0">
              <a:latin typeface="Arial" panose="020B0604020202020204" pitchFamily="34" charset="0"/>
              <a:cs typeface="Arial" panose="020B0604020202020204" pitchFamily="34" charset="0"/>
            </a:endParaRPr>
          </a:p>
        </p:txBody>
      </p:sp>
      <p:pic>
        <p:nvPicPr>
          <p:cNvPr id="10" name="Picture 13"/>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7815713" y="1690688"/>
            <a:ext cx="2730470" cy="43644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5764870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u="sng" dirty="0">
                <a:solidFill>
                  <a:srgbClr val="0070C0"/>
                </a:solidFill>
                <a:latin typeface="Arial" panose="020B0604020202020204" pitchFamily="34" charset="0"/>
                <a:cs typeface="Arial" panose="020B0604020202020204" pitchFamily="34" charset="0"/>
              </a:rPr>
              <a:t>Tuple-At-A-Time Processing</a:t>
            </a:r>
          </a:p>
        </p:txBody>
      </p:sp>
      <p:sp>
        <p:nvSpPr>
          <p:cNvPr id="3" name="Content Placeholder 2"/>
          <p:cNvSpPr>
            <a:spLocks noGrp="1"/>
          </p:cNvSpPr>
          <p:nvPr>
            <p:ph idx="1"/>
          </p:nvPr>
        </p:nvSpPr>
        <p:spPr>
          <a:xfrm>
            <a:off x="838200" y="1690688"/>
            <a:ext cx="6024613" cy="4486275"/>
          </a:xfrm>
        </p:spPr>
        <p:txBody>
          <a:bodyPr>
            <a:normAutofit/>
          </a:bodyPr>
          <a:lstStyle/>
          <a:p>
            <a:pPr marL="0" indent="0">
              <a:lnSpc>
                <a:spcPct val="120000"/>
              </a:lnSpc>
              <a:spcBef>
                <a:spcPts val="1800"/>
              </a:spcBef>
              <a:spcAft>
                <a:spcPts val="600"/>
              </a:spcAft>
              <a:buNone/>
            </a:pPr>
            <a:r>
              <a:rPr lang="en-US" sz="2400" dirty="0">
                <a:latin typeface="Arial" panose="020B0604020202020204" pitchFamily="34" charset="0"/>
                <a:cs typeface="Arial" panose="020B0604020202020204" pitchFamily="34" charset="0"/>
              </a:rPr>
              <a:t>Each database operator (relational algebra) implements a common interface:</a:t>
            </a:r>
          </a:p>
          <a:p>
            <a:pPr marL="0" indent="0">
              <a:lnSpc>
                <a:spcPct val="120000"/>
              </a:lnSpc>
              <a:spcBef>
                <a:spcPts val="1800"/>
              </a:spcBef>
              <a:spcAft>
                <a:spcPts val="600"/>
              </a:spcAft>
              <a:buNone/>
            </a:pPr>
            <a:endParaRPr lang="en-US" sz="2400" dirty="0">
              <a:latin typeface="Arial" panose="020B0604020202020204" pitchFamily="34" charset="0"/>
              <a:cs typeface="Arial" panose="020B0604020202020204" pitchFamily="34" charset="0"/>
            </a:endParaRPr>
          </a:p>
        </p:txBody>
      </p:sp>
      <p:pic>
        <p:nvPicPr>
          <p:cNvPr id="4" name="Picture 2" descr="Image result for vit ap logo"/>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546183" y="275303"/>
            <a:ext cx="1324835" cy="610419"/>
          </a:xfrm>
          <a:prstGeom prst="rect">
            <a:avLst/>
          </a:prstGeom>
          <a:noFill/>
          <a:extLst>
            <a:ext uri="{909E8E84-426E-40DD-AFC4-6F175D3DCCD1}">
              <a14:hiddenFill xmlns:a14="http://schemas.microsoft.com/office/drawing/2010/main">
                <a:solidFill>
                  <a:srgbClr val="FFFFFF"/>
                </a:solidFill>
              </a14:hiddenFill>
            </a:ext>
          </a:extLst>
        </p:spPr>
      </p:pic>
      <p:sp>
        <p:nvSpPr>
          <p:cNvPr id="7" name="Date Placeholder 6"/>
          <p:cNvSpPr>
            <a:spLocks noGrp="1"/>
          </p:cNvSpPr>
          <p:nvPr>
            <p:ph type="dt" sz="half" idx="10"/>
          </p:nvPr>
        </p:nvSpPr>
        <p:spPr/>
        <p:txBody>
          <a:bodyPr/>
          <a:lstStyle/>
          <a:p>
            <a:fld id="{2F25C4A8-1BA0-468A-B855-2EFA71CD0C96}" type="datetime1">
              <a:rPr lang="en-IN" smtClean="0">
                <a:latin typeface="Arial" panose="020B0604020202020204" pitchFamily="34" charset="0"/>
                <a:cs typeface="Arial" panose="020B0604020202020204" pitchFamily="34" charset="0"/>
              </a:rPr>
              <a:t>25-04-2023</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5</a:t>
            </a:fld>
            <a:endParaRPr lang="en-IN" dirty="0">
              <a:latin typeface="Arial" panose="020B0604020202020204" pitchFamily="34" charset="0"/>
              <a:cs typeface="Arial" panose="020B0604020202020204" pitchFamily="34" charset="0"/>
            </a:endParaRPr>
          </a:p>
        </p:txBody>
      </p:sp>
      <p:graphicFrame>
        <p:nvGraphicFramePr>
          <p:cNvPr id="5" name="Table 4"/>
          <p:cNvGraphicFramePr>
            <a:graphicFrameLocks noGrp="1"/>
          </p:cNvGraphicFramePr>
          <p:nvPr>
            <p:extLst>
              <p:ext uri="{D42A27DB-BD31-4B8C-83A1-F6EECF244321}">
                <p14:modId xmlns:p14="http://schemas.microsoft.com/office/powerpoint/2010/main" val="3205184511"/>
              </p:ext>
            </p:extLst>
          </p:nvPr>
        </p:nvGraphicFramePr>
        <p:xfrm>
          <a:off x="944078" y="2795494"/>
          <a:ext cx="5350845" cy="2963622"/>
        </p:xfrm>
        <a:graphic>
          <a:graphicData uri="http://schemas.openxmlformats.org/drawingml/2006/table">
            <a:tbl>
              <a:tblPr firstRow="1" bandRow="1">
                <a:tableStyleId>{5C22544A-7EE6-4342-B048-85BDC9FD1C3A}</a:tableStyleId>
              </a:tblPr>
              <a:tblGrid>
                <a:gridCol w="1783615">
                  <a:extLst>
                    <a:ext uri="{9D8B030D-6E8A-4147-A177-3AD203B41FA5}">
                      <a16:colId xmlns:a16="http://schemas.microsoft.com/office/drawing/2014/main" val="2124247663"/>
                    </a:ext>
                  </a:extLst>
                </a:gridCol>
                <a:gridCol w="1783615">
                  <a:extLst>
                    <a:ext uri="{9D8B030D-6E8A-4147-A177-3AD203B41FA5}">
                      <a16:colId xmlns:a16="http://schemas.microsoft.com/office/drawing/2014/main" val="2966795324"/>
                    </a:ext>
                  </a:extLst>
                </a:gridCol>
                <a:gridCol w="1783615">
                  <a:extLst>
                    <a:ext uri="{9D8B030D-6E8A-4147-A177-3AD203B41FA5}">
                      <a16:colId xmlns:a16="http://schemas.microsoft.com/office/drawing/2014/main" val="3689829460"/>
                    </a:ext>
                  </a:extLst>
                </a:gridCol>
              </a:tblGrid>
              <a:tr h="525222">
                <a:tc>
                  <a:txBody>
                    <a:bodyPr/>
                    <a:lstStyle/>
                    <a:p>
                      <a:r>
                        <a:rPr lang="en-IN" sz="2200" b="0" dirty="0">
                          <a:solidFill>
                            <a:schemeClr val="tx1"/>
                          </a:solidFill>
                          <a:latin typeface="Arial" panose="020B0604020202020204" pitchFamily="34" charset="0"/>
                          <a:cs typeface="Arial" panose="020B0604020202020204" pitchFamily="34" charset="0"/>
                        </a:rPr>
                        <a:t>Open()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2200" b="0" dirty="0">
                          <a:solidFill>
                            <a:schemeClr val="tx1"/>
                          </a:solidFill>
                          <a:latin typeface="Arial" panose="020B0604020202020204" pitchFamily="34" charset="0"/>
                          <a:cs typeface="Arial" panose="020B0604020202020204" pitchFamily="34" charset="0"/>
                        </a:rPr>
                        <a:t>Next()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2200" b="0" dirty="0">
                          <a:solidFill>
                            <a:schemeClr val="tx1"/>
                          </a:solidFill>
                          <a:latin typeface="Arial" panose="020B0604020202020204" pitchFamily="34" charset="0"/>
                          <a:cs typeface="Arial" panose="020B0604020202020204" pitchFamily="34" charset="0"/>
                        </a:rPr>
                        <a:t>Close()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20445676"/>
                  </a:ext>
                </a:extLst>
              </a:tr>
              <a:tr h="1172198">
                <a:tc>
                  <a:txBody>
                    <a:bodyPr/>
                    <a:lstStyle/>
                    <a:p>
                      <a:r>
                        <a:rPr lang="en-US" sz="2200" b="0" dirty="0">
                          <a:solidFill>
                            <a:schemeClr val="tx1"/>
                          </a:solidFill>
                          <a:latin typeface="Arial" panose="020B0604020202020204" pitchFamily="34" charset="0"/>
                          <a:cs typeface="Arial" panose="020B0604020202020204" pitchFamily="34" charset="0"/>
                        </a:rPr>
                        <a:t>Reset internal state</a:t>
                      </a:r>
                    </a:p>
                    <a:p>
                      <a:r>
                        <a:rPr lang="en-US" sz="2200" b="0" dirty="0">
                          <a:solidFill>
                            <a:schemeClr val="tx1"/>
                          </a:solidFill>
                          <a:latin typeface="Arial" panose="020B0604020202020204" pitchFamily="34" charset="0"/>
                          <a:cs typeface="Arial" panose="020B0604020202020204" pitchFamily="34" charset="0"/>
                        </a:rPr>
                        <a:t>and prepare to deliver</a:t>
                      </a:r>
                    </a:p>
                    <a:p>
                      <a:r>
                        <a:rPr lang="en-US" sz="2200" b="0" dirty="0">
                          <a:solidFill>
                            <a:schemeClr val="tx1"/>
                          </a:solidFill>
                          <a:latin typeface="Arial" panose="020B0604020202020204" pitchFamily="34" charset="0"/>
                          <a:cs typeface="Arial" panose="020B0604020202020204" pitchFamily="34" charset="0"/>
                        </a:rPr>
                        <a:t>first result tuple.</a:t>
                      </a:r>
                      <a:endParaRPr lang="en-IN" sz="2200" b="0" dirty="0">
                        <a:solidFill>
                          <a:schemeClr val="tx1"/>
                        </a:solidFill>
                        <a:latin typeface="Arial" panose="020B06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2200" b="0" dirty="0">
                          <a:solidFill>
                            <a:schemeClr val="tx1"/>
                          </a:solidFill>
                          <a:latin typeface="Arial" panose="020B0604020202020204" pitchFamily="34" charset="0"/>
                          <a:cs typeface="Arial" panose="020B0604020202020204" pitchFamily="34" charset="0"/>
                        </a:rPr>
                        <a:t>Deliver next result</a:t>
                      </a:r>
                    </a:p>
                    <a:p>
                      <a:r>
                        <a:rPr lang="en-US" sz="2200" b="0" dirty="0">
                          <a:solidFill>
                            <a:schemeClr val="tx1"/>
                          </a:solidFill>
                          <a:latin typeface="Arial" panose="020B0604020202020204" pitchFamily="34" charset="0"/>
                          <a:cs typeface="Arial" panose="020B0604020202020204" pitchFamily="34" charset="0"/>
                        </a:rPr>
                        <a:t>tuple or indicate</a:t>
                      </a:r>
                    </a:p>
                    <a:p>
                      <a:r>
                        <a:rPr lang="en-US" sz="2200" b="0" dirty="0">
                          <a:solidFill>
                            <a:schemeClr val="tx1"/>
                          </a:solidFill>
                          <a:latin typeface="Arial" panose="020B0604020202020204" pitchFamily="34" charset="0"/>
                          <a:cs typeface="Arial" panose="020B0604020202020204" pitchFamily="34" charset="0"/>
                        </a:rPr>
                        <a:t>EOF.</a:t>
                      </a:r>
                      <a:endParaRPr lang="en-IN" sz="2200" b="0" dirty="0">
                        <a:solidFill>
                          <a:schemeClr val="tx1"/>
                        </a:solidFill>
                        <a:latin typeface="Arial" panose="020B06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2200" b="0" dirty="0">
                          <a:solidFill>
                            <a:schemeClr val="tx1"/>
                          </a:solidFill>
                          <a:latin typeface="Arial" panose="020B0604020202020204" pitchFamily="34" charset="0"/>
                          <a:cs typeface="Arial" panose="020B0604020202020204" pitchFamily="34" charset="0"/>
                        </a:rPr>
                        <a:t>Release internal</a:t>
                      </a:r>
                    </a:p>
                    <a:p>
                      <a:r>
                        <a:rPr lang="en-IN" sz="2200" b="0" dirty="0">
                          <a:solidFill>
                            <a:schemeClr val="tx1"/>
                          </a:solidFill>
                          <a:latin typeface="Arial" panose="020B0604020202020204" pitchFamily="34" charset="0"/>
                          <a:cs typeface="Arial" panose="020B0604020202020204" pitchFamily="34" charset="0"/>
                        </a:rPr>
                        <a:t>data structures,</a:t>
                      </a:r>
                    </a:p>
                    <a:p>
                      <a:r>
                        <a:rPr lang="en-IN" sz="2200" b="0" dirty="0">
                          <a:solidFill>
                            <a:schemeClr val="tx1"/>
                          </a:solidFill>
                          <a:latin typeface="Arial" panose="020B0604020202020204" pitchFamily="34" charset="0"/>
                          <a:cs typeface="Arial" panose="020B0604020202020204" pitchFamily="34" charset="0"/>
                        </a:rPr>
                        <a:t>locks, etc.</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42564893"/>
                  </a:ext>
                </a:extLst>
              </a:tr>
            </a:tbl>
          </a:graphicData>
        </a:graphic>
      </p:graphicFrame>
      <p:pic>
        <p:nvPicPr>
          <p:cNvPr id="6" name="Picture 5"/>
          <p:cNvPicPr>
            <a:picLocks noChangeAspect="1"/>
          </p:cNvPicPr>
          <p:nvPr/>
        </p:nvPicPr>
        <p:blipFill>
          <a:blip r:embed="rId3"/>
          <a:stretch>
            <a:fillRect/>
          </a:stretch>
        </p:blipFill>
        <p:spPr>
          <a:xfrm>
            <a:off x="6527559" y="2596014"/>
            <a:ext cx="4826241" cy="3163102"/>
          </a:xfrm>
          <a:prstGeom prst="rect">
            <a:avLst/>
          </a:prstGeom>
        </p:spPr>
      </p:pic>
    </p:spTree>
    <p:extLst>
      <p:ext uri="{BB962C8B-B14F-4D97-AF65-F5344CB8AC3E}">
        <p14:creationId xmlns:p14="http://schemas.microsoft.com/office/powerpoint/2010/main" val="1584243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u="sng" dirty="0">
                <a:solidFill>
                  <a:srgbClr val="0070C0"/>
                </a:solidFill>
                <a:latin typeface="Arial" panose="020B0604020202020204" pitchFamily="34" charset="0"/>
                <a:cs typeface="Arial" panose="020B0604020202020204" pitchFamily="34" charset="0"/>
              </a:rPr>
              <a:t>Tuple-At-A-Time Processing - Limitations</a:t>
            </a:r>
          </a:p>
        </p:txBody>
      </p:sp>
      <p:sp>
        <p:nvSpPr>
          <p:cNvPr id="3" name="Content Placeholder 2"/>
          <p:cNvSpPr>
            <a:spLocks noGrp="1"/>
          </p:cNvSpPr>
          <p:nvPr>
            <p:ph idx="1"/>
          </p:nvPr>
        </p:nvSpPr>
        <p:spPr>
          <a:xfrm>
            <a:off x="838200" y="1690688"/>
            <a:ext cx="10515600" cy="4486275"/>
          </a:xfrm>
        </p:spPr>
        <p:txBody>
          <a:bodyPr>
            <a:normAutofit fontScale="92500" lnSpcReduction="20000"/>
          </a:bodyPr>
          <a:lstStyle/>
          <a:p>
            <a:pPr marL="0" indent="0">
              <a:lnSpc>
                <a:spcPct val="130000"/>
              </a:lnSpc>
              <a:spcBef>
                <a:spcPts val="0"/>
              </a:spcBef>
              <a:buNone/>
            </a:pPr>
            <a:r>
              <a:rPr lang="en-US" sz="2400" dirty="0">
                <a:latin typeface="Arial" panose="020B0604020202020204" pitchFamily="34" charset="0"/>
                <a:cs typeface="Arial" panose="020B0604020202020204" pitchFamily="34" charset="0"/>
              </a:rPr>
              <a:t>Pipeline-parallelism</a:t>
            </a:r>
          </a:p>
          <a:p>
            <a:pPr marL="539750" indent="-357188">
              <a:lnSpc>
                <a:spcPct val="130000"/>
              </a:lnSpc>
              <a:spcBef>
                <a:spcPts val="0"/>
              </a:spcBef>
            </a:pPr>
            <a:r>
              <a:rPr lang="en-US" sz="2400" dirty="0">
                <a:latin typeface="Arial" panose="020B0604020202020204" pitchFamily="34" charset="0"/>
                <a:cs typeface="Arial" panose="020B0604020202020204" pitchFamily="34" charset="0"/>
              </a:rPr>
              <a:t>Data processing can start although data does not fully reside in main memory</a:t>
            </a:r>
          </a:p>
          <a:p>
            <a:pPr marL="539750" indent="-357188">
              <a:lnSpc>
                <a:spcPct val="130000"/>
              </a:lnSpc>
              <a:spcBef>
                <a:spcPts val="0"/>
              </a:spcBef>
            </a:pPr>
            <a:r>
              <a:rPr lang="en-US" sz="2400" dirty="0">
                <a:latin typeface="Arial" panose="020B0604020202020204" pitchFamily="34" charset="0"/>
                <a:cs typeface="Arial" panose="020B0604020202020204" pitchFamily="34" charset="0"/>
              </a:rPr>
              <a:t>Small intermediate results</a:t>
            </a:r>
          </a:p>
          <a:p>
            <a:pPr marL="0" indent="0">
              <a:lnSpc>
                <a:spcPct val="130000"/>
              </a:lnSpc>
              <a:spcBef>
                <a:spcPts val="1200"/>
              </a:spcBef>
              <a:buNone/>
            </a:pPr>
            <a:r>
              <a:rPr lang="en-US" sz="2400" dirty="0">
                <a:latin typeface="Arial" panose="020B0604020202020204" pitchFamily="34" charset="0"/>
                <a:cs typeface="Arial" panose="020B0604020202020204" pitchFamily="34" charset="0"/>
              </a:rPr>
              <a:t>All operators in a plan run tightly enclosed.</a:t>
            </a:r>
          </a:p>
          <a:p>
            <a:pPr marL="539750" indent="-357188">
              <a:lnSpc>
                <a:spcPct val="130000"/>
              </a:lnSpc>
              <a:spcBef>
                <a:spcPts val="0"/>
              </a:spcBef>
            </a:pPr>
            <a:r>
              <a:rPr lang="en-US" sz="2400" dirty="0">
                <a:latin typeface="Arial" panose="020B0604020202020204" pitchFamily="34" charset="0"/>
                <a:cs typeface="Arial" panose="020B0604020202020204" pitchFamily="34" charset="0"/>
              </a:rPr>
              <a:t>Their combined instruction footprint may be large.</a:t>
            </a:r>
          </a:p>
          <a:p>
            <a:pPr marL="539750" indent="-357188">
              <a:lnSpc>
                <a:spcPct val="130000"/>
              </a:lnSpc>
              <a:spcBef>
                <a:spcPts val="0"/>
              </a:spcBef>
            </a:pPr>
            <a:r>
              <a:rPr lang="en-US" sz="2400" dirty="0">
                <a:latin typeface="Arial" panose="020B0604020202020204" pitchFamily="34" charset="0"/>
                <a:cs typeface="Arial" panose="020B0604020202020204" pitchFamily="34" charset="0"/>
              </a:rPr>
              <a:t>Instruction cache failures.</a:t>
            </a:r>
          </a:p>
          <a:p>
            <a:pPr marL="0" indent="0">
              <a:lnSpc>
                <a:spcPct val="130000"/>
              </a:lnSpc>
              <a:spcBef>
                <a:spcPts val="1200"/>
              </a:spcBef>
              <a:buNone/>
            </a:pPr>
            <a:r>
              <a:rPr lang="en-US" sz="2400" dirty="0">
                <a:latin typeface="Arial" panose="020B0604020202020204" pitchFamily="34" charset="0"/>
                <a:cs typeface="Arial" panose="020B0604020202020204" pitchFamily="34" charset="0"/>
              </a:rPr>
              <a:t>Operators constantly call each other’s functionality.</a:t>
            </a:r>
          </a:p>
          <a:p>
            <a:pPr marL="539750" indent="-357188">
              <a:lnSpc>
                <a:spcPct val="130000"/>
              </a:lnSpc>
              <a:spcBef>
                <a:spcPts val="0"/>
              </a:spcBef>
            </a:pPr>
            <a:r>
              <a:rPr lang="en-US" sz="2400" dirty="0">
                <a:latin typeface="Arial" panose="020B0604020202020204" pitchFamily="34" charset="0"/>
                <a:cs typeface="Arial" panose="020B0604020202020204" pitchFamily="34" charset="0"/>
              </a:rPr>
              <a:t>Large function call overhead.</a:t>
            </a:r>
          </a:p>
          <a:p>
            <a:pPr marL="0" indent="0">
              <a:lnSpc>
                <a:spcPct val="130000"/>
              </a:lnSpc>
              <a:spcBef>
                <a:spcPts val="1200"/>
              </a:spcBef>
              <a:buNone/>
            </a:pPr>
            <a:r>
              <a:rPr lang="en-US" sz="2400" dirty="0">
                <a:latin typeface="Arial" panose="020B0604020202020204" pitchFamily="34" charset="0"/>
                <a:cs typeface="Arial" panose="020B0604020202020204" pitchFamily="34" charset="0"/>
              </a:rPr>
              <a:t>The combined state may be too large to fit into caches. </a:t>
            </a:r>
          </a:p>
          <a:p>
            <a:pPr marL="539750" indent="-357188">
              <a:lnSpc>
                <a:spcPct val="130000"/>
              </a:lnSpc>
              <a:spcBef>
                <a:spcPts val="0"/>
              </a:spcBef>
            </a:pPr>
            <a:r>
              <a:rPr lang="en-US" sz="2400" dirty="0">
                <a:latin typeface="Arial" panose="020B0604020202020204" pitchFamily="34" charset="0"/>
                <a:cs typeface="Arial" panose="020B0604020202020204" pitchFamily="34" charset="0"/>
              </a:rPr>
              <a:t>Data cache failures.</a:t>
            </a:r>
          </a:p>
        </p:txBody>
      </p:sp>
      <p:pic>
        <p:nvPicPr>
          <p:cNvPr id="4" name="Picture 2" descr="Image result for vit ap logo"/>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546183" y="275303"/>
            <a:ext cx="1324835" cy="610419"/>
          </a:xfrm>
          <a:prstGeom prst="rect">
            <a:avLst/>
          </a:prstGeom>
          <a:noFill/>
          <a:extLst>
            <a:ext uri="{909E8E84-426E-40DD-AFC4-6F175D3DCCD1}">
              <a14:hiddenFill xmlns:a14="http://schemas.microsoft.com/office/drawing/2010/main">
                <a:solidFill>
                  <a:srgbClr val="FFFFFF"/>
                </a:solidFill>
              </a14:hiddenFill>
            </a:ext>
          </a:extLst>
        </p:spPr>
      </p:pic>
      <p:sp>
        <p:nvSpPr>
          <p:cNvPr id="7" name="Date Placeholder 6"/>
          <p:cNvSpPr>
            <a:spLocks noGrp="1"/>
          </p:cNvSpPr>
          <p:nvPr>
            <p:ph type="dt" sz="half" idx="10"/>
          </p:nvPr>
        </p:nvSpPr>
        <p:spPr/>
        <p:txBody>
          <a:bodyPr/>
          <a:lstStyle/>
          <a:p>
            <a:fld id="{2F25C4A8-1BA0-468A-B855-2EFA71CD0C96}" type="datetime1">
              <a:rPr lang="en-IN" smtClean="0">
                <a:latin typeface="Arial" panose="020B0604020202020204" pitchFamily="34" charset="0"/>
                <a:cs typeface="Arial" panose="020B0604020202020204" pitchFamily="34" charset="0"/>
              </a:rPr>
              <a:t>25-04-2023</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6</a:t>
            </a:fld>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19122319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u="sng" dirty="0">
                <a:solidFill>
                  <a:srgbClr val="0070C0"/>
                </a:solidFill>
                <a:latin typeface="Arial" panose="020B0604020202020204" pitchFamily="34" charset="0"/>
                <a:cs typeface="Arial" panose="020B0604020202020204" pitchFamily="34" charset="0"/>
              </a:rPr>
              <a:t>Full materialization</a:t>
            </a:r>
          </a:p>
        </p:txBody>
      </p:sp>
      <p:sp>
        <p:nvSpPr>
          <p:cNvPr id="3" name="Content Placeholder 2"/>
          <p:cNvSpPr>
            <a:spLocks noGrp="1"/>
          </p:cNvSpPr>
          <p:nvPr>
            <p:ph idx="1"/>
          </p:nvPr>
        </p:nvSpPr>
        <p:spPr>
          <a:xfrm>
            <a:off x="838200" y="1690688"/>
            <a:ext cx="10515600" cy="4486275"/>
          </a:xfrm>
        </p:spPr>
        <p:txBody>
          <a:bodyPr>
            <a:normAutofit/>
          </a:bodyPr>
          <a:lstStyle/>
          <a:p>
            <a:pPr marL="0" indent="0">
              <a:lnSpc>
                <a:spcPct val="120000"/>
              </a:lnSpc>
              <a:spcBef>
                <a:spcPts val="1800"/>
              </a:spcBef>
              <a:spcAft>
                <a:spcPts val="600"/>
              </a:spcAft>
              <a:buNone/>
            </a:pPr>
            <a:r>
              <a:rPr lang="en-US" sz="2400" dirty="0">
                <a:solidFill>
                  <a:srgbClr val="FF0000"/>
                </a:solidFill>
                <a:latin typeface="Arial" panose="020B0604020202020204" pitchFamily="34" charset="0"/>
                <a:cs typeface="Arial" panose="020B0604020202020204" pitchFamily="34" charset="0"/>
              </a:rPr>
              <a:t>Each query operator works in isolation, fully consuming an input from storage (disk, or RAM) and writing its output to storage. </a:t>
            </a:r>
          </a:p>
          <a:p>
            <a:pPr marL="0" indent="0">
              <a:lnSpc>
                <a:spcPct val="120000"/>
              </a:lnSpc>
              <a:spcBef>
                <a:spcPts val="1800"/>
              </a:spcBef>
              <a:spcAft>
                <a:spcPts val="600"/>
              </a:spcAft>
              <a:buNone/>
            </a:pPr>
            <a:r>
              <a:rPr lang="en-US" sz="2400" dirty="0" err="1">
                <a:latin typeface="Arial" panose="020B0604020202020204" pitchFamily="34" charset="0"/>
                <a:cs typeface="Arial" panose="020B0604020202020204" pitchFamily="34" charset="0"/>
              </a:rPr>
              <a:t>MonetDB</a:t>
            </a:r>
            <a:r>
              <a:rPr lang="en-US" sz="2400" dirty="0">
                <a:latin typeface="Arial" panose="020B0604020202020204" pitchFamily="34" charset="0"/>
                <a:cs typeface="Arial" panose="020B0604020202020204" pitchFamily="34" charset="0"/>
              </a:rPr>
              <a:t> is one of the few database systems using full materialization, product of its BAT Algebra designed to make operators and their interactions simpler and thus more CPU efficient.</a:t>
            </a:r>
          </a:p>
          <a:p>
            <a:pPr marL="0" indent="0">
              <a:lnSpc>
                <a:spcPct val="120000"/>
              </a:lnSpc>
              <a:spcBef>
                <a:spcPts val="1800"/>
              </a:spcBef>
              <a:spcAft>
                <a:spcPts val="600"/>
              </a:spcAft>
              <a:buNone/>
            </a:pPr>
            <a:r>
              <a:rPr lang="en-US" sz="2400" dirty="0">
                <a:latin typeface="Arial" panose="020B0604020202020204" pitchFamily="34" charset="0"/>
                <a:cs typeface="Arial" panose="020B0604020202020204" pitchFamily="34" charset="0"/>
              </a:rPr>
              <a:t>However, </a:t>
            </a:r>
            <a:r>
              <a:rPr lang="en-US" sz="2400" dirty="0" err="1">
                <a:latin typeface="Arial" panose="020B0604020202020204" pitchFamily="34" charset="0"/>
                <a:cs typeface="Arial" panose="020B0604020202020204" pitchFamily="34" charset="0"/>
              </a:rPr>
              <a:t>MonetDB</a:t>
            </a:r>
            <a:r>
              <a:rPr lang="en-US" sz="2400" dirty="0">
                <a:latin typeface="Arial" panose="020B0604020202020204" pitchFamily="34" charset="0"/>
                <a:cs typeface="Arial" panose="020B0604020202020204" pitchFamily="34" charset="0"/>
              </a:rPr>
              <a:t> therefore may cause excessive resource utilization in queries that generate large intermediate results.</a:t>
            </a:r>
          </a:p>
        </p:txBody>
      </p:sp>
      <p:pic>
        <p:nvPicPr>
          <p:cNvPr id="4" name="Picture 2" descr="Image result for vit ap logo"/>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546183" y="275303"/>
            <a:ext cx="1324835" cy="610419"/>
          </a:xfrm>
          <a:prstGeom prst="rect">
            <a:avLst/>
          </a:prstGeom>
          <a:noFill/>
          <a:extLst>
            <a:ext uri="{909E8E84-426E-40DD-AFC4-6F175D3DCCD1}">
              <a14:hiddenFill xmlns:a14="http://schemas.microsoft.com/office/drawing/2010/main">
                <a:solidFill>
                  <a:srgbClr val="FFFFFF"/>
                </a:solidFill>
              </a14:hiddenFill>
            </a:ext>
          </a:extLst>
        </p:spPr>
      </p:pic>
      <p:sp>
        <p:nvSpPr>
          <p:cNvPr id="7" name="Date Placeholder 6"/>
          <p:cNvSpPr>
            <a:spLocks noGrp="1"/>
          </p:cNvSpPr>
          <p:nvPr>
            <p:ph type="dt" sz="half" idx="10"/>
          </p:nvPr>
        </p:nvSpPr>
        <p:spPr/>
        <p:txBody>
          <a:bodyPr/>
          <a:lstStyle/>
          <a:p>
            <a:fld id="{2F25C4A8-1BA0-468A-B855-2EFA71CD0C96}" type="datetime1">
              <a:rPr lang="en-IN" smtClean="0">
                <a:latin typeface="Arial" panose="020B0604020202020204" pitchFamily="34" charset="0"/>
                <a:cs typeface="Arial" panose="020B0604020202020204" pitchFamily="34" charset="0"/>
              </a:rPr>
              <a:t>25-04-2023</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7</a:t>
            </a:fld>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4250935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u="sng" dirty="0">
                <a:solidFill>
                  <a:srgbClr val="0070C0"/>
                </a:solidFill>
                <a:latin typeface="Arial" panose="020B0604020202020204" pitchFamily="34" charset="0"/>
                <a:cs typeface="Arial" panose="020B0604020202020204" pitchFamily="34" charset="0"/>
              </a:rPr>
              <a:t>Tuple-At-A-Time VS Full materialization</a:t>
            </a:r>
          </a:p>
        </p:txBody>
      </p:sp>
      <p:sp>
        <p:nvSpPr>
          <p:cNvPr id="3" name="Content Placeholder 2"/>
          <p:cNvSpPr>
            <a:spLocks noGrp="1"/>
          </p:cNvSpPr>
          <p:nvPr>
            <p:ph idx="1"/>
          </p:nvPr>
        </p:nvSpPr>
        <p:spPr>
          <a:xfrm>
            <a:off x="838200" y="1690688"/>
            <a:ext cx="10515600" cy="4486275"/>
          </a:xfrm>
        </p:spPr>
        <p:txBody>
          <a:bodyPr>
            <a:normAutofit/>
          </a:bodyPr>
          <a:lstStyle/>
          <a:p>
            <a:pPr marL="0" indent="0">
              <a:lnSpc>
                <a:spcPct val="120000"/>
              </a:lnSpc>
              <a:spcBef>
                <a:spcPts val="1800"/>
              </a:spcBef>
              <a:spcAft>
                <a:spcPts val="600"/>
              </a:spcAft>
              <a:buNone/>
            </a:pPr>
            <a:r>
              <a:rPr lang="en-US" sz="2400" dirty="0">
                <a:latin typeface="Arial" panose="020B0604020202020204" pitchFamily="34" charset="0"/>
                <a:cs typeface="Arial" panose="020B0604020202020204" pitchFamily="34" charset="0"/>
              </a:rPr>
              <a:t>select </a:t>
            </a:r>
            <a:r>
              <a:rPr lang="en-US" sz="2400" dirty="0" err="1">
                <a:latin typeface="Arial" panose="020B0604020202020204" pitchFamily="34" charset="0"/>
                <a:cs typeface="Arial" panose="020B0604020202020204" pitchFamily="34" charset="0"/>
              </a:rPr>
              <a:t>avg</a:t>
            </a:r>
            <a:r>
              <a:rPr lang="en-US" sz="2400" dirty="0">
                <a:latin typeface="Arial" panose="020B0604020202020204" pitchFamily="34" charset="0"/>
                <a:cs typeface="Arial" panose="020B0604020202020204" pitchFamily="34" charset="0"/>
              </a:rPr>
              <a:t>(A) from R where A &lt; 100.</a:t>
            </a:r>
          </a:p>
          <a:p>
            <a:pPr marL="0" indent="0">
              <a:lnSpc>
                <a:spcPct val="120000"/>
              </a:lnSpc>
              <a:spcBef>
                <a:spcPts val="1800"/>
              </a:spcBef>
              <a:spcAft>
                <a:spcPts val="600"/>
              </a:spcAft>
              <a:buNone/>
            </a:pPr>
            <a:r>
              <a:rPr lang="en-US" sz="2400" dirty="0">
                <a:latin typeface="Arial" panose="020B0604020202020204" pitchFamily="34" charset="0"/>
                <a:cs typeface="Arial" panose="020B0604020202020204" pitchFamily="34" charset="0"/>
              </a:rPr>
              <a:t>With tuple-at-a-time pipelining the select operator will start pushing qualifying tuples to the aggregation operator one tuple-at-a-time. </a:t>
            </a:r>
          </a:p>
          <a:p>
            <a:pPr marL="0" indent="0">
              <a:lnSpc>
                <a:spcPct val="120000"/>
              </a:lnSpc>
              <a:spcBef>
                <a:spcPts val="1800"/>
              </a:spcBef>
              <a:spcAft>
                <a:spcPts val="600"/>
              </a:spcAft>
              <a:buNone/>
            </a:pPr>
            <a:r>
              <a:rPr lang="en-US" sz="2400" dirty="0">
                <a:latin typeface="Arial" panose="020B0604020202020204" pitchFamily="34" charset="0"/>
                <a:cs typeface="Arial" panose="020B0604020202020204" pitchFamily="34" charset="0"/>
              </a:rPr>
              <a:t>With full materialization, though, the select operator will first completely scan column A, create an intermediate result that contains all qualifying tuples which is then passed as input to the aggregation operator.</a:t>
            </a:r>
          </a:p>
        </p:txBody>
      </p:sp>
      <p:pic>
        <p:nvPicPr>
          <p:cNvPr id="4" name="Picture 2" descr="Image result for vit ap logo"/>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546183" y="275303"/>
            <a:ext cx="1324835" cy="610419"/>
          </a:xfrm>
          <a:prstGeom prst="rect">
            <a:avLst/>
          </a:prstGeom>
          <a:noFill/>
          <a:extLst>
            <a:ext uri="{909E8E84-426E-40DD-AFC4-6F175D3DCCD1}">
              <a14:hiddenFill xmlns:a14="http://schemas.microsoft.com/office/drawing/2010/main">
                <a:solidFill>
                  <a:srgbClr val="FFFFFF"/>
                </a:solidFill>
              </a14:hiddenFill>
            </a:ext>
          </a:extLst>
        </p:spPr>
      </p:pic>
      <p:sp>
        <p:nvSpPr>
          <p:cNvPr id="7" name="Date Placeholder 6"/>
          <p:cNvSpPr>
            <a:spLocks noGrp="1"/>
          </p:cNvSpPr>
          <p:nvPr>
            <p:ph type="dt" sz="half" idx="10"/>
          </p:nvPr>
        </p:nvSpPr>
        <p:spPr/>
        <p:txBody>
          <a:bodyPr/>
          <a:lstStyle/>
          <a:p>
            <a:fld id="{2F25C4A8-1BA0-468A-B855-2EFA71CD0C96}" type="datetime1">
              <a:rPr lang="en-IN" smtClean="0">
                <a:latin typeface="Arial" panose="020B0604020202020204" pitchFamily="34" charset="0"/>
                <a:cs typeface="Arial" panose="020B0604020202020204" pitchFamily="34" charset="0"/>
              </a:rPr>
              <a:t>25-04-2023</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8</a:t>
            </a:fld>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57582727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u="sng" dirty="0">
                <a:solidFill>
                  <a:srgbClr val="0070C0"/>
                </a:solidFill>
                <a:latin typeface="Arial" panose="020B0604020202020204" pitchFamily="34" charset="0"/>
                <a:cs typeface="Arial" panose="020B0604020202020204" pitchFamily="34" charset="0"/>
              </a:rPr>
              <a:t>Summary</a:t>
            </a:r>
          </a:p>
        </p:txBody>
      </p:sp>
      <p:sp>
        <p:nvSpPr>
          <p:cNvPr id="3" name="Content Placeholder 2"/>
          <p:cNvSpPr>
            <a:spLocks noGrp="1"/>
          </p:cNvSpPr>
          <p:nvPr>
            <p:ph idx="1"/>
          </p:nvPr>
        </p:nvSpPr>
        <p:spPr>
          <a:xfrm>
            <a:off x="838200" y="1690688"/>
            <a:ext cx="10515600" cy="4486275"/>
          </a:xfrm>
        </p:spPr>
        <p:txBody>
          <a:bodyPr>
            <a:normAutofit/>
          </a:bodyPr>
          <a:lstStyle/>
          <a:p>
            <a:pPr marL="0" indent="0">
              <a:lnSpc>
                <a:spcPct val="120000"/>
              </a:lnSpc>
              <a:spcBef>
                <a:spcPts val="1800"/>
              </a:spcBef>
              <a:spcAft>
                <a:spcPts val="600"/>
              </a:spcAft>
              <a:buNone/>
            </a:pPr>
            <a:r>
              <a:rPr lang="en-US" sz="2400" dirty="0">
                <a:latin typeface="Arial" panose="020B0604020202020204" pitchFamily="34" charset="0"/>
                <a:cs typeface="Arial" panose="020B0604020202020204" pitchFamily="34" charset="0"/>
              </a:rPr>
              <a:t>Both the </a:t>
            </a:r>
            <a:r>
              <a:rPr lang="en-US" sz="2400" dirty="0">
                <a:solidFill>
                  <a:srgbClr val="FF0000"/>
                </a:solidFill>
                <a:latin typeface="Arial" panose="020B0604020202020204" pitchFamily="34" charset="0"/>
                <a:cs typeface="Arial" panose="020B0604020202020204" pitchFamily="34" charset="0"/>
              </a:rPr>
              <a:t>select and the aggregation operator may be implemented with very efficient tight for loops </a:t>
            </a:r>
          </a:p>
          <a:p>
            <a:pPr marL="0" indent="0">
              <a:lnSpc>
                <a:spcPct val="120000"/>
              </a:lnSpc>
              <a:spcBef>
                <a:spcPts val="1800"/>
              </a:spcBef>
              <a:spcAft>
                <a:spcPts val="600"/>
              </a:spcAft>
              <a:buNone/>
            </a:pPr>
            <a:r>
              <a:rPr lang="en-US" sz="2400" dirty="0">
                <a:latin typeface="Arial" panose="020B0604020202020204" pitchFamily="34" charset="0"/>
                <a:cs typeface="Arial" panose="020B0604020202020204" pitchFamily="34" charset="0"/>
              </a:rPr>
              <a:t>but on the other hand a </a:t>
            </a:r>
            <a:r>
              <a:rPr lang="en-US" sz="2400" dirty="0">
                <a:solidFill>
                  <a:srgbClr val="FF0000"/>
                </a:solidFill>
                <a:latin typeface="Arial" panose="020B0604020202020204" pitchFamily="34" charset="0"/>
                <a:cs typeface="Arial" panose="020B0604020202020204" pitchFamily="34" charset="0"/>
              </a:rPr>
              <a:t>big intermediate result needs to be materialized </a:t>
            </a:r>
            <a:r>
              <a:rPr lang="en-US" sz="2400" dirty="0">
                <a:latin typeface="Arial" panose="020B0604020202020204" pitchFamily="34" charset="0"/>
                <a:cs typeface="Arial" panose="020B0604020202020204" pitchFamily="34" charset="0"/>
              </a:rPr>
              <a:t>which for non-selective queries or for big data, exceeding memory size, becomes an issue.</a:t>
            </a:r>
          </a:p>
        </p:txBody>
      </p:sp>
      <p:pic>
        <p:nvPicPr>
          <p:cNvPr id="4" name="Picture 2" descr="Image result for vit ap logo"/>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546183" y="275303"/>
            <a:ext cx="1324835" cy="610419"/>
          </a:xfrm>
          <a:prstGeom prst="rect">
            <a:avLst/>
          </a:prstGeom>
          <a:noFill/>
          <a:extLst>
            <a:ext uri="{909E8E84-426E-40DD-AFC4-6F175D3DCCD1}">
              <a14:hiddenFill xmlns:a14="http://schemas.microsoft.com/office/drawing/2010/main">
                <a:solidFill>
                  <a:srgbClr val="FFFFFF"/>
                </a:solidFill>
              </a14:hiddenFill>
            </a:ext>
          </a:extLst>
        </p:spPr>
      </p:pic>
      <p:sp>
        <p:nvSpPr>
          <p:cNvPr id="7" name="Date Placeholder 6"/>
          <p:cNvSpPr>
            <a:spLocks noGrp="1"/>
          </p:cNvSpPr>
          <p:nvPr>
            <p:ph type="dt" sz="half" idx="10"/>
          </p:nvPr>
        </p:nvSpPr>
        <p:spPr/>
        <p:txBody>
          <a:bodyPr/>
          <a:lstStyle/>
          <a:p>
            <a:fld id="{2F25C4A8-1BA0-468A-B855-2EFA71CD0C96}" type="datetime1">
              <a:rPr lang="en-IN" smtClean="0">
                <a:latin typeface="Arial" panose="020B0604020202020204" pitchFamily="34" charset="0"/>
                <a:cs typeface="Arial" panose="020B0604020202020204" pitchFamily="34" charset="0"/>
              </a:rPr>
              <a:t>25-04-2023</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9</a:t>
            </a:fld>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01373974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u="sng" dirty="0" err="1">
                <a:solidFill>
                  <a:srgbClr val="0070C0"/>
                </a:solidFill>
                <a:latin typeface="Arial" panose="020B0604020202020204" pitchFamily="34" charset="0"/>
                <a:cs typeface="Arial" panose="020B0604020202020204" pitchFamily="34" charset="0"/>
              </a:rPr>
              <a:t>Vectorized</a:t>
            </a:r>
            <a:r>
              <a:rPr lang="en-IN" sz="3200" b="1" u="sng" dirty="0">
                <a:solidFill>
                  <a:srgbClr val="0070C0"/>
                </a:solidFill>
                <a:latin typeface="Arial" panose="020B0604020202020204" pitchFamily="34" charset="0"/>
                <a:cs typeface="Arial" panose="020B0604020202020204" pitchFamily="34" charset="0"/>
              </a:rPr>
              <a:t> execution</a:t>
            </a:r>
          </a:p>
        </p:txBody>
      </p:sp>
      <p:sp>
        <p:nvSpPr>
          <p:cNvPr id="3" name="Content Placeholder 2"/>
          <p:cNvSpPr>
            <a:spLocks noGrp="1"/>
          </p:cNvSpPr>
          <p:nvPr>
            <p:ph idx="1"/>
          </p:nvPr>
        </p:nvSpPr>
        <p:spPr>
          <a:xfrm>
            <a:off x="838200" y="1690688"/>
            <a:ext cx="10515600" cy="4486275"/>
          </a:xfrm>
        </p:spPr>
        <p:txBody>
          <a:bodyPr>
            <a:normAutofit/>
          </a:bodyPr>
          <a:lstStyle/>
          <a:p>
            <a:pPr marL="0" indent="0">
              <a:lnSpc>
                <a:spcPct val="120000"/>
              </a:lnSpc>
              <a:spcBef>
                <a:spcPts val="1800"/>
              </a:spcBef>
              <a:spcAft>
                <a:spcPts val="600"/>
              </a:spcAft>
              <a:buNone/>
            </a:pPr>
            <a:r>
              <a:rPr lang="en-US" sz="2400" dirty="0">
                <a:latin typeface="Arial" panose="020B0604020202020204" pitchFamily="34" charset="0"/>
                <a:cs typeface="Arial" panose="020B0604020202020204" pitchFamily="34" charset="0"/>
              </a:rPr>
              <a:t>“</a:t>
            </a:r>
            <a:r>
              <a:rPr lang="en-US" sz="2400" dirty="0" err="1">
                <a:latin typeface="Arial" panose="020B0604020202020204" pitchFamily="34" charset="0"/>
                <a:cs typeface="Arial" panose="020B0604020202020204" pitchFamily="34" charset="0"/>
              </a:rPr>
              <a:t>vectorized</a:t>
            </a:r>
            <a:r>
              <a:rPr lang="en-US" sz="2400" dirty="0">
                <a:latin typeface="Arial" panose="020B0604020202020204" pitchFamily="34" charset="0"/>
                <a:cs typeface="Arial" panose="020B0604020202020204" pitchFamily="34" charset="0"/>
              </a:rPr>
              <a:t> execution” pioneered in </a:t>
            </a:r>
            <a:r>
              <a:rPr lang="en-US" sz="2400" dirty="0" err="1">
                <a:latin typeface="Arial" panose="020B0604020202020204" pitchFamily="34" charset="0"/>
                <a:cs typeface="Arial" panose="020B0604020202020204" pitchFamily="34" charset="0"/>
              </a:rPr>
              <a:t>VectorWise</a:t>
            </a:r>
            <a:r>
              <a:rPr lang="en-US" sz="2400" dirty="0">
                <a:latin typeface="Arial" panose="020B0604020202020204" pitchFamily="34" charset="0"/>
                <a:cs typeface="Arial" panose="020B0604020202020204" pitchFamily="34" charset="0"/>
              </a:rPr>
              <a:t>, which strikes a balance between full materialization and tuple pipelining. </a:t>
            </a:r>
          </a:p>
          <a:p>
            <a:pPr marL="0" indent="0">
              <a:lnSpc>
                <a:spcPct val="120000"/>
              </a:lnSpc>
              <a:spcBef>
                <a:spcPts val="1800"/>
              </a:spcBef>
              <a:spcAft>
                <a:spcPts val="600"/>
              </a:spcAft>
              <a:buNone/>
            </a:pPr>
            <a:r>
              <a:rPr lang="en-US" sz="2400" dirty="0">
                <a:solidFill>
                  <a:srgbClr val="FF0000"/>
                </a:solidFill>
                <a:latin typeface="Arial" panose="020B0604020202020204" pitchFamily="34" charset="0"/>
                <a:cs typeface="Arial" panose="020B0604020202020204" pitchFamily="34" charset="0"/>
              </a:rPr>
              <a:t>This model separates query progress control logic from data processing logic</a:t>
            </a:r>
            <a:r>
              <a:rPr lang="en-US" sz="2400" dirty="0">
                <a:latin typeface="Arial" panose="020B0604020202020204" pitchFamily="34" charset="0"/>
                <a:cs typeface="Arial" panose="020B0604020202020204" pitchFamily="34" charset="0"/>
              </a:rPr>
              <a:t>. </a:t>
            </a:r>
          </a:p>
          <a:p>
            <a:pPr marL="0" indent="0">
              <a:lnSpc>
                <a:spcPct val="120000"/>
              </a:lnSpc>
              <a:spcBef>
                <a:spcPts val="1800"/>
              </a:spcBef>
              <a:spcAft>
                <a:spcPts val="600"/>
              </a:spcAft>
              <a:buNone/>
            </a:pPr>
            <a:r>
              <a:rPr lang="en-US" sz="2400" dirty="0">
                <a:solidFill>
                  <a:srgbClr val="FF0000"/>
                </a:solidFill>
                <a:latin typeface="Arial" panose="020B0604020202020204" pitchFamily="34" charset="0"/>
                <a:cs typeface="Arial" panose="020B0604020202020204" pitchFamily="34" charset="0"/>
              </a:rPr>
              <a:t>Regarding control flow</a:t>
            </a:r>
            <a:r>
              <a:rPr lang="en-US" sz="2400" dirty="0">
                <a:latin typeface="Arial" panose="020B0604020202020204" pitchFamily="34" charset="0"/>
                <a:cs typeface="Arial" panose="020B0604020202020204" pitchFamily="34" charset="0"/>
              </a:rPr>
              <a:t>, the operators in </a:t>
            </a:r>
            <a:r>
              <a:rPr lang="en-US" sz="2400" dirty="0" err="1">
                <a:latin typeface="Arial" panose="020B0604020202020204" pitchFamily="34" charset="0"/>
                <a:cs typeface="Arial" panose="020B0604020202020204" pitchFamily="34" charset="0"/>
              </a:rPr>
              <a:t>vectorized</a:t>
            </a:r>
            <a:r>
              <a:rPr lang="en-US" sz="2400" dirty="0">
                <a:latin typeface="Arial" panose="020B0604020202020204" pitchFamily="34" charset="0"/>
                <a:cs typeface="Arial" panose="020B0604020202020204" pitchFamily="34" charset="0"/>
              </a:rPr>
              <a:t> processing are similar to those in tuple pipelining, with the sole distinction that the next() method of each operator returns a vector of N tuples as opposed to only a single tuple.</a:t>
            </a:r>
          </a:p>
        </p:txBody>
      </p:sp>
      <p:pic>
        <p:nvPicPr>
          <p:cNvPr id="4" name="Picture 2" descr="Image result for vit ap logo"/>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546183" y="275303"/>
            <a:ext cx="1324835" cy="610419"/>
          </a:xfrm>
          <a:prstGeom prst="rect">
            <a:avLst/>
          </a:prstGeom>
          <a:noFill/>
          <a:extLst>
            <a:ext uri="{909E8E84-426E-40DD-AFC4-6F175D3DCCD1}">
              <a14:hiddenFill xmlns:a14="http://schemas.microsoft.com/office/drawing/2010/main">
                <a:solidFill>
                  <a:srgbClr val="FFFFFF"/>
                </a:solidFill>
              </a14:hiddenFill>
            </a:ext>
          </a:extLst>
        </p:spPr>
      </p:pic>
      <p:sp>
        <p:nvSpPr>
          <p:cNvPr id="7" name="Date Placeholder 6"/>
          <p:cNvSpPr>
            <a:spLocks noGrp="1"/>
          </p:cNvSpPr>
          <p:nvPr>
            <p:ph type="dt" sz="half" idx="10"/>
          </p:nvPr>
        </p:nvSpPr>
        <p:spPr/>
        <p:txBody>
          <a:bodyPr/>
          <a:lstStyle/>
          <a:p>
            <a:fld id="{2F25C4A8-1BA0-468A-B855-2EFA71CD0C96}" type="datetime1">
              <a:rPr lang="en-IN" smtClean="0">
                <a:latin typeface="Arial" panose="020B0604020202020204" pitchFamily="34" charset="0"/>
                <a:cs typeface="Arial" panose="020B0604020202020204" pitchFamily="34" charset="0"/>
              </a:rPr>
              <a:t>25-04-2023</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10</a:t>
            </a:fld>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02837455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u="sng" dirty="0" err="1">
                <a:solidFill>
                  <a:srgbClr val="0070C0"/>
                </a:solidFill>
                <a:latin typeface="Arial" panose="020B0604020202020204" pitchFamily="34" charset="0"/>
                <a:cs typeface="Arial" panose="020B0604020202020204" pitchFamily="34" charset="0"/>
              </a:rPr>
              <a:t>Vectorized</a:t>
            </a:r>
            <a:r>
              <a:rPr lang="en-IN" sz="3200" b="1" u="sng" dirty="0">
                <a:solidFill>
                  <a:srgbClr val="0070C0"/>
                </a:solidFill>
                <a:latin typeface="Arial" panose="020B0604020202020204" pitchFamily="34" charset="0"/>
                <a:cs typeface="Arial" panose="020B0604020202020204" pitchFamily="34" charset="0"/>
              </a:rPr>
              <a:t> execution</a:t>
            </a:r>
          </a:p>
        </p:txBody>
      </p:sp>
      <p:sp>
        <p:nvSpPr>
          <p:cNvPr id="3" name="Content Placeholder 2"/>
          <p:cNvSpPr>
            <a:spLocks noGrp="1"/>
          </p:cNvSpPr>
          <p:nvPr>
            <p:ph idx="1"/>
          </p:nvPr>
        </p:nvSpPr>
        <p:spPr>
          <a:xfrm>
            <a:off x="838200" y="1690688"/>
            <a:ext cx="10515600" cy="4486275"/>
          </a:xfrm>
        </p:spPr>
        <p:txBody>
          <a:bodyPr>
            <a:normAutofit fontScale="92500"/>
          </a:bodyPr>
          <a:lstStyle/>
          <a:p>
            <a:pPr marL="0" indent="0">
              <a:lnSpc>
                <a:spcPct val="120000"/>
              </a:lnSpc>
              <a:spcBef>
                <a:spcPts val="1800"/>
              </a:spcBef>
              <a:spcAft>
                <a:spcPts val="600"/>
              </a:spcAft>
              <a:buNone/>
            </a:pPr>
            <a:r>
              <a:rPr lang="en-US" sz="2400" dirty="0">
                <a:solidFill>
                  <a:srgbClr val="FF0000"/>
                </a:solidFill>
                <a:latin typeface="Arial" panose="020B0604020202020204" pitchFamily="34" charset="0"/>
                <a:cs typeface="Arial" panose="020B0604020202020204" pitchFamily="34" charset="0"/>
              </a:rPr>
              <a:t>Regarding data processing</a:t>
            </a:r>
            <a:r>
              <a:rPr lang="en-US" sz="2400" dirty="0">
                <a:latin typeface="Arial" panose="020B0604020202020204" pitchFamily="34" charset="0"/>
                <a:cs typeface="Arial" panose="020B0604020202020204" pitchFamily="34" charset="0"/>
              </a:rPr>
              <a:t>, the so-called primitive functions that operators use to do actual work (e.g., adding or comparing data values) look much like </a:t>
            </a:r>
            <a:r>
              <a:rPr lang="en-US" sz="2400" dirty="0" err="1">
                <a:latin typeface="Arial" panose="020B0604020202020204" pitchFamily="34" charset="0"/>
                <a:cs typeface="Arial" panose="020B0604020202020204" pitchFamily="34" charset="0"/>
              </a:rPr>
              <a:t>MonetDB’s</a:t>
            </a:r>
            <a:r>
              <a:rPr lang="en-US" sz="2400" dirty="0">
                <a:latin typeface="Arial" panose="020B0604020202020204" pitchFamily="34" charset="0"/>
                <a:cs typeface="Arial" panose="020B0604020202020204" pitchFamily="34" charset="0"/>
              </a:rPr>
              <a:t> BAT (Binary Association Tables) Algebra, processing data vector-at-a-time.</a:t>
            </a:r>
          </a:p>
          <a:p>
            <a:pPr marL="0" indent="0">
              <a:lnSpc>
                <a:spcPct val="120000"/>
              </a:lnSpc>
              <a:spcBef>
                <a:spcPts val="1800"/>
              </a:spcBef>
              <a:spcAft>
                <a:spcPts val="600"/>
              </a:spcAft>
              <a:buNone/>
            </a:pPr>
            <a:r>
              <a:rPr lang="en-US" sz="2400" dirty="0">
                <a:latin typeface="Arial" panose="020B0604020202020204" pitchFamily="34" charset="0"/>
                <a:cs typeface="Arial" panose="020B0604020202020204" pitchFamily="34" charset="0"/>
              </a:rPr>
              <a:t>Thus, </a:t>
            </a:r>
            <a:r>
              <a:rPr lang="en-US" sz="2400" dirty="0" err="1">
                <a:latin typeface="Arial" panose="020B0604020202020204" pitchFamily="34" charset="0"/>
                <a:cs typeface="Arial" panose="020B0604020202020204" pitchFamily="34" charset="0"/>
              </a:rPr>
              <a:t>vectorized</a:t>
            </a:r>
            <a:r>
              <a:rPr lang="en-US" sz="2400" dirty="0">
                <a:latin typeface="Arial" panose="020B0604020202020204" pitchFamily="34" charset="0"/>
                <a:cs typeface="Arial" panose="020B0604020202020204" pitchFamily="34" charset="0"/>
              </a:rPr>
              <a:t> execution </a:t>
            </a:r>
            <a:r>
              <a:rPr lang="en-US" sz="2400" dirty="0">
                <a:solidFill>
                  <a:srgbClr val="FF0000"/>
                </a:solidFill>
                <a:latin typeface="Arial" panose="020B0604020202020204" pitchFamily="34" charset="0"/>
                <a:cs typeface="Arial" panose="020B0604020202020204" pitchFamily="34" charset="0"/>
              </a:rPr>
              <a:t>combines pipelining </a:t>
            </a:r>
            <a:r>
              <a:rPr lang="en-US" sz="2400" dirty="0">
                <a:latin typeface="Arial" panose="020B0604020202020204" pitchFamily="34" charset="0"/>
                <a:cs typeface="Arial" panose="020B0604020202020204" pitchFamily="34" charset="0"/>
              </a:rPr>
              <a:t>(avoidance of materialization of large intermediates) </a:t>
            </a:r>
            <a:r>
              <a:rPr lang="en-US" sz="2400" dirty="0">
                <a:solidFill>
                  <a:srgbClr val="FF0000"/>
                </a:solidFill>
                <a:latin typeface="Arial" panose="020B0604020202020204" pitchFamily="34" charset="0"/>
                <a:cs typeface="Arial" panose="020B0604020202020204" pitchFamily="34" charset="0"/>
              </a:rPr>
              <a:t>with the array-loops code patterns </a:t>
            </a:r>
            <a:r>
              <a:rPr lang="en-US" sz="2400" dirty="0">
                <a:latin typeface="Arial" panose="020B0604020202020204" pitchFamily="34" charset="0"/>
                <a:cs typeface="Arial" panose="020B0604020202020204" pitchFamily="34" charset="0"/>
              </a:rPr>
              <a:t>that make </a:t>
            </a:r>
            <a:r>
              <a:rPr lang="en-US" sz="2400" dirty="0" err="1">
                <a:latin typeface="Arial" panose="020B0604020202020204" pitchFamily="34" charset="0"/>
                <a:cs typeface="Arial" panose="020B0604020202020204" pitchFamily="34" charset="0"/>
              </a:rPr>
              <a:t>MonetDB</a:t>
            </a:r>
            <a:r>
              <a:rPr lang="en-US" sz="2400" dirty="0">
                <a:latin typeface="Arial" panose="020B0604020202020204" pitchFamily="34" charset="0"/>
                <a:cs typeface="Arial" panose="020B0604020202020204" pitchFamily="34" charset="0"/>
              </a:rPr>
              <a:t> fast.</a:t>
            </a:r>
          </a:p>
          <a:p>
            <a:pPr marL="0" indent="0">
              <a:lnSpc>
                <a:spcPct val="120000"/>
              </a:lnSpc>
              <a:spcBef>
                <a:spcPts val="1800"/>
              </a:spcBef>
              <a:spcAft>
                <a:spcPts val="600"/>
              </a:spcAft>
              <a:buNone/>
            </a:pPr>
            <a:r>
              <a:rPr lang="en-US" sz="2400" dirty="0">
                <a:latin typeface="Arial" panose="020B0604020202020204" pitchFamily="34" charset="0"/>
                <a:cs typeface="Arial" panose="020B0604020202020204" pitchFamily="34" charset="0"/>
              </a:rPr>
              <a:t>The typical size for the vectors used in </a:t>
            </a:r>
            <a:r>
              <a:rPr lang="en-US" sz="2400" dirty="0" err="1">
                <a:latin typeface="Arial" panose="020B0604020202020204" pitchFamily="34" charset="0"/>
                <a:cs typeface="Arial" panose="020B0604020202020204" pitchFamily="34" charset="0"/>
              </a:rPr>
              <a:t>vectorized</a:t>
            </a:r>
            <a:r>
              <a:rPr lang="en-US" sz="2400" dirty="0">
                <a:latin typeface="Arial" panose="020B0604020202020204" pitchFamily="34" charset="0"/>
                <a:cs typeface="Arial" panose="020B0604020202020204" pitchFamily="34" charset="0"/>
              </a:rPr>
              <a:t> processing is such that each vector comfortably fits in L1 cache (N = 1000 is typical in </a:t>
            </a:r>
            <a:r>
              <a:rPr lang="en-US" sz="2400" dirty="0" err="1">
                <a:latin typeface="Arial" panose="020B0604020202020204" pitchFamily="34" charset="0"/>
                <a:cs typeface="Arial" panose="020B0604020202020204" pitchFamily="34" charset="0"/>
              </a:rPr>
              <a:t>VectorWise</a:t>
            </a:r>
            <a:r>
              <a:rPr lang="en-US" sz="2400" dirty="0">
                <a:latin typeface="Arial" panose="020B0604020202020204" pitchFamily="34" charset="0"/>
                <a:cs typeface="Arial" panose="020B0604020202020204" pitchFamily="34" charset="0"/>
              </a:rPr>
              <a:t>) as this minimizes reads and writes throughout the memory hierarchy.</a:t>
            </a:r>
          </a:p>
        </p:txBody>
      </p:sp>
      <p:pic>
        <p:nvPicPr>
          <p:cNvPr id="4" name="Picture 2" descr="Image result for vit ap logo"/>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546183" y="275303"/>
            <a:ext cx="1324835" cy="610419"/>
          </a:xfrm>
          <a:prstGeom prst="rect">
            <a:avLst/>
          </a:prstGeom>
          <a:noFill/>
          <a:extLst>
            <a:ext uri="{909E8E84-426E-40DD-AFC4-6F175D3DCCD1}">
              <a14:hiddenFill xmlns:a14="http://schemas.microsoft.com/office/drawing/2010/main">
                <a:solidFill>
                  <a:srgbClr val="FFFFFF"/>
                </a:solidFill>
              </a14:hiddenFill>
            </a:ext>
          </a:extLst>
        </p:spPr>
      </p:pic>
      <p:sp>
        <p:nvSpPr>
          <p:cNvPr id="7" name="Date Placeholder 6"/>
          <p:cNvSpPr>
            <a:spLocks noGrp="1"/>
          </p:cNvSpPr>
          <p:nvPr>
            <p:ph type="dt" sz="half" idx="10"/>
          </p:nvPr>
        </p:nvSpPr>
        <p:spPr/>
        <p:txBody>
          <a:bodyPr/>
          <a:lstStyle/>
          <a:p>
            <a:fld id="{2F25C4A8-1BA0-468A-B855-2EFA71CD0C96}" type="datetime1">
              <a:rPr lang="en-IN" smtClean="0">
                <a:latin typeface="Arial" panose="020B0604020202020204" pitchFamily="34" charset="0"/>
                <a:cs typeface="Arial" panose="020B0604020202020204" pitchFamily="34" charset="0"/>
              </a:rPr>
              <a:t>25-04-2023</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11</a:t>
            </a:fld>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11274952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u="sng" dirty="0" err="1">
                <a:solidFill>
                  <a:srgbClr val="0070C0"/>
                </a:solidFill>
                <a:latin typeface="Arial" panose="020B0604020202020204" pitchFamily="34" charset="0"/>
                <a:cs typeface="Arial" panose="020B0604020202020204" pitchFamily="34" charset="0"/>
              </a:rPr>
              <a:t>Vectorized</a:t>
            </a:r>
            <a:r>
              <a:rPr lang="en-IN" sz="3200" b="1" u="sng" dirty="0">
                <a:solidFill>
                  <a:srgbClr val="0070C0"/>
                </a:solidFill>
                <a:latin typeface="Arial" panose="020B0604020202020204" pitchFamily="34" charset="0"/>
                <a:cs typeface="Arial" panose="020B0604020202020204" pitchFamily="34" charset="0"/>
              </a:rPr>
              <a:t> execution</a:t>
            </a:r>
          </a:p>
        </p:txBody>
      </p:sp>
      <p:pic>
        <p:nvPicPr>
          <p:cNvPr id="4" name="Picture 2" descr="Image result for vit ap logo"/>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546183" y="275303"/>
            <a:ext cx="1324835" cy="610419"/>
          </a:xfrm>
          <a:prstGeom prst="rect">
            <a:avLst/>
          </a:prstGeom>
          <a:noFill/>
          <a:extLst>
            <a:ext uri="{909E8E84-426E-40DD-AFC4-6F175D3DCCD1}">
              <a14:hiddenFill xmlns:a14="http://schemas.microsoft.com/office/drawing/2010/main">
                <a:solidFill>
                  <a:srgbClr val="FFFFFF"/>
                </a:solidFill>
              </a14:hiddenFill>
            </a:ext>
          </a:extLst>
        </p:spPr>
      </p:pic>
      <p:sp>
        <p:nvSpPr>
          <p:cNvPr id="7" name="Date Placeholder 6"/>
          <p:cNvSpPr>
            <a:spLocks noGrp="1"/>
          </p:cNvSpPr>
          <p:nvPr>
            <p:ph type="dt" sz="half" idx="10"/>
          </p:nvPr>
        </p:nvSpPr>
        <p:spPr/>
        <p:txBody>
          <a:bodyPr/>
          <a:lstStyle/>
          <a:p>
            <a:fld id="{2F25C4A8-1BA0-468A-B855-2EFA71CD0C96}" type="datetime1">
              <a:rPr lang="en-IN" smtClean="0">
                <a:latin typeface="Arial" panose="020B0604020202020204" pitchFamily="34" charset="0"/>
                <a:cs typeface="Arial" panose="020B0604020202020204" pitchFamily="34" charset="0"/>
              </a:rPr>
              <a:t>25-04-2023</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12</a:t>
            </a:fld>
            <a:endParaRPr lang="en-IN" dirty="0">
              <a:latin typeface="Arial" panose="020B0604020202020204" pitchFamily="34" charset="0"/>
              <a:cs typeface="Arial" panose="020B0604020202020204" pitchFamily="34" charset="0"/>
            </a:endParaRPr>
          </a:p>
        </p:txBody>
      </p:sp>
      <p:pic>
        <p:nvPicPr>
          <p:cNvPr id="5" name="Picture 4"/>
          <p:cNvPicPr>
            <a:picLocks noChangeAspect="1"/>
          </p:cNvPicPr>
          <p:nvPr/>
        </p:nvPicPr>
        <p:blipFill>
          <a:blip r:embed="rId3"/>
          <a:stretch>
            <a:fillRect/>
          </a:stretch>
        </p:blipFill>
        <p:spPr>
          <a:xfrm>
            <a:off x="1654053" y="1507985"/>
            <a:ext cx="8883893" cy="4712635"/>
          </a:xfrm>
          <a:prstGeom prst="rect">
            <a:avLst/>
          </a:prstGeom>
        </p:spPr>
      </p:pic>
    </p:spTree>
    <p:extLst>
      <p:ext uri="{BB962C8B-B14F-4D97-AF65-F5344CB8AC3E}">
        <p14:creationId xmlns:p14="http://schemas.microsoft.com/office/powerpoint/2010/main" val="180448006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u="sng" dirty="0">
                <a:solidFill>
                  <a:srgbClr val="0070C0"/>
                </a:solidFill>
                <a:latin typeface="Arial" panose="020B0604020202020204" pitchFamily="34" charset="0"/>
                <a:cs typeface="Arial" panose="020B0604020202020204" pitchFamily="34" charset="0"/>
              </a:rPr>
              <a:t>Advantages of </a:t>
            </a:r>
            <a:r>
              <a:rPr lang="en-IN" sz="3200" b="1" u="sng" dirty="0" err="1">
                <a:solidFill>
                  <a:srgbClr val="0070C0"/>
                </a:solidFill>
                <a:latin typeface="Arial" panose="020B0604020202020204" pitchFamily="34" charset="0"/>
                <a:cs typeface="Arial" panose="020B0604020202020204" pitchFamily="34" charset="0"/>
              </a:rPr>
              <a:t>vectorized</a:t>
            </a:r>
            <a:r>
              <a:rPr lang="en-IN" sz="3200" b="1" u="sng" dirty="0">
                <a:solidFill>
                  <a:srgbClr val="0070C0"/>
                </a:solidFill>
                <a:latin typeface="Arial" panose="020B0604020202020204" pitchFamily="34" charset="0"/>
                <a:cs typeface="Arial" panose="020B0604020202020204" pitchFamily="34" charset="0"/>
              </a:rPr>
              <a:t> processing</a:t>
            </a:r>
          </a:p>
        </p:txBody>
      </p:sp>
      <p:sp>
        <p:nvSpPr>
          <p:cNvPr id="3" name="Content Placeholder 2"/>
          <p:cNvSpPr>
            <a:spLocks noGrp="1"/>
          </p:cNvSpPr>
          <p:nvPr>
            <p:ph idx="1"/>
          </p:nvPr>
        </p:nvSpPr>
        <p:spPr>
          <a:xfrm>
            <a:off x="838200" y="1690688"/>
            <a:ext cx="10515600" cy="4486275"/>
          </a:xfrm>
        </p:spPr>
        <p:txBody>
          <a:bodyPr>
            <a:normAutofit/>
          </a:bodyPr>
          <a:lstStyle/>
          <a:p>
            <a:pPr marL="539750" indent="-357188">
              <a:lnSpc>
                <a:spcPct val="110000"/>
              </a:lnSpc>
              <a:spcBef>
                <a:spcPts val="1800"/>
              </a:spcBef>
              <a:spcAft>
                <a:spcPts val="600"/>
              </a:spcAft>
            </a:pPr>
            <a:r>
              <a:rPr lang="en-US" sz="2400" dirty="0">
                <a:solidFill>
                  <a:srgbClr val="FF0000"/>
                </a:solidFill>
                <a:latin typeface="Arial" panose="020B0604020202020204" pitchFamily="34" charset="0"/>
                <a:cs typeface="Arial" panose="020B0604020202020204" pitchFamily="34" charset="0"/>
              </a:rPr>
              <a:t>Reduced interpretation overhead</a:t>
            </a:r>
            <a:r>
              <a:rPr lang="en-US" sz="2400" dirty="0">
                <a:latin typeface="Arial" panose="020B0604020202020204" pitchFamily="34" charset="0"/>
                <a:cs typeface="Arial" panose="020B0604020202020204" pitchFamily="34" charset="0"/>
              </a:rPr>
              <a:t>. The amount of function calls performed by the query interpreter goes down when compared to the tuple-at-a-time model.</a:t>
            </a:r>
          </a:p>
          <a:p>
            <a:pPr marL="539750" indent="-357188">
              <a:lnSpc>
                <a:spcPct val="110000"/>
              </a:lnSpc>
              <a:spcBef>
                <a:spcPts val="1800"/>
              </a:spcBef>
              <a:spcAft>
                <a:spcPts val="600"/>
              </a:spcAft>
            </a:pPr>
            <a:r>
              <a:rPr lang="en-US" sz="2400" dirty="0">
                <a:solidFill>
                  <a:srgbClr val="FF0000"/>
                </a:solidFill>
                <a:latin typeface="Arial" panose="020B0604020202020204" pitchFamily="34" charset="0"/>
                <a:cs typeface="Arial" panose="020B0604020202020204" pitchFamily="34" charset="0"/>
              </a:rPr>
              <a:t>Better cache locality. </a:t>
            </a:r>
            <a:r>
              <a:rPr lang="en-US" sz="2400" dirty="0" err="1">
                <a:latin typeface="Arial" panose="020B0604020202020204" pitchFamily="34" charset="0"/>
                <a:cs typeface="Arial" panose="020B0604020202020204" pitchFamily="34" charset="0"/>
              </a:rPr>
              <a:t>VectorWise</a:t>
            </a:r>
            <a:r>
              <a:rPr lang="en-US" sz="2400" dirty="0">
                <a:latin typeface="Arial" panose="020B0604020202020204" pitchFamily="34" charset="0"/>
                <a:cs typeface="Arial" panose="020B0604020202020204" pitchFamily="34" charset="0"/>
              </a:rPr>
              <a:t> tunes the vector size such that all vectors needed for evaluating a query together comfortably fit in the CPU cache.</a:t>
            </a:r>
          </a:p>
          <a:p>
            <a:pPr marL="539750" indent="-357188">
              <a:lnSpc>
                <a:spcPct val="110000"/>
              </a:lnSpc>
              <a:spcBef>
                <a:spcPts val="1800"/>
              </a:spcBef>
              <a:spcAft>
                <a:spcPts val="600"/>
              </a:spcAft>
            </a:pPr>
            <a:r>
              <a:rPr lang="en-US" sz="2400" dirty="0">
                <a:solidFill>
                  <a:srgbClr val="FF0000"/>
                </a:solidFill>
                <a:latin typeface="Arial" panose="020B0604020202020204" pitchFamily="34" charset="0"/>
                <a:cs typeface="Arial" panose="020B0604020202020204" pitchFamily="34" charset="0"/>
              </a:rPr>
              <a:t>Compiler optimization opportunities.</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Vectorized</a:t>
            </a:r>
            <a:r>
              <a:rPr lang="en-US" sz="2400" dirty="0">
                <a:latin typeface="Arial" panose="020B0604020202020204" pitchFamily="34" charset="0"/>
                <a:cs typeface="Arial" panose="020B0604020202020204" pitchFamily="34" charset="0"/>
              </a:rPr>
              <a:t> primitives are responsive to some of the most productive compiler optimizations, and typically also trigger compilers to generate SIMD instructions.</a:t>
            </a:r>
          </a:p>
        </p:txBody>
      </p:sp>
      <p:pic>
        <p:nvPicPr>
          <p:cNvPr id="4" name="Picture 2" descr="Image result for vit ap logo"/>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546183" y="275303"/>
            <a:ext cx="1324835" cy="610419"/>
          </a:xfrm>
          <a:prstGeom prst="rect">
            <a:avLst/>
          </a:prstGeom>
          <a:noFill/>
          <a:extLst>
            <a:ext uri="{909E8E84-426E-40DD-AFC4-6F175D3DCCD1}">
              <a14:hiddenFill xmlns:a14="http://schemas.microsoft.com/office/drawing/2010/main">
                <a:solidFill>
                  <a:srgbClr val="FFFFFF"/>
                </a:solidFill>
              </a14:hiddenFill>
            </a:ext>
          </a:extLst>
        </p:spPr>
      </p:pic>
      <p:sp>
        <p:nvSpPr>
          <p:cNvPr id="7" name="Date Placeholder 6"/>
          <p:cNvSpPr>
            <a:spLocks noGrp="1"/>
          </p:cNvSpPr>
          <p:nvPr>
            <p:ph type="dt" sz="half" idx="10"/>
          </p:nvPr>
        </p:nvSpPr>
        <p:spPr/>
        <p:txBody>
          <a:bodyPr/>
          <a:lstStyle/>
          <a:p>
            <a:fld id="{2F25C4A8-1BA0-468A-B855-2EFA71CD0C96}" type="datetime1">
              <a:rPr lang="en-IN" smtClean="0">
                <a:latin typeface="Arial" panose="020B0604020202020204" pitchFamily="34" charset="0"/>
                <a:cs typeface="Arial" panose="020B0604020202020204" pitchFamily="34" charset="0"/>
              </a:rPr>
              <a:t>25-04-2023</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13</a:t>
            </a:fld>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71417889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u="sng" dirty="0">
                <a:solidFill>
                  <a:srgbClr val="0070C0"/>
                </a:solidFill>
                <a:latin typeface="Arial" panose="020B0604020202020204" pitchFamily="34" charset="0"/>
                <a:cs typeface="Arial" panose="020B0604020202020204" pitchFamily="34" charset="0"/>
              </a:rPr>
              <a:t>Advantages of </a:t>
            </a:r>
            <a:r>
              <a:rPr lang="en-IN" sz="3200" b="1" u="sng" dirty="0" err="1">
                <a:solidFill>
                  <a:srgbClr val="0070C0"/>
                </a:solidFill>
                <a:latin typeface="Arial" panose="020B0604020202020204" pitchFamily="34" charset="0"/>
                <a:cs typeface="Arial" panose="020B0604020202020204" pitchFamily="34" charset="0"/>
              </a:rPr>
              <a:t>vectorized</a:t>
            </a:r>
            <a:r>
              <a:rPr lang="en-IN" sz="3200" b="1" u="sng" dirty="0">
                <a:solidFill>
                  <a:srgbClr val="0070C0"/>
                </a:solidFill>
                <a:latin typeface="Arial" panose="020B0604020202020204" pitchFamily="34" charset="0"/>
                <a:cs typeface="Arial" panose="020B0604020202020204" pitchFamily="34" charset="0"/>
              </a:rPr>
              <a:t> processing</a:t>
            </a:r>
          </a:p>
        </p:txBody>
      </p:sp>
      <p:sp>
        <p:nvSpPr>
          <p:cNvPr id="3" name="Content Placeholder 2"/>
          <p:cNvSpPr>
            <a:spLocks noGrp="1"/>
          </p:cNvSpPr>
          <p:nvPr>
            <p:ph idx="1"/>
          </p:nvPr>
        </p:nvSpPr>
        <p:spPr>
          <a:xfrm>
            <a:off x="838200" y="1690688"/>
            <a:ext cx="10515600" cy="4486275"/>
          </a:xfrm>
        </p:spPr>
        <p:txBody>
          <a:bodyPr>
            <a:normAutofit/>
          </a:bodyPr>
          <a:lstStyle/>
          <a:p>
            <a:pPr marL="539750" indent="-357188">
              <a:lnSpc>
                <a:spcPct val="110000"/>
              </a:lnSpc>
              <a:spcBef>
                <a:spcPts val="1800"/>
              </a:spcBef>
              <a:spcAft>
                <a:spcPts val="600"/>
              </a:spcAft>
            </a:pPr>
            <a:r>
              <a:rPr lang="en-US" sz="2400" dirty="0">
                <a:solidFill>
                  <a:srgbClr val="FF0000"/>
                </a:solidFill>
                <a:latin typeface="Arial" panose="020B0604020202020204" pitchFamily="34" charset="0"/>
                <a:cs typeface="Arial" panose="020B0604020202020204" pitchFamily="34" charset="0"/>
              </a:rPr>
              <a:t>Block algorithms. </a:t>
            </a:r>
            <a:r>
              <a:rPr lang="en-US" sz="2400" dirty="0" err="1">
                <a:latin typeface="Arial" panose="020B0604020202020204" pitchFamily="34" charset="0"/>
                <a:cs typeface="Arial" panose="020B0604020202020204" pitchFamily="34" charset="0"/>
              </a:rPr>
              <a:t>vectorized</a:t>
            </a:r>
            <a:r>
              <a:rPr lang="en-US" sz="2400" dirty="0">
                <a:latin typeface="Arial" panose="020B0604020202020204" pitchFamily="34" charset="0"/>
                <a:cs typeface="Arial" panose="020B0604020202020204" pitchFamily="34" charset="0"/>
              </a:rPr>
              <a:t> algorithm can first check if the output buffer has space for N more results, and if so, do all the work on the vector without any checking.</a:t>
            </a:r>
          </a:p>
          <a:p>
            <a:pPr marL="539750" indent="-357188">
              <a:lnSpc>
                <a:spcPct val="110000"/>
              </a:lnSpc>
              <a:spcBef>
                <a:spcPts val="1800"/>
              </a:spcBef>
              <a:spcAft>
                <a:spcPts val="600"/>
              </a:spcAft>
            </a:pPr>
            <a:r>
              <a:rPr lang="en-US" sz="2400" dirty="0">
                <a:solidFill>
                  <a:srgbClr val="FF0000"/>
                </a:solidFill>
                <a:latin typeface="Arial" panose="020B0604020202020204" pitchFamily="34" charset="0"/>
                <a:cs typeface="Arial" panose="020B0604020202020204" pitchFamily="34" charset="0"/>
              </a:rPr>
              <a:t>Parallel memory access. </a:t>
            </a:r>
            <a:r>
              <a:rPr lang="en-US" sz="2400" dirty="0">
                <a:latin typeface="Arial" panose="020B0604020202020204" pitchFamily="34" charset="0"/>
                <a:cs typeface="Arial" panose="020B0604020202020204" pitchFamily="34" charset="0"/>
              </a:rPr>
              <a:t>Algorithms that perform memory accesses in a tight </a:t>
            </a:r>
            <a:r>
              <a:rPr lang="en-US" sz="2400" dirty="0" err="1">
                <a:latin typeface="Arial" panose="020B0604020202020204" pitchFamily="34" charset="0"/>
                <a:cs typeface="Arial" panose="020B0604020202020204" pitchFamily="34" charset="0"/>
              </a:rPr>
              <a:t>vectorized</a:t>
            </a:r>
            <a:r>
              <a:rPr lang="en-US" sz="2400" dirty="0">
                <a:latin typeface="Arial" panose="020B0604020202020204" pitchFamily="34" charset="0"/>
                <a:cs typeface="Arial" panose="020B0604020202020204" pitchFamily="34" charset="0"/>
              </a:rPr>
              <a:t> loop on modern CPUs are able to generate multiple outstanding cache misses, for different values in a vector.</a:t>
            </a:r>
          </a:p>
          <a:p>
            <a:pPr marL="539750" indent="-357188">
              <a:lnSpc>
                <a:spcPct val="110000"/>
              </a:lnSpc>
              <a:spcBef>
                <a:spcPts val="1800"/>
              </a:spcBef>
              <a:spcAft>
                <a:spcPts val="600"/>
              </a:spcAft>
            </a:pPr>
            <a:r>
              <a:rPr lang="en-US" sz="2400" dirty="0">
                <a:solidFill>
                  <a:srgbClr val="FF0000"/>
                </a:solidFill>
                <a:latin typeface="Arial" panose="020B0604020202020204" pitchFamily="34" charset="0"/>
                <a:cs typeface="Arial" panose="020B0604020202020204" pitchFamily="34" charset="0"/>
              </a:rPr>
              <a:t>Profiling. </a:t>
            </a:r>
            <a:r>
              <a:rPr lang="en-US" sz="2400" dirty="0">
                <a:latin typeface="Arial" panose="020B0604020202020204" pitchFamily="34" charset="0"/>
                <a:cs typeface="Arial" panose="020B0604020202020204" pitchFamily="34" charset="0"/>
              </a:rPr>
              <a:t>Since </a:t>
            </a:r>
            <a:r>
              <a:rPr lang="en-US" sz="2400" dirty="0" err="1">
                <a:latin typeface="Arial" panose="020B0604020202020204" pitchFamily="34" charset="0"/>
                <a:cs typeface="Arial" panose="020B0604020202020204" pitchFamily="34" charset="0"/>
              </a:rPr>
              <a:t>vectorized</a:t>
            </a:r>
            <a:r>
              <a:rPr lang="en-US" sz="2400" dirty="0">
                <a:latin typeface="Arial" panose="020B0604020202020204" pitchFamily="34" charset="0"/>
                <a:cs typeface="Arial" panose="020B0604020202020204" pitchFamily="34" charset="0"/>
              </a:rPr>
              <a:t> implementations of relational operators perform all expression evaluation work in a </a:t>
            </a:r>
            <a:r>
              <a:rPr lang="en-US" sz="2400" dirty="0" err="1">
                <a:latin typeface="Arial" panose="020B0604020202020204" pitchFamily="34" charset="0"/>
                <a:cs typeface="Arial" panose="020B0604020202020204" pitchFamily="34" charset="0"/>
              </a:rPr>
              <a:t>vectorized</a:t>
            </a:r>
            <a:r>
              <a:rPr lang="en-US" sz="2400" dirty="0">
                <a:latin typeface="Arial" panose="020B0604020202020204" pitchFamily="34" charset="0"/>
                <a:cs typeface="Arial" panose="020B0604020202020204" pitchFamily="34" charset="0"/>
              </a:rPr>
              <a:t> fashion,</a:t>
            </a:r>
          </a:p>
        </p:txBody>
      </p:sp>
      <p:pic>
        <p:nvPicPr>
          <p:cNvPr id="4" name="Picture 2" descr="Image result for vit ap logo"/>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546183" y="275303"/>
            <a:ext cx="1324835" cy="610419"/>
          </a:xfrm>
          <a:prstGeom prst="rect">
            <a:avLst/>
          </a:prstGeom>
          <a:noFill/>
          <a:extLst>
            <a:ext uri="{909E8E84-426E-40DD-AFC4-6F175D3DCCD1}">
              <a14:hiddenFill xmlns:a14="http://schemas.microsoft.com/office/drawing/2010/main">
                <a:solidFill>
                  <a:srgbClr val="FFFFFF"/>
                </a:solidFill>
              </a14:hiddenFill>
            </a:ext>
          </a:extLst>
        </p:spPr>
      </p:pic>
      <p:sp>
        <p:nvSpPr>
          <p:cNvPr id="7" name="Date Placeholder 6"/>
          <p:cNvSpPr>
            <a:spLocks noGrp="1"/>
          </p:cNvSpPr>
          <p:nvPr>
            <p:ph type="dt" sz="half" idx="10"/>
          </p:nvPr>
        </p:nvSpPr>
        <p:spPr/>
        <p:txBody>
          <a:bodyPr/>
          <a:lstStyle/>
          <a:p>
            <a:fld id="{2F25C4A8-1BA0-468A-B855-2EFA71CD0C96}" type="datetime1">
              <a:rPr lang="en-IN" smtClean="0">
                <a:latin typeface="Arial" panose="020B0604020202020204" pitchFamily="34" charset="0"/>
                <a:cs typeface="Arial" panose="020B0604020202020204" pitchFamily="34" charset="0"/>
              </a:rPr>
              <a:t>25-04-2023</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14</a:t>
            </a:fld>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73904454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u="sng" dirty="0">
                <a:solidFill>
                  <a:srgbClr val="0070C0"/>
                </a:solidFill>
                <a:latin typeface="Arial" panose="020B0604020202020204" pitchFamily="34" charset="0"/>
                <a:cs typeface="Arial" panose="020B0604020202020204" pitchFamily="34" charset="0"/>
              </a:rPr>
              <a:t>Conclusion</a:t>
            </a:r>
          </a:p>
        </p:txBody>
      </p:sp>
      <p:sp>
        <p:nvSpPr>
          <p:cNvPr id="3" name="Content Placeholder 2"/>
          <p:cNvSpPr>
            <a:spLocks noGrp="1"/>
          </p:cNvSpPr>
          <p:nvPr>
            <p:ph idx="1"/>
          </p:nvPr>
        </p:nvSpPr>
        <p:spPr>
          <a:xfrm>
            <a:off x="838200" y="1690688"/>
            <a:ext cx="10515600" cy="4486275"/>
          </a:xfrm>
        </p:spPr>
        <p:txBody>
          <a:bodyPr>
            <a:normAutofit/>
          </a:bodyPr>
          <a:lstStyle/>
          <a:p>
            <a:pPr marL="539750" indent="-357188">
              <a:lnSpc>
                <a:spcPct val="110000"/>
              </a:lnSpc>
              <a:spcBef>
                <a:spcPts val="1800"/>
              </a:spcBef>
              <a:spcAft>
                <a:spcPts val="600"/>
              </a:spcAft>
            </a:pPr>
            <a:r>
              <a:rPr lang="en-US" sz="2400" dirty="0" err="1">
                <a:latin typeface="Arial" panose="020B0604020202020204" pitchFamily="34" charset="0"/>
                <a:cs typeface="Arial" panose="020B0604020202020204" pitchFamily="34" charset="0"/>
              </a:rPr>
              <a:t>vectorized</a:t>
            </a:r>
            <a:r>
              <a:rPr lang="en-US" sz="2400" dirty="0">
                <a:latin typeface="Arial" panose="020B0604020202020204" pitchFamily="34" charset="0"/>
                <a:cs typeface="Arial" panose="020B0604020202020204" pitchFamily="34" charset="0"/>
              </a:rPr>
              <a:t> query execution system </a:t>
            </a:r>
            <a:r>
              <a:rPr lang="en-US" sz="2400" dirty="0">
                <a:solidFill>
                  <a:srgbClr val="FF0000"/>
                </a:solidFill>
                <a:latin typeface="Arial" panose="020B0604020202020204" pitchFamily="34" charset="0"/>
                <a:cs typeface="Arial" panose="020B0604020202020204" pitchFamily="34" charset="0"/>
              </a:rPr>
              <a:t>can support both vertical (column) and horizontal (record) tuple representations in a single execution framework</a:t>
            </a:r>
          </a:p>
          <a:p>
            <a:pPr marL="539750" indent="-357188">
              <a:lnSpc>
                <a:spcPct val="110000"/>
              </a:lnSpc>
              <a:spcBef>
                <a:spcPts val="1800"/>
              </a:spcBef>
              <a:spcAft>
                <a:spcPts val="600"/>
              </a:spcAft>
            </a:pPr>
            <a:r>
              <a:rPr lang="en-US" sz="2400" dirty="0">
                <a:solidFill>
                  <a:srgbClr val="FF0000"/>
                </a:solidFill>
                <a:latin typeface="Arial" panose="020B0604020202020204" pitchFamily="34" charset="0"/>
                <a:cs typeface="Arial" panose="020B0604020202020204" pitchFamily="34" charset="0"/>
              </a:rPr>
              <a:t>sequential operators (project, selection) work best on vertical vectors </a:t>
            </a:r>
            <a:r>
              <a:rPr lang="en-US" sz="2400" dirty="0">
                <a:latin typeface="Arial" panose="020B0604020202020204" pitchFamily="34" charset="0"/>
                <a:cs typeface="Arial" panose="020B0604020202020204" pitchFamily="34" charset="0"/>
              </a:rPr>
              <a:t>(exploiting automatic memory prefetching and SIMD opportunities), </a:t>
            </a:r>
          </a:p>
          <a:p>
            <a:pPr marL="539750" indent="-357188">
              <a:lnSpc>
                <a:spcPct val="110000"/>
              </a:lnSpc>
              <a:spcBef>
                <a:spcPts val="1800"/>
              </a:spcBef>
              <a:spcAft>
                <a:spcPts val="600"/>
              </a:spcAft>
            </a:pPr>
            <a:r>
              <a:rPr lang="en-US" sz="2400" dirty="0">
                <a:solidFill>
                  <a:srgbClr val="FF0000"/>
                </a:solidFill>
                <a:latin typeface="Arial" panose="020B0604020202020204" pitchFamily="34" charset="0"/>
                <a:cs typeface="Arial" panose="020B0604020202020204" pitchFamily="34" charset="0"/>
              </a:rPr>
              <a:t>random access operator (hash-join or -aggregation) work best using blocks of horizontal records</a:t>
            </a:r>
            <a:r>
              <a:rPr lang="en-US" sz="2400" dirty="0">
                <a:latin typeface="Arial" panose="020B0604020202020204" pitchFamily="34" charset="0"/>
                <a:cs typeface="Arial" panose="020B0604020202020204" pitchFamily="34" charset="0"/>
              </a:rPr>
              <a:t>, due to cache locality.</a:t>
            </a:r>
          </a:p>
        </p:txBody>
      </p:sp>
      <p:pic>
        <p:nvPicPr>
          <p:cNvPr id="4" name="Picture 2" descr="Image result for vit ap logo"/>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546183" y="275303"/>
            <a:ext cx="1324835" cy="610419"/>
          </a:xfrm>
          <a:prstGeom prst="rect">
            <a:avLst/>
          </a:prstGeom>
          <a:noFill/>
          <a:extLst>
            <a:ext uri="{909E8E84-426E-40DD-AFC4-6F175D3DCCD1}">
              <a14:hiddenFill xmlns:a14="http://schemas.microsoft.com/office/drawing/2010/main">
                <a:solidFill>
                  <a:srgbClr val="FFFFFF"/>
                </a:solidFill>
              </a14:hiddenFill>
            </a:ext>
          </a:extLst>
        </p:spPr>
      </p:pic>
      <p:sp>
        <p:nvSpPr>
          <p:cNvPr id="7" name="Date Placeholder 6"/>
          <p:cNvSpPr>
            <a:spLocks noGrp="1"/>
          </p:cNvSpPr>
          <p:nvPr>
            <p:ph type="dt" sz="half" idx="10"/>
          </p:nvPr>
        </p:nvSpPr>
        <p:spPr/>
        <p:txBody>
          <a:bodyPr/>
          <a:lstStyle/>
          <a:p>
            <a:fld id="{2F25C4A8-1BA0-468A-B855-2EFA71CD0C96}" type="datetime1">
              <a:rPr lang="en-IN" smtClean="0">
                <a:latin typeface="Arial" panose="020B0604020202020204" pitchFamily="34" charset="0"/>
                <a:cs typeface="Arial" panose="020B0604020202020204" pitchFamily="34" charset="0"/>
              </a:rPr>
              <a:t>25-04-2023</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15</a:t>
            </a:fld>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34474067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u="sng" dirty="0">
                <a:solidFill>
                  <a:srgbClr val="0070C0"/>
                </a:solidFill>
                <a:latin typeface="Arial" panose="020B0604020202020204" pitchFamily="34" charset="0"/>
                <a:cs typeface="Arial" panose="020B0604020202020204" pitchFamily="34" charset="0"/>
              </a:rPr>
              <a:t>Compression</a:t>
            </a:r>
          </a:p>
        </p:txBody>
      </p:sp>
      <p:sp>
        <p:nvSpPr>
          <p:cNvPr id="3" name="Content Placeholder 2"/>
          <p:cNvSpPr>
            <a:spLocks noGrp="1"/>
          </p:cNvSpPr>
          <p:nvPr>
            <p:ph idx="1"/>
          </p:nvPr>
        </p:nvSpPr>
        <p:spPr>
          <a:xfrm>
            <a:off x="838200" y="1690688"/>
            <a:ext cx="10515600" cy="4486275"/>
          </a:xfrm>
        </p:spPr>
        <p:txBody>
          <a:bodyPr>
            <a:normAutofit/>
          </a:bodyPr>
          <a:lstStyle/>
          <a:p>
            <a:pPr marL="539750" indent="-357188">
              <a:lnSpc>
                <a:spcPct val="110000"/>
              </a:lnSpc>
              <a:spcBef>
                <a:spcPts val="1800"/>
              </a:spcBef>
              <a:spcAft>
                <a:spcPts val="600"/>
              </a:spcAft>
            </a:pPr>
            <a:r>
              <a:rPr lang="en-US" sz="2400" dirty="0">
                <a:latin typeface="Arial" panose="020B0604020202020204" pitchFamily="34" charset="0"/>
                <a:cs typeface="Arial" panose="020B0604020202020204" pitchFamily="34" charset="0"/>
              </a:rPr>
              <a:t>Intuitively, data stored in columns is more compressible than data stored in rows.</a:t>
            </a:r>
          </a:p>
          <a:p>
            <a:pPr marL="539750" indent="-357188">
              <a:lnSpc>
                <a:spcPct val="110000"/>
              </a:lnSpc>
              <a:spcBef>
                <a:spcPts val="1800"/>
              </a:spcBef>
              <a:spcAft>
                <a:spcPts val="600"/>
              </a:spcAft>
            </a:pPr>
            <a:r>
              <a:rPr lang="en-US" sz="2400" dirty="0">
                <a:solidFill>
                  <a:srgbClr val="FF0000"/>
                </a:solidFill>
                <a:latin typeface="Arial" panose="020B0604020202020204" pitchFamily="34" charset="0"/>
                <a:cs typeface="Arial" panose="020B0604020202020204" pitchFamily="34" charset="0"/>
              </a:rPr>
              <a:t>Compression reduces the size of data on disk by compressing the </a:t>
            </a:r>
            <a:r>
              <a:rPr lang="en-US" sz="2400" dirty="0" err="1">
                <a:solidFill>
                  <a:srgbClr val="FF0000"/>
                </a:solidFill>
                <a:latin typeface="Arial" panose="020B0604020202020204" pitchFamily="34" charset="0"/>
                <a:cs typeface="Arial" panose="020B0604020202020204" pitchFamily="34" charset="0"/>
              </a:rPr>
              <a:t>SSTable</a:t>
            </a:r>
            <a:r>
              <a:rPr lang="en-US" sz="2400" dirty="0">
                <a:latin typeface="Arial" panose="020B0604020202020204" pitchFamily="34" charset="0"/>
                <a:cs typeface="Arial" panose="020B0604020202020204" pitchFamily="34" charset="0"/>
              </a:rPr>
              <a:t>.</a:t>
            </a:r>
          </a:p>
          <a:p>
            <a:pPr marL="539750" indent="-357188">
              <a:lnSpc>
                <a:spcPct val="110000"/>
              </a:lnSpc>
              <a:spcBef>
                <a:spcPts val="1800"/>
              </a:spcBef>
              <a:spcAft>
                <a:spcPts val="600"/>
              </a:spcAft>
            </a:pPr>
            <a:r>
              <a:rPr lang="en-US" sz="2400" dirty="0">
                <a:latin typeface="Arial" panose="020B0604020202020204" pitchFamily="34" charset="0"/>
                <a:cs typeface="Arial" panose="020B0604020202020204" pitchFamily="34" charset="0"/>
              </a:rPr>
              <a:t>Compression algorithms perform better on data with low information entropy (i.e., with high data value locality), and values from the same column tend to have more value locality than values from different columns</a:t>
            </a:r>
          </a:p>
        </p:txBody>
      </p:sp>
      <p:pic>
        <p:nvPicPr>
          <p:cNvPr id="4" name="Picture 2" descr="Image result for vit ap logo"/>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546183" y="275303"/>
            <a:ext cx="1324835" cy="610419"/>
          </a:xfrm>
          <a:prstGeom prst="rect">
            <a:avLst/>
          </a:prstGeom>
          <a:noFill/>
          <a:extLst>
            <a:ext uri="{909E8E84-426E-40DD-AFC4-6F175D3DCCD1}">
              <a14:hiddenFill xmlns:a14="http://schemas.microsoft.com/office/drawing/2010/main">
                <a:solidFill>
                  <a:srgbClr val="FFFFFF"/>
                </a:solidFill>
              </a14:hiddenFill>
            </a:ext>
          </a:extLst>
        </p:spPr>
      </p:pic>
      <p:sp>
        <p:nvSpPr>
          <p:cNvPr id="7" name="Date Placeholder 6"/>
          <p:cNvSpPr>
            <a:spLocks noGrp="1"/>
          </p:cNvSpPr>
          <p:nvPr>
            <p:ph type="dt" sz="half" idx="10"/>
          </p:nvPr>
        </p:nvSpPr>
        <p:spPr/>
        <p:txBody>
          <a:bodyPr/>
          <a:lstStyle/>
          <a:p>
            <a:fld id="{2F25C4A8-1BA0-468A-B855-2EFA71CD0C96}" type="datetime1">
              <a:rPr lang="en-IN" smtClean="0">
                <a:latin typeface="Arial" panose="020B0604020202020204" pitchFamily="34" charset="0"/>
                <a:cs typeface="Arial" panose="020B0604020202020204" pitchFamily="34" charset="0"/>
              </a:rPr>
              <a:t>25-04-2023</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16</a:t>
            </a:fld>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91405311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u="sng" dirty="0">
                <a:solidFill>
                  <a:srgbClr val="0070C0"/>
                </a:solidFill>
                <a:latin typeface="Arial" panose="020B0604020202020204" pitchFamily="34" charset="0"/>
                <a:cs typeface="Arial" panose="020B0604020202020204" pitchFamily="34" charset="0"/>
              </a:rPr>
              <a:t>Compressing one column-at-a-time</a:t>
            </a:r>
          </a:p>
        </p:txBody>
      </p:sp>
      <p:sp>
        <p:nvSpPr>
          <p:cNvPr id="3" name="Content Placeholder 2"/>
          <p:cNvSpPr>
            <a:spLocks noGrp="1"/>
          </p:cNvSpPr>
          <p:nvPr>
            <p:ph idx="1"/>
          </p:nvPr>
        </p:nvSpPr>
        <p:spPr>
          <a:xfrm>
            <a:off x="838200" y="1690688"/>
            <a:ext cx="10515600" cy="4486275"/>
          </a:xfrm>
        </p:spPr>
        <p:txBody>
          <a:bodyPr>
            <a:normAutofit/>
          </a:bodyPr>
          <a:lstStyle/>
          <a:p>
            <a:pPr marL="0" indent="0">
              <a:lnSpc>
                <a:spcPct val="110000"/>
              </a:lnSpc>
              <a:spcBef>
                <a:spcPts val="1800"/>
              </a:spcBef>
              <a:spcAft>
                <a:spcPts val="600"/>
              </a:spcAft>
              <a:buNone/>
            </a:pPr>
            <a:r>
              <a:rPr lang="en-US" sz="2400" dirty="0">
                <a:latin typeface="Arial" panose="020B0604020202020204" pitchFamily="34" charset="0"/>
                <a:cs typeface="Arial" panose="020B0604020202020204" pitchFamily="34" charset="0"/>
              </a:rPr>
              <a:t>Example: customers (name, phone, e-</a:t>
            </a:r>
            <a:r>
              <a:rPr lang="en-US" sz="2400" dirty="0" err="1">
                <a:latin typeface="Arial" panose="020B0604020202020204" pitchFamily="34" charset="0"/>
                <a:cs typeface="Arial" panose="020B0604020202020204" pitchFamily="34" charset="0"/>
              </a:rPr>
              <a:t>mail,address</a:t>
            </a:r>
            <a:r>
              <a:rPr lang="en-US" sz="2400" dirty="0">
                <a:latin typeface="Arial" panose="020B0604020202020204" pitchFamily="34" charset="0"/>
                <a:cs typeface="Arial" panose="020B0604020202020204" pitchFamily="34" charset="0"/>
              </a:rPr>
              <a:t>).</a:t>
            </a:r>
          </a:p>
          <a:p>
            <a:pPr marL="0" indent="0">
              <a:lnSpc>
                <a:spcPct val="110000"/>
              </a:lnSpc>
              <a:spcBef>
                <a:spcPts val="1800"/>
              </a:spcBef>
              <a:spcAft>
                <a:spcPts val="600"/>
              </a:spcAft>
              <a:buNone/>
            </a:pPr>
            <a:r>
              <a:rPr lang="en-US" sz="2400" dirty="0">
                <a:solidFill>
                  <a:srgbClr val="FF0000"/>
                </a:solidFill>
                <a:latin typeface="Arial" panose="020B0604020202020204" pitchFamily="34" charset="0"/>
                <a:cs typeface="Arial" panose="020B0604020202020204" pitchFamily="34" charset="0"/>
              </a:rPr>
              <a:t>Storing all data together in the form of rows</a:t>
            </a:r>
            <a:r>
              <a:rPr lang="en-US" sz="2400" dirty="0">
                <a:latin typeface="Arial" panose="020B0604020202020204" pitchFamily="34" charset="0"/>
                <a:cs typeface="Arial" panose="020B0604020202020204" pitchFamily="34" charset="0"/>
              </a:rPr>
              <a:t>, means that each data page contains information on names, phone numbers, addresses, etc. and we </a:t>
            </a:r>
            <a:r>
              <a:rPr lang="en-US" sz="2400" dirty="0">
                <a:solidFill>
                  <a:srgbClr val="FF0000"/>
                </a:solidFill>
                <a:latin typeface="Arial" panose="020B0604020202020204" pitchFamily="34" charset="0"/>
                <a:cs typeface="Arial" panose="020B0604020202020204" pitchFamily="34" charset="0"/>
              </a:rPr>
              <a:t>have to compress all this information together</a:t>
            </a:r>
            <a:r>
              <a:rPr lang="en-US" sz="2400" dirty="0">
                <a:latin typeface="Arial" panose="020B0604020202020204" pitchFamily="34" charset="0"/>
                <a:cs typeface="Arial" panose="020B0604020202020204" pitchFamily="34" charset="0"/>
              </a:rPr>
              <a:t>. </a:t>
            </a:r>
          </a:p>
          <a:p>
            <a:pPr marL="0" indent="0">
              <a:lnSpc>
                <a:spcPct val="110000"/>
              </a:lnSpc>
              <a:spcBef>
                <a:spcPts val="1800"/>
              </a:spcBef>
              <a:spcAft>
                <a:spcPts val="600"/>
              </a:spcAft>
              <a:buNone/>
            </a:pPr>
            <a:r>
              <a:rPr lang="en-US" sz="2400" dirty="0">
                <a:latin typeface="Arial" panose="020B0604020202020204" pitchFamily="34" charset="0"/>
                <a:cs typeface="Arial" panose="020B0604020202020204" pitchFamily="34" charset="0"/>
              </a:rPr>
              <a:t>On the other hand, storing data in columns allows all of the names to be stored together, all of the phone numbers together, etc. Certainly phone numbers are more similar to each other than to other fields like e-mail addresses or names.</a:t>
            </a:r>
          </a:p>
        </p:txBody>
      </p:sp>
      <p:pic>
        <p:nvPicPr>
          <p:cNvPr id="4" name="Picture 2" descr="Image result for vit ap logo"/>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546183" y="275303"/>
            <a:ext cx="1324835" cy="610419"/>
          </a:xfrm>
          <a:prstGeom prst="rect">
            <a:avLst/>
          </a:prstGeom>
          <a:noFill/>
          <a:extLst>
            <a:ext uri="{909E8E84-426E-40DD-AFC4-6F175D3DCCD1}">
              <a14:hiddenFill xmlns:a14="http://schemas.microsoft.com/office/drawing/2010/main">
                <a:solidFill>
                  <a:srgbClr val="FFFFFF"/>
                </a:solidFill>
              </a14:hiddenFill>
            </a:ext>
          </a:extLst>
        </p:spPr>
      </p:pic>
      <p:sp>
        <p:nvSpPr>
          <p:cNvPr id="7" name="Date Placeholder 6"/>
          <p:cNvSpPr>
            <a:spLocks noGrp="1"/>
          </p:cNvSpPr>
          <p:nvPr>
            <p:ph type="dt" sz="half" idx="10"/>
          </p:nvPr>
        </p:nvSpPr>
        <p:spPr/>
        <p:txBody>
          <a:bodyPr/>
          <a:lstStyle/>
          <a:p>
            <a:fld id="{2F25C4A8-1BA0-468A-B855-2EFA71CD0C96}" type="datetime1">
              <a:rPr lang="en-IN" smtClean="0">
                <a:latin typeface="Arial" panose="020B0604020202020204" pitchFamily="34" charset="0"/>
                <a:cs typeface="Arial" panose="020B0604020202020204" pitchFamily="34" charset="0"/>
              </a:rPr>
              <a:t>25-04-2023</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17</a:t>
            </a:fld>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74909594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u="sng" dirty="0">
                <a:solidFill>
                  <a:srgbClr val="0070C0"/>
                </a:solidFill>
                <a:latin typeface="Arial" panose="020B0604020202020204" pitchFamily="34" charset="0"/>
                <a:cs typeface="Arial" panose="020B0604020202020204" pitchFamily="34" charset="0"/>
              </a:rPr>
              <a:t>Compressing one column-at-a-time</a:t>
            </a:r>
          </a:p>
        </p:txBody>
      </p:sp>
      <p:sp>
        <p:nvSpPr>
          <p:cNvPr id="3" name="Content Placeholder 2"/>
          <p:cNvSpPr>
            <a:spLocks noGrp="1"/>
          </p:cNvSpPr>
          <p:nvPr>
            <p:ph idx="1"/>
          </p:nvPr>
        </p:nvSpPr>
        <p:spPr>
          <a:xfrm>
            <a:off x="838200" y="1690688"/>
            <a:ext cx="10515600" cy="4486275"/>
          </a:xfrm>
        </p:spPr>
        <p:txBody>
          <a:bodyPr>
            <a:normAutofit/>
          </a:bodyPr>
          <a:lstStyle/>
          <a:p>
            <a:pPr marL="0" indent="0">
              <a:lnSpc>
                <a:spcPct val="110000"/>
              </a:lnSpc>
              <a:spcBef>
                <a:spcPts val="1800"/>
              </a:spcBef>
              <a:spcAft>
                <a:spcPts val="600"/>
              </a:spcAft>
              <a:buNone/>
            </a:pPr>
            <a:r>
              <a:rPr lang="en-US" sz="2400" dirty="0">
                <a:latin typeface="Arial" panose="020B0604020202020204" pitchFamily="34" charset="0"/>
                <a:cs typeface="Arial" panose="020B0604020202020204" pitchFamily="34" charset="0"/>
              </a:rPr>
              <a:t>Compression algorithms may be able to compress more data with the same common patterns as more data of the same type fit in a single page.</a:t>
            </a:r>
          </a:p>
          <a:p>
            <a:pPr marL="0" indent="0">
              <a:lnSpc>
                <a:spcPct val="110000"/>
              </a:lnSpc>
              <a:spcBef>
                <a:spcPts val="1800"/>
              </a:spcBef>
              <a:spcAft>
                <a:spcPts val="600"/>
              </a:spcAft>
              <a:buNone/>
            </a:pPr>
            <a:r>
              <a:rPr lang="en-US" sz="2400" dirty="0">
                <a:latin typeface="Arial" panose="020B0604020202020204" pitchFamily="34" charset="0"/>
                <a:cs typeface="Arial" panose="020B0604020202020204" pitchFamily="34" charset="0"/>
              </a:rPr>
              <a:t>More similar data implies that in general the data structures, codes, etc. used for compression will be smaller and thus this leads to better compression.</a:t>
            </a:r>
          </a:p>
        </p:txBody>
      </p:sp>
      <p:pic>
        <p:nvPicPr>
          <p:cNvPr id="4" name="Picture 2" descr="Image result for vit ap logo"/>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546183" y="275303"/>
            <a:ext cx="1324835" cy="610419"/>
          </a:xfrm>
          <a:prstGeom prst="rect">
            <a:avLst/>
          </a:prstGeom>
          <a:noFill/>
          <a:extLst>
            <a:ext uri="{909E8E84-426E-40DD-AFC4-6F175D3DCCD1}">
              <a14:hiddenFill xmlns:a14="http://schemas.microsoft.com/office/drawing/2010/main">
                <a:solidFill>
                  <a:srgbClr val="FFFFFF"/>
                </a:solidFill>
              </a14:hiddenFill>
            </a:ext>
          </a:extLst>
        </p:spPr>
      </p:pic>
      <p:sp>
        <p:nvSpPr>
          <p:cNvPr id="7" name="Date Placeholder 6"/>
          <p:cNvSpPr>
            <a:spLocks noGrp="1"/>
          </p:cNvSpPr>
          <p:nvPr>
            <p:ph type="dt" sz="half" idx="10"/>
          </p:nvPr>
        </p:nvSpPr>
        <p:spPr/>
        <p:txBody>
          <a:bodyPr/>
          <a:lstStyle/>
          <a:p>
            <a:fld id="{2F25C4A8-1BA0-468A-B855-2EFA71CD0C96}" type="datetime1">
              <a:rPr lang="en-IN" smtClean="0">
                <a:latin typeface="Arial" panose="020B0604020202020204" pitchFamily="34" charset="0"/>
                <a:cs typeface="Arial" panose="020B0604020202020204" pitchFamily="34" charset="0"/>
              </a:rPr>
              <a:t>25-04-2023</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18</a:t>
            </a:fld>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40561942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u="sng" dirty="0">
                <a:solidFill>
                  <a:srgbClr val="0070C0"/>
                </a:solidFill>
                <a:latin typeface="Arial" panose="020B0604020202020204" pitchFamily="34" charset="0"/>
                <a:cs typeface="Arial" panose="020B0604020202020204" pitchFamily="34" charset="0"/>
              </a:rPr>
              <a:t>Exploiting extra CPU cycles</a:t>
            </a:r>
          </a:p>
        </p:txBody>
      </p:sp>
      <p:sp>
        <p:nvSpPr>
          <p:cNvPr id="3" name="Content Placeholder 2"/>
          <p:cNvSpPr>
            <a:spLocks noGrp="1"/>
          </p:cNvSpPr>
          <p:nvPr>
            <p:ph idx="1"/>
          </p:nvPr>
        </p:nvSpPr>
        <p:spPr>
          <a:xfrm>
            <a:off x="838200" y="1690688"/>
            <a:ext cx="10515600" cy="4486275"/>
          </a:xfrm>
        </p:spPr>
        <p:txBody>
          <a:bodyPr>
            <a:normAutofit/>
          </a:bodyPr>
          <a:lstStyle/>
          <a:p>
            <a:pPr marL="0" indent="0">
              <a:lnSpc>
                <a:spcPct val="110000"/>
              </a:lnSpc>
              <a:spcBef>
                <a:spcPts val="1800"/>
              </a:spcBef>
              <a:spcAft>
                <a:spcPts val="600"/>
              </a:spcAft>
              <a:buNone/>
            </a:pPr>
            <a:r>
              <a:rPr lang="en-US" sz="2400" dirty="0">
                <a:solidFill>
                  <a:srgbClr val="FF0000"/>
                </a:solidFill>
                <a:latin typeface="Arial" panose="020B0604020202020204" pitchFamily="34" charset="0"/>
                <a:cs typeface="Arial" panose="020B0604020202020204" pitchFamily="34" charset="0"/>
              </a:rPr>
              <a:t>Compression does improve performance </a:t>
            </a:r>
            <a:r>
              <a:rPr lang="en-US" sz="2400" dirty="0">
                <a:latin typeface="Arial" panose="020B0604020202020204" pitchFamily="34" charset="0"/>
                <a:cs typeface="Arial" panose="020B0604020202020204" pitchFamily="34" charset="0"/>
              </a:rPr>
              <a:t>(in addition to reducing disk space)</a:t>
            </a:r>
          </a:p>
          <a:p>
            <a:pPr marL="0" indent="0">
              <a:lnSpc>
                <a:spcPct val="110000"/>
              </a:lnSpc>
              <a:spcBef>
                <a:spcPts val="1800"/>
              </a:spcBef>
              <a:spcAft>
                <a:spcPts val="600"/>
              </a:spcAft>
              <a:buNone/>
            </a:pPr>
            <a:r>
              <a:rPr lang="en-US" sz="2400" dirty="0">
                <a:latin typeface="Arial" panose="020B0604020202020204" pitchFamily="34" charset="0"/>
                <a:cs typeface="Arial" panose="020B0604020202020204" pitchFamily="34" charset="0"/>
              </a:rPr>
              <a:t>If data is compressed, then less time is spent in I/O during query processing as less data is read from disk into memory (and from memory to CPU).</a:t>
            </a:r>
          </a:p>
          <a:p>
            <a:pPr marL="0" indent="0">
              <a:lnSpc>
                <a:spcPct val="110000"/>
              </a:lnSpc>
              <a:spcBef>
                <a:spcPts val="1800"/>
              </a:spcBef>
              <a:spcAft>
                <a:spcPts val="600"/>
              </a:spcAft>
              <a:buNone/>
            </a:pPr>
            <a:r>
              <a:rPr lang="en-US" sz="2400" dirty="0">
                <a:latin typeface="Arial" panose="020B0604020202020204" pitchFamily="34" charset="0"/>
                <a:cs typeface="Arial" panose="020B0604020202020204" pitchFamily="34" charset="0"/>
              </a:rPr>
              <a:t>CPUs are getting much faster compared to memory bandwidth, the cost of accessing data costs more in terms of CPU cycles than it did in the past</a:t>
            </a:r>
          </a:p>
          <a:p>
            <a:pPr marL="0" indent="0">
              <a:lnSpc>
                <a:spcPct val="110000"/>
              </a:lnSpc>
              <a:spcBef>
                <a:spcPts val="1800"/>
              </a:spcBef>
              <a:spcAft>
                <a:spcPts val="600"/>
              </a:spcAft>
              <a:buNone/>
            </a:pPr>
            <a:r>
              <a:rPr lang="en-US" sz="2400" dirty="0">
                <a:latin typeface="Arial" panose="020B0604020202020204" pitchFamily="34" charset="0"/>
                <a:cs typeface="Arial" panose="020B0604020202020204" pitchFamily="34" charset="0"/>
              </a:rPr>
              <a:t>We have more CPU cycles to spare in decompressing compressed data fast which is preferable to transferring uncompressed and thus bigger data at slow speeds (in terms </a:t>
            </a:r>
            <a:r>
              <a:rPr lang="en-US" sz="2400">
                <a:latin typeface="Arial" panose="020B0604020202020204" pitchFamily="34" charset="0"/>
                <a:cs typeface="Arial" panose="020B0604020202020204" pitchFamily="34" charset="0"/>
              </a:rPr>
              <a:t>of wasted </a:t>
            </a:r>
            <a:r>
              <a:rPr lang="en-US" sz="2400" dirty="0">
                <a:latin typeface="Arial" panose="020B0604020202020204" pitchFamily="34" charset="0"/>
                <a:cs typeface="Arial" panose="020B0604020202020204" pitchFamily="34" charset="0"/>
              </a:rPr>
              <a:t>CPU cycles) through the memory hierarchy.</a:t>
            </a:r>
          </a:p>
        </p:txBody>
      </p:sp>
      <p:pic>
        <p:nvPicPr>
          <p:cNvPr id="4" name="Picture 2" descr="Image result for vit ap logo"/>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546183" y="275303"/>
            <a:ext cx="1324835" cy="610419"/>
          </a:xfrm>
          <a:prstGeom prst="rect">
            <a:avLst/>
          </a:prstGeom>
          <a:noFill/>
          <a:extLst>
            <a:ext uri="{909E8E84-426E-40DD-AFC4-6F175D3DCCD1}">
              <a14:hiddenFill xmlns:a14="http://schemas.microsoft.com/office/drawing/2010/main">
                <a:solidFill>
                  <a:srgbClr val="FFFFFF"/>
                </a:solidFill>
              </a14:hiddenFill>
            </a:ext>
          </a:extLst>
        </p:spPr>
      </p:pic>
      <p:sp>
        <p:nvSpPr>
          <p:cNvPr id="7" name="Date Placeholder 6"/>
          <p:cNvSpPr>
            <a:spLocks noGrp="1"/>
          </p:cNvSpPr>
          <p:nvPr>
            <p:ph type="dt" sz="half" idx="10"/>
          </p:nvPr>
        </p:nvSpPr>
        <p:spPr/>
        <p:txBody>
          <a:bodyPr/>
          <a:lstStyle/>
          <a:p>
            <a:fld id="{2F25C4A8-1BA0-468A-B855-2EFA71CD0C96}" type="datetime1">
              <a:rPr lang="en-IN" smtClean="0">
                <a:latin typeface="Arial" panose="020B0604020202020204" pitchFamily="34" charset="0"/>
                <a:cs typeface="Arial" panose="020B0604020202020204" pitchFamily="34" charset="0"/>
              </a:rPr>
              <a:t>25-04-2023</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19</a:t>
            </a:fld>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7551617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u="sng" dirty="0">
                <a:solidFill>
                  <a:srgbClr val="0070C0"/>
                </a:solidFill>
                <a:latin typeface="Arial" panose="020B0604020202020204" pitchFamily="34" charset="0"/>
                <a:cs typeface="Arial" panose="020B0604020202020204" pitchFamily="34" charset="0"/>
              </a:rPr>
              <a:t>Fixed-width arrays and SIMD</a:t>
            </a:r>
          </a:p>
        </p:txBody>
      </p:sp>
      <p:sp>
        <p:nvSpPr>
          <p:cNvPr id="3" name="Content Placeholder 2"/>
          <p:cNvSpPr>
            <a:spLocks noGrp="1"/>
          </p:cNvSpPr>
          <p:nvPr>
            <p:ph idx="1"/>
          </p:nvPr>
        </p:nvSpPr>
        <p:spPr>
          <a:xfrm>
            <a:off x="838200" y="1690688"/>
            <a:ext cx="10515600" cy="4486275"/>
          </a:xfrm>
        </p:spPr>
        <p:txBody>
          <a:bodyPr>
            <a:normAutofit fontScale="92500" lnSpcReduction="10000"/>
          </a:bodyPr>
          <a:lstStyle/>
          <a:p>
            <a:pPr marL="0" indent="0">
              <a:lnSpc>
                <a:spcPct val="110000"/>
              </a:lnSpc>
              <a:spcBef>
                <a:spcPts val="1800"/>
              </a:spcBef>
              <a:spcAft>
                <a:spcPts val="600"/>
              </a:spcAft>
              <a:buNone/>
            </a:pPr>
            <a:r>
              <a:rPr lang="en-US" sz="2400" dirty="0">
                <a:latin typeface="Arial" panose="020B0604020202020204" pitchFamily="34" charset="0"/>
                <a:cs typeface="Arial" panose="020B0604020202020204" pitchFamily="34" charset="0"/>
              </a:rPr>
              <a:t>Some of the “</a:t>
            </a:r>
            <a:r>
              <a:rPr lang="en-US" sz="2400" dirty="0" err="1">
                <a:latin typeface="Arial" panose="020B0604020202020204" pitchFamily="34" charset="0"/>
                <a:cs typeface="Arial" panose="020B0604020202020204" pitchFamily="34" charset="0"/>
              </a:rPr>
              <a:t>heavierweight</a:t>
            </a:r>
            <a:r>
              <a:rPr lang="en-US" sz="2400" dirty="0">
                <a:latin typeface="Arial" panose="020B0604020202020204" pitchFamily="34" charset="0"/>
                <a:cs typeface="Arial" panose="020B0604020202020204" pitchFamily="34" charset="0"/>
              </a:rPr>
              <a:t>” compression schemes that optimize for compression ratio are less suitable than “lighter-weight” schemes that sacrifice compression ratio for decompression performance.</a:t>
            </a:r>
          </a:p>
          <a:p>
            <a:pPr marL="0" indent="0">
              <a:lnSpc>
                <a:spcPct val="110000"/>
              </a:lnSpc>
              <a:spcBef>
                <a:spcPts val="1800"/>
              </a:spcBef>
              <a:spcAft>
                <a:spcPts val="600"/>
              </a:spcAft>
              <a:buNone/>
            </a:pPr>
            <a:r>
              <a:rPr lang="en-US" sz="2400" dirty="0">
                <a:solidFill>
                  <a:srgbClr val="FF0000"/>
                </a:solidFill>
                <a:latin typeface="Arial" panose="020B0604020202020204" pitchFamily="34" charset="0"/>
                <a:cs typeface="Arial" panose="020B0604020202020204" pitchFamily="34" charset="0"/>
              </a:rPr>
              <a:t>Light-weight compression schemes that compress a column into mostly fixed-width (smaller) values</a:t>
            </a:r>
            <a:r>
              <a:rPr lang="en-US" sz="2400" dirty="0">
                <a:latin typeface="Arial" panose="020B0604020202020204" pitchFamily="34" charset="0"/>
                <a:cs typeface="Arial" panose="020B0604020202020204" pitchFamily="34" charset="0"/>
              </a:rPr>
              <a:t> (with exceptions handled carefully) are often preferred, since this allows a compressed column </a:t>
            </a:r>
            <a:r>
              <a:rPr lang="en-US" sz="2400" dirty="0">
                <a:solidFill>
                  <a:srgbClr val="FF0000"/>
                </a:solidFill>
                <a:latin typeface="Arial" panose="020B0604020202020204" pitchFamily="34" charset="0"/>
                <a:cs typeface="Arial" panose="020B0604020202020204" pitchFamily="34" charset="0"/>
              </a:rPr>
              <a:t>to be treated as an array</a:t>
            </a:r>
            <a:r>
              <a:rPr lang="en-US" sz="2400" dirty="0">
                <a:latin typeface="Arial" panose="020B0604020202020204" pitchFamily="34" charset="0"/>
                <a:cs typeface="Arial" panose="020B0604020202020204" pitchFamily="34" charset="0"/>
              </a:rPr>
              <a:t>.</a:t>
            </a:r>
          </a:p>
          <a:p>
            <a:pPr marL="0" indent="0">
              <a:lnSpc>
                <a:spcPct val="110000"/>
              </a:lnSpc>
              <a:spcBef>
                <a:spcPts val="1800"/>
              </a:spcBef>
              <a:spcAft>
                <a:spcPts val="600"/>
              </a:spcAft>
              <a:buNone/>
            </a:pPr>
            <a:r>
              <a:rPr lang="en-US" sz="2400" dirty="0">
                <a:latin typeface="Arial" panose="020B0604020202020204" pitchFamily="34" charset="0"/>
                <a:cs typeface="Arial" panose="020B0604020202020204" pitchFamily="34" charset="0"/>
              </a:rPr>
              <a:t>Iterating through such an array (e.g., for decompression) can control the SIMD instruction set.</a:t>
            </a:r>
          </a:p>
          <a:p>
            <a:pPr marL="0" indent="0">
              <a:lnSpc>
                <a:spcPct val="110000"/>
              </a:lnSpc>
              <a:spcBef>
                <a:spcPts val="1800"/>
              </a:spcBef>
              <a:spcAft>
                <a:spcPts val="600"/>
              </a:spcAft>
              <a:buNone/>
            </a:pPr>
            <a:r>
              <a:rPr lang="en-US" sz="2400" dirty="0">
                <a:latin typeface="Arial" panose="020B0604020202020204" pitchFamily="34" charset="0"/>
                <a:cs typeface="Arial" panose="020B0604020202020204" pitchFamily="34" charset="0"/>
              </a:rPr>
              <a:t>With SIMD instructions we can decompress or process multiple compressed values with one instruction as long as they are packed into fixed-width and dense arrays</a:t>
            </a:r>
          </a:p>
        </p:txBody>
      </p:sp>
      <p:pic>
        <p:nvPicPr>
          <p:cNvPr id="4" name="Picture 2" descr="Image result for vit ap logo"/>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546183" y="275303"/>
            <a:ext cx="1324835" cy="610419"/>
          </a:xfrm>
          <a:prstGeom prst="rect">
            <a:avLst/>
          </a:prstGeom>
          <a:noFill/>
          <a:extLst>
            <a:ext uri="{909E8E84-426E-40DD-AFC4-6F175D3DCCD1}">
              <a14:hiddenFill xmlns:a14="http://schemas.microsoft.com/office/drawing/2010/main">
                <a:solidFill>
                  <a:srgbClr val="FFFFFF"/>
                </a:solidFill>
              </a14:hiddenFill>
            </a:ext>
          </a:extLst>
        </p:spPr>
      </p:pic>
      <p:sp>
        <p:nvSpPr>
          <p:cNvPr id="7" name="Date Placeholder 6"/>
          <p:cNvSpPr>
            <a:spLocks noGrp="1"/>
          </p:cNvSpPr>
          <p:nvPr>
            <p:ph type="dt" sz="half" idx="10"/>
          </p:nvPr>
        </p:nvSpPr>
        <p:spPr/>
        <p:txBody>
          <a:bodyPr/>
          <a:lstStyle/>
          <a:p>
            <a:fld id="{2F25C4A8-1BA0-468A-B855-2EFA71CD0C96}" type="datetime1">
              <a:rPr lang="en-IN" smtClean="0">
                <a:latin typeface="Arial" panose="020B0604020202020204" pitchFamily="34" charset="0"/>
                <a:cs typeface="Arial" panose="020B0604020202020204" pitchFamily="34" charset="0"/>
              </a:rPr>
              <a:t>25-04-2023</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20</a:t>
            </a:fld>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70248514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u="sng" dirty="0">
                <a:solidFill>
                  <a:srgbClr val="0070C0"/>
                </a:solidFill>
                <a:latin typeface="Arial" panose="020B0604020202020204" pitchFamily="34" charset="0"/>
                <a:cs typeface="Arial" panose="020B0604020202020204" pitchFamily="34" charset="0"/>
              </a:rPr>
              <a:t>Summary</a:t>
            </a:r>
          </a:p>
        </p:txBody>
      </p:sp>
      <p:sp>
        <p:nvSpPr>
          <p:cNvPr id="3" name="Content Placeholder 2"/>
          <p:cNvSpPr>
            <a:spLocks noGrp="1"/>
          </p:cNvSpPr>
          <p:nvPr>
            <p:ph idx="1"/>
          </p:nvPr>
        </p:nvSpPr>
        <p:spPr>
          <a:xfrm>
            <a:off x="838200" y="1690688"/>
            <a:ext cx="10515600" cy="4486275"/>
          </a:xfrm>
        </p:spPr>
        <p:txBody>
          <a:bodyPr>
            <a:normAutofit/>
          </a:bodyPr>
          <a:lstStyle/>
          <a:p>
            <a:pPr marL="0" indent="0">
              <a:lnSpc>
                <a:spcPct val="120000"/>
              </a:lnSpc>
              <a:spcBef>
                <a:spcPts val="600"/>
              </a:spcBef>
              <a:spcAft>
                <a:spcPts val="600"/>
              </a:spcAft>
              <a:buNone/>
            </a:pPr>
            <a:r>
              <a:rPr lang="en-IN" sz="2400" dirty="0">
                <a:latin typeface="Arial" panose="020B0604020202020204" pitchFamily="34" charset="0"/>
                <a:cs typeface="Arial" panose="020B0604020202020204" pitchFamily="34" charset="0"/>
              </a:rPr>
              <a:t>This session will give the knowledge about</a:t>
            </a:r>
          </a:p>
          <a:p>
            <a:pPr marL="996950" lvl="1" indent="-539750">
              <a:lnSpc>
                <a:spcPct val="120000"/>
              </a:lnSpc>
              <a:spcBef>
                <a:spcPts val="600"/>
              </a:spcBef>
              <a:spcAft>
                <a:spcPts val="600"/>
              </a:spcAft>
            </a:pPr>
            <a:r>
              <a:rPr lang="en-IN" dirty="0" err="1">
                <a:latin typeface="Arial" panose="020B0604020202020204" pitchFamily="34" charset="0"/>
                <a:cs typeface="Arial" panose="020B0604020202020204" pitchFamily="34" charset="0"/>
              </a:rPr>
              <a:t>Vectorized</a:t>
            </a:r>
            <a:r>
              <a:rPr lang="en-IN" dirty="0">
                <a:latin typeface="Arial" panose="020B0604020202020204" pitchFamily="34" charset="0"/>
                <a:cs typeface="Arial" panose="020B0604020202020204" pitchFamily="34" charset="0"/>
              </a:rPr>
              <a:t> Processing</a:t>
            </a:r>
          </a:p>
          <a:p>
            <a:pPr marL="996950" lvl="1" indent="-539750">
              <a:lnSpc>
                <a:spcPct val="120000"/>
              </a:lnSpc>
              <a:spcBef>
                <a:spcPts val="600"/>
              </a:spcBef>
              <a:spcAft>
                <a:spcPts val="600"/>
              </a:spcAft>
            </a:pPr>
            <a:r>
              <a:rPr lang="en-IN" dirty="0">
                <a:latin typeface="Arial" panose="020B0604020202020204" pitchFamily="34" charset="0"/>
                <a:cs typeface="Arial" panose="020B0604020202020204" pitchFamily="34" charset="0"/>
              </a:rPr>
              <a:t>Compression</a:t>
            </a:r>
          </a:p>
          <a:p>
            <a:pPr marL="996950" lvl="1" indent="-539750">
              <a:lnSpc>
                <a:spcPct val="120000"/>
              </a:lnSpc>
              <a:spcBef>
                <a:spcPts val="600"/>
              </a:spcBef>
              <a:spcAft>
                <a:spcPts val="600"/>
              </a:spcAft>
            </a:pPr>
            <a:endParaRPr lang="en-IN" dirty="0">
              <a:latin typeface="Arial" panose="020B0604020202020204" pitchFamily="34" charset="0"/>
              <a:cs typeface="Arial" panose="020B0604020202020204" pitchFamily="34" charset="0"/>
            </a:endParaRPr>
          </a:p>
          <a:p>
            <a:pPr marL="0" indent="0">
              <a:lnSpc>
                <a:spcPct val="120000"/>
              </a:lnSpc>
              <a:spcBef>
                <a:spcPts val="600"/>
              </a:spcBef>
              <a:spcAft>
                <a:spcPts val="600"/>
              </a:spcAft>
              <a:buNone/>
            </a:pPr>
            <a:endParaRPr lang="en-IN" sz="2400" dirty="0">
              <a:latin typeface="Arial" panose="020B0604020202020204" pitchFamily="34" charset="0"/>
              <a:cs typeface="Arial" panose="020B0604020202020204" pitchFamily="34" charset="0"/>
            </a:endParaRPr>
          </a:p>
        </p:txBody>
      </p:sp>
      <p:pic>
        <p:nvPicPr>
          <p:cNvPr id="4" name="Picture 2" descr="Image result for vit ap logo"/>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546183" y="275303"/>
            <a:ext cx="1324835" cy="610419"/>
          </a:xfrm>
          <a:prstGeom prst="rect">
            <a:avLst/>
          </a:prstGeom>
          <a:noFill/>
          <a:extLst>
            <a:ext uri="{909E8E84-426E-40DD-AFC4-6F175D3DCCD1}">
              <a14:hiddenFill xmlns:a14="http://schemas.microsoft.com/office/drawing/2010/main">
                <a:solidFill>
                  <a:srgbClr val="FFFFFF"/>
                </a:solidFill>
              </a14:hiddenFill>
            </a:ext>
          </a:extLst>
        </p:spPr>
      </p:pic>
      <p:sp>
        <p:nvSpPr>
          <p:cNvPr id="7" name="Date Placeholder 6"/>
          <p:cNvSpPr>
            <a:spLocks noGrp="1"/>
          </p:cNvSpPr>
          <p:nvPr>
            <p:ph type="dt" sz="half" idx="10"/>
          </p:nvPr>
        </p:nvSpPr>
        <p:spPr/>
        <p:txBody>
          <a:bodyPr/>
          <a:lstStyle/>
          <a:p>
            <a:fld id="{1E4FA2B1-6748-41D8-AB75-02C9BD84395F}" type="datetime1">
              <a:rPr lang="en-IN" smtClean="0">
                <a:latin typeface="Arial" panose="020B0604020202020204" pitchFamily="34" charset="0"/>
                <a:cs typeface="Arial" panose="020B0604020202020204" pitchFamily="34" charset="0"/>
              </a:rPr>
              <a:t>25-04-2023</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21</a:t>
            </a:fld>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49057809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IT PPT Template.pptx" id="{54091FC3-898D-497D-92ED-2AD4019B5909}" vid="{614E3B1B-8E84-45D1-BB2E-2BDD1EEBD47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VIT PPT Template</Template>
  <TotalTime>3231</TotalTime>
  <Words>1491</Words>
  <Application>Microsoft Office PowerPoint</Application>
  <PresentationFormat>Widescreen</PresentationFormat>
  <Paragraphs>162</Paragraphs>
  <Slides>21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21</vt:i4>
      </vt:variant>
    </vt:vector>
  </HeadingPairs>
  <TitlesOfParts>
    <vt:vector size="26" baseType="lpstr">
      <vt:lpstr>Arial</vt:lpstr>
      <vt:lpstr>Calibri</vt:lpstr>
      <vt:lpstr>Calibri (Body)</vt:lpstr>
      <vt:lpstr>Calibri Light</vt:lpstr>
      <vt:lpstr>Office Theme</vt:lpstr>
      <vt:lpstr>Course code : CSE3009 Course title  : No SQL Data Bases Module  : 5     Topic   : 4</vt:lpstr>
      <vt:lpstr>Objectives</vt:lpstr>
      <vt:lpstr>Vectorized Processing</vt:lpstr>
      <vt:lpstr>Tuple-At-A-Time Processing</vt:lpstr>
      <vt:lpstr>Tuple-At-A-Time Processing</vt:lpstr>
      <vt:lpstr>Tuple-At-A-Time Processing - Limitations</vt:lpstr>
      <vt:lpstr>Full materialization</vt:lpstr>
      <vt:lpstr>Tuple-At-A-Time VS Full materialization</vt:lpstr>
      <vt:lpstr>Summary</vt:lpstr>
      <vt:lpstr>Vectorized execution</vt:lpstr>
      <vt:lpstr>Vectorized execution</vt:lpstr>
      <vt:lpstr>Vectorized execution</vt:lpstr>
      <vt:lpstr>Advantages of vectorized processing</vt:lpstr>
      <vt:lpstr>Advantages of vectorized processing</vt:lpstr>
      <vt:lpstr>Conclusion</vt:lpstr>
      <vt:lpstr>Compression</vt:lpstr>
      <vt:lpstr>Compressing one column-at-a-time</vt:lpstr>
      <vt:lpstr>Compressing one column-at-a-time</vt:lpstr>
      <vt:lpstr>Exploiting extra CPU cycles</vt:lpstr>
      <vt:lpstr>Fixed-width arrays and SIMD</vt:lpstr>
      <vt:lpstr>Summary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Course code : CSE1004 Course title  : Database Management System</dc:title>
  <dc:creator>gopikrishnan sundaram</dc:creator>
  <cp:lastModifiedBy>Dr. Gopikrishnan S</cp:lastModifiedBy>
  <cp:revision>160</cp:revision>
  <dcterms:created xsi:type="dcterms:W3CDTF">2019-11-30T05:18:24Z</dcterms:created>
  <dcterms:modified xsi:type="dcterms:W3CDTF">2023-04-25T05:24:21Z</dcterms:modified>
</cp:coreProperties>
</file>