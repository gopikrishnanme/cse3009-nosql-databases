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8" r:id="rId3"/>
    <p:sldId id="463" r:id="rId4"/>
    <p:sldId id="465" r:id="rId5"/>
    <p:sldId id="464" r:id="rId6"/>
    <p:sldId id="466" r:id="rId7"/>
    <p:sldId id="468" r:id="rId8"/>
    <p:sldId id="467" r:id="rId9"/>
    <p:sldId id="469" r:id="rId10"/>
    <p:sldId id="470" r:id="rId11"/>
    <p:sldId id="471" r:id="rId12"/>
    <p:sldId id="472" r:id="rId13"/>
    <p:sldId id="473" r:id="rId14"/>
    <p:sldId id="474" r:id="rId15"/>
    <p:sldId id="259" r:id="rId16"/>
    <p:sldId id="4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a:srgbClr val="0000FF"/>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28-02-2023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28-02-2023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28-02-2023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28-02-2023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28-02-2023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28-02-2023</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28-02-2023</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28-02-2023</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28-02-2023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28-02-2023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28-02-2023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28-02-2023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28-02-2023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www.g2.com/categories/key-value-database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3</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2</a:t>
            </a:r>
          </a:p>
        </p:txBody>
      </p:sp>
      <p:sp>
        <p:nvSpPr>
          <p:cNvPr id="6" name="Subtitle 2"/>
          <p:cNvSpPr>
            <a:spLocks noGrp="1"/>
          </p:cNvSpPr>
          <p:nvPr>
            <p:ph type="subTitle" idx="1"/>
          </p:nvPr>
        </p:nvSpPr>
        <p:spPr>
          <a:xfrm>
            <a:off x="1402183" y="3677818"/>
            <a:ext cx="9144000" cy="1655762"/>
          </a:xfrm>
        </p:spPr>
        <p:txBody>
          <a:bodyPr>
            <a:normAutofit/>
          </a:bodyPr>
          <a:lstStyle/>
          <a:p>
            <a:r>
              <a:rPr lang="en-US" sz="4000" b="1" dirty="0">
                <a:solidFill>
                  <a:srgbClr val="0070C0"/>
                </a:solidFill>
                <a:latin typeface="Arial" panose="020B0604020202020204" pitchFamily="34" charset="0"/>
                <a:cs typeface="Arial" panose="020B0604020202020204" pitchFamily="34" charset="0"/>
              </a:rPr>
              <a:t>Key –Value Data Stores</a:t>
            </a:r>
            <a:endParaRPr lang="en-IN" sz="4000" b="1" dirty="0">
              <a:solidFill>
                <a:srgbClr val="0070C0"/>
              </a:solidFill>
              <a:latin typeface="Arial" panose="020B0604020202020204" pitchFamily="34" charset="0"/>
              <a:cs typeface="Arial" panose="020B0604020202020204" pitchFamily="34" charset="0"/>
            </a:endParaRPr>
          </a:p>
        </p:txBody>
      </p:sp>
      <p:pic>
        <p:nvPicPr>
          <p:cNvPr id="7"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p:cNvSpPr>
            <a:spLocks noGrp="1"/>
          </p:cNvSpPr>
          <p:nvPr>
            <p:ph type="dt" sz="half" idx="10"/>
          </p:nvPr>
        </p:nvSpPr>
        <p:spPr/>
        <p:txBody>
          <a:bodyPr/>
          <a:lstStyle/>
          <a:p>
            <a:fld id="{756728E3-B72D-49A5-85A2-5AE45557AE43}" type="datetime1">
              <a:rPr lang="en-IN" smtClean="0">
                <a:latin typeface="Calibri (Body)"/>
              </a:rPr>
              <a:t>28-02-2023</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Properties of keys</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Characteristics of Values</a:t>
            </a: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Keys: Properties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599" cy="4486275"/>
          </a:xfrm>
        </p:spPr>
        <p:txBody>
          <a:bodyPr>
            <a:normAutofit fontScale="92500" lnSpcReduction="20000"/>
          </a:bodyPr>
          <a:lstStyle/>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keys are used to identify, index</a:t>
            </a:r>
            <a:r>
              <a:rPr lang="en-US" sz="2400" dirty="0">
                <a:latin typeface="Arial" panose="020B0604020202020204" pitchFamily="34" charset="0"/>
                <a:cs typeface="Arial" panose="020B0604020202020204" pitchFamily="34" charset="0"/>
              </a:rPr>
              <a:t>, or otherwise reference a value in a key-value database. The one essential property of a </a:t>
            </a:r>
            <a:r>
              <a:rPr lang="en-US" sz="2400" dirty="0">
                <a:solidFill>
                  <a:srgbClr val="FF0000"/>
                </a:solidFill>
                <a:latin typeface="Arial" panose="020B0604020202020204" pitchFamily="34" charset="0"/>
                <a:cs typeface="Arial" panose="020B0604020202020204" pitchFamily="34" charset="0"/>
              </a:rPr>
              <a:t>key</a:t>
            </a:r>
            <a:r>
              <a:rPr lang="en-US" sz="2400" dirty="0">
                <a:latin typeface="Arial" panose="020B0604020202020204" pitchFamily="34" charset="0"/>
                <a:cs typeface="Arial" panose="020B0604020202020204" pitchFamily="34" charset="0"/>
              </a:rPr>
              <a:t> is that it </a:t>
            </a:r>
            <a:r>
              <a:rPr lang="en-US" sz="2400" dirty="0">
                <a:solidFill>
                  <a:srgbClr val="FF0000"/>
                </a:solidFill>
                <a:latin typeface="Arial" panose="020B0604020202020204" pitchFamily="34" charset="0"/>
                <a:cs typeface="Arial" panose="020B0604020202020204" pitchFamily="34" charset="0"/>
              </a:rPr>
              <a:t>must be unique </a:t>
            </a:r>
            <a:r>
              <a:rPr lang="en-US" sz="2400" dirty="0">
                <a:latin typeface="Arial" panose="020B0604020202020204" pitchFamily="34" charset="0"/>
                <a:cs typeface="Arial" panose="020B0604020202020204" pitchFamily="34" charset="0"/>
              </a:rPr>
              <a:t>within a namespace.</a:t>
            </a:r>
          </a:p>
          <a:p>
            <a:pPr marL="0" indent="0">
              <a:lnSpc>
                <a:spcPct val="120000"/>
              </a:lnSpc>
              <a:spcBef>
                <a:spcPts val="1800"/>
              </a:spcBef>
              <a:spcAft>
                <a:spcPts val="600"/>
              </a:spcAft>
              <a:buNone/>
            </a:pPr>
            <a:r>
              <a:rPr lang="en-US" sz="2400" b="1" dirty="0">
                <a:latin typeface="Arial" panose="020B0604020202020204" pitchFamily="34" charset="0"/>
                <a:cs typeface="Arial" panose="020B0604020202020204" pitchFamily="34" charset="0"/>
              </a:rPr>
              <a:t>How to Construct a Key</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Designers could use one counter to generate primary keys for all tables, or they could use a different counter or sequence for each table.</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NoSQL databases, and key-value databases in general, the rules are different. </a:t>
            </a:r>
            <a:r>
              <a:rPr lang="en-US" sz="2400" dirty="0">
                <a:solidFill>
                  <a:srgbClr val="0000FF"/>
                </a:solidFill>
                <a:latin typeface="Arial" panose="020B0604020202020204" pitchFamily="34" charset="0"/>
                <a:cs typeface="Arial" panose="020B0604020202020204" pitchFamily="34" charset="0"/>
              </a:rPr>
              <a:t>Key-value databases do not have a built-in table structure</a:t>
            </a:r>
            <a:r>
              <a:rPr lang="en-US" sz="2400" dirty="0">
                <a:latin typeface="Arial" panose="020B0604020202020204" pitchFamily="34" charset="0"/>
                <a:cs typeface="Arial" panose="020B0604020202020204" pitchFamily="34" charset="0"/>
              </a:rPr>
              <a:t>. With no tables, there are no columns. With no columns, there is no way to know what a value is for except for the key.</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4530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Keys: Properties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599" cy="4486275"/>
          </a:xfrm>
        </p:spPr>
        <p:txBody>
          <a:bodyPr>
            <a:normAutofit fontScale="85000"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Consider a shopping cart application using a key-value database with meaningless keys: Cart[12387] = ‘SKU AK8912j4’.  Instead create another namespace, such as </a:t>
            </a:r>
            <a:r>
              <a:rPr lang="en-US" sz="2400" dirty="0" err="1">
                <a:latin typeface="Arial" panose="020B0604020202020204" pitchFamily="34" charset="0"/>
                <a:cs typeface="Arial" panose="020B0604020202020204" pitchFamily="34" charset="0"/>
              </a:rPr>
              <a:t>custName</a:t>
            </a:r>
            <a:r>
              <a:rPr lang="en-US" sz="2400" dirty="0">
                <a:latin typeface="Arial" panose="020B0604020202020204" pitchFamily="34" charset="0"/>
                <a:cs typeface="Arial" panose="020B0604020202020204" pitchFamily="34" charset="0"/>
              </a:rPr>
              <a:t>. Then you could save a value such as </a:t>
            </a:r>
            <a:r>
              <a:rPr lang="en-US" sz="2400" dirty="0" err="1">
                <a:latin typeface="Arial" panose="020B0604020202020204" pitchFamily="34" charset="0"/>
                <a:cs typeface="Arial" panose="020B0604020202020204" pitchFamily="34" charset="0"/>
              </a:rPr>
              <a:t>CustName</a:t>
            </a:r>
            <a:r>
              <a:rPr lang="en-US" sz="2400" dirty="0">
                <a:latin typeface="Arial" panose="020B0604020202020204" pitchFamily="34" charset="0"/>
                <a:cs typeface="Arial" panose="020B0604020202020204" pitchFamily="34" charset="0"/>
              </a:rPr>
              <a:t>[12387] = ‘Katherine Smith’</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you can construct meaningful names that entail information about entity types, entity identifiers, and entity attributes. For example:</a:t>
            </a:r>
          </a:p>
          <a:p>
            <a:pPr marL="0" indent="0" algn="ctr">
              <a:lnSpc>
                <a:spcPct val="120000"/>
              </a:lnSpc>
              <a:spcBef>
                <a:spcPts val="1800"/>
              </a:spcBef>
              <a:spcAft>
                <a:spcPts val="600"/>
              </a:spcAft>
              <a:buNone/>
            </a:pPr>
            <a:r>
              <a:rPr lang="en-US" sz="2400" b="1" dirty="0">
                <a:latin typeface="Arial" panose="020B0604020202020204" pitchFamily="34" charset="0"/>
                <a:cs typeface="Arial" panose="020B0604020202020204" pitchFamily="34" charset="0"/>
              </a:rPr>
              <a:t>Cust:12387:firstName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could be a key to store the first name of the customer with </a:t>
            </a:r>
            <a:r>
              <a:rPr lang="en-US" sz="2400" dirty="0" err="1">
                <a:latin typeface="Arial" panose="020B0604020202020204" pitchFamily="34" charset="0"/>
                <a:cs typeface="Arial" panose="020B0604020202020204" pitchFamily="34" charset="0"/>
              </a:rPr>
              <a:t>customerID</a:t>
            </a:r>
            <a:r>
              <a:rPr lang="en-US" sz="2400" dirty="0">
                <a:latin typeface="Arial" panose="020B0604020202020204" pitchFamily="34" charset="0"/>
                <a:cs typeface="Arial" panose="020B0604020202020204" pitchFamily="34" charset="0"/>
              </a:rPr>
              <a:t> 12387.</a:t>
            </a:r>
          </a:p>
          <a:p>
            <a:pPr marL="0" indent="0" algn="ctr">
              <a:lnSpc>
                <a:spcPct val="120000"/>
              </a:lnSpc>
              <a:spcBef>
                <a:spcPts val="1800"/>
              </a:spcBef>
              <a:spcAft>
                <a:spcPts val="600"/>
              </a:spcAft>
              <a:buNone/>
            </a:pPr>
            <a:r>
              <a:rPr lang="en-US" sz="2400" b="1" dirty="0">
                <a:latin typeface="Arial" panose="020B0604020202020204" pitchFamily="34" charset="0"/>
                <a:cs typeface="Arial" panose="020B0604020202020204" pitchFamily="34" charset="0"/>
              </a:rPr>
              <a:t>Syntax: Entity Name + ‘:’ + Entity Identifier +’:’ + Entity Attribute                                         </a:t>
            </a:r>
            <a:r>
              <a:rPr lang="en-US" sz="2400" dirty="0">
                <a:latin typeface="Arial" panose="020B0604020202020204" pitchFamily="34" charset="0"/>
                <a:cs typeface="Arial" panose="020B0604020202020204" pitchFamily="34" charset="0"/>
              </a:rPr>
              <a:t>(The delimiter does not have to be a ':' but it is a common practice.)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2559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Using Keys to Locate Values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599" cy="4486275"/>
          </a:xfrm>
        </p:spPr>
        <p:txBody>
          <a:bodyPr>
            <a:normAutofit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There has been some mention of the idea that </a:t>
            </a:r>
            <a:r>
              <a:rPr lang="en-US" sz="2400" dirty="0">
                <a:solidFill>
                  <a:srgbClr val="0000FF"/>
                </a:solidFill>
                <a:latin typeface="Arial" panose="020B0604020202020204" pitchFamily="34" charset="0"/>
                <a:cs typeface="Arial" panose="020B0604020202020204" pitchFamily="34" charset="0"/>
              </a:rPr>
              <a:t>keys are used to look up associated values</a:t>
            </a:r>
            <a:r>
              <a:rPr lang="en-US" sz="2400" dirty="0">
                <a:latin typeface="Arial" panose="020B0604020202020204" pitchFamily="34" charset="0"/>
                <a:cs typeface="Arial" panose="020B0604020202020204" pitchFamily="34" charset="0"/>
              </a:rPr>
              <a:t>, but there has been no explanation about how that happens.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If key-value database designers were willing to </a:t>
            </a:r>
            <a:r>
              <a:rPr lang="en-US" sz="2400" dirty="0">
                <a:solidFill>
                  <a:srgbClr val="FF0000"/>
                </a:solidFill>
                <a:latin typeface="Arial" panose="020B0604020202020204" pitchFamily="34" charset="0"/>
                <a:cs typeface="Arial" panose="020B0604020202020204" pitchFamily="34" charset="0"/>
              </a:rPr>
              <a:t>restrict you to using integers as key values</a:t>
            </a:r>
            <a:r>
              <a:rPr lang="en-US" sz="2400" dirty="0">
                <a:latin typeface="Arial" panose="020B0604020202020204" pitchFamily="34" charset="0"/>
                <a:cs typeface="Arial" panose="020B0604020202020204" pitchFamily="34" charset="0"/>
              </a:rPr>
              <a:t>, then they would have an </a:t>
            </a:r>
            <a:r>
              <a:rPr lang="en-US" sz="2400" dirty="0">
                <a:solidFill>
                  <a:srgbClr val="FF0000"/>
                </a:solidFill>
                <a:latin typeface="Arial" panose="020B0604020202020204" pitchFamily="34" charset="0"/>
                <a:cs typeface="Arial" panose="020B0604020202020204" pitchFamily="34" charset="0"/>
              </a:rPr>
              <a:t>easy job of designing code to fetch or set values based on keys</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They could load a database into memory or store it on disk and assume that the first value stored in a namespace is referenced by key 1, the next value by key 2, and so on.</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7943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Using Keys to Locate Values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599" cy="4486275"/>
          </a:xfrm>
        </p:spPr>
        <p:txBody>
          <a:bodyPr>
            <a:normAutofit/>
          </a:bodyPr>
          <a:lstStyle/>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Using numbers to identify locations is a good idea, but it is not flexible enough</a:t>
            </a:r>
            <a:r>
              <a:rPr lang="en-US" sz="2400" dirty="0">
                <a:latin typeface="Arial" panose="020B0604020202020204" pitchFamily="34" charset="0"/>
                <a:cs typeface="Arial" panose="020B0604020202020204" pitchFamily="34" charset="0"/>
              </a:rPr>
              <a:t>. You should be able to use integers, character strings, and even lists of objects as keys if you want. </a:t>
            </a:r>
          </a:p>
          <a:p>
            <a:pPr marL="0" indent="0">
              <a:lnSpc>
                <a:spcPct val="120000"/>
              </a:lnSpc>
              <a:spcBef>
                <a:spcPts val="1800"/>
              </a:spcBef>
              <a:spcAft>
                <a:spcPts val="600"/>
              </a:spcAft>
              <a:buNone/>
            </a:pPr>
            <a:r>
              <a:rPr lang="en-US" sz="2400" dirty="0">
                <a:solidFill>
                  <a:srgbClr val="00B050"/>
                </a:solidFill>
                <a:latin typeface="Arial" panose="020B0604020202020204" pitchFamily="34" charset="0"/>
                <a:cs typeface="Arial" panose="020B0604020202020204" pitchFamily="34" charset="0"/>
              </a:rPr>
              <a:t>The trick is to use a function that maps from integers, character strings, or lists of objects to a unique string or number</a:t>
            </a:r>
            <a:r>
              <a:rPr lang="en-US" sz="2400" dirty="0">
                <a:latin typeface="Arial" panose="020B0604020202020204" pitchFamily="34" charset="0"/>
                <a:cs typeface="Arial" panose="020B0604020202020204" pitchFamily="34" charset="0"/>
              </a:rPr>
              <a:t>. These functions that map from one type of value to a number are known as </a:t>
            </a:r>
            <a:r>
              <a:rPr lang="en-US" sz="2400" dirty="0">
                <a:solidFill>
                  <a:srgbClr val="FF0000"/>
                </a:solidFill>
                <a:latin typeface="Arial" panose="020B0604020202020204" pitchFamily="34" charset="0"/>
                <a:cs typeface="Arial" panose="020B0604020202020204" pitchFamily="34" charset="0"/>
              </a:rPr>
              <a:t>hash functions</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Not all key-value databases support lists and other complex structures. </a:t>
            </a:r>
            <a:r>
              <a:rPr lang="en-US" sz="2400" dirty="0">
                <a:solidFill>
                  <a:srgbClr val="FF0000"/>
                </a:solidFill>
                <a:latin typeface="Arial" panose="020B0604020202020204" pitchFamily="34" charset="0"/>
                <a:cs typeface="Arial" panose="020B0604020202020204" pitchFamily="34" charset="0"/>
              </a:rPr>
              <a:t>Some are more restricted in the types and lengths of keys than others</a:t>
            </a:r>
            <a:r>
              <a:rPr lang="en-US" sz="2400" dirty="0">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059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Hash Functions: From Keys to Locations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599" cy="4486275"/>
          </a:xfrm>
        </p:spPr>
        <p:txBody>
          <a:bodyPr>
            <a:normAutofit fontScale="92500"/>
          </a:bodyPr>
          <a:lstStyle/>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A hash function is a function that can </a:t>
            </a:r>
            <a:r>
              <a:rPr lang="en-US" sz="2200" dirty="0">
                <a:solidFill>
                  <a:srgbClr val="FF0000"/>
                </a:solidFill>
                <a:latin typeface="Arial" panose="020B0604020202020204" pitchFamily="34" charset="0"/>
                <a:cs typeface="Arial" panose="020B0604020202020204" pitchFamily="34" charset="0"/>
              </a:rPr>
              <a:t>take an arbitrary string of characters and produce a (usually) unique, fixed-length string of characters</a:t>
            </a:r>
            <a:r>
              <a:rPr lang="en-US" sz="22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endParaRPr lang="en-US" sz="2200" dirty="0">
              <a:latin typeface="Arial" panose="020B0604020202020204" pitchFamily="34" charset="0"/>
              <a:cs typeface="Arial" panose="020B0604020202020204" pitchFamily="34" charset="0"/>
            </a:endParaRPr>
          </a:p>
          <a:p>
            <a:pPr marL="0" indent="0">
              <a:lnSpc>
                <a:spcPct val="120000"/>
              </a:lnSpc>
              <a:spcBef>
                <a:spcPts val="1800"/>
              </a:spcBef>
              <a:spcAft>
                <a:spcPts val="600"/>
              </a:spcAft>
              <a:buNone/>
            </a:pPr>
            <a:endParaRPr lang="en-US" sz="2200" dirty="0">
              <a:latin typeface="Arial" panose="020B0604020202020204" pitchFamily="34" charset="0"/>
              <a:cs typeface="Arial" panose="020B0604020202020204" pitchFamily="34" charset="0"/>
            </a:endParaRPr>
          </a:p>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Each hash value is quite different from the others, although they all have the same 'customer:1982737:‘ here, the </a:t>
            </a:r>
            <a:r>
              <a:rPr lang="en-US" sz="2200" dirty="0">
                <a:solidFill>
                  <a:srgbClr val="FF0000"/>
                </a:solidFill>
                <a:latin typeface="Arial" panose="020B0604020202020204" pitchFamily="34" charset="0"/>
                <a:cs typeface="Arial" panose="020B0604020202020204" pitchFamily="34" charset="0"/>
              </a:rPr>
              <a:t>SHA-1 hash function is used </a:t>
            </a:r>
            <a:r>
              <a:rPr lang="en-US" sz="2200" dirty="0">
                <a:latin typeface="Arial" panose="020B0604020202020204" pitchFamily="34" charset="0"/>
                <a:cs typeface="Arial" panose="020B0604020202020204" pitchFamily="34" charset="0"/>
              </a:rPr>
              <a:t>to generate the hash values.</a:t>
            </a:r>
          </a:p>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Actually, </a:t>
            </a:r>
            <a:r>
              <a:rPr lang="en-US" sz="2200" dirty="0">
                <a:solidFill>
                  <a:srgbClr val="0000FF"/>
                </a:solidFill>
                <a:latin typeface="Arial" panose="020B0604020202020204" pitchFamily="34" charset="0"/>
                <a:cs typeface="Arial" panose="020B0604020202020204" pitchFamily="34" charset="0"/>
              </a:rPr>
              <a:t>the value returned by the hash function is not always unique; sometimes two unrelated inputs can generate the same output</a:t>
            </a:r>
            <a:r>
              <a:rPr lang="en-US" sz="2200" dirty="0">
                <a:latin typeface="Arial" panose="020B0604020202020204" pitchFamily="34" charset="0"/>
                <a:cs typeface="Arial" panose="020B0604020202020204" pitchFamily="34" charset="0"/>
              </a:rPr>
              <a:t>. This is known as a </a:t>
            </a:r>
            <a:r>
              <a:rPr lang="en-US" sz="2200" dirty="0">
                <a:solidFill>
                  <a:srgbClr val="0000FF"/>
                </a:solidFill>
                <a:latin typeface="Arial" panose="020B0604020202020204" pitchFamily="34" charset="0"/>
                <a:cs typeface="Arial" panose="020B0604020202020204" pitchFamily="34" charset="0"/>
              </a:rPr>
              <a:t>collision</a:t>
            </a:r>
            <a:r>
              <a:rPr lang="en-US" sz="2200" dirty="0">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3"/>
          <a:stretch>
            <a:fillRect/>
          </a:stretch>
        </p:blipFill>
        <p:spPr>
          <a:xfrm>
            <a:off x="2833686" y="2604194"/>
            <a:ext cx="6524625" cy="1409700"/>
          </a:xfrm>
          <a:prstGeom prst="rect">
            <a:avLst/>
          </a:prstGeom>
        </p:spPr>
      </p:pic>
    </p:spTree>
    <p:extLst>
      <p:ext uri="{BB962C8B-B14F-4D97-AF65-F5344CB8AC3E}">
        <p14:creationId xmlns:p14="http://schemas.microsoft.com/office/powerpoint/2010/main" val="1096048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Keys Help Avoid Write Problems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599" cy="4486275"/>
          </a:xfrm>
        </p:spPr>
        <p:txBody>
          <a:bodyPr>
            <a:normAutofit/>
          </a:bodyPr>
          <a:lstStyle/>
          <a:p>
            <a:pPr marL="0" indent="0">
              <a:lnSpc>
                <a:spcPct val="120000"/>
              </a:lnSpc>
              <a:spcBef>
                <a:spcPts val="1800"/>
              </a:spcBef>
              <a:spcAft>
                <a:spcPts val="600"/>
              </a:spcAft>
              <a:buNone/>
            </a:pPr>
            <a:r>
              <a:rPr lang="en-US" sz="2200" dirty="0">
                <a:solidFill>
                  <a:srgbClr val="0000FF"/>
                </a:solidFill>
                <a:latin typeface="Arial" panose="020B0604020202020204" pitchFamily="34" charset="0"/>
                <a:cs typeface="Arial" panose="020B0604020202020204" pitchFamily="34" charset="0"/>
              </a:rPr>
              <a:t>Assume you are working with the eight-server cluster</a:t>
            </a:r>
            <a:r>
              <a:rPr lang="en-US" sz="2200" dirty="0">
                <a:latin typeface="Arial" panose="020B0604020202020204" pitchFamily="34" charset="0"/>
                <a:cs typeface="Arial" panose="020B0604020202020204" pitchFamily="34" charset="0"/>
              </a:rPr>
              <a:t>. You can take advantage of the fact that the hash function returns a number. </a:t>
            </a:r>
          </a:p>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Because the write load should be evenly distributed across all eight servers, you can send one eighth of all writes to each server. </a:t>
            </a:r>
          </a:p>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You could send the first write to Server 1, the second to Server 2, the third to Server 3, and so on in a round-robin fashion, but </a:t>
            </a:r>
            <a:r>
              <a:rPr lang="en-US" sz="2200" dirty="0">
                <a:solidFill>
                  <a:srgbClr val="0000FF"/>
                </a:solidFill>
                <a:latin typeface="Arial" panose="020B0604020202020204" pitchFamily="34" charset="0"/>
                <a:cs typeface="Arial" panose="020B0604020202020204" pitchFamily="34" charset="0"/>
              </a:rPr>
              <a:t>this would not take advantage of the hash value</a:t>
            </a:r>
            <a:r>
              <a:rPr lang="en-US" sz="2200" dirty="0">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4072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Keys Help Avoid Write Problems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599" cy="4486275"/>
          </a:xfrm>
        </p:spPr>
        <p:txBody>
          <a:bodyPr>
            <a:normAutofit/>
          </a:bodyPr>
          <a:lstStyle/>
          <a:p>
            <a:pPr marL="0" indent="0">
              <a:lnSpc>
                <a:spcPct val="120000"/>
              </a:lnSpc>
              <a:spcBef>
                <a:spcPts val="1800"/>
              </a:spcBef>
              <a:spcAft>
                <a:spcPts val="600"/>
              </a:spcAft>
              <a:buNone/>
            </a:pPr>
            <a:r>
              <a:rPr lang="en-US" sz="2200" dirty="0">
                <a:solidFill>
                  <a:srgbClr val="0000FF"/>
                </a:solidFill>
                <a:latin typeface="Arial" panose="020B0604020202020204" pitchFamily="34" charset="0"/>
                <a:cs typeface="Arial" panose="020B0604020202020204" pitchFamily="34" charset="0"/>
              </a:rPr>
              <a:t>One way to take advantage of the hash value is to start by dividing the hash value by the number of servers</a:t>
            </a:r>
            <a:r>
              <a:rPr lang="en-US" sz="2200" dirty="0">
                <a:latin typeface="Arial" panose="020B0604020202020204" pitchFamily="34" charset="0"/>
                <a:cs typeface="Arial" panose="020B0604020202020204" pitchFamily="34" charset="0"/>
              </a:rPr>
              <a:t>. Sometimes the hash value will divide evenly by the number of servers.</a:t>
            </a:r>
          </a:p>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If the hash function returns the number 32 and that number is divided by 8, then the remainder is 0. If the hash function returns 41 and it is divided by 8, then the remainder is 1. If the hash function returns 67, division by 8 leaves a remainder of 3.</a:t>
            </a:r>
          </a:p>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As you can see, any division by 8 will have a remainder between 0 and 7. Each of the eight servers can be assigned a number between 0 and 7.</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0196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Values: Characteristics </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599" cy="4486275"/>
          </a:xfrm>
        </p:spPr>
        <p:txBody>
          <a:bodyPr>
            <a:normAutofit/>
          </a:bodyPr>
          <a:lstStyle/>
          <a:p>
            <a:pPr marL="0" indent="0">
              <a:lnSpc>
                <a:spcPct val="110000"/>
              </a:lnSpc>
              <a:spcBef>
                <a:spcPts val="0"/>
              </a:spcBef>
              <a:spcAft>
                <a:spcPts val="600"/>
              </a:spcAft>
              <a:buNone/>
            </a:pPr>
            <a:r>
              <a:rPr lang="en-US" sz="2300" dirty="0">
                <a:latin typeface="Arial" panose="020B0604020202020204" pitchFamily="34" charset="0"/>
                <a:cs typeface="Arial" panose="020B0604020202020204" pitchFamily="34" charset="0"/>
              </a:rPr>
              <a:t>NoSQL databases are also simple with respect to the way they store data. </a:t>
            </a:r>
            <a:r>
              <a:rPr lang="en-US" sz="2300" dirty="0">
                <a:solidFill>
                  <a:srgbClr val="FF0000"/>
                </a:solidFill>
                <a:latin typeface="Arial" panose="020B0604020202020204" pitchFamily="34" charset="0"/>
                <a:cs typeface="Arial" panose="020B0604020202020204" pitchFamily="34" charset="0"/>
              </a:rPr>
              <a:t>Key-value databases do not expect you to specify types for the values you store</a:t>
            </a:r>
            <a:r>
              <a:rPr lang="en-US" sz="2300" dirty="0">
                <a:latin typeface="Arial" panose="020B0604020202020204" pitchFamily="34" charset="0"/>
                <a:cs typeface="Arial" panose="020B0604020202020204" pitchFamily="34" charset="0"/>
              </a:rPr>
              <a:t>.</a:t>
            </a:r>
          </a:p>
          <a:p>
            <a:pPr marL="0" indent="0">
              <a:lnSpc>
                <a:spcPct val="110000"/>
              </a:lnSpc>
              <a:spcBef>
                <a:spcPts val="1800"/>
              </a:spcBef>
              <a:spcAft>
                <a:spcPts val="600"/>
              </a:spcAft>
              <a:buNone/>
            </a:pPr>
            <a:r>
              <a:rPr lang="en-US" sz="2300" dirty="0">
                <a:latin typeface="Arial" panose="020B0604020202020204" pitchFamily="34" charset="0"/>
                <a:cs typeface="Arial" panose="020B0604020202020204" pitchFamily="34" charset="0"/>
              </a:rPr>
              <a:t>You could, for example, store a string along with a key for a customer’s address:</a:t>
            </a:r>
          </a:p>
          <a:p>
            <a:pPr marL="0" indent="0" algn="ctr">
              <a:lnSpc>
                <a:spcPct val="110000"/>
              </a:lnSpc>
              <a:spcBef>
                <a:spcPts val="0"/>
              </a:spcBef>
              <a:spcAft>
                <a:spcPts val="600"/>
              </a:spcAft>
              <a:buNone/>
            </a:pPr>
            <a:r>
              <a:rPr lang="en-US" sz="2300" dirty="0">
                <a:latin typeface="Arial" panose="020B0604020202020204" pitchFamily="34" charset="0"/>
                <a:cs typeface="Arial" panose="020B0604020202020204" pitchFamily="34" charset="0"/>
              </a:rPr>
              <a:t>‘1232 NE River Ave, St. Louis, MO’</a:t>
            </a:r>
          </a:p>
          <a:p>
            <a:pPr marL="0" indent="0">
              <a:lnSpc>
                <a:spcPct val="110000"/>
              </a:lnSpc>
              <a:spcBef>
                <a:spcPts val="1800"/>
              </a:spcBef>
              <a:spcAft>
                <a:spcPts val="600"/>
              </a:spcAft>
              <a:buNone/>
            </a:pPr>
            <a:r>
              <a:rPr lang="en-US" sz="2300" dirty="0">
                <a:latin typeface="Arial" panose="020B0604020202020204" pitchFamily="34" charset="0"/>
                <a:cs typeface="Arial" panose="020B0604020202020204" pitchFamily="34" charset="0"/>
              </a:rPr>
              <a:t>or you could store a list of the form:</a:t>
            </a:r>
          </a:p>
          <a:p>
            <a:pPr marL="0" indent="0" algn="ctr">
              <a:lnSpc>
                <a:spcPct val="110000"/>
              </a:lnSpc>
              <a:spcBef>
                <a:spcPts val="0"/>
              </a:spcBef>
              <a:spcAft>
                <a:spcPts val="600"/>
              </a:spcAft>
              <a:buNone/>
            </a:pPr>
            <a:r>
              <a:rPr lang="en-US" sz="2300" dirty="0">
                <a:latin typeface="Arial" panose="020B0604020202020204" pitchFamily="34" charset="0"/>
                <a:cs typeface="Arial" panose="020B0604020202020204" pitchFamily="34" charset="0"/>
              </a:rPr>
              <a:t>(‘1232 NE River Ave’, ‘St. Louis’, ‘MO’)</a:t>
            </a:r>
          </a:p>
          <a:p>
            <a:pPr marL="0" indent="0">
              <a:lnSpc>
                <a:spcPct val="110000"/>
              </a:lnSpc>
              <a:spcBef>
                <a:spcPts val="0"/>
              </a:spcBef>
              <a:spcAft>
                <a:spcPts val="600"/>
              </a:spcAft>
              <a:buNone/>
            </a:pPr>
            <a:r>
              <a:rPr lang="en-US" sz="2300" dirty="0">
                <a:latin typeface="Arial" panose="020B0604020202020204" pitchFamily="34" charset="0"/>
                <a:cs typeface="Arial" panose="020B0604020202020204" pitchFamily="34" charset="0"/>
              </a:rPr>
              <a:t>or you could store a more structured format using JavaScript Object Notation, such as</a:t>
            </a:r>
          </a:p>
          <a:p>
            <a:pPr marL="0" indent="0" algn="ctr">
              <a:lnSpc>
                <a:spcPct val="110000"/>
              </a:lnSpc>
              <a:spcBef>
                <a:spcPts val="0"/>
              </a:spcBef>
              <a:spcAft>
                <a:spcPts val="600"/>
              </a:spcAft>
              <a:buNone/>
            </a:pPr>
            <a:r>
              <a:rPr lang="en-US" sz="2300" dirty="0">
                <a:latin typeface="Arial" panose="020B0604020202020204" pitchFamily="34" charset="0"/>
                <a:cs typeface="Arial" panose="020B0604020202020204" pitchFamily="34" charset="0"/>
              </a:rPr>
              <a:t>{ ‘Street:’ : ‘1232 NE River Ave’, ‘City’ : ‘St. Louis’,: ‘State’ : ‘MO’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6902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Values: Characteristics </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599"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Key-value databases </a:t>
            </a:r>
            <a:r>
              <a:rPr lang="en-US" sz="2400" dirty="0">
                <a:solidFill>
                  <a:srgbClr val="FF0000"/>
                </a:solidFill>
                <a:latin typeface="Arial" panose="020B0604020202020204" pitchFamily="34" charset="0"/>
                <a:cs typeface="Arial" panose="020B0604020202020204" pitchFamily="34" charset="0"/>
              </a:rPr>
              <a:t>make minimal assumptions </a:t>
            </a:r>
            <a:r>
              <a:rPr lang="en-US" sz="2400" dirty="0">
                <a:latin typeface="Arial" panose="020B0604020202020204" pitchFamily="34" charset="0"/>
                <a:cs typeface="Arial" panose="020B0604020202020204" pitchFamily="34" charset="0"/>
              </a:rPr>
              <a:t>about the structure of data stored in the database.</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While in theory, key-value databases allow for arbitrary types of values, in practice database </a:t>
            </a:r>
            <a:r>
              <a:rPr lang="en-US" sz="2400" dirty="0">
                <a:solidFill>
                  <a:srgbClr val="FF0000"/>
                </a:solidFill>
                <a:latin typeface="Arial" panose="020B0604020202020204" pitchFamily="34" charset="0"/>
                <a:cs typeface="Arial" panose="020B0604020202020204" pitchFamily="34" charset="0"/>
              </a:rPr>
              <a:t>designers have to make implementation choices </a:t>
            </a:r>
            <a:r>
              <a:rPr lang="en-US" sz="2400" dirty="0">
                <a:latin typeface="Arial" panose="020B0604020202020204" pitchFamily="34" charset="0"/>
                <a:cs typeface="Arial" panose="020B0604020202020204" pitchFamily="34" charset="0"/>
              </a:rPr>
              <a:t>that lead to some restrictions.</a:t>
            </a:r>
          </a:p>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Different implementations of key-value databases have different restrictions on values.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9334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Values: Characteristics </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599" cy="4486275"/>
          </a:xfrm>
        </p:spPr>
        <p:txBody>
          <a:bodyPr>
            <a:normAutofit lnSpcReduction="10000"/>
          </a:bodyPr>
          <a:lstStyle/>
          <a:p>
            <a:pPr marL="0" indent="0">
              <a:lnSpc>
                <a:spcPct val="120000"/>
              </a:lnSpc>
              <a:spcBef>
                <a:spcPts val="1800"/>
              </a:spcBef>
              <a:spcAft>
                <a:spcPts val="600"/>
              </a:spcAft>
              <a:buNone/>
            </a:pPr>
            <a:r>
              <a:rPr lang="en-US" sz="2200" dirty="0">
                <a:solidFill>
                  <a:srgbClr val="0000FF"/>
                </a:solidFill>
                <a:latin typeface="Arial" panose="020B0604020202020204" pitchFamily="34" charset="0"/>
                <a:cs typeface="Arial" panose="020B0604020202020204" pitchFamily="34" charset="0"/>
              </a:rPr>
              <a:t>It is important to consider the design characteristics </a:t>
            </a:r>
            <a:r>
              <a:rPr lang="en-US" sz="2200" dirty="0">
                <a:latin typeface="Arial" panose="020B0604020202020204" pitchFamily="34" charset="0"/>
                <a:cs typeface="Arial" panose="020B0604020202020204" pitchFamily="34" charset="0"/>
              </a:rPr>
              <a:t>of the key-value database you choose to use. </a:t>
            </a:r>
          </a:p>
          <a:p>
            <a:pPr marL="0" indent="0">
              <a:lnSpc>
                <a:spcPct val="120000"/>
              </a:lnSpc>
              <a:spcBef>
                <a:spcPts val="1800"/>
              </a:spcBef>
              <a:spcAft>
                <a:spcPts val="600"/>
              </a:spcAft>
              <a:buNone/>
            </a:pPr>
            <a:r>
              <a:rPr lang="en-US" sz="2200" dirty="0">
                <a:solidFill>
                  <a:srgbClr val="FF0000"/>
                </a:solidFill>
                <a:latin typeface="Arial" panose="020B0604020202020204" pitchFamily="34" charset="0"/>
                <a:cs typeface="Arial" panose="020B0604020202020204" pitchFamily="34" charset="0"/>
              </a:rPr>
              <a:t>Consult the documentation for limitations </a:t>
            </a:r>
            <a:r>
              <a:rPr lang="en-US" sz="2200" dirty="0">
                <a:latin typeface="Arial" panose="020B0604020202020204" pitchFamily="34" charset="0"/>
                <a:cs typeface="Arial" panose="020B0604020202020204" pitchFamily="34" charset="0"/>
              </a:rPr>
              <a:t>on keys and values. Part of the process in choosing a key-value database is considering the trade-off of various features. </a:t>
            </a:r>
          </a:p>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One key-value database might offer ACID transactions but limit you to small keys and values. Another key-value data store might allow for large values but limit keys to numbers or strings. </a:t>
            </a:r>
          </a:p>
          <a:p>
            <a:pPr marL="0" indent="0">
              <a:lnSpc>
                <a:spcPct val="120000"/>
              </a:lnSpc>
              <a:spcBef>
                <a:spcPts val="1800"/>
              </a:spcBef>
              <a:spcAft>
                <a:spcPts val="600"/>
              </a:spcAft>
              <a:buNone/>
            </a:pPr>
            <a:r>
              <a:rPr lang="en-US" sz="2200" dirty="0">
                <a:solidFill>
                  <a:srgbClr val="00B050"/>
                </a:solidFill>
                <a:latin typeface="Arial" panose="020B0604020202020204" pitchFamily="34" charset="0"/>
                <a:cs typeface="Arial" panose="020B0604020202020204" pitchFamily="34" charset="0"/>
              </a:rPr>
              <a:t>Your application requirements should be considered when weighing the advantages and disadvantages of different database systems</a:t>
            </a:r>
            <a:r>
              <a:rPr lang="en-US" sz="2200" dirty="0">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1417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Limitations on Searching for Values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599" cy="4486275"/>
          </a:xfrm>
        </p:spPr>
        <p:txBody>
          <a:bodyPr>
            <a:normAutofit/>
          </a:bodyPr>
          <a:lstStyle/>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Keep in mind that in key-value databases, operations on values are all based on keys. </a:t>
            </a:r>
            <a:r>
              <a:rPr lang="en-US" sz="2200" dirty="0">
                <a:solidFill>
                  <a:srgbClr val="0000FF"/>
                </a:solidFill>
                <a:latin typeface="Arial" panose="020B0604020202020204" pitchFamily="34" charset="0"/>
                <a:cs typeface="Arial" panose="020B0604020202020204" pitchFamily="34" charset="0"/>
              </a:rPr>
              <a:t>You can retrieve a value by key, you can set a value by key, and you can delete values by key</a:t>
            </a:r>
            <a:r>
              <a:rPr lang="en-US" sz="22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Key-value databases </a:t>
            </a:r>
            <a:r>
              <a:rPr lang="en-US" sz="2200" dirty="0">
                <a:solidFill>
                  <a:srgbClr val="FF0000"/>
                </a:solidFill>
                <a:latin typeface="Arial" panose="020B0604020202020204" pitchFamily="34" charset="0"/>
                <a:cs typeface="Arial" panose="020B0604020202020204" pitchFamily="34" charset="0"/>
              </a:rPr>
              <a:t>do not support query languages for searching over values</a:t>
            </a:r>
            <a:r>
              <a:rPr lang="en-US" sz="2200" dirty="0">
                <a:latin typeface="Arial" panose="020B0604020202020204" pitchFamily="34" charset="0"/>
                <a:cs typeface="Arial" panose="020B0604020202020204" pitchFamily="34" charset="0"/>
              </a:rPr>
              <a:t>. There are two ways to address this limitation. </a:t>
            </a:r>
          </a:p>
          <a:p>
            <a:pPr marL="0" indent="0">
              <a:lnSpc>
                <a:spcPct val="120000"/>
              </a:lnSpc>
              <a:spcBef>
                <a:spcPts val="1800"/>
              </a:spcBef>
              <a:spcAft>
                <a:spcPts val="600"/>
              </a:spcAft>
              <a:buNone/>
            </a:pPr>
            <a:r>
              <a:rPr lang="en-US" sz="2200" dirty="0">
                <a:solidFill>
                  <a:srgbClr val="00B050"/>
                </a:solidFill>
                <a:latin typeface="Arial" panose="020B0604020202020204" pitchFamily="34" charset="0"/>
                <a:cs typeface="Arial" panose="020B0604020202020204" pitchFamily="34" charset="0"/>
              </a:rPr>
              <a:t>Some key-value databases incorporate search functionality directly into the database. This is an additional service not typically found in key-value databases but can significantly add to the usefulness of the database.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6290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Limitations on Searching for Values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1" y="1690688"/>
            <a:ext cx="5437472" cy="4486275"/>
          </a:xfrm>
        </p:spPr>
        <p:txBody>
          <a:bodyPr>
            <a:normAutofit lnSpcReduction="10000"/>
          </a:bodyPr>
          <a:lstStyle/>
          <a:p>
            <a:pPr marL="0" indent="0">
              <a:lnSpc>
                <a:spcPct val="120000"/>
              </a:lnSpc>
              <a:spcBef>
                <a:spcPts val="1800"/>
              </a:spcBef>
              <a:spcAft>
                <a:spcPts val="600"/>
              </a:spcAft>
              <a:buNone/>
            </a:pPr>
            <a:r>
              <a:rPr lang="en-US" sz="2200" dirty="0">
                <a:solidFill>
                  <a:srgbClr val="FF0000"/>
                </a:solidFill>
                <a:latin typeface="Arial" panose="020B0604020202020204" pitchFamily="34" charset="0"/>
                <a:cs typeface="Arial" panose="020B0604020202020204" pitchFamily="34" charset="0"/>
              </a:rPr>
              <a:t>A built-in search system would index the string values stored in the database and create an index for rapid retrieval</a:t>
            </a:r>
            <a:r>
              <a:rPr lang="en-US" sz="22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Rather than search all values for a string, the search system keeps a list of words with the keys of each key-value pair in which that word appears.</a:t>
            </a:r>
          </a:p>
          <a:p>
            <a:pPr marL="0" indent="0">
              <a:lnSpc>
                <a:spcPct val="120000"/>
              </a:lnSpc>
              <a:spcBef>
                <a:spcPts val="1800"/>
              </a:spcBef>
              <a:spcAft>
                <a:spcPts val="600"/>
              </a:spcAft>
              <a:buNone/>
            </a:pPr>
            <a:r>
              <a:rPr lang="en-US" sz="2200" dirty="0">
                <a:solidFill>
                  <a:srgbClr val="0000FF"/>
                </a:solidFill>
                <a:latin typeface="Arial" panose="020B0604020202020204" pitchFamily="34" charset="0"/>
                <a:cs typeface="Arial" panose="020B0604020202020204" pitchFamily="34" charset="0"/>
              </a:rPr>
              <a:t>A search index helps efficiently retrieve data when selecting by criteria based on values.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3"/>
          <a:stretch>
            <a:fillRect/>
          </a:stretch>
        </p:blipFill>
        <p:spPr>
          <a:xfrm>
            <a:off x="6633473" y="1799815"/>
            <a:ext cx="4575127" cy="4268019"/>
          </a:xfrm>
          <a:prstGeom prst="rect">
            <a:avLst/>
          </a:prstGeom>
        </p:spPr>
      </p:pic>
    </p:spTree>
    <p:extLst>
      <p:ext uri="{BB962C8B-B14F-4D97-AF65-F5344CB8AC3E}">
        <p14:creationId xmlns:p14="http://schemas.microsoft.com/office/powerpoint/2010/main" val="1709372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Best Key-Value Databases</a:t>
            </a: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354013" indent="-354013">
              <a:lnSpc>
                <a:spcPct val="120000"/>
              </a:lnSpc>
              <a:spcBef>
                <a:spcPts val="600"/>
              </a:spcBef>
              <a:spcAft>
                <a:spcPts val="600"/>
              </a:spcAft>
            </a:pPr>
            <a:r>
              <a:rPr lang="en-US" sz="2400" dirty="0">
                <a:solidFill>
                  <a:srgbClr val="FF0000"/>
                </a:solidFill>
                <a:latin typeface="Arial" panose="020B0604020202020204" pitchFamily="34" charset="0"/>
                <a:cs typeface="Arial" panose="020B0604020202020204" pitchFamily="34" charset="0"/>
              </a:rPr>
              <a:t>Couchbase: </a:t>
            </a:r>
            <a:r>
              <a:rPr lang="en-US" sz="2400" dirty="0">
                <a:latin typeface="Arial" panose="020B0604020202020204" pitchFamily="34" charset="0"/>
                <a:cs typeface="Arial" panose="020B0604020202020204" pitchFamily="34" charset="0"/>
              </a:rPr>
              <a:t>It permits SQL-style querying and searching for text.</a:t>
            </a:r>
          </a:p>
          <a:p>
            <a:pPr marL="354013" indent="-354013">
              <a:lnSpc>
                <a:spcPct val="120000"/>
              </a:lnSpc>
              <a:spcBef>
                <a:spcPts val="600"/>
              </a:spcBef>
              <a:spcAft>
                <a:spcPts val="600"/>
              </a:spcAft>
            </a:pPr>
            <a:r>
              <a:rPr lang="en-US" sz="2400" dirty="0">
                <a:solidFill>
                  <a:srgbClr val="FF0000"/>
                </a:solidFill>
                <a:latin typeface="Arial" panose="020B0604020202020204" pitchFamily="34" charset="0"/>
                <a:cs typeface="Arial" panose="020B0604020202020204" pitchFamily="34" charset="0"/>
              </a:rPr>
              <a:t>Amazon DynamoDB: </a:t>
            </a:r>
            <a:r>
              <a:rPr lang="en-US" sz="2400" dirty="0">
                <a:latin typeface="Arial" panose="020B0604020202020204" pitchFamily="34" charset="0"/>
                <a:cs typeface="Arial" panose="020B0604020202020204" pitchFamily="34" charset="0"/>
              </a:rPr>
              <a:t>The key-value database which is mostly used is Amazon DynamoDB as it is a trusted database used by a large number of users. It can easily handle a large number of requests every day and it also provides various security options.</a:t>
            </a:r>
          </a:p>
          <a:p>
            <a:pPr marL="354013" indent="-354013">
              <a:lnSpc>
                <a:spcPct val="120000"/>
              </a:lnSpc>
              <a:spcBef>
                <a:spcPts val="600"/>
              </a:spcBef>
              <a:spcAft>
                <a:spcPts val="600"/>
              </a:spcAft>
            </a:pPr>
            <a:r>
              <a:rPr lang="en-US" sz="2400" dirty="0" err="1">
                <a:solidFill>
                  <a:srgbClr val="FF0000"/>
                </a:solidFill>
                <a:latin typeface="Arial" panose="020B0604020202020204" pitchFamily="34" charset="0"/>
                <a:cs typeface="Arial" panose="020B0604020202020204" pitchFamily="34" charset="0"/>
              </a:rPr>
              <a:t>Riak</a:t>
            </a:r>
            <a:r>
              <a:rPr lang="en-US" sz="2400" dirty="0">
                <a:solidFill>
                  <a:srgbClr val="FF0000"/>
                </a:solidFill>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It is the database used to develop applications.</a:t>
            </a:r>
          </a:p>
          <a:p>
            <a:pPr marL="354013" indent="-354013">
              <a:lnSpc>
                <a:spcPct val="120000"/>
              </a:lnSpc>
              <a:spcBef>
                <a:spcPts val="600"/>
              </a:spcBef>
              <a:spcAft>
                <a:spcPts val="600"/>
              </a:spcAft>
            </a:pPr>
            <a:r>
              <a:rPr lang="en-US" sz="2400" dirty="0">
                <a:solidFill>
                  <a:srgbClr val="FF0000"/>
                </a:solidFill>
                <a:latin typeface="Arial" panose="020B0604020202020204" pitchFamily="34" charset="0"/>
                <a:cs typeface="Arial" panose="020B0604020202020204" pitchFamily="34" charset="0"/>
              </a:rPr>
              <a:t>Aerospike:</a:t>
            </a:r>
            <a:r>
              <a:rPr lang="en-US" sz="2400" dirty="0">
                <a:latin typeface="Arial" panose="020B0604020202020204" pitchFamily="34" charset="0"/>
                <a:cs typeface="Arial" panose="020B0604020202020204" pitchFamily="34" charset="0"/>
              </a:rPr>
              <a:t> It is an open-source and real-time database working with billions of exchanges.</a:t>
            </a:r>
          </a:p>
          <a:p>
            <a:pPr marL="354013" indent="-354013">
              <a:lnSpc>
                <a:spcPct val="120000"/>
              </a:lnSpc>
              <a:spcBef>
                <a:spcPts val="600"/>
              </a:spcBef>
              <a:spcAft>
                <a:spcPts val="600"/>
              </a:spcAft>
            </a:pPr>
            <a:r>
              <a:rPr lang="en-US" sz="2400" dirty="0">
                <a:solidFill>
                  <a:srgbClr val="FF0000"/>
                </a:solidFill>
                <a:latin typeface="Arial" panose="020B0604020202020204" pitchFamily="34" charset="0"/>
                <a:cs typeface="Arial" panose="020B0604020202020204" pitchFamily="34" charset="0"/>
              </a:rPr>
              <a:t>Berkeley DB: </a:t>
            </a:r>
            <a:r>
              <a:rPr lang="en-US" sz="2400" dirty="0">
                <a:latin typeface="Arial" panose="020B0604020202020204" pitchFamily="34" charset="0"/>
                <a:cs typeface="Arial" panose="020B0604020202020204" pitchFamily="34" charset="0"/>
              </a:rPr>
              <a:t>It is a high-performance and open-source database providing scalability.</a:t>
            </a:r>
            <a:endParaRPr lang="en-IN" dirty="0">
              <a:latin typeface="Arial" panose="020B0604020202020204" pitchFamily="34" charset="0"/>
              <a:cs typeface="Arial" panose="020B0604020202020204" pitchFamily="34" charset="0"/>
            </a:endParaRPr>
          </a:p>
          <a:p>
            <a:pPr marL="354013" indent="-354013">
              <a:lnSpc>
                <a:spcPct val="120000"/>
              </a:lnSpc>
              <a:spcBef>
                <a:spcPts val="600"/>
              </a:spcBef>
              <a:spcAft>
                <a:spcPts val="600"/>
              </a:spcAft>
            </a:pPr>
            <a:endParaRPr lang="en-IN"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Properties of keys</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Characteristics of Values</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Reference: NoSQL for Mere Mortals by Dan Sullivan</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Summary of Key value DB: </a:t>
            </a:r>
            <a:r>
              <a:rPr lang="en-US" dirty="0">
                <a:latin typeface="Arial" panose="020B0604020202020204" pitchFamily="34" charset="0"/>
                <a:cs typeface="Arial" panose="020B0604020202020204" pitchFamily="34" charset="0"/>
                <a:hlinkClick r:id="rId2"/>
              </a:rPr>
              <a:t>https://www.g2.com/categories/key-value-databases</a:t>
            </a:r>
            <a:endParaRPr lang="en-US" dirty="0">
              <a:latin typeface="Arial" panose="020B0604020202020204" pitchFamily="34" charset="0"/>
              <a:cs typeface="Arial" panose="020B0604020202020204" pitchFamily="34" charset="0"/>
            </a:endParaRP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28-02-2023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5126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3730</TotalTime>
  <Words>1548</Words>
  <Application>Microsoft Office PowerPoint</Application>
  <PresentationFormat>Widescreen</PresentationFormat>
  <Paragraphs>124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(Body)</vt:lpstr>
      <vt:lpstr>Calibri Light</vt:lpstr>
      <vt:lpstr>Office Theme</vt:lpstr>
      <vt:lpstr>Course code : CSE3009 Course title  : No SQL Data Bases Module  : 3     Topic   : 2</vt:lpstr>
      <vt:lpstr>Objectives</vt:lpstr>
      <vt:lpstr>Keys: Properties</vt:lpstr>
      <vt:lpstr>Keys: Properties</vt:lpstr>
      <vt:lpstr>Using Keys to Locate Values</vt:lpstr>
      <vt:lpstr>Using Keys to Locate Values</vt:lpstr>
      <vt:lpstr>Hash Functions: From Keys to Locations</vt:lpstr>
      <vt:lpstr>Keys Help Avoid Write Problems</vt:lpstr>
      <vt:lpstr>Keys Help Avoid Write Problems</vt:lpstr>
      <vt:lpstr>Values: Characteristics </vt:lpstr>
      <vt:lpstr>Values: Characteristics </vt:lpstr>
      <vt:lpstr>Values: Characteristics </vt:lpstr>
      <vt:lpstr>Limitations on Searching for Values</vt:lpstr>
      <vt:lpstr>Limitations on Searching for Values</vt:lpstr>
      <vt:lpstr>Best Key-Value Databases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206</cp:revision>
  <dcterms:created xsi:type="dcterms:W3CDTF">2019-11-30T05:18:24Z</dcterms:created>
  <dcterms:modified xsi:type="dcterms:W3CDTF">2023-02-28T06:24:46Z</dcterms:modified>
</cp:coreProperties>
</file>