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60"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4" r:id="rId18"/>
    <p:sldId id="355" r:id="rId19"/>
    <p:sldId id="356" r:id="rId20"/>
    <p:sldId id="361" r:id="rId21"/>
    <p:sldId id="359" r:id="rId22"/>
    <p:sldId id="357" r:id="rId23"/>
    <p:sldId id="358" r:id="rId24"/>
    <p:sldId id="362" r:id="rId25"/>
    <p:sldId id="364" r:id="rId26"/>
    <p:sldId id="363" r:id="rId27"/>
    <p:sldId id="25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06-08-2025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2C45521B-D169-62E1-E063-5C6A385C8F3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06-08-2025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6E66CEA6-9A36-3B75-A400-CB11B6F201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06-08-2025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D48CBD9A-DE3E-F524-55FB-568176213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06-08-2025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DE25C602-5AFE-1E80-C89C-0C497782B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06-08-2025</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pic>
        <p:nvPicPr>
          <p:cNvPr id="10" name="Picture 9">
            <a:extLst>
              <a:ext uri="{FF2B5EF4-FFF2-40B4-BE49-F238E27FC236}">
                <a16:creationId xmlns:a16="http://schemas.microsoft.com/office/drawing/2014/main" id="{0D8CA4C4-4FE5-ABD6-A5DA-CA2FA98D15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06-08-2025</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pic>
        <p:nvPicPr>
          <p:cNvPr id="6" name="Picture 5">
            <a:extLst>
              <a:ext uri="{FF2B5EF4-FFF2-40B4-BE49-F238E27FC236}">
                <a16:creationId xmlns:a16="http://schemas.microsoft.com/office/drawing/2014/main" id="{748373EE-60EC-3BDE-AB40-94CDBC39D23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06-08-2025</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06-08-2025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06-08-2025</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06-08-2025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06-08-2025</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06-08-2025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2</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5</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Bigdata distribution models and Map Reduce</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06-08-2025</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6F806AE9-D132-0589-215A-71171DCC29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07545" y="190860"/>
            <a:ext cx="1630037" cy="504687"/>
          </a:xfrm>
          <a:prstGeom prst="rect">
            <a:avLst/>
          </a:prstGeom>
        </p:spPr>
      </p:pic>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Using NoSQL to manage big data</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What is a big data NoSQL solution?</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Bigdata distribution models and Map Reduce</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Classifying big data problems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The challenges of distributed computing for big data</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Using NoSQL to manage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Twenty years ago</a:t>
            </a:r>
            <a:r>
              <a:rPr lang="en-US" sz="2400" dirty="0">
                <a:latin typeface="Arial" panose="020B0604020202020204" pitchFamily="34" charset="0"/>
                <a:cs typeface="Arial" panose="020B0604020202020204" pitchFamily="34" charset="0"/>
              </a:rPr>
              <a:t>, companies managed datasets that contained approximately a million internal sales transactions, </a:t>
            </a:r>
            <a:r>
              <a:rPr lang="en-US" sz="2400" dirty="0">
                <a:solidFill>
                  <a:srgbClr val="FF0000"/>
                </a:solidFill>
                <a:latin typeface="Arial" panose="020B0604020202020204" pitchFamily="34" charset="0"/>
                <a:cs typeface="Arial" panose="020B0604020202020204" pitchFamily="34" charset="0"/>
              </a:rPr>
              <a:t>stored on a single processor in a relational database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organizations generated more data from internal and external sources, </a:t>
            </a:r>
            <a:r>
              <a:rPr lang="en-US" sz="2400" dirty="0">
                <a:solidFill>
                  <a:srgbClr val="FF0000"/>
                </a:solidFill>
                <a:latin typeface="Arial" panose="020B0604020202020204" pitchFamily="34" charset="0"/>
                <a:cs typeface="Arial" panose="020B0604020202020204" pitchFamily="34" charset="0"/>
              </a:rPr>
              <a:t>datasets expanded to billions and trillions of items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amount of data made it </a:t>
            </a:r>
            <a:r>
              <a:rPr lang="en-US" sz="2400" dirty="0">
                <a:solidFill>
                  <a:srgbClr val="FF0000"/>
                </a:solidFill>
                <a:latin typeface="Arial" panose="020B0604020202020204" pitchFamily="34" charset="0"/>
                <a:cs typeface="Arial" panose="020B0604020202020204" pitchFamily="34" charset="0"/>
              </a:rPr>
              <a:t>difficult for organizations </a:t>
            </a:r>
            <a:r>
              <a:rPr lang="en-US" sz="2400" dirty="0">
                <a:latin typeface="Arial" panose="020B0604020202020204" pitchFamily="34" charset="0"/>
                <a:cs typeface="Arial" panose="020B0604020202020204" pitchFamily="34" charset="0"/>
              </a:rPr>
              <a:t>to continue to use a single system to process this data. They </a:t>
            </a:r>
            <a:r>
              <a:rPr lang="en-US" sz="2400" dirty="0">
                <a:solidFill>
                  <a:srgbClr val="0000FF"/>
                </a:solidFill>
                <a:latin typeface="Arial" panose="020B0604020202020204" pitchFamily="34" charset="0"/>
                <a:cs typeface="Arial" panose="020B0604020202020204" pitchFamily="34" charset="0"/>
              </a:rPr>
              <a:t>had to learn how to distribute the tasks among many processors</a:t>
            </a:r>
            <a:r>
              <a:rPr lang="en-US" sz="2400" dirty="0">
                <a:latin typeface="Arial" panose="020B0604020202020204" pitchFamily="34" charset="0"/>
                <a:cs typeface="Arial" panose="020B0604020202020204" pitchFamily="34" charset="0"/>
              </a:rPr>
              <a:t>. This is what is known as a big data problem.</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What is a big data NoSQL solution?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big data problem is any business problem </a:t>
            </a:r>
            <a:r>
              <a:rPr lang="en-US" sz="2400" dirty="0">
                <a:solidFill>
                  <a:srgbClr val="0000FF"/>
                </a:solidFill>
                <a:latin typeface="Arial" panose="020B0604020202020204" pitchFamily="34" charset="0"/>
                <a:cs typeface="Arial" panose="020B0604020202020204" pitchFamily="34" charset="0"/>
              </a:rPr>
              <a:t>that’s so large that it can’t be easily managed using a single processor</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Big data problems force you to move away from a single-processor environment </a:t>
            </a:r>
            <a:r>
              <a:rPr lang="en-US" sz="2400" dirty="0">
                <a:solidFill>
                  <a:srgbClr val="0000FF"/>
                </a:solidFill>
                <a:latin typeface="Arial" panose="020B0604020202020204" pitchFamily="34" charset="0"/>
                <a:cs typeface="Arial" panose="020B0604020202020204" pitchFamily="34" charset="0"/>
              </a:rPr>
              <a:t>toward the more complex world of distributed computing</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Here are some of the </a:t>
            </a:r>
            <a:r>
              <a:rPr lang="en-US" sz="2400" dirty="0">
                <a:solidFill>
                  <a:srgbClr val="FF0000"/>
                </a:solidFill>
                <a:latin typeface="Arial" panose="020B0604020202020204" pitchFamily="34" charset="0"/>
                <a:cs typeface="Arial" panose="020B0604020202020204" pitchFamily="34" charset="0"/>
              </a:rPr>
              <a:t>challenges</a:t>
            </a:r>
            <a:r>
              <a:rPr lang="en-US" sz="2400" dirty="0">
                <a:latin typeface="Arial" panose="020B0604020202020204" pitchFamily="34" charset="0"/>
                <a:cs typeface="Arial" panose="020B0604020202020204" pitchFamily="34" charset="0"/>
              </a:rPr>
              <a:t> you face when you move from a single processor to a </a:t>
            </a:r>
            <a:r>
              <a:rPr lang="en-US" sz="2400" dirty="0">
                <a:solidFill>
                  <a:srgbClr val="FF0000"/>
                </a:solidFill>
                <a:latin typeface="Arial" panose="020B0604020202020204" pitchFamily="34" charset="0"/>
                <a:cs typeface="Arial" panose="020B0604020202020204" pitchFamily="34" charset="0"/>
              </a:rPr>
              <a:t>distributed computing system</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018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What is a big data NoSQL solution?</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1585860" y="1690688"/>
            <a:ext cx="9020280" cy="4665662"/>
          </a:xfrm>
          <a:prstGeom prst="rect">
            <a:avLst/>
          </a:prstGeom>
        </p:spPr>
      </p:pic>
    </p:spTree>
    <p:extLst>
      <p:ext uri="{BB962C8B-B14F-4D97-AF65-F5344CB8AC3E}">
        <p14:creationId xmlns:p14="http://schemas.microsoft.com/office/powerpoint/2010/main" val="402059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Big data use cases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Here are some typical big data use cases:</a:t>
            </a:r>
          </a:p>
          <a:p>
            <a:pPr marL="722313" indent="-366713">
              <a:lnSpc>
                <a:spcPct val="130000"/>
              </a:lnSpc>
              <a:spcBef>
                <a:spcPts val="0"/>
              </a:spcBef>
            </a:pPr>
            <a:r>
              <a:rPr lang="en-IN" sz="2400" dirty="0">
                <a:latin typeface="Arial" panose="020B0604020202020204" pitchFamily="34" charset="0"/>
                <a:cs typeface="Arial" panose="020B0604020202020204" pitchFamily="34" charset="0"/>
              </a:rPr>
              <a:t>Bulk image processing</a:t>
            </a:r>
          </a:p>
          <a:p>
            <a:pPr marL="722313" indent="-366713">
              <a:lnSpc>
                <a:spcPct val="130000"/>
              </a:lnSpc>
              <a:spcBef>
                <a:spcPts val="0"/>
              </a:spcBef>
            </a:pPr>
            <a:r>
              <a:rPr lang="it-IT" sz="2400" dirty="0">
                <a:latin typeface="Arial" panose="020B0604020202020204" pitchFamily="34" charset="0"/>
                <a:cs typeface="Arial" panose="020B0604020202020204" pitchFamily="34" charset="0"/>
              </a:rPr>
              <a:t>Public web page data</a:t>
            </a:r>
          </a:p>
          <a:p>
            <a:pPr marL="722313" indent="-366713">
              <a:lnSpc>
                <a:spcPct val="130000"/>
              </a:lnSpc>
              <a:spcBef>
                <a:spcPts val="0"/>
              </a:spcBef>
            </a:pPr>
            <a:r>
              <a:rPr lang="it-IT" sz="2400" dirty="0">
                <a:solidFill>
                  <a:srgbClr val="FF0000"/>
                </a:solidFill>
                <a:latin typeface="Arial" panose="020B0604020202020204" pitchFamily="34" charset="0"/>
                <a:cs typeface="Arial" panose="020B0604020202020204" pitchFamily="34" charset="0"/>
              </a:rPr>
              <a:t>Remote sensor data</a:t>
            </a:r>
          </a:p>
          <a:p>
            <a:pPr marL="722313" indent="-366713">
              <a:lnSpc>
                <a:spcPct val="130000"/>
              </a:lnSpc>
              <a:spcBef>
                <a:spcPts val="0"/>
              </a:spcBef>
            </a:pPr>
            <a:r>
              <a:rPr lang="it-IT" sz="2400" dirty="0">
                <a:solidFill>
                  <a:srgbClr val="FF0000"/>
                </a:solidFill>
                <a:latin typeface="Arial" panose="020B0604020202020204" pitchFamily="34" charset="0"/>
                <a:cs typeface="Arial" panose="020B0604020202020204" pitchFamily="34" charset="0"/>
              </a:rPr>
              <a:t>Event log data</a:t>
            </a:r>
          </a:p>
          <a:p>
            <a:pPr marL="722313" indent="-366713">
              <a:lnSpc>
                <a:spcPct val="130000"/>
              </a:lnSpc>
              <a:spcBef>
                <a:spcPts val="0"/>
              </a:spcBef>
            </a:pPr>
            <a:r>
              <a:rPr lang="it-IT" sz="2400" dirty="0">
                <a:latin typeface="Arial" panose="020B0604020202020204" pitchFamily="34" charset="0"/>
                <a:cs typeface="Arial" panose="020B0604020202020204" pitchFamily="34" charset="0"/>
              </a:rPr>
              <a:t>Mobile phone data</a:t>
            </a:r>
          </a:p>
          <a:p>
            <a:pPr marL="722313" indent="-366713">
              <a:lnSpc>
                <a:spcPct val="130000"/>
              </a:lnSpc>
              <a:spcBef>
                <a:spcPts val="0"/>
              </a:spcBef>
            </a:pPr>
            <a:r>
              <a:rPr lang="it-IT" sz="2400" dirty="0">
                <a:latin typeface="Arial" panose="020B0604020202020204" pitchFamily="34" charset="0"/>
                <a:cs typeface="Arial" panose="020B0604020202020204" pitchFamily="34" charset="0"/>
              </a:rPr>
              <a:t>Social media data</a:t>
            </a:r>
          </a:p>
          <a:p>
            <a:pPr marL="722313" indent="-366713">
              <a:lnSpc>
                <a:spcPct val="130000"/>
              </a:lnSpc>
              <a:spcBef>
                <a:spcPts val="0"/>
              </a:spcBef>
            </a:pPr>
            <a:r>
              <a:rPr lang="it-IT" sz="2400" dirty="0">
                <a:solidFill>
                  <a:srgbClr val="FF0000"/>
                </a:solidFill>
                <a:latin typeface="Arial" panose="020B0604020202020204" pitchFamily="34" charset="0"/>
                <a:cs typeface="Arial" panose="020B0604020202020204" pitchFamily="34" charset="0"/>
              </a:rPr>
              <a:t>Game data</a:t>
            </a:r>
          </a:p>
          <a:p>
            <a:pPr marL="722313" indent="-366713">
              <a:lnSpc>
                <a:spcPct val="130000"/>
              </a:lnSpc>
              <a:spcBef>
                <a:spcPts val="0"/>
              </a:spcBef>
            </a:pPr>
            <a:r>
              <a:rPr lang="en-IN" sz="2400" dirty="0">
                <a:latin typeface="Arial" panose="020B0604020202020204" pitchFamily="34" charset="0"/>
                <a:cs typeface="Arial" panose="020B0604020202020204" pitchFamily="34" charset="0"/>
              </a:rPr>
              <a:t>Open linked data</a:t>
            </a:r>
          </a:p>
          <a:p>
            <a:pPr marL="0" indent="0">
              <a:lnSpc>
                <a:spcPct val="120000"/>
              </a:lnSpc>
              <a:spcBef>
                <a:spcPts val="18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990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Big data use cases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Among these use cases, some problems can be described as independent parallel transforms since the output from one transform isn’t used as an input to another.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Read and write to key-value stores or distributed file systems like </a:t>
            </a:r>
            <a:r>
              <a:rPr lang="en-US" sz="2400" dirty="0">
                <a:solidFill>
                  <a:srgbClr val="FF0000"/>
                </a:solidFill>
                <a:latin typeface="Arial" panose="020B0604020202020204" pitchFamily="34" charset="0"/>
                <a:cs typeface="Arial" panose="020B0604020202020204" pitchFamily="34" charset="0"/>
              </a:rPr>
              <a:t>Amazon’s Simple Storage Service (S3) </a:t>
            </a:r>
            <a:r>
              <a:rPr lang="en-US" sz="2400" dirty="0">
                <a:latin typeface="Arial" panose="020B0604020202020204" pitchFamily="34" charset="0"/>
                <a:cs typeface="Arial" panose="020B0604020202020204" pitchFamily="34" charset="0"/>
              </a:rPr>
              <a:t>or </a:t>
            </a:r>
            <a:r>
              <a:rPr lang="en-US" sz="2400" dirty="0">
                <a:solidFill>
                  <a:srgbClr val="FF0000"/>
                </a:solidFill>
                <a:latin typeface="Arial" panose="020B0604020202020204" pitchFamily="34" charset="0"/>
                <a:cs typeface="Arial" panose="020B0604020202020204" pitchFamily="34" charset="0"/>
              </a:rPr>
              <a:t>Hadoop Distributed File System (HDFS) </a:t>
            </a:r>
            <a:r>
              <a:rPr lang="en-US" sz="2400" dirty="0">
                <a:latin typeface="Arial" panose="020B0604020202020204" pitchFamily="34" charset="0"/>
                <a:cs typeface="Arial" panose="020B0604020202020204" pitchFamily="34" charset="0"/>
              </a:rPr>
              <a:t>and may not need the advanced features of a document store or an RDBMS.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Big data problems like event log data and game data do need to store their data directly into structures that can be queried and analyzed, so they will need different NoSQL solutions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3321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Good NoSQL Solutions to Big data problems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1800"/>
              </a:spcBef>
              <a:spcAft>
                <a:spcPts val="1800"/>
              </a:spcAft>
              <a:buNone/>
            </a:pPr>
            <a:r>
              <a:rPr lang="en-US" sz="2400" dirty="0">
                <a:latin typeface="Arial" panose="020B0604020202020204" pitchFamily="34" charset="0"/>
                <a:cs typeface="Arial" panose="020B0604020202020204" pitchFamily="34" charset="0"/>
              </a:rPr>
              <a:t>To be a good candidate for a general class of big data problems, </a:t>
            </a:r>
            <a:r>
              <a:rPr lang="en-US" sz="2400" dirty="0">
                <a:solidFill>
                  <a:srgbClr val="FF0000"/>
                </a:solidFill>
                <a:latin typeface="Arial" panose="020B0604020202020204" pitchFamily="34" charset="0"/>
                <a:cs typeface="Arial" panose="020B0604020202020204" pitchFamily="34" charset="0"/>
              </a:rPr>
              <a:t>NoSQL solutions should</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Be efficient with input and output and scale linearly with growing data size.</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Be operationally efficient. Organizations can’t afford to hire many people to run the servers.</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Require that reports and analyses be performed by nonprogrammers using simple tools.</a:t>
            </a:r>
          </a:p>
          <a:p>
            <a:pPr marL="722313" indent="-366713">
              <a:lnSpc>
                <a:spcPct val="120000"/>
              </a:lnSpc>
              <a:spcBef>
                <a:spcPts val="600"/>
              </a:spcBef>
              <a:spcAft>
                <a:spcPts val="600"/>
              </a:spcAft>
            </a:pPr>
            <a:r>
              <a:rPr lang="en-US" sz="2400" dirty="0">
                <a:latin typeface="Arial" panose="020B0604020202020204" pitchFamily="34" charset="0"/>
                <a:cs typeface="Arial" panose="020B0604020202020204" pitchFamily="34" charset="0"/>
              </a:rPr>
              <a:t>Meet the challenges of distributed computing, including consideration of latency between systems and eventual node failures.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294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Understanding the types of big data problems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4089935"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There are many </a:t>
            </a:r>
            <a:r>
              <a:rPr lang="en-US" sz="2400" dirty="0">
                <a:solidFill>
                  <a:srgbClr val="FF0000"/>
                </a:solidFill>
                <a:latin typeface="Arial" panose="020B0604020202020204" pitchFamily="34" charset="0"/>
                <a:cs typeface="Arial" panose="020B0604020202020204" pitchFamily="34" charset="0"/>
              </a:rPr>
              <a:t>types of big data problems</a:t>
            </a:r>
            <a:r>
              <a:rPr lang="en-US" sz="2400" dirty="0">
                <a:latin typeface="Arial" panose="020B0604020202020204" pitchFamily="34" charset="0"/>
                <a:cs typeface="Arial" panose="020B0604020202020204" pitchFamily="34" charset="0"/>
              </a:rPr>
              <a:t>, each requiring a different combination of NoSQL systems.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 Good example of a high-level big data classification system is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4764505" y="1870075"/>
            <a:ext cx="6589295" cy="3770874"/>
          </a:xfrm>
          <a:prstGeom prst="rect">
            <a:avLst/>
          </a:prstGeom>
        </p:spPr>
      </p:pic>
    </p:spTree>
    <p:extLst>
      <p:ext uri="{BB962C8B-B14F-4D97-AF65-F5344CB8AC3E}">
        <p14:creationId xmlns:p14="http://schemas.microsoft.com/office/powerpoint/2010/main" val="905527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Analyzing big data with a shared-nothing architecture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There are </a:t>
            </a:r>
            <a:r>
              <a:rPr lang="en-US" sz="2400" dirty="0">
                <a:solidFill>
                  <a:srgbClr val="FF0000"/>
                </a:solidFill>
                <a:latin typeface="Arial" panose="020B0604020202020204" pitchFamily="34" charset="0"/>
                <a:cs typeface="Arial" panose="020B0604020202020204" pitchFamily="34" charset="0"/>
              </a:rPr>
              <a:t>three ways that resources can be shared between computer systems</a:t>
            </a:r>
            <a:r>
              <a:rPr lang="en-US" sz="2400" dirty="0">
                <a:latin typeface="Arial" panose="020B0604020202020204" pitchFamily="34" charset="0"/>
                <a:cs typeface="Arial" panose="020B0604020202020204" pitchFamily="34" charset="0"/>
              </a:rPr>
              <a:t>: shared RAM, shared disk, and shared-nothing.</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2990850" y="2803508"/>
            <a:ext cx="6210300" cy="2771775"/>
          </a:xfrm>
          <a:prstGeom prst="rect">
            <a:avLst/>
          </a:prstGeom>
        </p:spPr>
      </p:pic>
    </p:spTree>
    <p:extLst>
      <p:ext uri="{BB962C8B-B14F-4D97-AF65-F5344CB8AC3E}">
        <p14:creationId xmlns:p14="http://schemas.microsoft.com/office/powerpoint/2010/main" val="3183316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Shared-nothing architecture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left panel shows a shared RAM architecture, where many CPUs access a single shared RAM over a high-speed bus. This system is ideal for large graph traversal.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middle panel shows a shared disk system, where processors have independent RAM but share disk using a storage area network (SAN).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right panel shows an architecture used in big data solutions: cache-friendly, using low-cost commodity hardware, and a shared-nothing architecture.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5720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Choosing distribution models: </a:t>
            </a:r>
            <a:br>
              <a:rPr lang="en-US" sz="3200" b="1" u="sng" dirty="0">
                <a:solidFill>
                  <a:srgbClr val="0070C0"/>
                </a:solidFill>
                <a:latin typeface="Arial" panose="020B0604020202020204" pitchFamily="34" charset="0"/>
                <a:cs typeface="Arial" panose="020B0604020202020204" pitchFamily="34" charset="0"/>
              </a:rPr>
            </a:br>
            <a:r>
              <a:rPr lang="en-US" sz="3200" b="1" u="sng" dirty="0">
                <a:solidFill>
                  <a:srgbClr val="0070C0"/>
                </a:solidFill>
                <a:latin typeface="Arial" panose="020B0604020202020204" pitchFamily="34" charset="0"/>
                <a:cs typeface="Arial" panose="020B0604020202020204" pitchFamily="34" charset="0"/>
              </a:rPr>
              <a:t>Master-Slave VS Peer-to-Peer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From a distribution perspective, there are two main models: </a:t>
            </a:r>
            <a:r>
              <a:rPr lang="en-US" sz="2400" dirty="0">
                <a:solidFill>
                  <a:srgbClr val="FF0000"/>
                </a:solidFill>
                <a:latin typeface="Arial" panose="020B0604020202020204" pitchFamily="34" charset="0"/>
                <a:cs typeface="Arial" panose="020B0604020202020204" pitchFamily="34" charset="0"/>
              </a:rPr>
              <a:t>master-slave and peer-to peer</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Distribution models </a:t>
            </a:r>
            <a:r>
              <a:rPr lang="en-US" sz="2400" dirty="0">
                <a:solidFill>
                  <a:srgbClr val="FF0000"/>
                </a:solidFill>
                <a:latin typeface="Arial" panose="020B0604020202020204" pitchFamily="34" charset="0"/>
                <a:cs typeface="Arial" panose="020B0604020202020204" pitchFamily="34" charset="0"/>
              </a:rPr>
              <a:t>determine the responsibility for processing data when a request is made</a:t>
            </a:r>
            <a:r>
              <a:rPr lang="en-US" sz="2400" dirty="0">
                <a:latin typeface="Arial" panose="020B0604020202020204" pitchFamily="34" charset="0"/>
                <a:cs typeface="Arial" panose="020B0604020202020204" pitchFamily="34" charset="0"/>
              </a:rPr>
              <a: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Understanding the pros and cons of each distribution model is important when you’re looking at a potential big data solution.</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Peer-to-peer models may be more resilient to failure than master-slave models. Some master-slave distribution models have single points of failure that might impact your system availability.</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1808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Master-Slave VS Peer-to-Peer</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2452219" y="2008162"/>
            <a:ext cx="7287562" cy="3986263"/>
          </a:xfrm>
          <a:prstGeom prst="rect">
            <a:avLst/>
          </a:prstGeom>
        </p:spPr>
      </p:pic>
    </p:spTree>
    <p:extLst>
      <p:ext uri="{BB962C8B-B14F-4D97-AF65-F5344CB8AC3E}">
        <p14:creationId xmlns:p14="http://schemas.microsoft.com/office/powerpoint/2010/main" val="2119876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Master-Slave VS Peer-to-Peer</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panel on the left illustrates a master-slave configuration where all incoming database requests (reads or writes) are sent to a single master node and redistributed from there.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master node is called the Name Node in Hadoop. </a:t>
            </a:r>
            <a:r>
              <a:rPr lang="en-US" sz="2400" dirty="0">
                <a:solidFill>
                  <a:srgbClr val="FF0000"/>
                </a:solidFill>
                <a:latin typeface="Arial" panose="020B0604020202020204" pitchFamily="34" charset="0"/>
                <a:cs typeface="Arial" panose="020B0604020202020204" pitchFamily="34" charset="0"/>
              </a:rPr>
              <a:t>This node keeps a database of all the other nodes in the cluster and the rules for distributing requests to each node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panel on the right shows how the </a:t>
            </a:r>
            <a:r>
              <a:rPr lang="en-US" sz="2400" dirty="0">
                <a:solidFill>
                  <a:srgbClr val="FF0000"/>
                </a:solidFill>
                <a:latin typeface="Arial" panose="020B0604020202020204" pitchFamily="34" charset="0"/>
                <a:cs typeface="Arial" panose="020B0604020202020204" pitchFamily="34" charset="0"/>
              </a:rPr>
              <a:t>peer-to-peer model stores all the information about the cluster on each node in the cluster</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any node crashes, the other nodes can take over and processing can continue.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6291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r>
              <a:rPr lang="en-US" sz="3200" b="1" u="sng" dirty="0">
                <a:solidFill>
                  <a:srgbClr val="0070C0"/>
                </a:solidFill>
                <a:latin typeface="Arial" panose="020B0604020202020204" pitchFamily="34" charset="0"/>
                <a:cs typeface="Arial" panose="020B0604020202020204" pitchFamily="34" charset="0"/>
              </a:rPr>
              <a:t> to transform data over distributed systems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err="1">
                <a:latin typeface="Arial" panose="020B0604020202020204" pitchFamily="34" charset="0"/>
                <a:cs typeface="Arial" panose="020B0604020202020204" pitchFamily="34" charset="0"/>
              </a:rPr>
              <a:t>MapReduce</a:t>
            </a:r>
            <a:r>
              <a:rPr lang="en-US" sz="2400" dirty="0">
                <a:latin typeface="Arial" panose="020B0604020202020204" pitchFamily="34" charset="0"/>
                <a:cs typeface="Arial" panose="020B0604020202020204" pitchFamily="34" charset="0"/>
              </a:rPr>
              <a:t> systems can be used to process large datasets on multiple processors.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If you’ve been moving data between SQL systems, you’re familiar with the </a:t>
            </a:r>
            <a:r>
              <a:rPr lang="en-US" sz="2400" dirty="0">
                <a:solidFill>
                  <a:srgbClr val="FF0000"/>
                </a:solidFill>
                <a:latin typeface="Arial" panose="020B0604020202020204" pitchFamily="34" charset="0"/>
                <a:cs typeface="Arial" panose="020B0604020202020204" pitchFamily="34" charset="0"/>
              </a:rPr>
              <a:t>extract, load, and transform (ETL) </a:t>
            </a:r>
            <a:r>
              <a:rPr lang="en-US" sz="2400" dirty="0">
                <a:latin typeface="Arial" panose="020B0604020202020204" pitchFamily="34" charset="0"/>
                <a:cs typeface="Arial" panose="020B0604020202020204" pitchFamily="34" charset="0"/>
              </a:rPr>
              <a:t>process.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SQL-based ETL systems usually </a:t>
            </a:r>
            <a:r>
              <a:rPr lang="en-US" sz="2400" dirty="0">
                <a:solidFill>
                  <a:srgbClr val="FF0000"/>
                </a:solidFill>
                <a:latin typeface="Arial" panose="020B0604020202020204" pitchFamily="34" charset="0"/>
                <a:cs typeface="Arial" panose="020B0604020202020204" pitchFamily="34" charset="0"/>
              </a:rPr>
              <a:t>don’t have the inherent ability to use a large number of processors</a:t>
            </a:r>
            <a:r>
              <a:rPr lang="en-US" sz="2400" dirty="0">
                <a:latin typeface="Arial" panose="020B0604020202020204" pitchFamily="34" charset="0"/>
                <a:cs typeface="Arial" panose="020B0604020202020204" pitchFamily="34" charset="0"/>
              </a:rPr>
              <a:t> to do their work.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single-processor bottleneck is common in data warehouse systems as well as areas of big data.</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5386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To solve this type of problem, </a:t>
            </a:r>
            <a:r>
              <a:rPr lang="en-US" sz="2400" dirty="0">
                <a:solidFill>
                  <a:srgbClr val="FF0000"/>
                </a:solidFill>
                <a:latin typeface="Arial" panose="020B0604020202020204" pitchFamily="34" charset="0"/>
                <a:cs typeface="Arial" panose="020B0604020202020204" pitchFamily="34" charset="0"/>
              </a:rPr>
              <a:t>organizations have moved to a distributed transformation model built around the map and reduce functions</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To effectively distribute work evenly over a cluster of processors, </a:t>
            </a:r>
            <a:r>
              <a:rPr lang="en-US" sz="2400" dirty="0">
                <a:solidFill>
                  <a:srgbClr val="0000FF"/>
                </a:solidFill>
                <a:latin typeface="Arial" panose="020B0604020202020204" pitchFamily="34" charset="0"/>
                <a:cs typeface="Arial" panose="020B0604020202020204" pitchFamily="34" charset="0"/>
              </a:rPr>
              <a:t>the output of a map phase must be a set of key-value pairs where part of the key structure is used to correlate results into the reduce phase</a:t>
            </a:r>
            <a:r>
              <a:rPr lang="en-US" sz="2400" dirty="0">
                <a:latin typeface="Arial" panose="020B0604020202020204" pitchFamily="34" charset="0"/>
                <a:cs typeface="Arial" panose="020B0604020202020204" pitchFamily="34" charset="0"/>
              </a:rPr>
              <a:t>.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These functions are designed to be inherently linearly scalable using a large number of shared-nothing processors.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6930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solidFill>
                  <a:srgbClr val="0000FF"/>
                </a:solidFill>
                <a:latin typeface="Arial" panose="020B0604020202020204" pitchFamily="34" charset="0"/>
                <a:cs typeface="Arial" panose="020B0604020202020204" pitchFamily="34" charset="0"/>
              </a:rPr>
              <a:t>Traditional file systems store data in a single location</a:t>
            </a:r>
            <a:r>
              <a:rPr lang="en-US" sz="2400" dirty="0">
                <a:latin typeface="Arial" panose="020B0604020202020204" pitchFamily="34" charset="0"/>
                <a:cs typeface="Arial" panose="020B0604020202020204" pitchFamily="34" charset="0"/>
              </a:rPr>
              <a:t>; if a drive fails, data is restored from a backup drive.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By default, </a:t>
            </a:r>
            <a:r>
              <a:rPr lang="en-US" sz="2400" dirty="0">
                <a:solidFill>
                  <a:srgbClr val="0000FF"/>
                </a:solidFill>
                <a:latin typeface="Arial" panose="020B0604020202020204" pitchFamily="34" charset="0"/>
                <a:cs typeface="Arial" panose="020B0604020202020204" pitchFamily="34" charset="0"/>
              </a:rPr>
              <a:t>files in HDFS are stored in three locations</a:t>
            </a:r>
            <a:r>
              <a:rPr lang="en-US" sz="2400" dirty="0">
                <a:latin typeface="Arial" panose="020B0604020202020204" pitchFamily="34" charset="0"/>
                <a:cs typeface="Arial" panose="020B0604020202020204" pitchFamily="34" charset="0"/>
              </a:rPr>
              <a:t>; if a drive fails, the data is automatically replicated to another drive. It’s possible to get the same functionality using a fault-tolerant system like RAID drives.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HDFSs are different: they use a large (64 megabytes by default) block size to handle data. </a:t>
            </a:r>
            <a:r>
              <a:rPr lang="en-US" sz="2400" dirty="0">
                <a:solidFill>
                  <a:srgbClr val="FF0000"/>
                </a:solidFill>
                <a:latin typeface="Arial" panose="020B0604020202020204" pitchFamily="34" charset="0"/>
                <a:cs typeface="Arial" panose="020B0604020202020204" pitchFamily="34" charset="0"/>
              </a:rPr>
              <a:t>Figure shows how large HDFS blocks are compared to a typical operating system</a:t>
            </a:r>
            <a:r>
              <a:rPr lang="en-US" sz="2400" dirty="0">
                <a:latin typeface="Arial" panose="020B0604020202020204" pitchFamily="34" charset="0"/>
                <a:cs typeface="Arial" panose="020B0604020202020204" pitchFamily="34" charset="0"/>
              </a:rPr>
              <a:t>.</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0514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2795587" y="1904147"/>
            <a:ext cx="6600825" cy="3800475"/>
          </a:xfrm>
          <a:prstGeom prst="rect">
            <a:avLst/>
          </a:prstGeom>
        </p:spPr>
      </p:pic>
    </p:spTree>
    <p:extLst>
      <p:ext uri="{BB962C8B-B14F-4D97-AF65-F5344CB8AC3E}">
        <p14:creationId xmlns:p14="http://schemas.microsoft.com/office/powerpoint/2010/main" val="3586590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MapReduce is a programming framework that allows us to perform distributed and parallel processing on large data sets in a distributed environment.</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MapReduce consists of two distinct tasks — Map and Reduce.</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As the name MapReduce suggests, reducer phase takes place after the mapper phase has been completed. So, the first is the map job, where a block of data is read and processed to produce key-value pairs as intermediate outputs.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30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32BD-FC46-B60B-F33A-F122750CB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93526-0A02-C284-8C49-AD5C0F2534D4}"/>
              </a:ext>
            </a:extLst>
          </p:cNvPr>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5E6A529-18FA-F1FB-856D-2B27785F463C}"/>
              </a:ext>
            </a:extLst>
          </p:cNvPr>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output of a Mapper or map job (key-value pairs) is input to the Reducer.</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reducer receives the key-value pair from multiple map jobs.</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Then, the reducer aggregates those intermediate data tuples (intermediate key-value pair) into a smaller set of tuples or key-value pairs which is the final output.</a:t>
            </a:r>
          </a:p>
        </p:txBody>
      </p:sp>
      <p:sp>
        <p:nvSpPr>
          <p:cNvPr id="7" name="Date Placeholder 6">
            <a:extLst>
              <a:ext uri="{FF2B5EF4-FFF2-40B4-BE49-F238E27FC236}">
                <a16:creationId xmlns:a16="http://schemas.microsoft.com/office/drawing/2014/main" id="{01AF6612-6861-35C9-2948-0CB45BBBCE93}"/>
              </a:ext>
            </a:extLst>
          </p:cNvPr>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12A2C676-13B3-26E8-C949-C32468E358FA}"/>
              </a:ext>
            </a:extLst>
          </p:cNvPr>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925996E2-FB7D-8891-8279-B3C20EC0A68B}"/>
              </a:ext>
            </a:extLst>
          </p:cNvPr>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6255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4AB1-38AB-02E7-5DBD-2352BD38D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2EA2E-77D1-E22C-AFDD-F10DE4FDD095}"/>
              </a:ext>
            </a:extLst>
          </p:cNvPr>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EB6EE78-B575-9DF1-1321-C7D0162274F7}"/>
              </a:ext>
            </a:extLst>
          </p:cNvPr>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This figure explain how </a:t>
            </a:r>
            <a:r>
              <a:rPr lang="en-US" sz="2400" dirty="0" err="1">
                <a:latin typeface="Arial" panose="020B0604020202020204" pitchFamily="34" charset="0"/>
                <a:cs typeface="Arial" panose="020B0604020202020204" pitchFamily="34" charset="0"/>
              </a:rPr>
              <a:t>MapReduce</a:t>
            </a:r>
            <a:r>
              <a:rPr lang="en-US" sz="2400" dirty="0">
                <a:latin typeface="Arial" panose="020B0604020202020204" pitchFamily="34" charset="0"/>
                <a:cs typeface="Arial" panose="020B0604020202020204" pitchFamily="34" charset="0"/>
              </a:rPr>
              <a:t> transfers the data over distributed system.</a:t>
            </a:r>
            <a:endParaRPr lang="en-IN" sz="2400" dirty="0">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BDF61088-CB5E-BB2D-5E71-50599D5FC6C6}"/>
              </a:ext>
            </a:extLst>
          </p:cNvPr>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19276A36-2268-7E46-6142-A2F1D31AB841}"/>
              </a:ext>
            </a:extLst>
          </p:cNvPr>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5F87073C-B0CD-E5CA-9C7A-31D3FE8E27F7}"/>
              </a:ext>
            </a:extLst>
          </p:cNvPr>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33F0CBF-08E8-F839-7C25-B0067D51592F}"/>
              </a:ext>
            </a:extLst>
          </p:cNvPr>
          <p:cNvPicPr>
            <a:picLocks noChangeAspect="1"/>
          </p:cNvPicPr>
          <p:nvPr/>
        </p:nvPicPr>
        <p:blipFill>
          <a:blip r:embed="rId2"/>
          <a:stretch>
            <a:fillRect/>
          </a:stretch>
        </p:blipFill>
        <p:spPr>
          <a:xfrm>
            <a:off x="2771775" y="3016251"/>
            <a:ext cx="6648450" cy="2514600"/>
          </a:xfrm>
          <a:prstGeom prst="rect">
            <a:avLst/>
          </a:prstGeom>
        </p:spPr>
      </p:pic>
    </p:spTree>
    <p:extLst>
      <p:ext uri="{BB962C8B-B14F-4D97-AF65-F5344CB8AC3E}">
        <p14:creationId xmlns:p14="http://schemas.microsoft.com/office/powerpoint/2010/main" val="1687051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basics of how the map and reduce functions work together to gain linear scalability over big data transforms.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map operation takes input data and creates a uniform set of key-value pairs.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the shuffle phase, which is done automatically by the </a:t>
            </a:r>
            <a:r>
              <a:rPr lang="en-US" sz="2400" dirty="0" err="1">
                <a:latin typeface="Arial" panose="020B0604020202020204" pitchFamily="34" charset="0"/>
                <a:cs typeface="Arial" panose="020B0604020202020204" pitchFamily="34" charset="0"/>
              </a:rPr>
              <a:t>MapReduce</a:t>
            </a:r>
            <a:r>
              <a:rPr lang="en-US" sz="2400" dirty="0">
                <a:latin typeface="Arial" panose="020B0604020202020204" pitchFamily="34" charset="0"/>
                <a:cs typeface="Arial" panose="020B0604020202020204" pitchFamily="34" charset="0"/>
              </a:rPr>
              <a:t> framework, key-value pairs are automatically distributed to the correct reduce node based on the value of the key.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reduce operation takes the key-value pairs and returns consolidated values for each key. It's the job of the </a:t>
            </a:r>
            <a:r>
              <a:rPr lang="en-US" sz="2400" dirty="0" err="1">
                <a:latin typeface="Arial" panose="020B0604020202020204" pitchFamily="34" charset="0"/>
                <a:cs typeface="Arial" panose="020B0604020202020204" pitchFamily="34" charset="0"/>
              </a:rPr>
              <a:t>MapReduce</a:t>
            </a:r>
            <a:r>
              <a:rPr lang="en-US" sz="2400" dirty="0">
                <a:latin typeface="Arial" panose="020B0604020202020204" pitchFamily="34" charset="0"/>
                <a:cs typeface="Arial" panose="020B0604020202020204" pitchFamily="34" charset="0"/>
              </a:rPr>
              <a:t> framework to get the right keys to the right reduce nodes.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4675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Word Count Example of </a:t>
            </a:r>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example.txt: Dear, Bear, River, Car, Car, River, Deer, Car and Bear</a:t>
            </a:r>
          </a:p>
          <a:p>
            <a:pPr marL="0" indent="0">
              <a:lnSpc>
                <a:spcPct val="120000"/>
              </a:lnSpc>
              <a:spcBef>
                <a:spcPts val="18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pic>
        <p:nvPicPr>
          <p:cNvPr id="1026" name="Picture 2" descr="MapReduce Way - MapReduce Tutorial - Edure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174" y="2219324"/>
            <a:ext cx="8959652" cy="3957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552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BADD-ABAF-CE9B-F1CD-99B9C40B0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686E5-CFCE-AF86-D991-1917DB241FC1}"/>
              </a:ext>
            </a:extLst>
          </p:cNvPr>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Word Count Example of </a:t>
            </a:r>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4FEEEF03-D130-0379-C05F-349B105BEE5F}"/>
              </a:ext>
            </a:extLst>
          </p:cNvPr>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EF8E369D-099B-8001-D0C6-72505A36D84D}"/>
              </a:ext>
            </a:extLst>
          </p:cNvPr>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1B366D34-241D-B120-B23E-0FFBAEA0F0CB}"/>
              </a:ext>
            </a:extLst>
          </p:cNvPr>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707AF9C-9239-69B8-1039-4B5B073BB723}"/>
              </a:ext>
            </a:extLst>
          </p:cNvPr>
          <p:cNvPicPr>
            <a:picLocks noChangeAspect="1"/>
          </p:cNvPicPr>
          <p:nvPr/>
        </p:nvPicPr>
        <p:blipFill>
          <a:blip r:embed="rId2"/>
          <a:stretch>
            <a:fillRect/>
          </a:stretch>
        </p:blipFill>
        <p:spPr>
          <a:xfrm>
            <a:off x="2596504" y="1495819"/>
            <a:ext cx="6998991" cy="4681144"/>
          </a:xfrm>
          <a:prstGeom prst="rect">
            <a:avLst/>
          </a:prstGeom>
        </p:spPr>
      </p:pic>
    </p:spTree>
    <p:extLst>
      <p:ext uri="{BB962C8B-B14F-4D97-AF65-F5344CB8AC3E}">
        <p14:creationId xmlns:p14="http://schemas.microsoft.com/office/powerpoint/2010/main" val="2370392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E53BE-613F-487F-15BF-C41CCB7F7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D970E-170B-F7EA-4E42-EDC714CDEBCD}"/>
              </a:ext>
            </a:extLst>
          </p:cNvPr>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Word Count Example of </a:t>
            </a:r>
            <a:r>
              <a:rPr lang="en-US" sz="3200" b="1" u="sng" dirty="0" err="1">
                <a:solidFill>
                  <a:srgbClr val="0070C0"/>
                </a:solidFill>
                <a:latin typeface="Arial" panose="020B0604020202020204" pitchFamily="34" charset="0"/>
                <a:cs typeface="Arial" panose="020B0604020202020204" pitchFamily="34" charset="0"/>
              </a:rPr>
              <a:t>MapReduce</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8BCE3748-247D-455F-A3DE-9E61192F0DC7}"/>
              </a:ext>
            </a:extLst>
          </p:cNvPr>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1779A0FC-3F8C-450A-4159-846C6FB447B0}"/>
              </a:ext>
            </a:extLst>
          </p:cNvPr>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978AB2FF-80CD-9EC1-B97D-185853FCD210}"/>
              </a:ext>
            </a:extLst>
          </p:cNvPr>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EA1F644-39CE-0E78-85BC-EAD79535E756}"/>
              </a:ext>
            </a:extLst>
          </p:cNvPr>
          <p:cNvPicPr>
            <a:picLocks noChangeAspect="1"/>
          </p:cNvPicPr>
          <p:nvPr/>
        </p:nvPicPr>
        <p:blipFill>
          <a:blip r:embed="rId2"/>
          <a:stretch>
            <a:fillRect/>
          </a:stretch>
        </p:blipFill>
        <p:spPr>
          <a:xfrm>
            <a:off x="1656602" y="1965432"/>
            <a:ext cx="8878796" cy="4116173"/>
          </a:xfrm>
          <a:prstGeom prst="rect">
            <a:avLst/>
          </a:prstGeom>
        </p:spPr>
      </p:pic>
    </p:spTree>
    <p:extLst>
      <p:ext uri="{BB962C8B-B14F-4D97-AF65-F5344CB8AC3E}">
        <p14:creationId xmlns:p14="http://schemas.microsoft.com/office/powerpoint/2010/main" val="1217985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E8752-A3D4-5DEC-F239-D9CD778CB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12A91-FC59-4497-EEB1-6FA399A19E96}"/>
              </a:ext>
            </a:extLst>
          </p:cNvPr>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MapReduce with MongoDB</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B773BC8-FF29-4153-FDBA-3AD11FB01E66}"/>
              </a:ext>
            </a:extLst>
          </p:cNvPr>
          <p:cNvSpPr>
            <a:spLocks noGrp="1"/>
          </p:cNvSpPr>
          <p:nvPr>
            <p:ph idx="1"/>
          </p:nvPr>
        </p:nvSpPr>
        <p:spPr>
          <a:xfrm>
            <a:off x="838200" y="1690688"/>
            <a:ext cx="10515600" cy="4486275"/>
          </a:xfrm>
        </p:spPr>
        <p:txBody>
          <a:bodyPr>
            <a:normAutofit fontScale="92500" lnSpcReduction="10000"/>
          </a:bodyPr>
          <a:lstStyle/>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basics of how the map and reduce functions work together to gain linear scalability over big data transforms.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map operation takes input data and creates a uniform set of key-value pairs.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In the shuffle phase, which is done automatically by the MapReduce framework, key-value pairs are automatically distributed to the correct reduce node based on the value of the key. </a:t>
            </a:r>
          </a:p>
          <a:p>
            <a:pPr marL="0" indent="0">
              <a:lnSpc>
                <a:spcPct val="120000"/>
              </a:lnSpc>
              <a:spcBef>
                <a:spcPts val="1800"/>
              </a:spcBef>
              <a:spcAft>
                <a:spcPts val="600"/>
              </a:spcAft>
              <a:buNone/>
            </a:pPr>
            <a:r>
              <a:rPr lang="en-US" sz="2400" dirty="0">
                <a:latin typeface="Arial" panose="020B0604020202020204" pitchFamily="34" charset="0"/>
                <a:cs typeface="Arial" panose="020B0604020202020204" pitchFamily="34" charset="0"/>
              </a:rPr>
              <a:t>The reduce operation takes the key-value pairs and returns consolidated values for each key. It's the job of the MapReduce framework to get the right keys to the right reduce nodes.</a:t>
            </a:r>
            <a:endParaRPr lang="en-IN" sz="2400" dirty="0">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2422BA1F-4907-77F4-EBF2-148DE0CB913D}"/>
              </a:ext>
            </a:extLst>
          </p:cNvPr>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a:extLst>
              <a:ext uri="{FF2B5EF4-FFF2-40B4-BE49-F238E27FC236}">
                <a16:creationId xmlns:a16="http://schemas.microsoft.com/office/drawing/2014/main" id="{60DB85D1-7648-5C90-6DF4-2A41FB067CBE}"/>
              </a:ext>
            </a:extLst>
          </p:cNvPr>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a:extLst>
              <a:ext uri="{FF2B5EF4-FFF2-40B4-BE49-F238E27FC236}">
                <a16:creationId xmlns:a16="http://schemas.microsoft.com/office/drawing/2014/main" id="{36C35A60-45C0-D8D0-A815-35F6A9F031A6}"/>
              </a:ext>
            </a:extLst>
          </p:cNvPr>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2453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Using NoSQL to manage big data</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What is a big data NoSQL solution?</a:t>
            </a:r>
          </a:p>
          <a:p>
            <a:pPr marL="996950" lvl="1" indent="-539750">
              <a:lnSpc>
                <a:spcPct val="120000"/>
              </a:lnSpc>
              <a:spcBef>
                <a:spcPts val="600"/>
              </a:spcBef>
              <a:spcAft>
                <a:spcPts val="600"/>
              </a:spcAft>
            </a:pPr>
            <a:r>
              <a:rPr lang="en-US">
                <a:latin typeface="Arial" panose="020B0604020202020204" pitchFamily="34" charset="0"/>
                <a:cs typeface="Arial" panose="020B0604020202020204" pitchFamily="34" charset="0"/>
              </a:rPr>
              <a:t>Bigdata distribution models and Map Reduce</a:t>
            </a:r>
          </a:p>
          <a:p>
            <a:pPr marL="996950" lvl="1" indent="-539750">
              <a:lnSpc>
                <a:spcPct val="120000"/>
              </a:lnSpc>
              <a:spcBef>
                <a:spcPts val="600"/>
              </a:spcBef>
              <a:spcAft>
                <a:spcPts val="600"/>
              </a:spcAft>
            </a:pPr>
            <a:r>
              <a:rPr lang="en-US">
                <a:latin typeface="Arial" panose="020B0604020202020204" pitchFamily="34" charset="0"/>
                <a:cs typeface="Arial" panose="020B0604020202020204" pitchFamily="34" charset="0"/>
              </a:rPr>
              <a:t>Classifying </a:t>
            </a:r>
            <a:r>
              <a:rPr lang="en-US" dirty="0">
                <a:latin typeface="Arial" panose="020B0604020202020204" pitchFamily="34" charset="0"/>
                <a:cs typeface="Arial" panose="020B0604020202020204" pitchFamily="34" charset="0"/>
              </a:rPr>
              <a:t>big data problems</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The challenges of distributed computing for big data</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06-08-2025</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1676</TotalTime>
  <Words>1710</Words>
  <Application>Microsoft Office PowerPoint</Application>
  <PresentationFormat>Widescreen</PresentationFormat>
  <Paragraphs>184</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(Body)</vt:lpstr>
      <vt:lpstr>Calibri Light</vt:lpstr>
      <vt:lpstr>Office Theme</vt:lpstr>
      <vt:lpstr>Course code : CSE3009 Course title  : No SQL Data Bases Module  : 2     Topic   : 5</vt:lpstr>
      <vt:lpstr>Objectives</vt:lpstr>
      <vt:lpstr>Using NoSQL to manage big data</vt:lpstr>
      <vt:lpstr>What is a big data NoSQL solution?</vt:lpstr>
      <vt:lpstr>What is a big data NoSQL solution?</vt:lpstr>
      <vt:lpstr>Big data use cases</vt:lpstr>
      <vt:lpstr>Big data use cases</vt:lpstr>
      <vt:lpstr>Good NoSQL Solutions to Big data problems</vt:lpstr>
      <vt:lpstr>Understanding the types of big data problems</vt:lpstr>
      <vt:lpstr>Analyzing big data with a shared-nothing architecture</vt:lpstr>
      <vt:lpstr>Shared-nothing architecture</vt:lpstr>
      <vt:lpstr>Choosing distribution models:  Master-Slave VS Peer-to-Peer</vt:lpstr>
      <vt:lpstr>Master-Slave VS Peer-to-Peer</vt:lpstr>
      <vt:lpstr>Master-Slave VS Peer-to-Peer</vt:lpstr>
      <vt:lpstr>MapReduce to transform data over distributed systems</vt:lpstr>
      <vt:lpstr>MapReduce</vt:lpstr>
      <vt:lpstr>MapReduce</vt:lpstr>
      <vt:lpstr>MapReduce</vt:lpstr>
      <vt:lpstr>MapReduce</vt:lpstr>
      <vt:lpstr>MapReduce</vt:lpstr>
      <vt:lpstr>MapReduce</vt:lpstr>
      <vt:lpstr>MapReduce</vt:lpstr>
      <vt:lpstr>Word Count Example of MapReduce</vt:lpstr>
      <vt:lpstr>Word Count Example of MapReduce</vt:lpstr>
      <vt:lpstr>Word Count Example of MapReduce</vt:lpstr>
      <vt:lpstr>MapReduce with MongoDB</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96</cp:revision>
  <dcterms:created xsi:type="dcterms:W3CDTF">2019-11-30T05:18:24Z</dcterms:created>
  <dcterms:modified xsi:type="dcterms:W3CDTF">2025-08-06T05:22:51Z</dcterms:modified>
</cp:coreProperties>
</file>