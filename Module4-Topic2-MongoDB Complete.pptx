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353" r:id="rId2"/>
    <p:sldId id="258" r:id="rId3"/>
    <p:sldId id="306" r:id="rId4"/>
    <p:sldId id="352" r:id="rId5"/>
    <p:sldId id="307" r:id="rId6"/>
    <p:sldId id="308" r:id="rId7"/>
    <p:sldId id="351" r:id="rId8"/>
    <p:sldId id="310" r:id="rId9"/>
    <p:sldId id="312" r:id="rId10"/>
    <p:sldId id="313" r:id="rId11"/>
    <p:sldId id="319" r:id="rId12"/>
    <p:sldId id="315" r:id="rId13"/>
    <p:sldId id="316" r:id="rId14"/>
    <p:sldId id="317" r:id="rId15"/>
    <p:sldId id="354" r:id="rId16"/>
    <p:sldId id="355" r:id="rId17"/>
    <p:sldId id="356" r:id="rId18"/>
    <p:sldId id="357" r:id="rId19"/>
    <p:sldId id="358" r:id="rId20"/>
    <p:sldId id="325" r:id="rId21"/>
    <p:sldId id="321" r:id="rId22"/>
    <p:sldId id="332" r:id="rId23"/>
    <p:sldId id="322" r:id="rId24"/>
    <p:sldId id="324" r:id="rId25"/>
    <p:sldId id="323" r:id="rId26"/>
    <p:sldId id="333" r:id="rId27"/>
    <p:sldId id="359" r:id="rId28"/>
    <p:sldId id="361" r:id="rId29"/>
    <p:sldId id="362" r:id="rId30"/>
    <p:sldId id="330" r:id="rId31"/>
    <p:sldId id="326" r:id="rId32"/>
    <p:sldId id="327" r:id="rId33"/>
    <p:sldId id="360" r:id="rId34"/>
    <p:sldId id="314" r:id="rId35"/>
    <p:sldId id="311" r:id="rId36"/>
    <p:sldId id="331" r:id="rId37"/>
    <p:sldId id="336" r:id="rId38"/>
    <p:sldId id="337" r:id="rId39"/>
    <p:sldId id="338" r:id="rId40"/>
    <p:sldId id="339" r:id="rId41"/>
    <p:sldId id="340" r:id="rId42"/>
    <p:sldId id="341" r:id="rId43"/>
    <p:sldId id="342" r:id="rId44"/>
    <p:sldId id="343" r:id="rId45"/>
    <p:sldId id="344" r:id="rId46"/>
    <p:sldId id="345" r:id="rId47"/>
    <p:sldId id="346" r:id="rId48"/>
    <p:sldId id="347" r:id="rId49"/>
    <p:sldId id="348" r:id="rId50"/>
    <p:sldId id="349" r:id="rId51"/>
    <p:sldId id="350" r:id="rId52"/>
    <p:sldId id="259"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0000FF"/>
    <a:srgbClr val="2B6A6C"/>
    <a:srgbClr val="F29724"/>
    <a:srgbClr val="B80D48"/>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830" autoAdjust="0"/>
    <p:restoredTop sz="93979" autoAdjust="0"/>
  </p:normalViewPr>
  <p:slideViewPr>
    <p:cSldViewPr snapToGrid="0">
      <p:cViewPr varScale="1">
        <p:scale>
          <a:sx n="77" d="100"/>
          <a:sy n="77" d="100"/>
        </p:scale>
        <p:origin x="1118" y="53"/>
      </p:cViewPr>
      <p:guideLst/>
    </p:cSldViewPr>
  </p:slideViewPr>
  <p:outlineViewPr>
    <p:cViewPr>
      <p:scale>
        <a:sx n="33" d="100"/>
        <a:sy n="33" d="100"/>
      </p:scale>
      <p:origin x="0" y="-23216"/>
    </p:cViewPr>
  </p:outlineViewPr>
  <p:notesTextViewPr>
    <p:cViewPr>
      <p:scale>
        <a:sx n="1" d="1"/>
        <a:sy n="1" d="1"/>
      </p:scale>
      <p:origin x="0" y="0"/>
    </p:cViewPr>
  </p:notesTextViewPr>
  <p:notesViewPr>
    <p:cSldViewPr snapToGrid="0">
      <p:cViewPr varScale="1">
        <p:scale>
          <a:sx n="50" d="100"/>
          <a:sy n="50" d="100"/>
        </p:scale>
        <p:origin x="2640" y="2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12-07-2024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7070DDA-CF3D-48BA-A0B0-D24E17EB7419}" type="slidenum">
              <a:rPr lang="en-IN" smtClean="0"/>
              <a:t>22</a:t>
            </a:fld>
            <a:endParaRPr lang="en-IN"/>
          </a:p>
        </p:txBody>
      </p:sp>
    </p:spTree>
    <p:extLst>
      <p:ext uri="{BB962C8B-B14F-4D97-AF65-F5344CB8AC3E}">
        <p14:creationId xmlns:p14="http://schemas.microsoft.com/office/powerpoint/2010/main" val="39056653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12-07-2024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276043"/>
            <a:ext cx="1918795" cy="594091"/>
          </a:xfrm>
          <a:prstGeom prst="rect">
            <a:avLst/>
          </a:prstGeom>
        </p:spPr>
      </p:pic>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12-07-2024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276043"/>
            <a:ext cx="1918795" cy="594091"/>
          </a:xfrm>
          <a:prstGeom prst="rect">
            <a:avLst/>
          </a:prstGeom>
        </p:spPr>
      </p:pic>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12-07-2024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276043"/>
            <a:ext cx="1918795" cy="594091"/>
          </a:xfrm>
          <a:prstGeom prst="rect">
            <a:avLst/>
          </a:prstGeom>
        </p:spPr>
      </p:pic>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12-07-2024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276043"/>
            <a:ext cx="1918795" cy="594091"/>
          </a:xfrm>
          <a:prstGeom prst="rect">
            <a:avLst/>
          </a:prstGeom>
        </p:spPr>
      </p:pic>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12-07-2024</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12-07-2024</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12-07-2024</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12-07-2024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12-07-2024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12-07-2024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12-07-2024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12-07-2024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naukri.com/mongodb-jobs-in-south-india" TargetMode="External"/><Relationship Id="rId2" Type="http://schemas.openxmlformats.org/officeDocument/2006/relationships/hyperlink" Target="https://www.mongodb.com/who-uses-mongodb"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mongodb.com/download-center/community"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p:cNvSpPr>
            <a:spLocks noGrp="1"/>
          </p:cNvSpPr>
          <p:nvPr>
            <p:ph type="subTitle" idx="1"/>
          </p:nvPr>
        </p:nvSpPr>
        <p:spPr>
          <a:xfrm>
            <a:off x="838200" y="2972284"/>
            <a:ext cx="10515599" cy="913432"/>
          </a:xfrm>
        </p:spPr>
        <p:txBody>
          <a:bodyPr>
            <a:normAutofit/>
          </a:bodyPr>
          <a:lstStyle/>
          <a:p>
            <a:r>
              <a:rPr lang="en-IN" sz="4000" b="1" dirty="0">
                <a:solidFill>
                  <a:srgbClr val="0070C0"/>
                </a:solidFill>
                <a:latin typeface="Arial" panose="020B0604020202020204" pitchFamily="34" charset="0"/>
                <a:cs typeface="Arial" panose="020B0604020202020204" pitchFamily="34" charset="0"/>
              </a:rPr>
              <a:t>MongoDB Complete commands</a:t>
            </a:r>
          </a:p>
        </p:txBody>
      </p:sp>
      <p:sp>
        <p:nvSpPr>
          <p:cNvPr id="8" name="Date Placeholder 7"/>
          <p:cNvSpPr>
            <a:spLocks noGrp="1"/>
          </p:cNvSpPr>
          <p:nvPr>
            <p:ph type="dt" sz="half" idx="10"/>
          </p:nvPr>
        </p:nvSpPr>
        <p:spPr/>
        <p:txBody>
          <a:bodyPr/>
          <a:lstStyle/>
          <a:p>
            <a:fld id="{756728E3-B72D-49A5-85A2-5AE45557AE43}" type="datetime1">
              <a:rPr lang="en-IN" smtClean="0">
                <a:latin typeface="Calibri (Body)"/>
              </a:rPr>
              <a:t>12-07-2024</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6063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solidFill>
                  <a:srgbClr val="404040"/>
                </a:solidFill>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solidFill>
                  <a:srgbClr val="404040"/>
                </a:solidFill>
                <a:latin typeface="Arial" panose="020B0604020202020204" pitchFamily="34" charset="0"/>
                <a:cs typeface="Arial" panose="020B0604020202020204" pitchFamily="34" charset="0"/>
              </a:rPr>
              <a:t>Introduction to MongoDB</a:t>
            </a:r>
          </a:p>
          <a:p>
            <a:pPr marL="996950" lvl="1" indent="-539750">
              <a:lnSpc>
                <a:spcPct val="120000"/>
              </a:lnSpc>
              <a:spcBef>
                <a:spcPts val="600"/>
              </a:spcBef>
              <a:spcAft>
                <a:spcPts val="600"/>
              </a:spcAft>
            </a:pPr>
            <a:r>
              <a:rPr lang="en-IN" dirty="0">
                <a:solidFill>
                  <a:srgbClr val="404040"/>
                </a:solidFill>
                <a:latin typeface="Arial" panose="020B0604020202020204" pitchFamily="34" charset="0"/>
                <a:cs typeface="Arial" panose="020B0604020202020204" pitchFamily="34" charset="0"/>
              </a:rPr>
              <a:t>MongoDB Commands</a:t>
            </a:r>
          </a:p>
          <a:p>
            <a:pPr marL="0" indent="0">
              <a:lnSpc>
                <a:spcPct val="120000"/>
              </a:lnSpc>
              <a:spcBef>
                <a:spcPts val="600"/>
              </a:spcBef>
              <a:spcAft>
                <a:spcPts val="600"/>
              </a:spcAft>
              <a:buNone/>
            </a:pPr>
            <a:endParaRPr lang="en-IN" sz="2400" dirty="0">
              <a:solidFill>
                <a:srgbClr val="40404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 DB</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A </a:t>
            </a:r>
            <a:r>
              <a:rPr lang="en-US" sz="2400" dirty="0">
                <a:solidFill>
                  <a:srgbClr val="FF0000"/>
                </a:solidFill>
                <a:latin typeface="Arial" panose="020B0604020202020204" pitchFamily="34" charset="0"/>
                <a:cs typeface="Arial" panose="020B0604020202020204" pitchFamily="34" charset="0"/>
              </a:rPr>
              <a:t>document-oriented, NoSQL database </a:t>
            </a:r>
            <a:r>
              <a:rPr lang="en-US" sz="2400" dirty="0">
                <a:latin typeface="Arial" panose="020B0604020202020204" pitchFamily="34" charset="0"/>
                <a:cs typeface="Arial" panose="020B0604020202020204" pitchFamily="34" charset="0"/>
              </a:rPr>
              <a:t>developed by </a:t>
            </a:r>
            <a:r>
              <a:rPr lang="en-US" sz="2400" dirty="0">
                <a:solidFill>
                  <a:srgbClr val="0000FF"/>
                </a:solidFill>
                <a:latin typeface="Arial" panose="020B0604020202020204" pitchFamily="34" charset="0"/>
                <a:cs typeface="Arial" panose="020B0604020202020204" pitchFamily="34" charset="0"/>
              </a:rPr>
              <a:t>10gen (Founded Year : 2007)</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Hash-based, schema-less database </a:t>
            </a:r>
          </a:p>
          <a:p>
            <a:pPr marL="539750" indent="-357188">
              <a:lnSpc>
                <a:spcPct val="130000"/>
              </a:lnSpc>
              <a:spcBef>
                <a:spcPts val="600"/>
              </a:spcBef>
              <a:spcAft>
                <a:spcPts val="600"/>
              </a:spcAft>
            </a:pPr>
            <a:r>
              <a:rPr lang="en-US" sz="2400" dirty="0">
                <a:solidFill>
                  <a:srgbClr val="00B050"/>
                </a:solidFill>
                <a:latin typeface="Arial" panose="020B0604020202020204" pitchFamily="34" charset="0"/>
                <a:cs typeface="Arial" panose="020B0604020202020204" pitchFamily="34" charset="0"/>
              </a:rPr>
              <a:t>No Data Definition Language</a:t>
            </a:r>
            <a:r>
              <a:rPr lang="en-US" sz="2400" dirty="0">
                <a:latin typeface="Arial" panose="020B0604020202020204" pitchFamily="34" charset="0"/>
                <a:cs typeface="Arial" panose="020B0604020202020204" pitchFamily="34" charset="0"/>
              </a:rPr>
              <a:t> - you can store hashes with any keys and values that you choose</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Uses </a:t>
            </a:r>
            <a:r>
              <a:rPr lang="en-US" sz="2400" dirty="0">
                <a:solidFill>
                  <a:srgbClr val="FF0000"/>
                </a:solidFill>
                <a:latin typeface="Arial" panose="020B0604020202020204" pitchFamily="34" charset="0"/>
                <a:cs typeface="Arial" panose="020B0604020202020204" pitchFamily="34" charset="0"/>
              </a:rPr>
              <a:t>BSON format - Based on JSON – B stands for Binary </a:t>
            </a:r>
          </a:p>
          <a:p>
            <a:pPr marL="539750" indent="-357188">
              <a:lnSpc>
                <a:spcPct val="130000"/>
              </a:lnSpc>
              <a:spcBef>
                <a:spcPts val="600"/>
              </a:spcBef>
              <a:spcAft>
                <a:spcPts val="600"/>
              </a:spcAft>
            </a:pPr>
            <a:r>
              <a:rPr lang="en-US" sz="2400" dirty="0">
                <a:solidFill>
                  <a:srgbClr val="0000FF"/>
                </a:solidFill>
                <a:latin typeface="Arial" panose="020B0604020202020204" pitchFamily="34" charset="0"/>
                <a:cs typeface="Arial" panose="020B0604020202020204" pitchFamily="34" charset="0"/>
              </a:rPr>
              <a:t>Written in C++ </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Supports APIs (drivers) in many computer languages - JavaScript, Python, Ruby, Perl, Java, Java Scala, C#, C++, Haskell, </a:t>
            </a:r>
            <a:r>
              <a:rPr lang="en-US" sz="2400" dirty="0" err="1">
                <a:latin typeface="Arial" panose="020B0604020202020204" pitchFamily="34" charset="0"/>
                <a:cs typeface="Arial" panose="020B0604020202020204" pitchFamily="34" charset="0"/>
              </a:rPr>
              <a:t>Erlang</a:t>
            </a:r>
            <a:endParaRPr lang="en-US"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9476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Who Uses MongoDB</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10000"/>
              </a:lnSpc>
              <a:spcBef>
                <a:spcPts val="1200"/>
              </a:spcBef>
              <a:spcAft>
                <a:spcPts val="600"/>
              </a:spcAft>
            </a:pPr>
            <a:r>
              <a:rPr lang="en-US" sz="2200" dirty="0">
                <a:solidFill>
                  <a:srgbClr val="FF0000"/>
                </a:solidFill>
                <a:latin typeface="Arial" panose="020B0604020202020204" pitchFamily="34" charset="0"/>
                <a:cs typeface="Arial" panose="020B0604020202020204" pitchFamily="34" charset="0"/>
              </a:rPr>
              <a:t>3272 companies </a:t>
            </a:r>
            <a:r>
              <a:rPr lang="en-US" sz="2200" dirty="0">
                <a:latin typeface="Arial" panose="020B0604020202020204" pitchFamily="34" charset="0"/>
                <a:cs typeface="Arial" panose="020B0604020202020204" pitchFamily="34" charset="0"/>
              </a:rPr>
              <a:t>reportedly use MongoDB in their tech stacks, including Uber, Lyft, and </a:t>
            </a:r>
            <a:r>
              <a:rPr lang="en-US" sz="2200" dirty="0" err="1">
                <a:latin typeface="Arial" panose="020B0604020202020204" pitchFamily="34" charset="0"/>
                <a:cs typeface="Arial" panose="020B0604020202020204" pitchFamily="34" charset="0"/>
              </a:rPr>
              <a:t>ViaVarejo</a:t>
            </a:r>
            <a:r>
              <a:rPr lang="en-US" sz="2200" dirty="0">
                <a:latin typeface="Arial" panose="020B0604020202020204" pitchFamily="34" charset="0"/>
                <a:cs typeface="Arial" panose="020B0604020202020204" pitchFamily="34" charset="0"/>
              </a:rPr>
              <a:t>.</a:t>
            </a:r>
          </a:p>
          <a:p>
            <a:pPr marL="539750" indent="-357188">
              <a:lnSpc>
                <a:spcPct val="110000"/>
              </a:lnSpc>
              <a:spcBef>
                <a:spcPts val="1200"/>
              </a:spcBef>
              <a:spcAft>
                <a:spcPts val="600"/>
              </a:spcAft>
            </a:pPr>
            <a:r>
              <a:rPr lang="en-US" sz="2200" dirty="0">
                <a:solidFill>
                  <a:srgbClr val="0000FF"/>
                </a:solidFill>
                <a:latin typeface="Arial" panose="020B0604020202020204" pitchFamily="34" charset="0"/>
                <a:cs typeface="Arial" panose="020B0604020202020204" pitchFamily="34" charset="0"/>
              </a:rPr>
              <a:t>28132 developers </a:t>
            </a:r>
            <a:r>
              <a:rPr lang="en-US" sz="2200" dirty="0">
                <a:latin typeface="Arial" panose="020B0604020202020204" pitchFamily="34" charset="0"/>
                <a:cs typeface="Arial" panose="020B0604020202020204" pitchFamily="34" charset="0"/>
              </a:rPr>
              <a:t>on </a:t>
            </a:r>
            <a:r>
              <a:rPr lang="en-US" sz="2200" dirty="0" err="1">
                <a:latin typeface="Arial" panose="020B0604020202020204" pitchFamily="34" charset="0"/>
                <a:cs typeface="Arial" panose="020B0604020202020204" pitchFamily="34" charset="0"/>
              </a:rPr>
              <a:t>StackShare</a:t>
            </a:r>
            <a:r>
              <a:rPr lang="en-US" sz="2200" dirty="0">
                <a:latin typeface="Arial" panose="020B0604020202020204" pitchFamily="34" charset="0"/>
                <a:cs typeface="Arial" panose="020B0604020202020204" pitchFamily="34" charset="0"/>
              </a:rPr>
              <a:t> have stated that they use MongoDB.</a:t>
            </a:r>
          </a:p>
          <a:p>
            <a:pPr marL="539750" indent="-357188">
              <a:lnSpc>
                <a:spcPct val="110000"/>
              </a:lnSpc>
              <a:spcBef>
                <a:spcPts val="1200"/>
              </a:spcBef>
              <a:spcAft>
                <a:spcPts val="600"/>
              </a:spcAft>
            </a:pPr>
            <a:r>
              <a:rPr lang="en-US" sz="2200" dirty="0">
                <a:latin typeface="Arial" panose="020B0604020202020204" pitchFamily="34" charset="0"/>
                <a:cs typeface="Arial" panose="020B0604020202020204" pitchFamily="34" charset="0"/>
              </a:rPr>
              <a:t>Refer: </a:t>
            </a:r>
            <a:r>
              <a:rPr lang="en-US" sz="2200" dirty="0">
                <a:latin typeface="Arial" panose="020B0604020202020204" pitchFamily="34" charset="0"/>
                <a:cs typeface="Arial" panose="020B0604020202020204" pitchFamily="34" charset="0"/>
                <a:hlinkClick r:id="rId2"/>
              </a:rPr>
              <a:t>https://www.mongodb.com/who-uses-mongodb</a:t>
            </a:r>
            <a:r>
              <a:rPr lang="en-US" sz="2200" dirty="0">
                <a:latin typeface="Arial" panose="020B0604020202020204" pitchFamily="34" charset="0"/>
                <a:cs typeface="Arial" panose="020B0604020202020204" pitchFamily="34" charset="0"/>
              </a:rPr>
              <a:t> </a:t>
            </a:r>
          </a:p>
          <a:p>
            <a:pPr marL="539750" indent="-357188">
              <a:lnSpc>
                <a:spcPct val="110000"/>
              </a:lnSpc>
              <a:spcBef>
                <a:spcPts val="1200"/>
              </a:spcBef>
              <a:spcAft>
                <a:spcPts val="600"/>
              </a:spcAft>
            </a:pPr>
            <a:r>
              <a:rPr lang="en-US" sz="2200" dirty="0">
                <a:solidFill>
                  <a:srgbClr val="00B050"/>
                </a:solidFill>
                <a:latin typeface="Arial" panose="020B0604020202020204" pitchFamily="34" charset="0"/>
                <a:cs typeface="Arial" panose="020B0604020202020204" pitchFamily="34" charset="0"/>
              </a:rPr>
              <a:t>Google, Facebook, Adobe, EA Sports, Cisco, </a:t>
            </a:r>
            <a:r>
              <a:rPr lang="en-US" sz="2200" dirty="0" err="1">
                <a:solidFill>
                  <a:srgbClr val="00B050"/>
                </a:solidFill>
                <a:latin typeface="Arial" panose="020B0604020202020204" pitchFamily="34" charset="0"/>
                <a:cs typeface="Arial" panose="020B0604020202020204" pitchFamily="34" charset="0"/>
              </a:rPr>
              <a:t>Ebay</a:t>
            </a:r>
            <a:endParaRPr lang="en-US" sz="2200" dirty="0">
              <a:solidFill>
                <a:srgbClr val="00B050"/>
              </a:solidFill>
              <a:latin typeface="Arial" panose="020B0604020202020204" pitchFamily="34" charset="0"/>
              <a:cs typeface="Arial" panose="020B0604020202020204" pitchFamily="34" charset="0"/>
            </a:endParaRPr>
          </a:p>
          <a:p>
            <a:pPr marL="539750" indent="-357188">
              <a:lnSpc>
                <a:spcPct val="110000"/>
              </a:lnSpc>
              <a:spcBef>
                <a:spcPts val="1200"/>
              </a:spcBef>
              <a:spcAft>
                <a:spcPts val="600"/>
              </a:spcAft>
            </a:pPr>
            <a:r>
              <a:rPr lang="en-US" sz="2200" dirty="0">
                <a:solidFill>
                  <a:srgbClr val="00B050"/>
                </a:solidFill>
                <a:latin typeface="Arial" panose="020B0604020202020204" pitchFamily="34" charset="0"/>
                <a:cs typeface="Arial" panose="020B0604020202020204" pitchFamily="34" charset="0"/>
              </a:rPr>
              <a:t>SAP, Verizon, </a:t>
            </a:r>
            <a:r>
              <a:rPr lang="en-US" sz="2200" dirty="0" err="1">
                <a:solidFill>
                  <a:srgbClr val="00B050"/>
                </a:solidFill>
                <a:latin typeface="Arial" panose="020B0604020202020204" pitchFamily="34" charset="0"/>
                <a:cs typeface="Arial" panose="020B0604020202020204" pitchFamily="34" charset="0"/>
              </a:rPr>
              <a:t>Paypal</a:t>
            </a:r>
            <a:endParaRPr lang="en-US" sz="2200" dirty="0">
              <a:solidFill>
                <a:srgbClr val="00B050"/>
              </a:solidFill>
              <a:latin typeface="Arial" panose="020B0604020202020204" pitchFamily="34" charset="0"/>
              <a:cs typeface="Arial" panose="020B0604020202020204" pitchFamily="34" charset="0"/>
            </a:endParaRPr>
          </a:p>
          <a:p>
            <a:pPr marL="539750" indent="-357188">
              <a:lnSpc>
                <a:spcPct val="110000"/>
              </a:lnSpc>
              <a:spcBef>
                <a:spcPts val="1200"/>
              </a:spcBef>
              <a:spcAft>
                <a:spcPts val="600"/>
              </a:spcAft>
            </a:pPr>
            <a:r>
              <a:rPr lang="en-US" sz="2200" dirty="0">
                <a:latin typeface="Arial" panose="020B0604020202020204" pitchFamily="34" charset="0"/>
                <a:cs typeface="Arial" panose="020B0604020202020204" pitchFamily="34" charset="0"/>
              </a:rPr>
              <a:t>Jobs: </a:t>
            </a:r>
            <a:r>
              <a:rPr lang="en-US" sz="2200" dirty="0">
                <a:latin typeface="Arial" panose="020B0604020202020204" pitchFamily="34" charset="0"/>
                <a:cs typeface="Arial" panose="020B0604020202020204" pitchFamily="34" charset="0"/>
                <a:hlinkClick r:id="rId3"/>
              </a:rPr>
              <a:t>https://www.naukri.com/mongodb-jobs-in-south-india</a:t>
            </a:r>
            <a:r>
              <a:rPr lang="en-US" sz="2200" dirty="0">
                <a:latin typeface="Arial" panose="020B0604020202020204" pitchFamily="34" charset="0"/>
                <a:cs typeface="Arial" panose="020B0604020202020204" pitchFamily="34" charset="0"/>
              </a:rPr>
              <a:t> </a:t>
            </a:r>
          </a:p>
          <a:p>
            <a:pPr marL="539750" indent="-357188">
              <a:lnSpc>
                <a:spcPct val="110000"/>
              </a:lnSpc>
              <a:spcBef>
                <a:spcPts val="1200"/>
              </a:spcBef>
              <a:spcAft>
                <a:spcPts val="600"/>
              </a:spcAft>
            </a:pPr>
            <a:endParaRPr lang="en-US" sz="2200" dirty="0">
              <a:latin typeface="Arial" panose="020B0604020202020204" pitchFamily="34" charset="0"/>
              <a:cs typeface="Arial" panose="020B0604020202020204" pitchFamily="34" charset="0"/>
            </a:endParaRPr>
          </a:p>
          <a:p>
            <a:pPr marL="539750" indent="-357188">
              <a:lnSpc>
                <a:spcPct val="110000"/>
              </a:lnSpc>
              <a:spcBef>
                <a:spcPts val="1200"/>
              </a:spcBef>
              <a:spcAft>
                <a:spcPts val="600"/>
              </a:spcAft>
            </a:pPr>
            <a:endParaRPr lang="en-IN" sz="22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4840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MongoDB Terminology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graphicFrame>
        <p:nvGraphicFramePr>
          <p:cNvPr id="11" name="Táblázat 1"/>
          <p:cNvGraphicFramePr>
            <a:graphicFrameLocks noGrp="1"/>
          </p:cNvGraphicFramePr>
          <p:nvPr/>
        </p:nvGraphicFramePr>
        <p:xfrm>
          <a:off x="2885917" y="1995720"/>
          <a:ext cx="6420166" cy="4055598"/>
        </p:xfrm>
        <a:graphic>
          <a:graphicData uri="http://schemas.openxmlformats.org/drawingml/2006/table">
            <a:tbl>
              <a:tblPr firstRow="1" bandRow="1">
                <a:tableStyleId>{5C22544A-7EE6-4342-B048-85BDC9FD1C3A}</a:tableStyleId>
              </a:tblPr>
              <a:tblGrid>
                <a:gridCol w="2589311">
                  <a:extLst>
                    <a:ext uri="{9D8B030D-6E8A-4147-A177-3AD203B41FA5}">
                      <a16:colId xmlns:a16="http://schemas.microsoft.com/office/drawing/2014/main" val="20000"/>
                    </a:ext>
                  </a:extLst>
                </a:gridCol>
                <a:gridCol w="3830855">
                  <a:extLst>
                    <a:ext uri="{9D8B030D-6E8A-4147-A177-3AD203B41FA5}">
                      <a16:colId xmlns:a16="http://schemas.microsoft.com/office/drawing/2014/main" val="20002"/>
                    </a:ext>
                  </a:extLst>
                </a:gridCol>
              </a:tblGrid>
              <a:tr h="450622">
                <a:tc>
                  <a:txBody>
                    <a:bodyPr/>
                    <a:lstStyle/>
                    <a:p>
                      <a:pPr algn="ctr"/>
                      <a:r>
                        <a:rPr lang="hu-HU" sz="2200" dirty="0">
                          <a:solidFill>
                            <a:schemeClr val="tx1"/>
                          </a:solidFill>
                          <a:latin typeface="Arial" panose="020B0604020202020204" pitchFamily="34" charset="0"/>
                          <a:cs typeface="Arial" panose="020B0604020202020204" pitchFamily="34" charset="0"/>
                        </a:rPr>
                        <a:t>RDBMS</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MongoDB</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0622">
                <a:tc>
                  <a:txBody>
                    <a:bodyPr/>
                    <a:lstStyle/>
                    <a:p>
                      <a:pPr algn="ctr"/>
                      <a:r>
                        <a:rPr lang="hu-HU" sz="2200" dirty="0" err="1">
                          <a:solidFill>
                            <a:schemeClr val="tx1"/>
                          </a:solidFill>
                          <a:latin typeface="Arial" panose="020B0604020202020204" pitchFamily="34" charset="0"/>
                          <a:cs typeface="Arial" panose="020B0604020202020204" pitchFamily="34" charset="0"/>
                        </a:rPr>
                        <a:t>Database</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Database</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50622">
                <a:tc>
                  <a:txBody>
                    <a:bodyPr/>
                    <a:lstStyle/>
                    <a:p>
                      <a:pPr algn="ctr"/>
                      <a:r>
                        <a:rPr lang="hu-HU" sz="2200" dirty="0">
                          <a:solidFill>
                            <a:schemeClr val="tx1"/>
                          </a:solidFill>
                          <a:latin typeface="Arial" panose="020B0604020202020204" pitchFamily="34" charset="0"/>
                          <a:cs typeface="Arial" panose="020B0604020202020204" pitchFamily="34" charset="0"/>
                        </a:rPr>
                        <a:t>Table</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Collection</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50622">
                <a:tc>
                  <a:txBody>
                    <a:bodyPr/>
                    <a:lstStyle/>
                    <a:p>
                      <a:pPr algn="ctr"/>
                      <a:r>
                        <a:rPr lang="hu-HU" sz="2200" dirty="0" err="1">
                          <a:solidFill>
                            <a:schemeClr val="tx1"/>
                          </a:solidFill>
                          <a:latin typeface="Arial" panose="020B0604020202020204" pitchFamily="34" charset="0"/>
                          <a:cs typeface="Arial" panose="020B0604020202020204" pitchFamily="34" charset="0"/>
                        </a:rPr>
                        <a:t>Row</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Document</a:t>
                      </a:r>
                      <a:r>
                        <a:rPr lang="hu-HU" sz="2200" dirty="0">
                          <a:solidFill>
                            <a:schemeClr val="tx1"/>
                          </a:solidFill>
                          <a:latin typeface="Arial" panose="020B0604020202020204" pitchFamily="34" charset="0"/>
                          <a:cs typeface="Arial" panose="020B0604020202020204" pitchFamily="34" charset="0"/>
                        </a:rPr>
                        <a:t> (JSON, BSON)</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50622">
                <a:tc>
                  <a:txBody>
                    <a:bodyPr/>
                    <a:lstStyle/>
                    <a:p>
                      <a:pPr algn="ctr"/>
                      <a:r>
                        <a:rPr lang="hu-HU" sz="2200" dirty="0" err="1">
                          <a:solidFill>
                            <a:schemeClr val="tx1"/>
                          </a:solidFill>
                          <a:latin typeface="Arial" panose="020B0604020202020204" pitchFamily="34" charset="0"/>
                          <a:cs typeface="Arial" panose="020B0604020202020204" pitchFamily="34" charset="0"/>
                        </a:rPr>
                        <a:t>Column</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Field</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50622">
                <a:tc>
                  <a:txBody>
                    <a:bodyPr/>
                    <a:lstStyle/>
                    <a:p>
                      <a:pPr algn="ctr"/>
                      <a:r>
                        <a:rPr lang="hu-HU" sz="2200" dirty="0">
                          <a:solidFill>
                            <a:schemeClr val="tx1"/>
                          </a:solidFill>
                          <a:latin typeface="Arial" panose="020B0604020202020204" pitchFamily="34" charset="0"/>
                          <a:cs typeface="Arial" panose="020B0604020202020204" pitchFamily="34" charset="0"/>
                        </a:rPr>
                        <a:t>Index</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a:solidFill>
                            <a:schemeClr val="tx1"/>
                          </a:solidFill>
                          <a:latin typeface="Arial" panose="020B0604020202020204" pitchFamily="34" charset="0"/>
                          <a:cs typeface="Arial" panose="020B0604020202020204" pitchFamily="34" charset="0"/>
                        </a:rPr>
                        <a:t>Index</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50622">
                <a:tc>
                  <a:txBody>
                    <a:bodyPr/>
                    <a:lstStyle/>
                    <a:p>
                      <a:pPr algn="ctr"/>
                      <a:r>
                        <a:rPr lang="hu-HU" sz="2200" b="0" dirty="0" err="1">
                          <a:solidFill>
                            <a:schemeClr val="tx1"/>
                          </a:solidFill>
                          <a:latin typeface="Arial" panose="020B0604020202020204" pitchFamily="34" charset="0"/>
                          <a:cs typeface="Arial" panose="020B0604020202020204" pitchFamily="34" charset="0"/>
                        </a:rPr>
                        <a:t>Join</a:t>
                      </a:r>
                      <a:endParaRPr lang="hu-HU" sz="2200" b="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b="0" dirty="0" err="1">
                          <a:solidFill>
                            <a:schemeClr val="tx1"/>
                          </a:solidFill>
                          <a:latin typeface="Arial" panose="020B0604020202020204" pitchFamily="34" charset="0"/>
                          <a:cs typeface="Arial" panose="020B0604020202020204" pitchFamily="34" charset="0"/>
                        </a:rPr>
                        <a:t>Embedded</a:t>
                      </a:r>
                      <a:r>
                        <a:rPr lang="hu-HU" sz="2200" b="0" dirty="0">
                          <a:solidFill>
                            <a:schemeClr val="tx1"/>
                          </a:solidFill>
                          <a:latin typeface="Arial" panose="020B0604020202020204" pitchFamily="34" charset="0"/>
                          <a:cs typeface="Arial" panose="020B0604020202020204" pitchFamily="34" charset="0"/>
                        </a:rPr>
                        <a:t> </a:t>
                      </a:r>
                      <a:r>
                        <a:rPr lang="hu-HU" sz="2200" b="0" dirty="0" err="1">
                          <a:solidFill>
                            <a:schemeClr val="tx1"/>
                          </a:solidFill>
                          <a:latin typeface="Arial" panose="020B0604020202020204" pitchFamily="34" charset="0"/>
                          <a:cs typeface="Arial" panose="020B0604020202020204" pitchFamily="34" charset="0"/>
                        </a:rPr>
                        <a:t>Document</a:t>
                      </a:r>
                      <a:endParaRPr lang="hu-HU" sz="2200" b="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50622">
                <a:tc>
                  <a:txBody>
                    <a:bodyPr/>
                    <a:lstStyle/>
                    <a:p>
                      <a:pPr algn="ctr"/>
                      <a:r>
                        <a:rPr lang="hu-HU" sz="2200" dirty="0" err="1">
                          <a:solidFill>
                            <a:schemeClr val="tx1"/>
                          </a:solidFill>
                          <a:latin typeface="Arial" panose="020B0604020202020204" pitchFamily="34" charset="0"/>
                          <a:cs typeface="Arial" panose="020B0604020202020204" pitchFamily="34" charset="0"/>
                        </a:rPr>
                        <a:t>Foreign</a:t>
                      </a:r>
                      <a:r>
                        <a:rPr lang="hu-HU" sz="2200" dirty="0">
                          <a:solidFill>
                            <a:schemeClr val="tx1"/>
                          </a:solidFill>
                          <a:latin typeface="Arial" panose="020B0604020202020204" pitchFamily="34" charset="0"/>
                          <a:cs typeface="Arial" panose="020B0604020202020204" pitchFamily="34" charset="0"/>
                        </a:rPr>
                        <a:t> Key</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Reference</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50622">
                <a:tc>
                  <a:txBody>
                    <a:bodyPr/>
                    <a:lstStyle/>
                    <a:p>
                      <a:pPr algn="ctr"/>
                      <a:r>
                        <a:rPr lang="hu-HU" sz="2200" dirty="0" err="1">
                          <a:solidFill>
                            <a:schemeClr val="tx1"/>
                          </a:solidFill>
                          <a:latin typeface="Arial" panose="020B0604020202020204" pitchFamily="34" charset="0"/>
                          <a:cs typeface="Arial" panose="020B0604020202020204" pitchFamily="34" charset="0"/>
                        </a:rPr>
                        <a:t>Partition</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Shard</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13391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MongoDB: Hierarchical Objects</a:t>
            </a:r>
          </a:p>
        </p:txBody>
      </p:sp>
      <p:sp>
        <p:nvSpPr>
          <p:cNvPr id="3" name="Content Placeholder 2"/>
          <p:cNvSpPr>
            <a:spLocks noGrp="1"/>
          </p:cNvSpPr>
          <p:nvPr>
            <p:ph idx="1"/>
          </p:nvPr>
        </p:nvSpPr>
        <p:spPr>
          <a:xfrm>
            <a:off x="838200" y="1690688"/>
            <a:ext cx="5735855" cy="4486275"/>
          </a:xfrm>
        </p:spPr>
        <p:txBody>
          <a:bodyPr>
            <a:normAutofit/>
          </a:bodyPr>
          <a:lstStyle/>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A </a:t>
            </a:r>
            <a:r>
              <a:rPr lang="en-US" sz="2400" dirty="0">
                <a:solidFill>
                  <a:srgbClr val="0000FF"/>
                </a:solidFill>
                <a:latin typeface="Arial" panose="020B0604020202020204" pitchFamily="34" charset="0"/>
                <a:cs typeface="Arial" panose="020B0604020202020204" pitchFamily="34" charset="0"/>
              </a:rPr>
              <a:t>database</a:t>
            </a:r>
            <a:r>
              <a:rPr lang="en-US" sz="2400" dirty="0">
                <a:latin typeface="Arial" panose="020B0604020202020204" pitchFamily="34" charset="0"/>
                <a:cs typeface="Arial" panose="020B0604020202020204" pitchFamily="34" charset="0"/>
              </a:rPr>
              <a:t> may have zero or more ‘collections’.</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 A </a:t>
            </a:r>
            <a:r>
              <a:rPr lang="en-US" sz="2400" dirty="0">
                <a:solidFill>
                  <a:srgbClr val="FF0000"/>
                </a:solidFill>
                <a:latin typeface="Arial" panose="020B0604020202020204" pitchFamily="34" charset="0"/>
                <a:cs typeface="Arial" panose="020B0604020202020204" pitchFamily="34" charset="0"/>
              </a:rPr>
              <a:t>collection</a:t>
            </a:r>
            <a:r>
              <a:rPr lang="en-US" sz="2400" dirty="0">
                <a:latin typeface="Arial" panose="020B0604020202020204" pitchFamily="34" charset="0"/>
                <a:cs typeface="Arial" panose="020B0604020202020204" pitchFamily="34" charset="0"/>
              </a:rPr>
              <a:t> may have zero or more ‘documents’.</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A </a:t>
            </a:r>
            <a:r>
              <a:rPr lang="en-US" sz="2400" dirty="0">
                <a:solidFill>
                  <a:srgbClr val="00B050"/>
                </a:solidFill>
                <a:latin typeface="Arial" panose="020B0604020202020204" pitchFamily="34" charset="0"/>
                <a:cs typeface="Arial" panose="020B0604020202020204" pitchFamily="34" charset="0"/>
              </a:rPr>
              <a:t>document</a:t>
            </a:r>
            <a:r>
              <a:rPr lang="en-US" sz="2400" dirty="0">
                <a:latin typeface="Arial" panose="020B0604020202020204" pitchFamily="34" charset="0"/>
                <a:cs typeface="Arial" panose="020B0604020202020204" pitchFamily="34" charset="0"/>
              </a:rPr>
              <a:t> may have one or more ‘fields’.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pic>
        <p:nvPicPr>
          <p:cNvPr id="10" name="Content Placeholder 4"/>
          <p:cNvPicPr>
            <a:picLocks noChangeAspect="1"/>
          </p:cNvPicPr>
          <p:nvPr/>
        </p:nvPicPr>
        <p:blipFill>
          <a:blip r:embed="rId2"/>
          <a:stretch>
            <a:fillRect/>
          </a:stretch>
        </p:blipFill>
        <p:spPr>
          <a:xfrm>
            <a:off x="7567959" y="1690688"/>
            <a:ext cx="3640641" cy="4351338"/>
          </a:xfrm>
          <a:prstGeom prst="rect">
            <a:avLst/>
          </a:prstGeom>
        </p:spPr>
      </p:pic>
    </p:spTree>
    <p:extLst>
      <p:ext uri="{BB962C8B-B14F-4D97-AF65-F5344CB8AC3E}">
        <p14:creationId xmlns:p14="http://schemas.microsoft.com/office/powerpoint/2010/main" val="4051825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MongoDB: Installation</a:t>
            </a: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Download at: </a:t>
            </a:r>
            <a:r>
              <a:rPr lang="en-US" sz="2400" dirty="0">
                <a:latin typeface="Arial" panose="020B0604020202020204" pitchFamily="34" charset="0"/>
                <a:cs typeface="Arial" panose="020B0604020202020204" pitchFamily="34" charset="0"/>
                <a:hlinkClick r:id="rId2"/>
              </a:rPr>
              <a:t>https://www.mongodb.com/download-center/community</a:t>
            </a:r>
            <a:r>
              <a:rPr lang="en-US" sz="2400" dirty="0">
                <a:latin typeface="Arial" panose="020B0604020202020204" pitchFamily="34" charset="0"/>
                <a:cs typeface="Arial" panose="020B0604020202020204" pitchFamily="34" charset="0"/>
              </a:rPr>
              <a:t>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7204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show </a:t>
            </a:r>
            <a:r>
              <a:rPr lang="en-IN" sz="3200" b="1" u="sng" dirty="0" err="1">
                <a:solidFill>
                  <a:srgbClr val="0070C0"/>
                </a:solidFill>
                <a:latin typeface="Arial" panose="020B0604020202020204" pitchFamily="34" charset="0"/>
                <a:cs typeface="Arial" panose="020B0604020202020204" pitchFamily="34" charset="0"/>
              </a:rPr>
              <a:t>dbs</a:t>
            </a:r>
            <a:r>
              <a:rPr lang="en-IN" sz="3200" b="1" u="sng" dirty="0">
                <a:solidFill>
                  <a:srgbClr val="0070C0"/>
                </a:solidFill>
                <a:latin typeface="Arial" panose="020B0604020202020204" pitchFamily="34" charset="0"/>
                <a:cs typeface="Arial" panose="020B0604020202020204" pitchFamily="34" charset="0"/>
              </a:rPr>
              <a:t> command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To check your currently selected database, use the command </a:t>
            </a:r>
            <a:r>
              <a:rPr lang="en-US" sz="2200" dirty="0" err="1">
                <a:latin typeface="Arial" panose="020B0604020202020204" pitchFamily="34" charset="0"/>
                <a:cs typeface="Arial" panose="020B0604020202020204" pitchFamily="34" charset="0"/>
              </a:rPr>
              <a:t>db</a:t>
            </a:r>
            <a:endParaRPr lang="en-US" sz="2200" dirty="0">
              <a:latin typeface="Arial" panose="020B0604020202020204" pitchFamily="34" charset="0"/>
              <a:cs typeface="Arial" panose="020B0604020202020204" pitchFamily="34" charset="0"/>
            </a:endParaRPr>
          </a:p>
          <a:p>
            <a:pPr marL="5397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a:t>
            </a:r>
            <a:endParaRPr lang="en-US" sz="2200" dirty="0">
              <a:solidFill>
                <a:srgbClr val="FF0000"/>
              </a:solidFill>
              <a:latin typeface="Arial" panose="020B0604020202020204" pitchFamily="34" charset="0"/>
              <a:cs typeface="Arial" panose="020B0604020202020204" pitchFamily="34" charset="0"/>
            </a:endParaRPr>
          </a:p>
          <a:p>
            <a:pPr marL="539750" indent="0">
              <a:lnSpc>
                <a:spcPct val="110000"/>
              </a:lnSpc>
              <a:spcBef>
                <a:spcPts val="0"/>
              </a:spcBef>
              <a:buNone/>
            </a:pPr>
            <a:r>
              <a:rPr lang="en-US" sz="2200" dirty="0">
                <a:latin typeface="Arial" panose="020B0604020202020204" pitchFamily="34" charset="0"/>
                <a:cs typeface="Arial" panose="020B0604020202020204" pitchFamily="34" charset="0"/>
              </a:rPr>
              <a:t>movies</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If you want to check your databases list, use the command show dbs.</a:t>
            </a:r>
          </a:p>
          <a:p>
            <a:pPr marL="5397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&gt;show </a:t>
            </a:r>
            <a:r>
              <a:rPr lang="en-US" sz="2200" dirty="0" err="1">
                <a:solidFill>
                  <a:srgbClr val="FF0000"/>
                </a:solidFill>
                <a:latin typeface="Arial" panose="020B0604020202020204" pitchFamily="34" charset="0"/>
                <a:cs typeface="Arial" panose="020B0604020202020204" pitchFamily="34" charset="0"/>
              </a:rPr>
              <a:t>dbs</a:t>
            </a:r>
            <a:endParaRPr lang="en-US" sz="2200" dirty="0">
              <a:solidFill>
                <a:srgbClr val="FF0000"/>
              </a:solidFill>
              <a:latin typeface="Arial" panose="020B0604020202020204" pitchFamily="34" charset="0"/>
              <a:cs typeface="Arial" panose="020B0604020202020204" pitchFamily="34" charset="0"/>
            </a:endParaRPr>
          </a:p>
          <a:p>
            <a:pPr marL="539750" indent="0">
              <a:lnSpc>
                <a:spcPct val="110000"/>
              </a:lnSpc>
              <a:spcBef>
                <a:spcPts val="0"/>
              </a:spcBef>
              <a:buNone/>
            </a:pPr>
            <a:r>
              <a:rPr lang="en-US" sz="2200" dirty="0">
                <a:latin typeface="Arial" panose="020B0604020202020204" pitchFamily="34" charset="0"/>
                <a:cs typeface="Arial" panose="020B0604020202020204" pitchFamily="34" charset="0"/>
              </a:rPr>
              <a:t>local     0.78125GB</a:t>
            </a:r>
          </a:p>
          <a:p>
            <a:pPr marL="539750" indent="0">
              <a:lnSpc>
                <a:spcPct val="110000"/>
              </a:lnSpc>
              <a:spcBef>
                <a:spcPts val="0"/>
              </a:spcBef>
              <a:buNone/>
            </a:pPr>
            <a:r>
              <a:rPr lang="en-US" sz="2200" dirty="0">
                <a:latin typeface="Arial" panose="020B0604020202020204" pitchFamily="34" charset="0"/>
                <a:cs typeface="Arial" panose="020B0604020202020204" pitchFamily="34" charset="0"/>
              </a:rPr>
              <a:t>test      0.23012GB</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To create DB: MongoDB use DATABASE_NAME is used to create database</a:t>
            </a:r>
          </a:p>
          <a:p>
            <a:pPr marL="5397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&gt;use student</a:t>
            </a:r>
          </a:p>
          <a:p>
            <a:pPr marL="0" lvl="1"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404040"/>
                </a:solidFill>
                <a:latin typeface="Arial" panose="020B0604020202020204" pitchFamily="34" charset="0"/>
                <a:cs typeface="Arial" panose="020B0604020202020204" pitchFamily="34" charset="0"/>
              </a:rPr>
              <a:t>&gt;switched to </a:t>
            </a:r>
            <a:r>
              <a:rPr lang="en-US" sz="2200" dirty="0" err="1">
                <a:solidFill>
                  <a:srgbClr val="404040"/>
                </a:solidFill>
                <a:latin typeface="Arial" panose="020B0604020202020204" pitchFamily="34" charset="0"/>
                <a:cs typeface="Arial" panose="020B0604020202020204" pitchFamily="34" charset="0"/>
              </a:rPr>
              <a:t>db</a:t>
            </a:r>
            <a:r>
              <a:rPr lang="en-US" sz="2200" dirty="0">
                <a:solidFill>
                  <a:srgbClr val="404040"/>
                </a:solidFill>
                <a:latin typeface="Arial" panose="020B0604020202020204" pitchFamily="34" charset="0"/>
                <a:cs typeface="Arial" panose="020B0604020202020204" pitchFamily="34" charset="0"/>
              </a:rPr>
              <a:t> movies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5795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createCollection</a:t>
            </a:r>
            <a:r>
              <a:rPr lang="en-IN" sz="3200" b="1" u="sng" dirty="0">
                <a:solidFill>
                  <a:srgbClr val="0070C0"/>
                </a:solidFill>
                <a:latin typeface="Arial" panose="020B0604020202020204" pitchFamily="34" charset="0"/>
                <a:cs typeface="Arial" panose="020B0604020202020204" pitchFamily="34" charset="0"/>
              </a:rPr>
              <a:t>()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To create a collection in the selected DB</a:t>
            </a:r>
          </a:p>
          <a:p>
            <a:pPr marL="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a:solidFill>
                  <a:srgbClr val="00B050"/>
                </a:solidFill>
                <a:latin typeface="Arial" panose="020B0604020202020204" pitchFamily="34" charset="0"/>
                <a:cs typeface="Arial" panose="020B0604020202020204" pitchFamily="34" charset="0"/>
              </a:rPr>
              <a:t>Syntax: </a:t>
            </a:r>
            <a:r>
              <a:rPr lang="en-US" sz="2200" dirty="0" err="1">
                <a:solidFill>
                  <a:srgbClr val="00B050"/>
                </a:solidFill>
                <a:latin typeface="Arial" panose="020B0604020202020204" pitchFamily="34" charset="0"/>
                <a:cs typeface="Arial" panose="020B0604020202020204" pitchFamily="34" charset="0"/>
              </a:rPr>
              <a:t>db.createCollection</a:t>
            </a:r>
            <a:r>
              <a:rPr lang="en-US" sz="2200" dirty="0">
                <a:solidFill>
                  <a:srgbClr val="00B050"/>
                </a:solidFill>
                <a:latin typeface="Arial" panose="020B0604020202020204" pitchFamily="34" charset="0"/>
                <a:cs typeface="Arial" panose="020B0604020202020204" pitchFamily="34" charset="0"/>
              </a:rPr>
              <a:t>(</a:t>
            </a:r>
            <a:r>
              <a:rPr lang="en-US" sz="2200" dirty="0" err="1">
                <a:solidFill>
                  <a:srgbClr val="00B050"/>
                </a:solidFill>
                <a:latin typeface="Arial" panose="020B0604020202020204" pitchFamily="34" charset="0"/>
                <a:cs typeface="Arial" panose="020B0604020202020204" pitchFamily="34" charset="0"/>
              </a:rPr>
              <a:t>CollectionName,Options</a:t>
            </a:r>
            <a:r>
              <a:rPr lang="en-US" sz="2200" dirty="0">
                <a:solidFill>
                  <a:srgbClr val="00B050"/>
                </a:solidFill>
                <a:latin typeface="Arial" panose="020B0604020202020204" pitchFamily="34" charset="0"/>
                <a:cs typeface="Arial" panose="020B0604020202020204" pitchFamily="34" charset="0"/>
              </a:rPr>
              <a:t>)</a:t>
            </a:r>
          </a:p>
          <a:p>
            <a:pPr marL="8953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db.createCollection</a:t>
            </a:r>
            <a:r>
              <a:rPr lang="en-US" sz="2200" dirty="0">
                <a:solidFill>
                  <a:srgbClr val="FF0000"/>
                </a:solidFill>
                <a:latin typeface="Arial" panose="020B0604020202020204" pitchFamily="34" charset="0"/>
                <a:cs typeface="Arial" panose="020B0604020202020204" pitchFamily="34" charset="0"/>
              </a:rPr>
              <a:t>("</a:t>
            </a:r>
            <a:r>
              <a:rPr lang="en-US" sz="2200" dirty="0" err="1">
                <a:solidFill>
                  <a:srgbClr val="FF0000"/>
                </a:solidFill>
                <a:latin typeface="Arial" panose="020B0604020202020204" pitchFamily="34" charset="0"/>
                <a:cs typeface="Arial" panose="020B0604020202020204" pitchFamily="34" charset="0"/>
              </a:rPr>
              <a:t>cse</a:t>
            </a:r>
            <a:r>
              <a:rPr lang="en-US" sz="2200" dirty="0">
                <a:solidFill>
                  <a:srgbClr val="FF0000"/>
                </a:solidFill>
                <a:latin typeface="Arial" panose="020B0604020202020204" pitchFamily="34" charset="0"/>
                <a:cs typeface="Arial" panose="020B0604020202020204" pitchFamily="34" charset="0"/>
              </a:rPr>
              <a:t>")</a:t>
            </a:r>
          </a:p>
          <a:p>
            <a:pPr marL="8953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"ok" : 1 }</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To display the collections available in the selected DB</a:t>
            </a:r>
          </a:p>
          <a:p>
            <a:pPr marL="5397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&gt;show collections</a:t>
            </a:r>
            <a:endParaRPr lang="en-US" sz="2200" dirty="0">
              <a:latin typeface="Arial" panose="020B0604020202020204" pitchFamily="34" charset="0"/>
              <a:cs typeface="Arial" panose="020B0604020202020204" pitchFamily="34" charset="0"/>
            </a:endParaRPr>
          </a:p>
          <a:p>
            <a:pPr marL="895350" indent="0">
              <a:lnSpc>
                <a:spcPct val="110000"/>
              </a:lnSpc>
              <a:spcBef>
                <a:spcPts val="0"/>
              </a:spcBef>
              <a:buNone/>
            </a:pPr>
            <a:r>
              <a:rPr lang="en-US" sz="2200" dirty="0" err="1">
                <a:solidFill>
                  <a:srgbClr val="404040"/>
                </a:solidFill>
                <a:latin typeface="Arial" panose="020B0604020202020204" pitchFamily="34" charset="0"/>
                <a:cs typeface="Arial" panose="020B0604020202020204" pitchFamily="34" charset="0"/>
              </a:rPr>
              <a:t>cse</a:t>
            </a:r>
            <a:endParaRPr lang="en-US" sz="2200" dirty="0">
              <a:solidFill>
                <a:srgbClr val="404040"/>
              </a:solidFill>
              <a:latin typeface="Arial" panose="020B0604020202020204" pitchFamily="34" charset="0"/>
              <a:cs typeface="Arial" panose="020B0604020202020204" pitchFamily="34" charset="0"/>
            </a:endParaRPr>
          </a:p>
          <a:p>
            <a:pPr marL="895350" indent="0">
              <a:lnSpc>
                <a:spcPct val="110000"/>
              </a:lnSpc>
              <a:spcBef>
                <a:spcPts val="0"/>
              </a:spcBef>
              <a:buNone/>
            </a:pPr>
            <a:endParaRPr lang="en-US" sz="2200" dirty="0">
              <a:solidFill>
                <a:srgbClr val="40404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8214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createCollection</a:t>
            </a:r>
            <a:r>
              <a:rPr lang="en-IN" sz="3200" b="1" u="sng" dirty="0">
                <a:solidFill>
                  <a:srgbClr val="0070C0"/>
                </a:solidFill>
                <a:latin typeface="Arial" panose="020B0604020202020204" pitchFamily="34" charset="0"/>
                <a:cs typeface="Arial" panose="020B0604020202020204" pitchFamily="34" charset="0"/>
              </a:rPr>
              <a:t>() Method</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nvGraphicFramePr>
        <p:xfrm>
          <a:off x="1049155" y="1825625"/>
          <a:ext cx="10183528" cy="4053037"/>
        </p:xfrm>
        <a:graphic>
          <a:graphicData uri="http://schemas.openxmlformats.org/drawingml/2006/table">
            <a:tbl>
              <a:tblPr/>
              <a:tblGrid>
                <a:gridCol w="1491914">
                  <a:extLst>
                    <a:ext uri="{9D8B030D-6E8A-4147-A177-3AD203B41FA5}">
                      <a16:colId xmlns:a16="http://schemas.microsoft.com/office/drawing/2014/main" val="428050620"/>
                    </a:ext>
                  </a:extLst>
                </a:gridCol>
                <a:gridCol w="1193533">
                  <a:extLst>
                    <a:ext uri="{9D8B030D-6E8A-4147-A177-3AD203B41FA5}">
                      <a16:colId xmlns:a16="http://schemas.microsoft.com/office/drawing/2014/main" val="3099470463"/>
                    </a:ext>
                  </a:extLst>
                </a:gridCol>
                <a:gridCol w="7498081">
                  <a:extLst>
                    <a:ext uri="{9D8B030D-6E8A-4147-A177-3AD203B41FA5}">
                      <a16:colId xmlns:a16="http://schemas.microsoft.com/office/drawing/2014/main" val="4174042997"/>
                    </a:ext>
                  </a:extLst>
                </a:gridCol>
              </a:tblGrid>
              <a:tr h="345367">
                <a:tc>
                  <a:txBody>
                    <a:bodyPr/>
                    <a:lstStyle/>
                    <a:p>
                      <a:pPr algn="ctr" fontAlgn="t"/>
                      <a:r>
                        <a:rPr lang="en-IN" sz="2000">
                          <a:solidFill>
                            <a:schemeClr val="tx1"/>
                          </a:solidFill>
                          <a:effectLst/>
                          <a:latin typeface="Arial" panose="020B0604020202020204" pitchFamily="34" charset="0"/>
                          <a:cs typeface="Arial" panose="020B0604020202020204" pitchFamily="34" charset="0"/>
                        </a:rPr>
                        <a:t>Field</a:t>
                      </a: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IN" sz="2000">
                          <a:solidFill>
                            <a:schemeClr val="tx1"/>
                          </a:solidFill>
                          <a:effectLst/>
                          <a:latin typeface="Arial" panose="020B0604020202020204" pitchFamily="34" charset="0"/>
                          <a:cs typeface="Arial" panose="020B0604020202020204" pitchFamily="34" charset="0"/>
                        </a:rPr>
                        <a:t>Type</a:t>
                      </a: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IN" sz="2000">
                          <a:solidFill>
                            <a:schemeClr val="tx1"/>
                          </a:solidFill>
                          <a:effectLst/>
                          <a:latin typeface="Arial" panose="020B0604020202020204" pitchFamily="34" charset="0"/>
                          <a:cs typeface="Arial" panose="020B0604020202020204" pitchFamily="34" charset="0"/>
                        </a:rPr>
                        <a:t>Description</a:t>
                      </a: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7568817"/>
                  </a:ext>
                </a:extLst>
              </a:tr>
              <a:tr h="1365277">
                <a:tc>
                  <a:txBody>
                    <a:bodyPr/>
                    <a:lstStyle/>
                    <a:p>
                      <a:pPr algn="ctr" fontAlgn="ctr"/>
                      <a:r>
                        <a:rPr lang="en-IN" sz="2000" dirty="0">
                          <a:solidFill>
                            <a:schemeClr val="tx1"/>
                          </a:solidFill>
                          <a:effectLst/>
                          <a:latin typeface="Arial" panose="020B0604020202020204" pitchFamily="34" charset="0"/>
                          <a:cs typeface="Arial" panose="020B0604020202020204" pitchFamily="34" charset="0"/>
                        </a:rPr>
                        <a:t>capped</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a:solidFill>
                            <a:schemeClr val="tx1"/>
                          </a:solidFill>
                          <a:effectLst/>
                          <a:latin typeface="Arial" panose="020B0604020202020204" pitchFamily="34" charset="0"/>
                          <a:cs typeface="Arial" panose="020B0604020202020204" pitchFamily="34" charset="0"/>
                        </a:rPr>
                        <a:t>Boolean</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a:solidFill>
                            <a:schemeClr val="tx1"/>
                          </a:solidFill>
                          <a:effectLst/>
                          <a:latin typeface="Arial" panose="020B0604020202020204" pitchFamily="34" charset="0"/>
                          <a:cs typeface="Arial" panose="020B0604020202020204" pitchFamily="34" charset="0"/>
                        </a:rPr>
                        <a:t>(Optional) If true, enables a capped collection. Capped collection is a fixed size collection that automatically overwrites its oldest entries when it reaches its maximum size. </a:t>
                      </a:r>
                      <a:r>
                        <a:rPr lang="en-US" sz="2000" b="1" dirty="0">
                          <a:solidFill>
                            <a:schemeClr val="tx1"/>
                          </a:solidFill>
                          <a:effectLst/>
                          <a:latin typeface="Arial" panose="020B0604020202020204" pitchFamily="34" charset="0"/>
                          <a:cs typeface="Arial" panose="020B0604020202020204" pitchFamily="34" charset="0"/>
                        </a:rPr>
                        <a:t>If you specify true, you need to specify size parameter also.</a:t>
                      </a:r>
                      <a:endParaRPr lang="en-US" sz="2000" dirty="0">
                        <a:solidFill>
                          <a:schemeClr val="tx1"/>
                        </a:solidFill>
                        <a:effectLst/>
                        <a:latin typeface="Arial" panose="020B0604020202020204" pitchFamily="34" charset="0"/>
                        <a:cs typeface="Arial" panose="020B0604020202020204" pitchFamily="34" charset="0"/>
                      </a:endParaRP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091372"/>
                  </a:ext>
                </a:extLst>
              </a:tr>
              <a:tr h="636769">
                <a:tc>
                  <a:txBody>
                    <a:bodyPr/>
                    <a:lstStyle/>
                    <a:p>
                      <a:pPr algn="ctr" fontAlgn="ctr"/>
                      <a:r>
                        <a:rPr lang="en-IN" sz="2000" dirty="0" err="1">
                          <a:solidFill>
                            <a:schemeClr val="tx1"/>
                          </a:solidFill>
                          <a:effectLst/>
                          <a:latin typeface="Arial" panose="020B0604020202020204" pitchFamily="34" charset="0"/>
                          <a:cs typeface="Arial" panose="020B0604020202020204" pitchFamily="34" charset="0"/>
                        </a:rPr>
                        <a:t>autoIndexId</a:t>
                      </a:r>
                      <a:endParaRPr lang="en-IN" sz="2000" dirty="0">
                        <a:solidFill>
                          <a:schemeClr val="tx1"/>
                        </a:solidFill>
                        <a:effectLst/>
                        <a:latin typeface="Arial" panose="020B0604020202020204" pitchFamily="34" charset="0"/>
                        <a:cs typeface="Arial" panose="020B0604020202020204" pitchFamily="34" charset="0"/>
                      </a:endParaRP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a:solidFill>
                            <a:schemeClr val="tx1"/>
                          </a:solidFill>
                          <a:effectLst/>
                          <a:latin typeface="Arial" panose="020B0604020202020204" pitchFamily="34" charset="0"/>
                          <a:cs typeface="Arial" panose="020B0604020202020204" pitchFamily="34" charset="0"/>
                        </a:rPr>
                        <a:t>Boolean</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a:solidFill>
                            <a:schemeClr val="tx1"/>
                          </a:solidFill>
                          <a:effectLst/>
                          <a:latin typeface="Arial" panose="020B0604020202020204" pitchFamily="34" charset="0"/>
                          <a:cs typeface="Arial" panose="020B0604020202020204" pitchFamily="34" charset="0"/>
                        </a:rPr>
                        <a:t>(Optional) If true, automatically create index on _id </a:t>
                      </a:r>
                      <a:r>
                        <a:rPr lang="en-US" sz="2000" dirty="0" err="1">
                          <a:solidFill>
                            <a:schemeClr val="tx1"/>
                          </a:solidFill>
                          <a:effectLst/>
                          <a:latin typeface="Arial" panose="020B0604020202020204" pitchFamily="34" charset="0"/>
                          <a:cs typeface="Arial" panose="020B0604020202020204" pitchFamily="34" charset="0"/>
                        </a:rPr>
                        <a:t>field.s</a:t>
                      </a:r>
                      <a:r>
                        <a:rPr lang="en-US" sz="2000" dirty="0">
                          <a:solidFill>
                            <a:schemeClr val="tx1"/>
                          </a:solidFill>
                          <a:effectLst/>
                          <a:latin typeface="Arial" panose="020B0604020202020204" pitchFamily="34" charset="0"/>
                          <a:cs typeface="Arial" panose="020B0604020202020204" pitchFamily="34" charset="0"/>
                        </a:rPr>
                        <a:t> Default value is false.</a:t>
                      </a: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7510406"/>
                  </a:ext>
                </a:extLst>
              </a:tr>
              <a:tr h="782471">
                <a:tc>
                  <a:txBody>
                    <a:bodyPr/>
                    <a:lstStyle/>
                    <a:p>
                      <a:pPr algn="ctr" fontAlgn="ctr"/>
                      <a:r>
                        <a:rPr lang="en-IN" sz="2000" dirty="0">
                          <a:solidFill>
                            <a:schemeClr val="tx1"/>
                          </a:solidFill>
                          <a:effectLst/>
                          <a:latin typeface="Arial" panose="020B0604020202020204" pitchFamily="34" charset="0"/>
                          <a:cs typeface="Arial" panose="020B0604020202020204" pitchFamily="34" charset="0"/>
                        </a:rPr>
                        <a:t>size</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a:solidFill>
                            <a:schemeClr val="tx1"/>
                          </a:solidFill>
                          <a:effectLst/>
                          <a:latin typeface="Arial" panose="020B0604020202020204" pitchFamily="34" charset="0"/>
                          <a:cs typeface="Arial" panose="020B0604020202020204" pitchFamily="34" charset="0"/>
                        </a:rPr>
                        <a:t>number</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a:solidFill>
                            <a:schemeClr val="tx1"/>
                          </a:solidFill>
                          <a:effectLst/>
                          <a:latin typeface="Arial" panose="020B0604020202020204" pitchFamily="34" charset="0"/>
                          <a:cs typeface="Arial" panose="020B0604020202020204" pitchFamily="34" charset="0"/>
                        </a:rPr>
                        <a:t>(Optional) Specifies a maximum size in bytes for a capped collection. </a:t>
                      </a:r>
                      <a:r>
                        <a:rPr lang="en-US" sz="2000" b="1" dirty="0">
                          <a:solidFill>
                            <a:schemeClr val="tx1"/>
                          </a:solidFill>
                          <a:effectLst/>
                          <a:latin typeface="Arial" panose="020B0604020202020204" pitchFamily="34" charset="0"/>
                          <a:cs typeface="Arial" panose="020B0604020202020204" pitchFamily="34" charset="0"/>
                        </a:rPr>
                        <a:t>If capped is true, then you need to specify this field also.</a:t>
                      </a:r>
                      <a:endParaRPr lang="en-US" sz="2000" dirty="0">
                        <a:solidFill>
                          <a:schemeClr val="tx1"/>
                        </a:solidFill>
                        <a:effectLst/>
                        <a:latin typeface="Arial" panose="020B0604020202020204" pitchFamily="34" charset="0"/>
                        <a:cs typeface="Arial" panose="020B0604020202020204" pitchFamily="34" charset="0"/>
                      </a:endParaRP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8671170"/>
                  </a:ext>
                </a:extLst>
              </a:tr>
              <a:tr h="636769">
                <a:tc>
                  <a:txBody>
                    <a:bodyPr/>
                    <a:lstStyle/>
                    <a:p>
                      <a:pPr algn="ctr" fontAlgn="ctr"/>
                      <a:r>
                        <a:rPr lang="en-IN" sz="2000" dirty="0">
                          <a:solidFill>
                            <a:schemeClr val="tx1"/>
                          </a:solidFill>
                          <a:effectLst/>
                          <a:latin typeface="Arial" panose="020B0604020202020204" pitchFamily="34" charset="0"/>
                          <a:cs typeface="Arial" panose="020B0604020202020204" pitchFamily="34" charset="0"/>
                        </a:rPr>
                        <a:t>max</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a:solidFill>
                            <a:schemeClr val="tx1"/>
                          </a:solidFill>
                          <a:effectLst/>
                          <a:latin typeface="Arial" panose="020B0604020202020204" pitchFamily="34" charset="0"/>
                          <a:cs typeface="Arial" panose="020B0604020202020204" pitchFamily="34" charset="0"/>
                        </a:rPr>
                        <a:t>number</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a:solidFill>
                            <a:schemeClr val="tx1"/>
                          </a:solidFill>
                          <a:effectLst/>
                          <a:latin typeface="Arial" panose="020B0604020202020204" pitchFamily="34" charset="0"/>
                          <a:cs typeface="Arial" panose="020B0604020202020204" pitchFamily="34" charset="0"/>
                        </a:rPr>
                        <a:t>(Optional) Specifies the maximum number of documents allowed in the capped collection.</a:t>
                      </a: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579120"/>
                  </a:ext>
                </a:extLst>
              </a:tr>
            </a:tbl>
          </a:graphicData>
        </a:graphic>
      </p:graphicFrame>
    </p:spTree>
    <p:extLst>
      <p:ext uri="{BB962C8B-B14F-4D97-AF65-F5344CB8AC3E}">
        <p14:creationId xmlns:p14="http://schemas.microsoft.com/office/powerpoint/2010/main" val="3713919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insert()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To insert data into MongoDB collection, you need to use MongoDB's insert() or save() method.</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The basic syntax of insert() command is as follows:</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db.COLLECTION_NAME.insert</a:t>
            </a:r>
            <a:r>
              <a:rPr lang="en-US" sz="2200" dirty="0">
                <a:solidFill>
                  <a:srgbClr val="FF0000"/>
                </a:solidFill>
                <a:latin typeface="Arial" panose="020B0604020202020204" pitchFamily="34" charset="0"/>
                <a:cs typeface="Arial" panose="020B0604020202020204" pitchFamily="34" charset="0"/>
              </a:rPr>
              <a:t>(document)</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To insert a new document in the collections </a:t>
            </a: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&gt; </a:t>
            </a:r>
            <a:r>
              <a:rPr lang="en-US" sz="2200" dirty="0" err="1">
                <a:solidFill>
                  <a:srgbClr val="FF0000"/>
                </a:solidFill>
                <a:latin typeface="Arial" panose="020B0604020202020204" pitchFamily="34" charset="0"/>
                <a:cs typeface="Arial" panose="020B0604020202020204" pitchFamily="34" charset="0"/>
              </a:rPr>
              <a:t>db.cse.insert</a:t>
            </a:r>
            <a:r>
              <a:rPr lang="en-US" sz="2200" dirty="0">
                <a:solidFill>
                  <a:srgbClr val="FF0000"/>
                </a:solidFill>
                <a:latin typeface="Arial" panose="020B0604020202020204" pitchFamily="34" charset="0"/>
                <a:cs typeface="Arial" panose="020B0604020202020204" pitchFamily="34" charset="0"/>
              </a:rPr>
              <a:t> ({"stud_id":101, "stud_name":"</a:t>
            </a:r>
            <a:r>
              <a:rPr lang="en-US" sz="2200" dirty="0" err="1">
                <a:solidFill>
                  <a:srgbClr val="FF0000"/>
                </a:solidFill>
                <a:latin typeface="Arial" panose="020B0604020202020204" pitchFamily="34" charset="0"/>
                <a:cs typeface="Arial" panose="020B0604020202020204" pitchFamily="34" charset="0"/>
              </a:rPr>
              <a:t>aadhav</a:t>
            </a:r>
            <a:r>
              <a:rPr lang="en-US" sz="22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WriteResult</a:t>
            </a: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nInserted</a:t>
            </a:r>
            <a:r>
              <a:rPr lang="en-US" sz="2200" dirty="0">
                <a:solidFill>
                  <a:srgbClr val="404040"/>
                </a:solidFill>
                <a:latin typeface="Arial" panose="020B0604020202020204" pitchFamily="34" charset="0"/>
                <a:cs typeface="Arial" panose="020B0604020202020204" pitchFamily="34" charset="0"/>
              </a:rPr>
              <a:t>" : 1 })</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12-07-2024</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11</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5128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 DB Datatypes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String</a:t>
            </a:r>
            <a:r>
              <a:rPr lang="en-US" sz="2000" dirty="0">
                <a:latin typeface="Arial" panose="020B0604020202020204" pitchFamily="34" charset="0"/>
                <a:cs typeface="Arial" panose="020B0604020202020204" pitchFamily="34" charset="0"/>
              </a:rPr>
              <a:t> − This is the most commonly used datatype to store the data. String in MongoDB must be UTF-8 valid.</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Integer</a:t>
            </a:r>
            <a:r>
              <a:rPr lang="en-US" sz="2000" dirty="0">
                <a:latin typeface="Arial" panose="020B0604020202020204" pitchFamily="34" charset="0"/>
                <a:cs typeface="Arial" panose="020B0604020202020204" pitchFamily="34" charset="0"/>
              </a:rPr>
              <a:t> − This type is used to store a numerical value. Integer can be 32 bit or 64 bit depending upon your server.</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Boolean</a:t>
            </a:r>
            <a:r>
              <a:rPr lang="en-US" sz="2000" dirty="0">
                <a:latin typeface="Arial" panose="020B0604020202020204" pitchFamily="34" charset="0"/>
                <a:cs typeface="Arial" panose="020B0604020202020204" pitchFamily="34" charset="0"/>
              </a:rPr>
              <a:t> − This type is used to store a boolean (true/ false) value.</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Double</a:t>
            </a:r>
            <a:r>
              <a:rPr lang="en-US" sz="2000" dirty="0">
                <a:latin typeface="Arial" panose="020B0604020202020204" pitchFamily="34" charset="0"/>
                <a:cs typeface="Arial" panose="020B0604020202020204" pitchFamily="34" charset="0"/>
              </a:rPr>
              <a:t> − This type is used to store floating point values.</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Min/ Max keys </a:t>
            </a:r>
            <a:r>
              <a:rPr lang="en-US" sz="2000" dirty="0">
                <a:latin typeface="Arial" panose="020B0604020202020204" pitchFamily="34" charset="0"/>
                <a:cs typeface="Arial" panose="020B0604020202020204" pitchFamily="34" charset="0"/>
              </a:rPr>
              <a:t>− This type is used to compare a value against the lowest and highest BSON elements.</a:t>
            </a:r>
            <a:endParaRPr lang="en-US" sz="20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3854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 DB Datatypes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Arrays</a:t>
            </a:r>
            <a:r>
              <a:rPr lang="en-US" sz="2000" dirty="0">
                <a:latin typeface="Arial" panose="020B0604020202020204" pitchFamily="34" charset="0"/>
                <a:cs typeface="Arial" panose="020B0604020202020204" pitchFamily="34" charset="0"/>
              </a:rPr>
              <a:t> − This type is used to store arrays or list or multiple values into one key.</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Timestamp</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ctimestamp</a:t>
            </a:r>
            <a:r>
              <a:rPr lang="en-US" sz="2000" dirty="0">
                <a:latin typeface="Arial" panose="020B0604020202020204" pitchFamily="34" charset="0"/>
                <a:cs typeface="Arial" panose="020B0604020202020204" pitchFamily="34" charset="0"/>
              </a:rPr>
              <a:t>. This can be handy for recording when a document has been modified or added.</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Object</a:t>
            </a:r>
            <a:r>
              <a:rPr lang="en-US" sz="2000" dirty="0">
                <a:latin typeface="Arial" panose="020B0604020202020204" pitchFamily="34" charset="0"/>
                <a:cs typeface="Arial" panose="020B0604020202020204" pitchFamily="34" charset="0"/>
              </a:rPr>
              <a:t> − This datatype is used for embedded documents.</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Null</a:t>
            </a:r>
            <a:r>
              <a:rPr lang="en-US" sz="2000" dirty="0">
                <a:latin typeface="Arial" panose="020B0604020202020204" pitchFamily="34" charset="0"/>
                <a:cs typeface="Arial" panose="020B0604020202020204" pitchFamily="34" charset="0"/>
              </a:rPr>
              <a:t> − This type is used to store a Null value.</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Symbol</a:t>
            </a:r>
            <a:r>
              <a:rPr lang="en-US" sz="2000" dirty="0">
                <a:latin typeface="Arial" panose="020B0604020202020204" pitchFamily="34" charset="0"/>
                <a:cs typeface="Arial" panose="020B0604020202020204" pitchFamily="34" charset="0"/>
              </a:rPr>
              <a:t> − This datatype is used identically to a string; however, it's generally reserved for languages that use a specific symbol type.</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1064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 DB Datatypes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Date</a:t>
            </a:r>
            <a:r>
              <a:rPr lang="en-US" sz="2000" dirty="0">
                <a:latin typeface="Arial" panose="020B0604020202020204" pitchFamily="34" charset="0"/>
                <a:cs typeface="Arial" panose="020B0604020202020204" pitchFamily="34" charset="0"/>
              </a:rPr>
              <a:t> − This datatype is used to store the current date or time in UNIX time format. You can specify your own date time by creating object of Date and passing day, month, year into it.</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Object ID </a:t>
            </a:r>
            <a:r>
              <a:rPr lang="en-US" sz="2000" dirty="0">
                <a:latin typeface="Arial" panose="020B0604020202020204" pitchFamily="34" charset="0"/>
                <a:cs typeface="Arial" panose="020B0604020202020204" pitchFamily="34" charset="0"/>
              </a:rPr>
              <a:t>− This datatype is used to store the document’s ID.</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Binary data </a:t>
            </a:r>
            <a:r>
              <a:rPr lang="en-US" sz="2000" dirty="0">
                <a:latin typeface="Arial" panose="020B0604020202020204" pitchFamily="34" charset="0"/>
                <a:cs typeface="Arial" panose="020B0604020202020204" pitchFamily="34" charset="0"/>
              </a:rPr>
              <a:t>− This datatype is used to store binary data.</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Code</a:t>
            </a:r>
            <a:r>
              <a:rPr lang="en-US" sz="2000" dirty="0">
                <a:latin typeface="Arial" panose="020B0604020202020204" pitchFamily="34" charset="0"/>
                <a:cs typeface="Arial" panose="020B0604020202020204" pitchFamily="34" charset="0"/>
              </a:rPr>
              <a:t> − This datatype is used to store JavaScript code into the document.</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Regular expression </a:t>
            </a:r>
            <a:r>
              <a:rPr lang="en-US" sz="2000" dirty="0">
                <a:latin typeface="Arial" panose="020B0604020202020204" pitchFamily="34" charset="0"/>
                <a:cs typeface="Arial" panose="020B0604020202020204" pitchFamily="34" charset="0"/>
              </a:rPr>
              <a:t>− This datatype is used to store regular expression.</a:t>
            </a:r>
            <a:endParaRPr lang="en-US" sz="20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9443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find() command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To display all documents available in the collection</a:t>
            </a:r>
          </a:p>
          <a:p>
            <a:pPr marL="5397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 </a:t>
            </a:r>
            <a:r>
              <a:rPr lang="en-US" sz="2200" dirty="0" err="1">
                <a:solidFill>
                  <a:srgbClr val="FF0000"/>
                </a:solidFill>
                <a:latin typeface="Arial" panose="020B0604020202020204" pitchFamily="34" charset="0"/>
                <a:cs typeface="Arial" panose="020B0604020202020204" pitchFamily="34" charset="0"/>
              </a:rPr>
              <a:t>db.cse.find</a:t>
            </a:r>
            <a:r>
              <a:rPr lang="en-US" sz="2200" dirty="0">
                <a:solidFill>
                  <a:srgbClr val="FF0000"/>
                </a:solidFill>
                <a:latin typeface="Arial" panose="020B0604020202020204" pitchFamily="34" charset="0"/>
                <a:cs typeface="Arial" panose="020B0604020202020204" pitchFamily="34" charset="0"/>
              </a:rPr>
              <a:t>();</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"_id" : </a:t>
            </a:r>
            <a:r>
              <a:rPr lang="en-US" sz="2200" dirty="0" err="1">
                <a:solidFill>
                  <a:srgbClr val="404040"/>
                </a:solidFill>
                <a:latin typeface="Arial" panose="020B0604020202020204" pitchFamily="34" charset="0"/>
                <a:cs typeface="Arial" panose="020B0604020202020204" pitchFamily="34" charset="0"/>
              </a:rPr>
              <a:t>ObjectId</a:t>
            </a:r>
            <a:r>
              <a:rPr lang="en-US" sz="2200" dirty="0">
                <a:solidFill>
                  <a:srgbClr val="404040"/>
                </a:solidFill>
                <a:latin typeface="Arial" panose="020B0604020202020204" pitchFamily="34" charset="0"/>
                <a:cs typeface="Arial" panose="020B0604020202020204" pitchFamily="34" charset="0"/>
              </a:rPr>
              <a:t>("5ec92a92fef01e2e7c1caf69"), "</a:t>
            </a:r>
            <a:r>
              <a:rPr lang="en-US" sz="2200" dirty="0" err="1">
                <a:solidFill>
                  <a:srgbClr val="404040"/>
                </a:solidFill>
                <a:latin typeface="Arial" panose="020B0604020202020204" pitchFamily="34" charset="0"/>
                <a:cs typeface="Arial" panose="020B0604020202020204" pitchFamily="34" charset="0"/>
              </a:rPr>
              <a:t>stud_id</a:t>
            </a:r>
            <a:r>
              <a:rPr lang="en-US" sz="2200" dirty="0">
                <a:solidFill>
                  <a:srgbClr val="404040"/>
                </a:solidFill>
                <a:latin typeface="Arial" panose="020B0604020202020204" pitchFamily="34" charset="0"/>
                <a:cs typeface="Arial" panose="020B0604020202020204" pitchFamily="34" charset="0"/>
              </a:rPr>
              <a:t>" : 101, "</a:t>
            </a:r>
            <a:r>
              <a:rPr lang="en-US" sz="2200" dirty="0" err="1">
                <a:solidFill>
                  <a:srgbClr val="404040"/>
                </a:solidFill>
                <a:latin typeface="Arial" panose="020B0604020202020204" pitchFamily="34" charset="0"/>
                <a:cs typeface="Arial" panose="020B0604020202020204" pitchFamily="34" charset="0"/>
              </a:rPr>
              <a:t>stud_name</a:t>
            </a:r>
            <a:r>
              <a:rPr lang="en-US" sz="2200" dirty="0">
                <a:solidFill>
                  <a:srgbClr val="404040"/>
                </a:solidFill>
                <a:latin typeface="Arial" panose="020B0604020202020204" pitchFamily="34" charset="0"/>
                <a:cs typeface="Arial" panose="020B0604020202020204" pitchFamily="34" charset="0"/>
              </a:rPr>
              <a:t>" : "</a:t>
            </a:r>
            <a:r>
              <a:rPr lang="en-US" sz="2200" dirty="0" err="1">
                <a:solidFill>
                  <a:srgbClr val="404040"/>
                </a:solidFill>
                <a:latin typeface="Arial" panose="020B0604020202020204" pitchFamily="34" charset="0"/>
                <a:cs typeface="Arial" panose="020B0604020202020204" pitchFamily="34" charset="0"/>
              </a:rPr>
              <a:t>aadhav</a:t>
            </a:r>
            <a:r>
              <a:rPr lang="en-US" sz="2200" dirty="0">
                <a:solidFill>
                  <a:srgbClr val="404040"/>
                </a:solidFill>
                <a:latin typeface="Arial" panose="020B0604020202020204" pitchFamily="34" charset="0"/>
                <a:cs typeface="Arial" panose="020B0604020202020204" pitchFamily="34" charset="0"/>
              </a:rPr>
              <a:t>" }</a:t>
            </a:r>
          </a:p>
          <a:p>
            <a:pPr marL="539750" indent="0">
              <a:lnSpc>
                <a:spcPct val="110000"/>
              </a:lnSpc>
              <a:spcBef>
                <a:spcPts val="0"/>
              </a:spcBef>
              <a:buNone/>
            </a:pPr>
            <a:endParaRPr lang="en-US" sz="2200" dirty="0">
              <a:solidFill>
                <a:srgbClr val="404040"/>
              </a:solidFill>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To display all documents with alignment </a:t>
            </a:r>
          </a:p>
          <a:p>
            <a:pPr marL="5397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 </a:t>
            </a:r>
            <a:r>
              <a:rPr lang="en-US" sz="2200" dirty="0" err="1">
                <a:solidFill>
                  <a:srgbClr val="FF0000"/>
                </a:solidFill>
                <a:latin typeface="Arial" panose="020B0604020202020204" pitchFamily="34" charset="0"/>
                <a:cs typeface="Arial" panose="020B0604020202020204" pitchFamily="34" charset="0"/>
              </a:rPr>
              <a:t>db.cse.find</a:t>
            </a:r>
            <a:r>
              <a:rPr lang="en-US" sz="2200" dirty="0">
                <a:solidFill>
                  <a:srgbClr val="FF0000"/>
                </a:solidFill>
                <a:latin typeface="Arial" panose="020B0604020202020204" pitchFamily="34" charset="0"/>
                <a:cs typeface="Arial" panose="020B0604020202020204" pitchFamily="34" charset="0"/>
              </a:rPr>
              <a:t>().pretty();</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"_id" : </a:t>
            </a:r>
            <a:r>
              <a:rPr lang="en-US" sz="2200" dirty="0" err="1">
                <a:solidFill>
                  <a:srgbClr val="404040"/>
                </a:solidFill>
                <a:latin typeface="Arial" panose="020B0604020202020204" pitchFamily="34" charset="0"/>
                <a:cs typeface="Arial" panose="020B0604020202020204" pitchFamily="34" charset="0"/>
              </a:rPr>
              <a:t>ObjectId</a:t>
            </a:r>
            <a:r>
              <a:rPr lang="en-US" sz="2200" dirty="0">
                <a:solidFill>
                  <a:srgbClr val="404040"/>
                </a:solidFill>
                <a:latin typeface="Arial" panose="020B0604020202020204" pitchFamily="34" charset="0"/>
                <a:cs typeface="Arial" panose="020B0604020202020204" pitchFamily="34" charset="0"/>
              </a:rPr>
              <a:t>("5ec92a92fef01e2e7c1caf69"),</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stud_id</a:t>
            </a:r>
            <a:r>
              <a:rPr lang="en-US" sz="2200" dirty="0">
                <a:solidFill>
                  <a:srgbClr val="404040"/>
                </a:solidFill>
                <a:latin typeface="Arial" panose="020B0604020202020204" pitchFamily="34" charset="0"/>
                <a:cs typeface="Arial" panose="020B0604020202020204" pitchFamily="34" charset="0"/>
              </a:rPr>
              <a:t>" : 101,</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stud_name</a:t>
            </a:r>
            <a:r>
              <a:rPr lang="en-US" sz="2200" dirty="0">
                <a:solidFill>
                  <a:srgbClr val="404040"/>
                </a:solidFill>
                <a:latin typeface="Arial" panose="020B0604020202020204" pitchFamily="34" charset="0"/>
                <a:cs typeface="Arial" panose="020B0604020202020204" pitchFamily="34" charset="0"/>
              </a:rPr>
              <a:t>" : "</a:t>
            </a:r>
            <a:r>
              <a:rPr lang="en-US" sz="2200" dirty="0" err="1">
                <a:solidFill>
                  <a:srgbClr val="404040"/>
                </a:solidFill>
                <a:latin typeface="Arial" panose="020B0604020202020204" pitchFamily="34" charset="0"/>
                <a:cs typeface="Arial" panose="020B0604020202020204" pitchFamily="34" charset="0"/>
              </a:rPr>
              <a:t>aadhav</a:t>
            </a:r>
            <a:r>
              <a:rPr lang="en-US" sz="2200" dirty="0">
                <a:solidFill>
                  <a:srgbClr val="404040"/>
                </a:solidFill>
                <a:latin typeface="Arial" panose="020B0604020202020204" pitchFamily="34" charset="0"/>
                <a:cs typeface="Arial" panose="020B0604020202020204" pitchFamily="34" charset="0"/>
              </a:rPr>
              <a:t>"</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6644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Projections</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100" dirty="0">
                <a:latin typeface="Arial" panose="020B0604020202020204" pitchFamily="34" charset="0"/>
                <a:cs typeface="Arial" panose="020B0604020202020204" pitchFamily="34" charset="0"/>
              </a:rPr>
              <a:t>To display all documents without id</a:t>
            </a:r>
          </a:p>
          <a:p>
            <a:pPr marL="539750" indent="0">
              <a:lnSpc>
                <a:spcPct val="110000"/>
              </a:lnSpc>
              <a:spcBef>
                <a:spcPts val="0"/>
              </a:spcBef>
              <a:buNone/>
            </a:pPr>
            <a:r>
              <a:rPr lang="en-US" sz="2100" dirty="0">
                <a:solidFill>
                  <a:srgbClr val="FF0000"/>
                </a:solidFill>
                <a:latin typeface="Arial" panose="020B0604020202020204" pitchFamily="34" charset="0"/>
                <a:cs typeface="Arial" panose="020B0604020202020204" pitchFamily="34" charset="0"/>
              </a:rPr>
              <a:t>&gt; </a:t>
            </a:r>
            <a:r>
              <a:rPr lang="en-US" sz="2100" dirty="0" err="1">
                <a:solidFill>
                  <a:srgbClr val="FF0000"/>
                </a:solidFill>
                <a:latin typeface="Arial" panose="020B0604020202020204" pitchFamily="34" charset="0"/>
                <a:cs typeface="Arial" panose="020B0604020202020204" pitchFamily="34" charset="0"/>
              </a:rPr>
              <a:t>db.cse.find</a:t>
            </a:r>
            <a:r>
              <a:rPr lang="en-US" sz="2100" dirty="0">
                <a:solidFill>
                  <a:srgbClr val="FF0000"/>
                </a:solidFill>
                <a:latin typeface="Arial" panose="020B0604020202020204" pitchFamily="34" charset="0"/>
                <a:cs typeface="Arial" panose="020B0604020202020204" pitchFamily="34" charset="0"/>
              </a:rPr>
              <a:t>({},{"_id":0});</a:t>
            </a:r>
          </a:p>
          <a:p>
            <a:pPr marL="539750" indent="0">
              <a:lnSpc>
                <a:spcPct val="110000"/>
              </a:lnSpc>
              <a:spcBef>
                <a:spcPts val="0"/>
              </a:spcBef>
              <a:buNone/>
            </a:pPr>
            <a:r>
              <a:rPr lang="en-US" sz="2100" dirty="0">
                <a:solidFill>
                  <a:srgbClr val="404040"/>
                </a:solidFill>
                <a:latin typeface="Arial" panose="020B0604020202020204" pitchFamily="34" charset="0"/>
                <a:cs typeface="Arial" panose="020B0604020202020204" pitchFamily="34" charset="0"/>
              </a:rPr>
              <a:t>{ "</a:t>
            </a:r>
            <a:r>
              <a:rPr lang="en-US" sz="2100" dirty="0" err="1">
                <a:solidFill>
                  <a:srgbClr val="404040"/>
                </a:solidFill>
                <a:latin typeface="Arial" panose="020B0604020202020204" pitchFamily="34" charset="0"/>
                <a:cs typeface="Arial" panose="020B0604020202020204" pitchFamily="34" charset="0"/>
              </a:rPr>
              <a:t>stud_id</a:t>
            </a:r>
            <a:r>
              <a:rPr lang="en-US" sz="2100" dirty="0">
                <a:solidFill>
                  <a:srgbClr val="404040"/>
                </a:solidFill>
                <a:latin typeface="Arial" panose="020B0604020202020204" pitchFamily="34" charset="0"/>
                <a:cs typeface="Arial" panose="020B0604020202020204" pitchFamily="34" charset="0"/>
              </a:rPr>
              <a:t>" : 101, "</a:t>
            </a:r>
            <a:r>
              <a:rPr lang="en-US" sz="2100" dirty="0" err="1">
                <a:solidFill>
                  <a:srgbClr val="404040"/>
                </a:solidFill>
                <a:latin typeface="Arial" panose="020B0604020202020204" pitchFamily="34" charset="0"/>
                <a:cs typeface="Arial" panose="020B0604020202020204" pitchFamily="34" charset="0"/>
              </a:rPr>
              <a:t>stud_name</a:t>
            </a:r>
            <a:r>
              <a:rPr lang="en-US" sz="2100" dirty="0">
                <a:solidFill>
                  <a:srgbClr val="404040"/>
                </a:solidFill>
                <a:latin typeface="Arial" panose="020B0604020202020204" pitchFamily="34" charset="0"/>
                <a:cs typeface="Arial" panose="020B0604020202020204" pitchFamily="34" charset="0"/>
              </a:rPr>
              <a:t>" : "</a:t>
            </a:r>
            <a:r>
              <a:rPr lang="en-US" sz="2100" dirty="0" err="1">
                <a:solidFill>
                  <a:srgbClr val="404040"/>
                </a:solidFill>
                <a:latin typeface="Arial" panose="020B0604020202020204" pitchFamily="34" charset="0"/>
                <a:cs typeface="Arial" panose="020B0604020202020204" pitchFamily="34" charset="0"/>
              </a:rPr>
              <a:t>aadhav</a:t>
            </a:r>
            <a:r>
              <a:rPr lang="en-US" sz="2100" dirty="0">
                <a:solidFill>
                  <a:srgbClr val="404040"/>
                </a:solidFill>
                <a:latin typeface="Arial" panose="020B0604020202020204" pitchFamily="34" charset="0"/>
                <a:cs typeface="Arial" panose="020B0604020202020204" pitchFamily="34" charset="0"/>
              </a:rPr>
              <a:t>" }</a:t>
            </a:r>
          </a:p>
          <a:p>
            <a:pPr marL="539750" indent="0">
              <a:lnSpc>
                <a:spcPct val="110000"/>
              </a:lnSpc>
              <a:spcBef>
                <a:spcPts val="0"/>
              </a:spcBef>
              <a:buNone/>
            </a:pPr>
            <a:endParaRPr lang="en-US" sz="2100" dirty="0">
              <a:solidFill>
                <a:srgbClr val="404040"/>
              </a:solidFill>
              <a:latin typeface="Arial" panose="020B0604020202020204" pitchFamily="34" charset="0"/>
              <a:cs typeface="Arial" panose="020B0604020202020204" pitchFamily="34" charset="0"/>
            </a:endParaRPr>
          </a:p>
          <a:p>
            <a:pPr marL="0" indent="0">
              <a:lnSpc>
                <a:spcPct val="110000"/>
              </a:lnSpc>
              <a:spcBef>
                <a:spcPts val="0"/>
              </a:spcBef>
              <a:buNone/>
            </a:pPr>
            <a:r>
              <a:rPr lang="en-US" sz="2100" dirty="0">
                <a:latin typeface="Arial" panose="020B0604020202020204" pitchFamily="34" charset="0"/>
                <a:cs typeface="Arial" panose="020B0604020202020204" pitchFamily="34" charset="0"/>
              </a:rPr>
              <a:t>To display only one field (Projections)</a:t>
            </a:r>
          </a:p>
          <a:p>
            <a:pPr marL="0" indent="0">
              <a:lnSpc>
                <a:spcPct val="110000"/>
              </a:lnSpc>
              <a:spcBef>
                <a:spcPts val="0"/>
              </a:spcBef>
              <a:buNone/>
            </a:pPr>
            <a:r>
              <a:rPr lang="en-US" sz="2100" dirty="0">
                <a:latin typeface="Arial" panose="020B0604020202020204" pitchFamily="34" charset="0"/>
                <a:cs typeface="Arial" panose="020B0604020202020204" pitchFamily="34" charset="0"/>
              </a:rPr>
              <a:t> 	</a:t>
            </a:r>
            <a:r>
              <a:rPr lang="en-US" sz="2100" dirty="0">
                <a:solidFill>
                  <a:srgbClr val="FF0000"/>
                </a:solidFill>
                <a:latin typeface="Arial" panose="020B0604020202020204" pitchFamily="34" charset="0"/>
                <a:cs typeface="Arial" panose="020B0604020202020204" pitchFamily="34" charset="0"/>
              </a:rPr>
              <a:t>&gt; </a:t>
            </a:r>
            <a:r>
              <a:rPr lang="en-US" sz="2100" dirty="0" err="1">
                <a:solidFill>
                  <a:srgbClr val="FF0000"/>
                </a:solidFill>
                <a:latin typeface="Arial" panose="020B0604020202020204" pitchFamily="34" charset="0"/>
                <a:cs typeface="Arial" panose="020B0604020202020204" pitchFamily="34" charset="0"/>
              </a:rPr>
              <a:t>db.cse.find</a:t>
            </a:r>
            <a:r>
              <a:rPr lang="en-US" sz="2100" dirty="0">
                <a:solidFill>
                  <a:srgbClr val="FF0000"/>
                </a:solidFill>
                <a:latin typeface="Arial" panose="020B0604020202020204" pitchFamily="34" charset="0"/>
                <a:cs typeface="Arial" panose="020B0604020202020204" pitchFamily="34" charset="0"/>
              </a:rPr>
              <a:t>({},{"stud_id":1,"_id":0});</a:t>
            </a:r>
          </a:p>
          <a:p>
            <a:pPr marL="0" indent="0">
              <a:lnSpc>
                <a:spcPct val="110000"/>
              </a:lnSpc>
              <a:spcBef>
                <a:spcPts val="0"/>
              </a:spcBef>
              <a:buNone/>
            </a:pPr>
            <a:r>
              <a:rPr lang="en-US" sz="2100" dirty="0">
                <a:latin typeface="Arial" panose="020B0604020202020204" pitchFamily="34" charset="0"/>
                <a:cs typeface="Arial" panose="020B0604020202020204" pitchFamily="34" charset="0"/>
              </a:rPr>
              <a:t>	{ "</a:t>
            </a:r>
            <a:r>
              <a:rPr lang="en-US" sz="2100" dirty="0" err="1">
                <a:latin typeface="Arial" panose="020B0604020202020204" pitchFamily="34" charset="0"/>
                <a:cs typeface="Arial" panose="020B0604020202020204" pitchFamily="34" charset="0"/>
              </a:rPr>
              <a:t>stud_id</a:t>
            </a:r>
            <a:r>
              <a:rPr lang="en-US" sz="2100" dirty="0">
                <a:latin typeface="Arial" panose="020B0604020202020204" pitchFamily="34" charset="0"/>
                <a:cs typeface="Arial" panose="020B0604020202020204" pitchFamily="34" charset="0"/>
              </a:rPr>
              <a:t>" : 101 }</a:t>
            </a:r>
          </a:p>
          <a:p>
            <a:pPr marL="0" indent="0">
              <a:lnSpc>
                <a:spcPct val="110000"/>
              </a:lnSpc>
              <a:spcBef>
                <a:spcPts val="0"/>
              </a:spcBef>
              <a:buNone/>
            </a:pPr>
            <a:endParaRPr lang="en-US" sz="2100" dirty="0">
              <a:latin typeface="Arial" panose="020B0604020202020204" pitchFamily="34" charset="0"/>
              <a:cs typeface="Arial" panose="020B0604020202020204" pitchFamily="34" charset="0"/>
            </a:endParaRPr>
          </a:p>
          <a:p>
            <a:pPr marL="0" indent="0">
              <a:lnSpc>
                <a:spcPct val="110000"/>
              </a:lnSpc>
              <a:spcBef>
                <a:spcPts val="0"/>
              </a:spcBef>
              <a:spcAft>
                <a:spcPts val="1800"/>
              </a:spcAft>
              <a:buNone/>
            </a:pPr>
            <a:r>
              <a:rPr lang="en-US" sz="2100" dirty="0">
                <a:latin typeface="Arial" panose="020B0604020202020204" pitchFamily="34" charset="0"/>
                <a:cs typeface="Arial" panose="020B0604020202020204" pitchFamily="34" charset="0"/>
              </a:rPr>
              <a:t>_id is 12 bytes hexadecimal number unique for every document in a collection. 12 bytes are divided as follows:</a:t>
            </a:r>
          </a:p>
          <a:p>
            <a:pPr marL="0" indent="0">
              <a:lnSpc>
                <a:spcPct val="110000"/>
              </a:lnSpc>
              <a:spcBef>
                <a:spcPts val="0"/>
              </a:spcBef>
              <a:buNone/>
            </a:pPr>
            <a:r>
              <a:rPr lang="en-US" sz="2100" dirty="0">
                <a:latin typeface="Arial" panose="020B0604020202020204" pitchFamily="34" charset="0"/>
                <a:cs typeface="Arial" panose="020B0604020202020204" pitchFamily="34" charset="0"/>
              </a:rPr>
              <a:t>_id: </a:t>
            </a:r>
            <a:r>
              <a:rPr lang="en-US" sz="2100" dirty="0" err="1">
                <a:latin typeface="Arial" panose="020B0604020202020204" pitchFamily="34" charset="0"/>
                <a:cs typeface="Arial" panose="020B0604020202020204" pitchFamily="34" charset="0"/>
              </a:rPr>
              <a:t>ObjectId</a:t>
            </a:r>
            <a:r>
              <a:rPr lang="en-US" sz="2100" dirty="0">
                <a:latin typeface="Arial" panose="020B0604020202020204" pitchFamily="34" charset="0"/>
                <a:cs typeface="Arial" panose="020B0604020202020204" pitchFamily="34" charset="0"/>
              </a:rPr>
              <a:t>(4 bytes timestamp, 3 bytes machine id, 2 bytes process id, </a:t>
            </a:r>
          </a:p>
          <a:p>
            <a:pPr marL="0" indent="0">
              <a:lnSpc>
                <a:spcPct val="110000"/>
              </a:lnSpc>
              <a:spcBef>
                <a:spcPts val="0"/>
              </a:spcBef>
              <a:buNone/>
            </a:pPr>
            <a:r>
              <a:rPr lang="en-US" sz="2100" dirty="0">
                <a:latin typeface="Arial" panose="020B0604020202020204" pitchFamily="34" charset="0"/>
                <a:cs typeface="Arial" panose="020B0604020202020204" pitchFamily="34" charset="0"/>
              </a:rPr>
              <a:t>   3 bytes </a:t>
            </a:r>
            <a:r>
              <a:rPr lang="en-US" sz="2100" dirty="0" err="1">
                <a:latin typeface="Arial" panose="020B0604020202020204" pitchFamily="34" charset="0"/>
                <a:cs typeface="Arial" panose="020B0604020202020204" pitchFamily="34" charset="0"/>
              </a:rPr>
              <a:t>incrementer</a:t>
            </a:r>
            <a:r>
              <a:rPr lang="en-US" sz="2100" dirty="0">
                <a:latin typeface="Arial" panose="020B0604020202020204" pitchFamily="34" charset="0"/>
                <a:cs typeface="Arial" panose="020B0604020202020204" pitchFamily="34" charset="0"/>
              </a:rPr>
              <a:t>)</a:t>
            </a:r>
            <a:endParaRPr lang="en-US" sz="2100" dirty="0">
              <a:solidFill>
                <a:srgbClr val="FF0000"/>
              </a:solidFill>
              <a:latin typeface="Arial" panose="020B0604020202020204" pitchFamily="34" charset="0"/>
              <a:cs typeface="Arial" panose="020B0604020202020204" pitchFamily="34" charset="0"/>
            </a:endParaRPr>
          </a:p>
          <a:p>
            <a:pPr marL="0" indent="0">
              <a:lnSpc>
                <a:spcPct val="110000"/>
              </a:lnSpc>
              <a:spcBef>
                <a:spcPts val="0"/>
              </a:spcBef>
              <a:buNone/>
            </a:pPr>
            <a:endParaRPr lang="en-US" sz="21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100" dirty="0">
                <a:latin typeface="Arial" panose="020B0604020202020204" pitchFamily="34" charset="0"/>
                <a:cs typeface="Arial" panose="020B0604020202020204" pitchFamily="34" charset="0"/>
              </a:rPr>
              <a:t>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1887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insertOne</a:t>
            </a:r>
            <a:r>
              <a:rPr lang="en-IN" sz="3200" b="1" u="sng" dirty="0">
                <a:solidFill>
                  <a:srgbClr val="0070C0"/>
                </a:solidFill>
                <a:latin typeface="Arial" panose="020B0604020202020204" pitchFamily="34" charset="0"/>
                <a:cs typeface="Arial" panose="020B0604020202020204" pitchFamily="34" charset="0"/>
              </a:rPr>
              <a:t>() command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To insert documents</a:t>
            </a:r>
          </a:p>
          <a:p>
            <a:pPr marL="5397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  </a:t>
            </a:r>
            <a:r>
              <a:rPr lang="en-US" sz="2200" dirty="0" err="1">
                <a:solidFill>
                  <a:srgbClr val="FF0000"/>
                </a:solidFill>
                <a:latin typeface="Arial" panose="020B0604020202020204" pitchFamily="34" charset="0"/>
                <a:cs typeface="Arial" panose="020B0604020202020204" pitchFamily="34" charset="0"/>
              </a:rPr>
              <a:t>db.cse.insertOne</a:t>
            </a:r>
            <a:r>
              <a:rPr lang="en-US" sz="2200" dirty="0">
                <a:solidFill>
                  <a:srgbClr val="FF0000"/>
                </a:solidFill>
                <a:latin typeface="Arial" panose="020B0604020202020204" pitchFamily="34" charset="0"/>
                <a:cs typeface="Arial" panose="020B0604020202020204" pitchFamily="34" charset="0"/>
              </a:rPr>
              <a:t> ({"stud_id":102, "stud_name":"</a:t>
            </a:r>
            <a:r>
              <a:rPr lang="en-US" sz="2200" dirty="0" err="1">
                <a:solidFill>
                  <a:srgbClr val="FF0000"/>
                </a:solidFill>
                <a:latin typeface="Arial" panose="020B0604020202020204" pitchFamily="34" charset="0"/>
                <a:cs typeface="Arial" panose="020B0604020202020204" pitchFamily="34" charset="0"/>
              </a:rPr>
              <a:t>madhav</a:t>
            </a:r>
            <a:r>
              <a:rPr lang="en-US" sz="2200" dirty="0">
                <a:solidFill>
                  <a:srgbClr val="FF0000"/>
                </a:solidFill>
                <a:latin typeface="Arial" panose="020B0604020202020204" pitchFamily="34" charset="0"/>
                <a:cs typeface="Arial" panose="020B0604020202020204" pitchFamily="34" charset="0"/>
              </a:rPr>
              <a:t>"})</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"acknowledged" : true,</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insertedId</a:t>
            </a:r>
            <a:r>
              <a:rPr lang="en-US" sz="2200" dirty="0">
                <a:solidFill>
                  <a:srgbClr val="404040"/>
                </a:solidFill>
                <a:latin typeface="Arial" panose="020B0604020202020204" pitchFamily="34" charset="0"/>
                <a:cs typeface="Arial" panose="020B0604020202020204" pitchFamily="34" charset="0"/>
              </a:rPr>
              <a:t>" : </a:t>
            </a:r>
            <a:r>
              <a:rPr lang="en-US" sz="2200" dirty="0" err="1">
                <a:solidFill>
                  <a:srgbClr val="404040"/>
                </a:solidFill>
                <a:latin typeface="Arial" panose="020B0604020202020204" pitchFamily="34" charset="0"/>
                <a:cs typeface="Arial" panose="020B0604020202020204" pitchFamily="34" charset="0"/>
              </a:rPr>
              <a:t>ObjectId</a:t>
            </a:r>
            <a:r>
              <a:rPr lang="en-US" sz="2200" dirty="0">
                <a:solidFill>
                  <a:srgbClr val="404040"/>
                </a:solidFill>
                <a:latin typeface="Arial" panose="020B0604020202020204" pitchFamily="34" charset="0"/>
                <a:cs typeface="Arial" panose="020B0604020202020204" pitchFamily="34" charset="0"/>
              </a:rPr>
              <a:t>("5ec92eaafef01e2e7c1caf6d")</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4927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insert() command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To insert multiple documents</a:t>
            </a:r>
          </a:p>
          <a:p>
            <a:pPr marL="5397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  </a:t>
            </a:r>
            <a:r>
              <a:rPr lang="en-US" sz="2200" dirty="0" err="1">
                <a:solidFill>
                  <a:srgbClr val="FF0000"/>
                </a:solidFill>
                <a:latin typeface="Arial" panose="020B0604020202020204" pitchFamily="34" charset="0"/>
                <a:cs typeface="Arial" panose="020B0604020202020204" pitchFamily="34" charset="0"/>
              </a:rPr>
              <a:t>db.cse.insert</a:t>
            </a:r>
            <a:r>
              <a:rPr lang="en-US" sz="2200" dirty="0">
                <a:solidFill>
                  <a:srgbClr val="FF0000"/>
                </a:solidFill>
                <a:latin typeface="Arial" panose="020B0604020202020204" pitchFamily="34" charset="0"/>
                <a:cs typeface="Arial" panose="020B0604020202020204" pitchFamily="34" charset="0"/>
              </a:rPr>
              <a:t> ([{"stud_id":103, "stud_name":“</a:t>
            </a:r>
            <a:r>
              <a:rPr lang="en-US" sz="2200" dirty="0" err="1">
                <a:solidFill>
                  <a:srgbClr val="FF0000"/>
                </a:solidFill>
                <a:latin typeface="Arial" panose="020B0604020202020204" pitchFamily="34" charset="0"/>
                <a:cs typeface="Arial" panose="020B0604020202020204" pitchFamily="34" charset="0"/>
              </a:rPr>
              <a:t>yadhav</a:t>
            </a:r>
            <a:r>
              <a:rPr lang="en-US" sz="2200" dirty="0">
                <a:solidFill>
                  <a:srgbClr val="FF0000"/>
                </a:solidFill>
                <a:latin typeface="Arial" panose="020B0604020202020204" pitchFamily="34" charset="0"/>
                <a:cs typeface="Arial" panose="020B0604020202020204" pitchFamily="34" charset="0"/>
              </a:rPr>
              <a:t>"},{"stud_id":104, "mark":98}])</a:t>
            </a:r>
          </a:p>
          <a:p>
            <a:pPr marL="539750" indent="0">
              <a:lnSpc>
                <a:spcPct val="110000"/>
              </a:lnSpc>
              <a:spcBef>
                <a:spcPts val="0"/>
              </a:spcBef>
              <a:buNone/>
            </a:pPr>
            <a:r>
              <a:rPr lang="en-US" sz="2200" dirty="0" err="1">
                <a:solidFill>
                  <a:srgbClr val="404040"/>
                </a:solidFill>
                <a:latin typeface="Arial" panose="020B0604020202020204" pitchFamily="34" charset="0"/>
                <a:cs typeface="Arial" panose="020B0604020202020204" pitchFamily="34" charset="0"/>
              </a:rPr>
              <a:t>BulkWriteResult</a:t>
            </a:r>
            <a:r>
              <a:rPr lang="en-US" sz="2200" dirty="0">
                <a:solidFill>
                  <a:srgbClr val="404040"/>
                </a:solidFill>
                <a:latin typeface="Arial" panose="020B0604020202020204" pitchFamily="34" charset="0"/>
                <a:cs typeface="Arial" panose="020B0604020202020204" pitchFamily="34" charset="0"/>
              </a:rPr>
              <a:t>({</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writeErrors</a:t>
            </a:r>
            <a:r>
              <a:rPr lang="en-US" sz="2200" dirty="0">
                <a:solidFill>
                  <a:srgbClr val="404040"/>
                </a:solidFill>
                <a:latin typeface="Arial" panose="020B0604020202020204" pitchFamily="34" charset="0"/>
                <a:cs typeface="Arial" panose="020B0604020202020204" pitchFamily="34" charset="0"/>
              </a:rPr>
              <a:t>" : [ ],</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writeConcernErrors</a:t>
            </a:r>
            <a:r>
              <a:rPr lang="en-US" sz="2200" dirty="0">
                <a:solidFill>
                  <a:srgbClr val="404040"/>
                </a:solidFill>
                <a:latin typeface="Arial" panose="020B0604020202020204" pitchFamily="34" charset="0"/>
                <a:cs typeface="Arial" panose="020B0604020202020204" pitchFamily="34" charset="0"/>
              </a:rPr>
              <a:t>" : [ ],</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nInserted</a:t>
            </a:r>
            <a:r>
              <a:rPr lang="en-US" sz="2200" dirty="0">
                <a:solidFill>
                  <a:srgbClr val="404040"/>
                </a:solidFill>
                <a:latin typeface="Arial" panose="020B0604020202020204" pitchFamily="34" charset="0"/>
                <a:cs typeface="Arial" panose="020B0604020202020204" pitchFamily="34" charset="0"/>
              </a:rPr>
              <a:t>" : 2,</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nUpserted</a:t>
            </a:r>
            <a:r>
              <a:rPr lang="en-US" sz="2200" dirty="0">
                <a:solidFill>
                  <a:srgbClr val="404040"/>
                </a:solidFill>
                <a:latin typeface="Arial" panose="020B0604020202020204" pitchFamily="34" charset="0"/>
                <a:cs typeface="Arial" panose="020B0604020202020204" pitchFamily="34" charset="0"/>
              </a:rPr>
              <a:t>" : 0,</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nMatched</a:t>
            </a:r>
            <a:r>
              <a:rPr lang="en-US" sz="2200" dirty="0">
                <a:solidFill>
                  <a:srgbClr val="404040"/>
                </a:solidFill>
                <a:latin typeface="Arial" panose="020B0604020202020204" pitchFamily="34" charset="0"/>
                <a:cs typeface="Arial" panose="020B0604020202020204" pitchFamily="34" charset="0"/>
              </a:rPr>
              <a:t>" : 0,</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nModified</a:t>
            </a:r>
            <a:r>
              <a:rPr lang="en-US" sz="2200" dirty="0">
                <a:solidFill>
                  <a:srgbClr val="404040"/>
                </a:solidFill>
                <a:latin typeface="Arial" panose="020B0604020202020204" pitchFamily="34" charset="0"/>
                <a:cs typeface="Arial" panose="020B0604020202020204" pitchFamily="34" charset="0"/>
              </a:rPr>
              <a:t>" : 0,</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nRemoved</a:t>
            </a:r>
            <a:r>
              <a:rPr lang="en-US" sz="2200" dirty="0">
                <a:solidFill>
                  <a:srgbClr val="404040"/>
                </a:solidFill>
                <a:latin typeface="Arial" panose="020B0604020202020204" pitchFamily="34" charset="0"/>
                <a:cs typeface="Arial" panose="020B0604020202020204" pitchFamily="34" charset="0"/>
              </a:rPr>
              <a:t>" : 0,</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upserted</a:t>
            </a:r>
            <a:r>
              <a:rPr lang="en-US" sz="2200" dirty="0">
                <a:solidFill>
                  <a:srgbClr val="404040"/>
                </a:solidFill>
                <a:latin typeface="Arial" panose="020B0604020202020204" pitchFamily="34" charset="0"/>
                <a:cs typeface="Arial" panose="020B0604020202020204" pitchFamily="34" charset="0"/>
              </a:rPr>
              <a:t>" : [ ]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3251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insertMany</a:t>
            </a:r>
            <a:r>
              <a:rPr lang="en-IN" sz="3200" b="1" u="sng" dirty="0">
                <a:solidFill>
                  <a:srgbClr val="0070C0"/>
                </a:solidFill>
                <a:latin typeface="Arial" panose="020B0604020202020204" pitchFamily="34" charset="0"/>
                <a:cs typeface="Arial" panose="020B0604020202020204" pitchFamily="34" charset="0"/>
              </a:rPr>
              <a:t>() command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To insert multiple documents</a:t>
            </a:r>
          </a:p>
          <a:p>
            <a:pPr marL="5397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  </a:t>
            </a:r>
            <a:r>
              <a:rPr lang="en-US" sz="2200" dirty="0" err="1">
                <a:solidFill>
                  <a:srgbClr val="FF0000"/>
                </a:solidFill>
                <a:latin typeface="Arial" panose="020B0604020202020204" pitchFamily="34" charset="0"/>
                <a:cs typeface="Arial" panose="020B0604020202020204" pitchFamily="34" charset="0"/>
              </a:rPr>
              <a:t>db.cse.insertMany</a:t>
            </a:r>
            <a:r>
              <a:rPr lang="en-US" sz="2200" dirty="0">
                <a:solidFill>
                  <a:srgbClr val="FF0000"/>
                </a:solidFill>
                <a:latin typeface="Arial" panose="020B0604020202020204" pitchFamily="34" charset="0"/>
                <a:cs typeface="Arial" panose="020B0604020202020204" pitchFamily="34" charset="0"/>
              </a:rPr>
              <a:t>([{"stud_id":105, "stud_name":"</a:t>
            </a:r>
            <a:r>
              <a:rPr lang="en-US" sz="2200" dirty="0" err="1">
                <a:solidFill>
                  <a:srgbClr val="FF0000"/>
                </a:solidFill>
                <a:latin typeface="Arial" panose="020B0604020202020204" pitchFamily="34" charset="0"/>
                <a:cs typeface="Arial" panose="020B0604020202020204" pitchFamily="34" charset="0"/>
              </a:rPr>
              <a:t>sukdev</a:t>
            </a:r>
            <a:r>
              <a:rPr lang="en-US" sz="2200" dirty="0">
                <a:solidFill>
                  <a:srgbClr val="FF0000"/>
                </a:solidFill>
                <a:latin typeface="Arial" panose="020B0604020202020204" pitchFamily="34" charset="0"/>
                <a:cs typeface="Arial" panose="020B0604020202020204" pitchFamily="34" charset="0"/>
              </a:rPr>
              <a:t>"}, {"stud_id":105, "stud_name":"</a:t>
            </a:r>
            <a:r>
              <a:rPr lang="en-US" sz="2200" dirty="0" err="1">
                <a:solidFill>
                  <a:srgbClr val="FF0000"/>
                </a:solidFill>
                <a:latin typeface="Arial" panose="020B0604020202020204" pitchFamily="34" charset="0"/>
                <a:cs typeface="Arial" panose="020B0604020202020204" pitchFamily="34" charset="0"/>
              </a:rPr>
              <a:t>sukdev</a:t>
            </a:r>
            <a:r>
              <a:rPr lang="en-US" sz="2200" dirty="0">
                <a:solidFill>
                  <a:srgbClr val="FF0000"/>
                </a:solidFill>
                <a:latin typeface="Arial" panose="020B0604020202020204" pitchFamily="34" charset="0"/>
                <a:cs typeface="Arial" panose="020B0604020202020204" pitchFamily="34" charset="0"/>
              </a:rPr>
              <a:t>"}])</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"acknowledged" : true,</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insertedIds</a:t>
            </a:r>
            <a:r>
              <a:rPr lang="en-US" sz="2200" dirty="0">
                <a:solidFill>
                  <a:srgbClr val="404040"/>
                </a:solidFill>
                <a:latin typeface="Arial" panose="020B0604020202020204" pitchFamily="34" charset="0"/>
                <a:cs typeface="Arial" panose="020B0604020202020204" pitchFamily="34" charset="0"/>
              </a:rPr>
              <a:t>" : [</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ObjectId</a:t>
            </a:r>
            <a:r>
              <a:rPr lang="en-US" sz="2200" dirty="0">
                <a:solidFill>
                  <a:srgbClr val="404040"/>
                </a:solidFill>
                <a:latin typeface="Arial" panose="020B0604020202020204" pitchFamily="34" charset="0"/>
                <a:cs typeface="Arial" panose="020B0604020202020204" pitchFamily="34" charset="0"/>
              </a:rPr>
              <a:t>("5ec92f0afef01e2e7c1caf70"),</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ObjectId</a:t>
            </a:r>
            <a:r>
              <a:rPr lang="en-US" sz="2200" dirty="0">
                <a:solidFill>
                  <a:srgbClr val="404040"/>
                </a:solidFill>
                <a:latin typeface="Arial" panose="020B0604020202020204" pitchFamily="34" charset="0"/>
                <a:cs typeface="Arial" panose="020B0604020202020204" pitchFamily="34" charset="0"/>
              </a:rPr>
              <a:t>("5ec92f0afef01e2e7c1caf71")</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p>
          <a:p>
            <a:pPr marL="53975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0290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Save()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The save() method replaces the existing document with the new document passed in the save() method. </a:t>
            </a:r>
            <a:r>
              <a:rPr lang="en-US" sz="2200" dirty="0">
                <a:solidFill>
                  <a:srgbClr val="00B050"/>
                </a:solidFill>
                <a:latin typeface="Arial" panose="020B0604020202020204" pitchFamily="34" charset="0"/>
                <a:cs typeface="Arial" panose="020B0604020202020204" pitchFamily="34" charset="0"/>
              </a:rPr>
              <a:t>For save, if you provide _id, it will update. If you don't, it will insert.</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db.collectionName.save</a:t>
            </a:r>
            <a:r>
              <a:rPr lang="en-US" sz="2200" dirty="0">
                <a:solidFill>
                  <a:srgbClr val="FF0000"/>
                </a:solidFill>
                <a:latin typeface="Arial" panose="020B0604020202020204" pitchFamily="34" charset="0"/>
                <a:cs typeface="Arial" panose="020B0604020202020204" pitchFamily="34" charset="0"/>
              </a:rPr>
              <a:t>({_</a:t>
            </a:r>
            <a:r>
              <a:rPr lang="en-US" sz="2200" dirty="0" err="1">
                <a:solidFill>
                  <a:srgbClr val="FF0000"/>
                </a:solidFill>
                <a:latin typeface="Arial" panose="020B0604020202020204" pitchFamily="34" charset="0"/>
                <a:cs typeface="Arial" panose="020B0604020202020204" pitchFamily="34" charset="0"/>
              </a:rPr>
              <a:t>id:ObjectId</a:t>
            </a:r>
            <a:r>
              <a:rPr lang="en-US" sz="2200" dirty="0">
                <a:solidFill>
                  <a:srgbClr val="FF0000"/>
                </a:solidFill>
                <a:latin typeface="Arial" panose="020B0604020202020204" pitchFamily="34" charset="0"/>
                <a:cs typeface="Arial" panose="020B0604020202020204" pitchFamily="34" charset="0"/>
              </a:rPr>
              <a:t>(),</a:t>
            </a:r>
            <a:r>
              <a:rPr lang="en-US" sz="2200" dirty="0" err="1">
                <a:solidFill>
                  <a:srgbClr val="FF0000"/>
                </a:solidFill>
                <a:latin typeface="Arial" panose="020B0604020202020204" pitchFamily="34" charset="0"/>
                <a:cs typeface="Arial" panose="020B0604020202020204" pitchFamily="34" charset="0"/>
              </a:rPr>
              <a:t>new_document</a:t>
            </a:r>
            <a:r>
              <a:rPr lang="en-US" sz="22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Example</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db.cse.save</a:t>
            </a:r>
            <a:r>
              <a:rPr lang="en-US" sz="2200" dirty="0">
                <a:solidFill>
                  <a:srgbClr val="FF0000"/>
                </a:solidFill>
                <a:latin typeface="Arial" panose="020B0604020202020204" pitchFamily="34" charset="0"/>
                <a:cs typeface="Arial" panose="020B0604020202020204" pitchFamily="34" charset="0"/>
              </a:rPr>
              <a:t>({"_id":</a:t>
            </a:r>
            <a:r>
              <a:rPr lang="en-US" sz="2200" dirty="0" err="1">
                <a:solidFill>
                  <a:srgbClr val="FF0000"/>
                </a:solidFill>
                <a:latin typeface="Arial" panose="020B0604020202020204" pitchFamily="34" charset="0"/>
                <a:cs typeface="Arial" panose="020B0604020202020204" pitchFamily="34" charset="0"/>
              </a:rPr>
              <a:t>ObjectId</a:t>
            </a:r>
            <a:r>
              <a:rPr lang="en-US" sz="2200" dirty="0">
                <a:solidFill>
                  <a:srgbClr val="FF0000"/>
                </a:solidFill>
                <a:latin typeface="Arial" panose="020B0604020202020204" pitchFamily="34" charset="0"/>
                <a:cs typeface="Arial" panose="020B0604020202020204" pitchFamily="34" charset="0"/>
              </a:rPr>
              <a:t>("5ec9325ffef01e2e7c1caf72"), "stud_id":105, 	"stud_name":"</a:t>
            </a:r>
            <a:r>
              <a:rPr lang="en-US" sz="2200" dirty="0" err="1">
                <a:solidFill>
                  <a:srgbClr val="FF0000"/>
                </a:solidFill>
                <a:latin typeface="Arial" panose="020B0604020202020204" pitchFamily="34" charset="0"/>
                <a:cs typeface="Arial" panose="020B0604020202020204" pitchFamily="34" charset="0"/>
              </a:rPr>
              <a:t>sukdev</a:t>
            </a:r>
            <a:r>
              <a:rPr lang="en-US" sz="22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WriteResult</a:t>
            </a: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nMatched</a:t>
            </a:r>
            <a:r>
              <a:rPr lang="en-US" sz="2200" dirty="0">
                <a:solidFill>
                  <a:srgbClr val="404040"/>
                </a:solidFill>
                <a:latin typeface="Arial" panose="020B0604020202020204" pitchFamily="34" charset="0"/>
                <a:cs typeface="Arial" panose="020B0604020202020204" pitchFamily="34" charset="0"/>
              </a:rPr>
              <a:t>" : 1, "</a:t>
            </a:r>
            <a:r>
              <a:rPr lang="en-US" sz="2200" dirty="0" err="1">
                <a:solidFill>
                  <a:srgbClr val="404040"/>
                </a:solidFill>
                <a:latin typeface="Arial" panose="020B0604020202020204" pitchFamily="34" charset="0"/>
                <a:cs typeface="Arial" panose="020B0604020202020204" pitchFamily="34" charset="0"/>
              </a:rPr>
              <a:t>nUpserted</a:t>
            </a:r>
            <a:r>
              <a:rPr lang="en-US" sz="2200" dirty="0">
                <a:solidFill>
                  <a:srgbClr val="404040"/>
                </a:solidFill>
                <a:latin typeface="Arial" panose="020B0604020202020204" pitchFamily="34" charset="0"/>
                <a:cs typeface="Arial" panose="020B0604020202020204" pitchFamily="34" charset="0"/>
              </a:rPr>
              <a:t>" : 0, "</a:t>
            </a:r>
            <a:r>
              <a:rPr lang="en-US" sz="2200" dirty="0" err="1">
                <a:solidFill>
                  <a:srgbClr val="404040"/>
                </a:solidFill>
                <a:latin typeface="Arial" panose="020B0604020202020204" pitchFamily="34" charset="0"/>
                <a:cs typeface="Arial" panose="020B0604020202020204" pitchFamily="34" charset="0"/>
              </a:rPr>
              <a:t>nModified</a:t>
            </a:r>
            <a:r>
              <a:rPr lang="en-US" sz="2200" dirty="0">
                <a:solidFill>
                  <a:srgbClr val="404040"/>
                </a:solidFill>
                <a:latin typeface="Arial" panose="020B0604020202020204" pitchFamily="34" charset="0"/>
                <a:cs typeface="Arial" panose="020B0604020202020204" pitchFamily="34" charset="0"/>
              </a:rPr>
              <a:t>" : 0 })</a:t>
            </a: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12-07-2024</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20</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6139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Selections</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000" dirty="0">
                <a:latin typeface="Arial" panose="020B0604020202020204" pitchFamily="34" charset="0"/>
                <a:cs typeface="Arial" panose="020B0604020202020204" pitchFamily="34" charset="0"/>
              </a:rPr>
              <a:t>To display all the documents in a collection:</a:t>
            </a:r>
          </a:p>
          <a:p>
            <a:pPr marL="0" indent="0">
              <a:lnSpc>
                <a:spcPct val="110000"/>
              </a:lnSpc>
              <a:spcBef>
                <a:spcPts val="0"/>
              </a:spcBef>
              <a:buNone/>
            </a:pPr>
            <a:r>
              <a:rPr lang="en-US" sz="2000" b="1" dirty="0">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&gt; </a:t>
            </a:r>
            <a:r>
              <a:rPr lang="en-US" sz="2000" dirty="0" err="1">
                <a:solidFill>
                  <a:srgbClr val="FF0000"/>
                </a:solidFill>
                <a:latin typeface="Arial" panose="020B0604020202020204" pitchFamily="34" charset="0"/>
                <a:cs typeface="Arial" panose="020B0604020202020204" pitchFamily="34" charset="0"/>
              </a:rPr>
              <a:t>db.cse.find</a:t>
            </a:r>
            <a:r>
              <a:rPr lang="en-US" sz="20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 "_id" : </a:t>
            </a:r>
            <a:r>
              <a:rPr lang="en-US" sz="2000" dirty="0" err="1">
                <a:latin typeface="Arial" panose="020B0604020202020204" pitchFamily="34" charset="0"/>
                <a:cs typeface="Arial" panose="020B0604020202020204" pitchFamily="34" charset="0"/>
              </a:rPr>
              <a:t>ObjectId</a:t>
            </a:r>
            <a:r>
              <a:rPr lang="en-US" sz="2000" dirty="0">
                <a:latin typeface="Arial" panose="020B0604020202020204" pitchFamily="34" charset="0"/>
                <a:cs typeface="Arial" panose="020B0604020202020204" pitchFamily="34" charset="0"/>
              </a:rPr>
              <a:t>("5ec92a92fef01e2e7c1caf69"), "</a:t>
            </a:r>
            <a:r>
              <a:rPr lang="en-US" sz="2000" dirty="0" err="1">
                <a:latin typeface="Arial" panose="020B0604020202020204" pitchFamily="34" charset="0"/>
                <a:cs typeface="Arial" panose="020B0604020202020204" pitchFamily="34" charset="0"/>
              </a:rPr>
              <a:t>stud_id</a:t>
            </a:r>
            <a:r>
              <a:rPr lang="en-US" sz="2000" dirty="0">
                <a:latin typeface="Arial" panose="020B0604020202020204" pitchFamily="34" charset="0"/>
                <a:cs typeface="Arial" panose="020B0604020202020204" pitchFamily="34" charset="0"/>
              </a:rPr>
              <a:t>" : 101, "</a:t>
            </a:r>
            <a:r>
              <a:rPr lang="en-US" sz="2000" dirty="0" err="1">
                <a:latin typeface="Arial" panose="020B0604020202020204" pitchFamily="34" charset="0"/>
                <a:cs typeface="Arial" panose="020B0604020202020204" pitchFamily="34" charset="0"/>
              </a:rPr>
              <a:t>stud_name</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aadhav</a:t>
            </a:r>
            <a:r>
              <a:rPr lang="en-US" sz="2000">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	&gt; </a:t>
            </a:r>
            <a:r>
              <a:rPr lang="en-US" sz="2000" dirty="0" err="1">
                <a:solidFill>
                  <a:srgbClr val="FF0000"/>
                </a:solidFill>
                <a:latin typeface="Arial" panose="020B0604020202020204" pitchFamily="34" charset="0"/>
                <a:cs typeface="Arial" panose="020B0604020202020204" pitchFamily="34" charset="0"/>
              </a:rPr>
              <a:t>db.cse.find</a:t>
            </a:r>
            <a:r>
              <a:rPr lang="en-US" sz="20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 "_id" : </a:t>
            </a:r>
            <a:r>
              <a:rPr lang="en-US" sz="2000" dirty="0" err="1">
                <a:latin typeface="Arial" panose="020B0604020202020204" pitchFamily="34" charset="0"/>
                <a:cs typeface="Arial" panose="020B0604020202020204" pitchFamily="34" charset="0"/>
              </a:rPr>
              <a:t>ObjectId</a:t>
            </a:r>
            <a:r>
              <a:rPr lang="en-US" sz="2000" dirty="0">
                <a:latin typeface="Arial" panose="020B0604020202020204" pitchFamily="34" charset="0"/>
                <a:cs typeface="Arial" panose="020B0604020202020204" pitchFamily="34" charset="0"/>
              </a:rPr>
              <a:t>("5ec92a92fef01e2e7c1caf69"), "</a:t>
            </a:r>
            <a:r>
              <a:rPr lang="en-US" sz="2000" dirty="0" err="1">
                <a:latin typeface="Arial" panose="020B0604020202020204" pitchFamily="34" charset="0"/>
                <a:cs typeface="Arial" panose="020B0604020202020204" pitchFamily="34" charset="0"/>
              </a:rPr>
              <a:t>stud_id</a:t>
            </a:r>
            <a:r>
              <a:rPr lang="en-US" sz="2000" dirty="0">
                <a:latin typeface="Arial" panose="020B0604020202020204" pitchFamily="34" charset="0"/>
                <a:cs typeface="Arial" panose="020B0604020202020204" pitchFamily="34" charset="0"/>
              </a:rPr>
              <a:t>" : 101, "</a:t>
            </a:r>
            <a:r>
              <a:rPr lang="en-US" sz="2000" dirty="0" err="1">
                <a:latin typeface="Arial" panose="020B0604020202020204" pitchFamily="34" charset="0"/>
                <a:cs typeface="Arial" panose="020B0604020202020204" pitchFamily="34" charset="0"/>
              </a:rPr>
              <a:t>stud_name</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aadhav</a:t>
            </a:r>
            <a:r>
              <a:rPr lang="en-US" sz="2000" dirty="0">
                <a:latin typeface="Arial" panose="020B0604020202020204" pitchFamily="34" charset="0"/>
                <a:cs typeface="Arial" panose="020B0604020202020204" pitchFamily="34" charset="0"/>
              </a:rPr>
              <a:t>" }</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db.cse.find</a:t>
            </a:r>
            <a:r>
              <a:rPr lang="en-US" sz="2000" dirty="0">
                <a:solidFill>
                  <a:srgbClr val="FF0000"/>
                </a:solidFill>
                <a:latin typeface="Arial" panose="020B0604020202020204" pitchFamily="34" charset="0"/>
                <a:cs typeface="Arial" panose="020B0604020202020204" pitchFamily="34" charset="0"/>
              </a:rPr>
              <a:t>({}).pretty();</a:t>
            </a:r>
          </a:p>
          <a:p>
            <a:pPr marL="914400" lvl="2" indent="0">
              <a:lnSpc>
                <a:spcPct val="110000"/>
              </a:lnSpc>
              <a:spcBef>
                <a:spcPts val="0"/>
              </a:spcBef>
              <a:buNone/>
            </a:pPr>
            <a:r>
              <a:rPr lang="en-US" dirty="0">
                <a:solidFill>
                  <a:srgbClr val="404040"/>
                </a:solidFill>
                <a:latin typeface="Arial" panose="020B0604020202020204" pitchFamily="34" charset="0"/>
                <a:cs typeface="Arial" panose="020B0604020202020204" pitchFamily="34" charset="0"/>
              </a:rPr>
              <a:t>{</a:t>
            </a:r>
          </a:p>
          <a:p>
            <a:pPr marL="914400" lvl="2" indent="0">
              <a:lnSpc>
                <a:spcPct val="110000"/>
              </a:lnSpc>
              <a:spcBef>
                <a:spcPts val="0"/>
              </a:spcBef>
              <a:buNone/>
            </a:pPr>
            <a:r>
              <a:rPr lang="en-US" dirty="0">
                <a:solidFill>
                  <a:srgbClr val="404040"/>
                </a:solidFill>
                <a:latin typeface="Arial" panose="020B0604020202020204" pitchFamily="34" charset="0"/>
                <a:cs typeface="Arial" panose="020B0604020202020204" pitchFamily="34" charset="0"/>
              </a:rPr>
              <a:t>        "_id" : </a:t>
            </a:r>
            <a:r>
              <a:rPr lang="en-US" dirty="0" err="1">
                <a:solidFill>
                  <a:srgbClr val="404040"/>
                </a:solidFill>
                <a:latin typeface="Arial" panose="020B0604020202020204" pitchFamily="34" charset="0"/>
                <a:cs typeface="Arial" panose="020B0604020202020204" pitchFamily="34" charset="0"/>
              </a:rPr>
              <a:t>ObjectId</a:t>
            </a:r>
            <a:r>
              <a:rPr lang="en-US" dirty="0">
                <a:solidFill>
                  <a:srgbClr val="404040"/>
                </a:solidFill>
                <a:latin typeface="Arial" panose="020B0604020202020204" pitchFamily="34" charset="0"/>
                <a:cs typeface="Arial" panose="020B0604020202020204" pitchFamily="34" charset="0"/>
              </a:rPr>
              <a:t>("5ec92a92fef01e2e7c1caf69"),</a:t>
            </a:r>
          </a:p>
          <a:p>
            <a:pPr marL="914400" lvl="2" indent="0">
              <a:lnSpc>
                <a:spcPct val="110000"/>
              </a:lnSpc>
              <a:spcBef>
                <a:spcPts val="0"/>
              </a:spcBef>
              <a:buNone/>
            </a:pPr>
            <a:r>
              <a:rPr lang="en-US" dirty="0">
                <a:solidFill>
                  <a:srgbClr val="404040"/>
                </a:solidFill>
                <a:latin typeface="Arial" panose="020B0604020202020204" pitchFamily="34" charset="0"/>
                <a:cs typeface="Arial" panose="020B0604020202020204" pitchFamily="34" charset="0"/>
              </a:rPr>
              <a:t>        "</a:t>
            </a:r>
            <a:r>
              <a:rPr lang="en-US" dirty="0" err="1">
                <a:solidFill>
                  <a:srgbClr val="404040"/>
                </a:solidFill>
                <a:latin typeface="Arial" panose="020B0604020202020204" pitchFamily="34" charset="0"/>
                <a:cs typeface="Arial" panose="020B0604020202020204" pitchFamily="34" charset="0"/>
              </a:rPr>
              <a:t>stud_id</a:t>
            </a:r>
            <a:r>
              <a:rPr lang="en-US" dirty="0">
                <a:solidFill>
                  <a:srgbClr val="404040"/>
                </a:solidFill>
                <a:latin typeface="Arial" panose="020B0604020202020204" pitchFamily="34" charset="0"/>
                <a:cs typeface="Arial" panose="020B0604020202020204" pitchFamily="34" charset="0"/>
              </a:rPr>
              <a:t>" : 101,</a:t>
            </a:r>
          </a:p>
          <a:p>
            <a:pPr marL="914400" lvl="2" indent="0">
              <a:lnSpc>
                <a:spcPct val="110000"/>
              </a:lnSpc>
              <a:spcBef>
                <a:spcPts val="0"/>
              </a:spcBef>
              <a:buNone/>
            </a:pPr>
            <a:r>
              <a:rPr lang="en-US" dirty="0">
                <a:solidFill>
                  <a:srgbClr val="404040"/>
                </a:solidFill>
                <a:latin typeface="Arial" panose="020B0604020202020204" pitchFamily="34" charset="0"/>
                <a:cs typeface="Arial" panose="020B0604020202020204" pitchFamily="34" charset="0"/>
              </a:rPr>
              <a:t>        "</a:t>
            </a:r>
            <a:r>
              <a:rPr lang="en-US" dirty="0" err="1">
                <a:solidFill>
                  <a:srgbClr val="404040"/>
                </a:solidFill>
                <a:latin typeface="Arial" panose="020B0604020202020204" pitchFamily="34" charset="0"/>
                <a:cs typeface="Arial" panose="020B0604020202020204" pitchFamily="34" charset="0"/>
              </a:rPr>
              <a:t>stud_name</a:t>
            </a:r>
            <a:r>
              <a:rPr lang="en-US" dirty="0">
                <a:solidFill>
                  <a:srgbClr val="404040"/>
                </a:solidFill>
                <a:latin typeface="Arial" panose="020B0604020202020204" pitchFamily="34" charset="0"/>
                <a:cs typeface="Arial" panose="020B0604020202020204" pitchFamily="34" charset="0"/>
              </a:rPr>
              <a:t>" : "</a:t>
            </a:r>
            <a:r>
              <a:rPr lang="en-US" dirty="0" err="1">
                <a:solidFill>
                  <a:srgbClr val="404040"/>
                </a:solidFill>
                <a:latin typeface="Arial" panose="020B0604020202020204" pitchFamily="34" charset="0"/>
                <a:cs typeface="Arial" panose="020B0604020202020204" pitchFamily="34" charset="0"/>
              </a:rPr>
              <a:t>aadhav</a:t>
            </a:r>
            <a:r>
              <a:rPr lang="en-US" dirty="0">
                <a:solidFill>
                  <a:srgbClr val="404040"/>
                </a:solidFill>
                <a:latin typeface="Arial" panose="020B0604020202020204" pitchFamily="34" charset="0"/>
                <a:cs typeface="Arial" panose="020B0604020202020204" pitchFamily="34" charset="0"/>
              </a:rPr>
              <a:t>"</a:t>
            </a:r>
          </a:p>
          <a:p>
            <a:pPr marL="914400" lvl="2" indent="0">
              <a:lnSpc>
                <a:spcPct val="110000"/>
              </a:lnSpc>
              <a:spcBef>
                <a:spcPts val="0"/>
              </a:spcBef>
              <a:buNone/>
            </a:pPr>
            <a:r>
              <a:rPr lang="en-US" dirty="0">
                <a:solidFill>
                  <a:srgbClr val="404040"/>
                </a:solidFill>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12-07-2024</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21</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2773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1800"/>
              </a:spcBef>
              <a:buNone/>
            </a:pPr>
            <a:r>
              <a:rPr lang="en-US" sz="2200" dirty="0">
                <a:solidFill>
                  <a:srgbClr val="FF0000"/>
                </a:solidFill>
                <a:latin typeface="Arial" panose="020B0604020202020204" pitchFamily="34" charset="0"/>
                <a:cs typeface="Arial" panose="020B0604020202020204" pitchFamily="34" charset="0"/>
              </a:rPr>
              <a:t>Specify Equality Condition</a:t>
            </a:r>
          </a:p>
          <a:p>
            <a:pPr marL="895350" indent="0">
              <a:lnSpc>
                <a:spcPct val="110000"/>
              </a:lnSpc>
              <a:spcBef>
                <a:spcPts val="1800"/>
              </a:spcBef>
              <a:buNone/>
            </a:pPr>
            <a:r>
              <a:rPr lang="en-US" sz="2200" dirty="0">
                <a:latin typeface="Arial" panose="020B0604020202020204" pitchFamily="34" charset="0"/>
                <a:cs typeface="Arial" panose="020B0604020202020204" pitchFamily="34" charset="0"/>
              </a:rPr>
              <a:t>The following example selects from the inventory collection all documents where the status equals "D":</a:t>
            </a:r>
          </a:p>
          <a:p>
            <a:pPr marL="0" indent="0">
              <a:lnSpc>
                <a:spcPct val="110000"/>
              </a:lnSpc>
              <a:spcBef>
                <a:spcPts val="1800"/>
              </a:spcBef>
              <a:buNone/>
            </a:pPr>
            <a:r>
              <a:rPr lang="en-US" sz="2200" dirty="0">
                <a:latin typeface="Arial" panose="020B0604020202020204" pitchFamily="34" charset="0"/>
                <a:cs typeface="Arial" panose="020B0604020202020204" pitchFamily="34" charset="0"/>
              </a:rPr>
              <a:t>	&gt; </a:t>
            </a:r>
            <a:r>
              <a:rPr lang="en-US" sz="2200" dirty="0" err="1">
                <a:solidFill>
                  <a:srgbClr val="0000FF"/>
                </a:solidFill>
                <a:latin typeface="Arial" panose="020B0604020202020204" pitchFamily="34" charset="0"/>
                <a:cs typeface="Arial" panose="020B0604020202020204" pitchFamily="34" charset="0"/>
              </a:rPr>
              <a:t>db.cse.find</a:t>
            </a:r>
            <a:r>
              <a:rPr lang="en-US" sz="2200" dirty="0">
                <a:solidFill>
                  <a:srgbClr val="0000FF"/>
                </a:solidFill>
                <a:latin typeface="Arial" panose="020B0604020202020204" pitchFamily="34" charset="0"/>
                <a:cs typeface="Arial" panose="020B0604020202020204" pitchFamily="34" charset="0"/>
              </a:rPr>
              <a:t>( { </a:t>
            </a:r>
            <a:r>
              <a:rPr lang="en-US" sz="2200" dirty="0" err="1">
                <a:solidFill>
                  <a:srgbClr val="0000FF"/>
                </a:solidFill>
                <a:latin typeface="Arial" panose="020B0604020202020204" pitchFamily="34" charset="0"/>
                <a:cs typeface="Arial" panose="020B0604020202020204" pitchFamily="34" charset="0"/>
              </a:rPr>
              <a:t>stud_id</a:t>
            </a:r>
            <a:r>
              <a:rPr lang="en-US" sz="2200" dirty="0">
                <a:solidFill>
                  <a:srgbClr val="0000FF"/>
                </a:solidFill>
                <a:latin typeface="Arial" panose="020B0604020202020204" pitchFamily="34" charset="0"/>
                <a:cs typeface="Arial" panose="020B0604020202020204" pitchFamily="34" charset="0"/>
              </a:rPr>
              <a:t>: 102 } )</a:t>
            </a:r>
          </a:p>
          <a:p>
            <a:pPr marL="0" indent="0">
              <a:lnSpc>
                <a:spcPct val="110000"/>
              </a:lnSpc>
              <a:spcBef>
                <a:spcPts val="1800"/>
              </a:spcBef>
              <a:buNone/>
            </a:pPr>
            <a:r>
              <a:rPr lang="en-US" sz="2200" dirty="0">
                <a:solidFill>
                  <a:srgbClr val="404040"/>
                </a:solidFill>
                <a:latin typeface="Arial" panose="020B0604020202020204" pitchFamily="34" charset="0"/>
                <a:cs typeface="Arial" panose="020B0604020202020204" pitchFamily="34" charset="0"/>
              </a:rPr>
              <a:t>{ "_id" : </a:t>
            </a:r>
            <a:r>
              <a:rPr lang="en-US" sz="2200" dirty="0" err="1">
                <a:solidFill>
                  <a:srgbClr val="404040"/>
                </a:solidFill>
                <a:latin typeface="Arial" panose="020B0604020202020204" pitchFamily="34" charset="0"/>
                <a:cs typeface="Arial" panose="020B0604020202020204" pitchFamily="34" charset="0"/>
              </a:rPr>
              <a:t>ObjectId</a:t>
            </a:r>
            <a:r>
              <a:rPr lang="en-US" sz="2200" dirty="0">
                <a:solidFill>
                  <a:srgbClr val="404040"/>
                </a:solidFill>
                <a:latin typeface="Arial" panose="020B0604020202020204" pitchFamily="34" charset="0"/>
                <a:cs typeface="Arial" panose="020B0604020202020204" pitchFamily="34" charset="0"/>
              </a:rPr>
              <a:t>("5ec92c14fef01e2e7c1caf6a"), "</a:t>
            </a:r>
            <a:r>
              <a:rPr lang="en-US" sz="2200" dirty="0" err="1">
                <a:solidFill>
                  <a:srgbClr val="404040"/>
                </a:solidFill>
                <a:latin typeface="Arial" panose="020B0604020202020204" pitchFamily="34" charset="0"/>
                <a:cs typeface="Arial" panose="020B0604020202020204" pitchFamily="34" charset="0"/>
              </a:rPr>
              <a:t>stud_id</a:t>
            </a:r>
            <a:r>
              <a:rPr lang="en-US" sz="2200" dirty="0">
                <a:solidFill>
                  <a:srgbClr val="404040"/>
                </a:solidFill>
                <a:latin typeface="Arial" panose="020B0604020202020204" pitchFamily="34" charset="0"/>
                <a:cs typeface="Arial" panose="020B0604020202020204" pitchFamily="34" charset="0"/>
              </a:rPr>
              <a:t>" : 102, "</a:t>
            </a:r>
            <a:r>
              <a:rPr lang="en-US" sz="2200" dirty="0" err="1">
                <a:solidFill>
                  <a:srgbClr val="404040"/>
                </a:solidFill>
                <a:latin typeface="Arial" panose="020B0604020202020204" pitchFamily="34" charset="0"/>
                <a:cs typeface="Arial" panose="020B0604020202020204" pitchFamily="34" charset="0"/>
              </a:rPr>
              <a:t>stud_name</a:t>
            </a:r>
            <a:r>
              <a:rPr lang="en-US" sz="2200" dirty="0">
                <a:solidFill>
                  <a:srgbClr val="404040"/>
                </a:solidFill>
                <a:latin typeface="Arial" panose="020B0604020202020204" pitchFamily="34" charset="0"/>
                <a:cs typeface="Arial" panose="020B0604020202020204" pitchFamily="34" charset="0"/>
              </a:rPr>
              <a:t>" : "</a:t>
            </a:r>
            <a:r>
              <a:rPr lang="en-US" sz="2200" dirty="0" err="1">
                <a:solidFill>
                  <a:srgbClr val="404040"/>
                </a:solidFill>
                <a:latin typeface="Arial" panose="020B0604020202020204" pitchFamily="34" charset="0"/>
                <a:cs typeface="Arial" panose="020B0604020202020204" pitchFamily="34" charset="0"/>
              </a:rPr>
              <a:t>madhav</a:t>
            </a:r>
            <a:r>
              <a:rPr lang="en-US" sz="2200" dirty="0">
                <a:solidFill>
                  <a:srgbClr val="404040"/>
                </a:solidFill>
                <a:latin typeface="Arial" panose="020B0604020202020204" pitchFamily="34" charset="0"/>
                <a:cs typeface="Arial" panose="020B0604020202020204" pitchFamily="34" charset="0"/>
              </a:rPr>
              <a:t>" }</a:t>
            </a:r>
          </a:p>
          <a:p>
            <a:pPr marL="0" indent="0">
              <a:lnSpc>
                <a:spcPct val="110000"/>
              </a:lnSpc>
              <a:spcBef>
                <a:spcPts val="1800"/>
              </a:spcBef>
              <a:buNone/>
            </a:pPr>
            <a:r>
              <a:rPr lang="en-US" sz="2200" dirty="0">
                <a:solidFill>
                  <a:srgbClr val="404040"/>
                </a:solidFill>
                <a:latin typeface="Arial" panose="020B0604020202020204" pitchFamily="34" charset="0"/>
                <a:cs typeface="Arial" panose="020B0604020202020204" pitchFamily="34" charset="0"/>
              </a:rPr>
              <a:t>{ "_id" : </a:t>
            </a:r>
            <a:r>
              <a:rPr lang="en-US" sz="2200" dirty="0" err="1">
                <a:solidFill>
                  <a:srgbClr val="404040"/>
                </a:solidFill>
                <a:latin typeface="Arial" panose="020B0604020202020204" pitchFamily="34" charset="0"/>
                <a:cs typeface="Arial" panose="020B0604020202020204" pitchFamily="34" charset="0"/>
              </a:rPr>
              <a:t>ObjectId</a:t>
            </a:r>
            <a:r>
              <a:rPr lang="en-US" sz="2200" dirty="0">
                <a:solidFill>
                  <a:srgbClr val="404040"/>
                </a:solidFill>
                <a:latin typeface="Arial" panose="020B0604020202020204" pitchFamily="34" charset="0"/>
                <a:cs typeface="Arial" panose="020B0604020202020204" pitchFamily="34" charset="0"/>
              </a:rPr>
              <a:t>("5ec92c79fef01e2e7c1caf6b"), "</a:t>
            </a:r>
            <a:r>
              <a:rPr lang="en-US" sz="2200" dirty="0" err="1">
                <a:solidFill>
                  <a:srgbClr val="404040"/>
                </a:solidFill>
                <a:latin typeface="Arial" panose="020B0604020202020204" pitchFamily="34" charset="0"/>
                <a:cs typeface="Arial" panose="020B0604020202020204" pitchFamily="34" charset="0"/>
              </a:rPr>
              <a:t>stud_id</a:t>
            </a:r>
            <a:r>
              <a:rPr lang="en-US" sz="2200" dirty="0">
                <a:solidFill>
                  <a:srgbClr val="404040"/>
                </a:solidFill>
                <a:latin typeface="Arial" panose="020B0604020202020204" pitchFamily="34" charset="0"/>
                <a:cs typeface="Arial" panose="020B0604020202020204" pitchFamily="34" charset="0"/>
              </a:rPr>
              <a:t>" : 102, "</a:t>
            </a:r>
            <a:r>
              <a:rPr lang="en-US" sz="2200" dirty="0" err="1">
                <a:solidFill>
                  <a:srgbClr val="404040"/>
                </a:solidFill>
                <a:latin typeface="Arial" panose="020B0604020202020204" pitchFamily="34" charset="0"/>
                <a:cs typeface="Arial" panose="020B0604020202020204" pitchFamily="34" charset="0"/>
              </a:rPr>
              <a:t>stud_name</a:t>
            </a:r>
            <a:r>
              <a:rPr lang="en-US" sz="2200" dirty="0">
                <a:solidFill>
                  <a:srgbClr val="404040"/>
                </a:solidFill>
                <a:latin typeface="Arial" panose="020B0604020202020204" pitchFamily="34" charset="0"/>
                <a:cs typeface="Arial" panose="020B0604020202020204" pitchFamily="34" charset="0"/>
              </a:rPr>
              <a:t>" : "</a:t>
            </a:r>
            <a:r>
              <a:rPr lang="en-US" sz="2200" dirty="0" err="1">
                <a:solidFill>
                  <a:srgbClr val="404040"/>
                </a:solidFill>
                <a:latin typeface="Arial" panose="020B0604020202020204" pitchFamily="34" charset="0"/>
                <a:cs typeface="Arial" panose="020B0604020202020204" pitchFamily="34" charset="0"/>
              </a:rPr>
              <a:t>madhav</a:t>
            </a:r>
            <a:r>
              <a:rPr lang="en-US" sz="2200" dirty="0">
                <a:solidFill>
                  <a:srgbClr val="404040"/>
                </a:solidFill>
                <a:latin typeface="Arial" panose="020B0604020202020204" pitchFamily="34" charset="0"/>
                <a:cs typeface="Arial" panose="020B0604020202020204" pitchFamily="34" charset="0"/>
              </a:rPr>
              <a:t>"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7237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Where Clause in MongoDB</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12-07-2024</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23</a:t>
            </a:fld>
            <a:endParaRPr lang="en-IN" sz="2000"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nvGraphicFramePr>
        <p:xfrm>
          <a:off x="838200" y="1690688"/>
          <a:ext cx="10515600" cy="4426511"/>
        </p:xfrm>
        <a:graphic>
          <a:graphicData uri="http://schemas.openxmlformats.org/drawingml/2006/table">
            <a:tbl>
              <a:tblPr/>
              <a:tblGrid>
                <a:gridCol w="1606617">
                  <a:extLst>
                    <a:ext uri="{9D8B030D-6E8A-4147-A177-3AD203B41FA5}">
                      <a16:colId xmlns:a16="http://schemas.microsoft.com/office/drawing/2014/main" val="938209267"/>
                    </a:ext>
                  </a:extLst>
                </a:gridCol>
                <a:gridCol w="2685448">
                  <a:extLst>
                    <a:ext uri="{9D8B030D-6E8A-4147-A177-3AD203B41FA5}">
                      <a16:colId xmlns:a16="http://schemas.microsoft.com/office/drawing/2014/main" val="4186574518"/>
                    </a:ext>
                  </a:extLst>
                </a:gridCol>
                <a:gridCol w="3676851">
                  <a:extLst>
                    <a:ext uri="{9D8B030D-6E8A-4147-A177-3AD203B41FA5}">
                      <a16:colId xmlns:a16="http://schemas.microsoft.com/office/drawing/2014/main" val="63808066"/>
                    </a:ext>
                  </a:extLst>
                </a:gridCol>
                <a:gridCol w="2546684">
                  <a:extLst>
                    <a:ext uri="{9D8B030D-6E8A-4147-A177-3AD203B41FA5}">
                      <a16:colId xmlns:a16="http://schemas.microsoft.com/office/drawing/2014/main" val="1391356976"/>
                    </a:ext>
                  </a:extLst>
                </a:gridCol>
              </a:tblGrid>
              <a:tr h="400781">
                <a:tc>
                  <a:txBody>
                    <a:bodyPr/>
                    <a:lstStyle/>
                    <a:p>
                      <a:pPr algn="ctr" fontAlgn="t"/>
                      <a:r>
                        <a:rPr lang="en-IN" sz="2000">
                          <a:solidFill>
                            <a:schemeClr val="tx1"/>
                          </a:solidFill>
                          <a:effectLst/>
                          <a:latin typeface="Arial" panose="020B0604020202020204" pitchFamily="34" charset="0"/>
                          <a:cs typeface="Arial" panose="020B0604020202020204" pitchFamily="34" charset="0"/>
                        </a:rPr>
                        <a:t>Operation</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IN" sz="2000" dirty="0">
                          <a:solidFill>
                            <a:schemeClr val="tx1"/>
                          </a:solidFill>
                          <a:effectLst/>
                          <a:latin typeface="Arial" panose="020B0604020202020204" pitchFamily="34" charset="0"/>
                          <a:cs typeface="Arial" panose="020B0604020202020204" pitchFamily="34" charset="0"/>
                        </a:rPr>
                        <a:t>Syntax</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IN" sz="2000">
                          <a:solidFill>
                            <a:schemeClr val="tx1"/>
                          </a:solidFill>
                          <a:effectLst/>
                          <a:latin typeface="Arial" panose="020B0604020202020204" pitchFamily="34" charset="0"/>
                          <a:cs typeface="Arial" panose="020B0604020202020204" pitchFamily="34" charset="0"/>
                        </a:rPr>
                        <a:t>Example</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IN" sz="2000">
                          <a:solidFill>
                            <a:schemeClr val="tx1"/>
                          </a:solidFill>
                          <a:effectLst/>
                          <a:latin typeface="Arial" panose="020B0604020202020204" pitchFamily="34" charset="0"/>
                          <a:cs typeface="Arial" panose="020B0604020202020204" pitchFamily="34" charset="0"/>
                        </a:rPr>
                        <a:t>RDBMS Equivalent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9232471"/>
                  </a:ext>
                </a:extLst>
              </a:tr>
              <a:tr h="757520">
                <a:tc>
                  <a:txBody>
                    <a:bodyPr/>
                    <a:lstStyle/>
                    <a:p>
                      <a:pPr fontAlgn="t"/>
                      <a:r>
                        <a:rPr lang="en-IN" sz="2000">
                          <a:solidFill>
                            <a:schemeClr val="tx1"/>
                          </a:solidFill>
                          <a:effectLst/>
                          <a:latin typeface="Arial" panose="020B0604020202020204" pitchFamily="34" charset="0"/>
                          <a:cs typeface="Arial" panose="020B0604020202020204" pitchFamily="34" charset="0"/>
                        </a:rPr>
                        <a:t>Equality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a:solidFill>
                            <a:schemeClr val="tx1"/>
                          </a:solidFill>
                          <a:effectLst/>
                          <a:latin typeface="Arial" panose="020B0604020202020204" pitchFamily="34" charset="0"/>
                          <a:cs typeface="Arial" panose="020B0604020202020204" pitchFamily="34" charset="0"/>
                        </a:rPr>
                        <a:t>{&lt;key&gt;:&lt;value&gt;}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err="1">
                          <a:solidFill>
                            <a:schemeClr val="tx1"/>
                          </a:solidFill>
                          <a:effectLst/>
                          <a:latin typeface="Arial" panose="020B0604020202020204" pitchFamily="34" charset="0"/>
                          <a:cs typeface="Arial" panose="020B0604020202020204" pitchFamily="34" charset="0"/>
                        </a:rPr>
                        <a:t>db.mycol.find</a:t>
                      </a:r>
                      <a:r>
                        <a:rPr lang="en-US" sz="2000" dirty="0">
                          <a:solidFill>
                            <a:schemeClr val="tx1"/>
                          </a:solidFill>
                          <a:effectLst/>
                          <a:latin typeface="Arial" panose="020B0604020202020204" pitchFamily="34" charset="0"/>
                          <a:cs typeface="Arial" panose="020B0604020202020204" pitchFamily="34" charset="0"/>
                        </a:rPr>
                        <a:t>({"</a:t>
                      </a:r>
                      <a:r>
                        <a:rPr lang="en-US" sz="2000" dirty="0" err="1">
                          <a:solidFill>
                            <a:schemeClr val="tx1"/>
                          </a:solidFill>
                          <a:effectLst/>
                          <a:latin typeface="Arial" panose="020B0604020202020204" pitchFamily="34" charset="0"/>
                          <a:cs typeface="Arial" panose="020B0604020202020204" pitchFamily="34" charset="0"/>
                        </a:rPr>
                        <a:t>by":"tutorials</a:t>
                      </a:r>
                      <a:r>
                        <a:rPr lang="en-US" sz="2000" dirty="0">
                          <a:solidFill>
                            <a:schemeClr val="tx1"/>
                          </a:solidFill>
                          <a:effectLst/>
                          <a:latin typeface="Arial" panose="020B0604020202020204" pitchFamily="34" charset="0"/>
                          <a:cs typeface="Arial" panose="020B0604020202020204" pitchFamily="34" charset="0"/>
                        </a:rPr>
                        <a:t> point"}).pretty()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a:solidFill>
                            <a:schemeClr val="tx1"/>
                          </a:solidFill>
                          <a:effectLst/>
                          <a:latin typeface="Arial" panose="020B0604020202020204" pitchFamily="34" charset="0"/>
                          <a:cs typeface="Arial" panose="020B0604020202020204" pitchFamily="34" charset="0"/>
                        </a:rPr>
                        <a:t>where by = 'tutorials point'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8970272"/>
                  </a:ext>
                </a:extLst>
              </a:tr>
              <a:tr h="638607">
                <a:tc>
                  <a:txBody>
                    <a:bodyPr/>
                    <a:lstStyle/>
                    <a:p>
                      <a:pPr fontAlgn="t"/>
                      <a:r>
                        <a:rPr lang="en-IN" sz="2000" dirty="0">
                          <a:solidFill>
                            <a:schemeClr val="tx1"/>
                          </a:solidFill>
                          <a:effectLst/>
                          <a:latin typeface="Arial" panose="020B0604020202020204" pitchFamily="34" charset="0"/>
                          <a:cs typeface="Arial" panose="020B0604020202020204" pitchFamily="34" charset="0"/>
                        </a:rPr>
                        <a:t>Less Than</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{&lt;key&gt;:{$lt:&lt;value&gt;}}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err="1">
                          <a:solidFill>
                            <a:schemeClr val="tx1"/>
                          </a:solidFill>
                          <a:effectLst/>
                          <a:latin typeface="Arial" panose="020B0604020202020204" pitchFamily="34" charset="0"/>
                          <a:cs typeface="Arial" panose="020B0604020202020204" pitchFamily="34" charset="0"/>
                        </a:rPr>
                        <a:t>db.mycol.find</a:t>
                      </a:r>
                      <a:r>
                        <a:rPr lang="en-IN" sz="2000" dirty="0">
                          <a:solidFill>
                            <a:schemeClr val="tx1"/>
                          </a:solidFill>
                          <a:effectLst/>
                          <a:latin typeface="Arial" panose="020B0604020202020204" pitchFamily="34" charset="0"/>
                          <a:cs typeface="Arial" panose="020B0604020202020204" pitchFamily="34" charset="0"/>
                        </a:rPr>
                        <a:t>({"likes":{$lt:50}}).pretty()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where likes &lt; 50</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4198530"/>
                  </a:ext>
                </a:extLst>
              </a:tr>
              <a:tr h="638607">
                <a:tc>
                  <a:txBody>
                    <a:bodyPr/>
                    <a:lstStyle/>
                    <a:p>
                      <a:pPr fontAlgn="t"/>
                      <a:r>
                        <a:rPr lang="en-IN" sz="2000">
                          <a:solidFill>
                            <a:schemeClr val="tx1"/>
                          </a:solidFill>
                          <a:effectLst/>
                          <a:latin typeface="Arial" panose="020B0604020202020204" pitchFamily="34" charset="0"/>
                          <a:cs typeface="Arial" panose="020B0604020202020204" pitchFamily="34" charset="0"/>
                        </a:rPr>
                        <a:t>Less Than Equals</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a:solidFill>
                            <a:schemeClr val="tx1"/>
                          </a:solidFill>
                          <a:effectLst/>
                          <a:latin typeface="Arial" panose="020B0604020202020204" pitchFamily="34" charset="0"/>
                          <a:cs typeface="Arial" panose="020B0604020202020204" pitchFamily="34" charset="0"/>
                        </a:rPr>
                        <a:t>{&lt;key&gt;:{$</a:t>
                      </a:r>
                      <a:r>
                        <a:rPr lang="en-IN" sz="2000" dirty="0" err="1">
                          <a:solidFill>
                            <a:schemeClr val="tx1"/>
                          </a:solidFill>
                          <a:effectLst/>
                          <a:latin typeface="Arial" panose="020B0604020202020204" pitchFamily="34" charset="0"/>
                          <a:cs typeface="Arial" panose="020B0604020202020204" pitchFamily="34" charset="0"/>
                        </a:rPr>
                        <a:t>lte</a:t>
                      </a:r>
                      <a:r>
                        <a:rPr lang="en-IN" sz="2000" dirty="0">
                          <a:solidFill>
                            <a:schemeClr val="tx1"/>
                          </a:solidFill>
                          <a:effectLst/>
                          <a:latin typeface="Arial" panose="020B0604020202020204" pitchFamily="34" charset="0"/>
                          <a:cs typeface="Arial" panose="020B0604020202020204" pitchFamily="34" charset="0"/>
                        </a:rPr>
                        <a:t>:&lt;value&gt;}}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err="1">
                          <a:solidFill>
                            <a:schemeClr val="tx1"/>
                          </a:solidFill>
                          <a:effectLst/>
                          <a:latin typeface="Arial" panose="020B0604020202020204" pitchFamily="34" charset="0"/>
                          <a:cs typeface="Arial" panose="020B0604020202020204" pitchFamily="34" charset="0"/>
                        </a:rPr>
                        <a:t>db.mycol.find</a:t>
                      </a:r>
                      <a:r>
                        <a:rPr lang="en-IN" sz="2000" dirty="0">
                          <a:solidFill>
                            <a:schemeClr val="tx1"/>
                          </a:solidFill>
                          <a:effectLst/>
                          <a:latin typeface="Arial" panose="020B0604020202020204" pitchFamily="34" charset="0"/>
                          <a:cs typeface="Arial" panose="020B0604020202020204" pitchFamily="34" charset="0"/>
                        </a:rPr>
                        <a:t>({"likes":{$lte:50}}).pretty()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where likes &lt;= 50</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3650871"/>
                  </a:ext>
                </a:extLst>
              </a:tr>
              <a:tr h="638607">
                <a:tc>
                  <a:txBody>
                    <a:bodyPr/>
                    <a:lstStyle/>
                    <a:p>
                      <a:pPr fontAlgn="t"/>
                      <a:r>
                        <a:rPr lang="en-IN" sz="2000">
                          <a:solidFill>
                            <a:schemeClr val="tx1"/>
                          </a:solidFill>
                          <a:effectLst/>
                          <a:latin typeface="Arial" panose="020B0604020202020204" pitchFamily="34" charset="0"/>
                          <a:cs typeface="Arial" panose="020B0604020202020204" pitchFamily="34" charset="0"/>
                        </a:rPr>
                        <a:t>Greater Than</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{&lt;key&gt;:{$gt:&lt;value&gt;}}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err="1">
                          <a:solidFill>
                            <a:schemeClr val="tx1"/>
                          </a:solidFill>
                          <a:effectLst/>
                          <a:latin typeface="Arial" panose="020B0604020202020204" pitchFamily="34" charset="0"/>
                          <a:cs typeface="Arial" panose="020B0604020202020204" pitchFamily="34" charset="0"/>
                        </a:rPr>
                        <a:t>db.mycol.find</a:t>
                      </a:r>
                      <a:r>
                        <a:rPr lang="en-IN" sz="2000" dirty="0">
                          <a:solidFill>
                            <a:schemeClr val="tx1"/>
                          </a:solidFill>
                          <a:effectLst/>
                          <a:latin typeface="Arial" panose="020B0604020202020204" pitchFamily="34" charset="0"/>
                          <a:cs typeface="Arial" panose="020B0604020202020204" pitchFamily="34" charset="0"/>
                        </a:rPr>
                        <a:t>({"likes":{$gt:50}}).pretty()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where likes &gt; 50</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2050417"/>
                  </a:ext>
                </a:extLst>
              </a:tr>
              <a:tr h="638607">
                <a:tc>
                  <a:txBody>
                    <a:bodyPr/>
                    <a:lstStyle/>
                    <a:p>
                      <a:pPr fontAlgn="t"/>
                      <a:r>
                        <a:rPr lang="en-IN" sz="2000">
                          <a:solidFill>
                            <a:schemeClr val="tx1"/>
                          </a:solidFill>
                          <a:effectLst/>
                          <a:latin typeface="Arial" panose="020B0604020202020204" pitchFamily="34" charset="0"/>
                          <a:cs typeface="Arial" panose="020B0604020202020204" pitchFamily="34" charset="0"/>
                        </a:rPr>
                        <a:t>Greater Than Equals</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{&lt;key&gt;:{$gte:&lt;value&gt;}}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err="1">
                          <a:solidFill>
                            <a:schemeClr val="tx1"/>
                          </a:solidFill>
                          <a:effectLst/>
                          <a:latin typeface="Arial" panose="020B0604020202020204" pitchFamily="34" charset="0"/>
                          <a:cs typeface="Arial" panose="020B0604020202020204" pitchFamily="34" charset="0"/>
                        </a:rPr>
                        <a:t>db.mycol.find</a:t>
                      </a:r>
                      <a:r>
                        <a:rPr lang="en-IN" sz="2000" dirty="0">
                          <a:solidFill>
                            <a:schemeClr val="tx1"/>
                          </a:solidFill>
                          <a:effectLst/>
                          <a:latin typeface="Arial" panose="020B0604020202020204" pitchFamily="34" charset="0"/>
                          <a:cs typeface="Arial" panose="020B0604020202020204" pitchFamily="34" charset="0"/>
                        </a:rPr>
                        <a:t>({"likes":{$gte:50}}).pretty()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where likes &gt;= 50</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9787950"/>
                  </a:ext>
                </a:extLst>
              </a:tr>
              <a:tr h="638607">
                <a:tc>
                  <a:txBody>
                    <a:bodyPr/>
                    <a:lstStyle/>
                    <a:p>
                      <a:pPr fontAlgn="t"/>
                      <a:r>
                        <a:rPr lang="en-IN" sz="2000">
                          <a:solidFill>
                            <a:schemeClr val="tx1"/>
                          </a:solidFill>
                          <a:effectLst/>
                          <a:latin typeface="Arial" panose="020B0604020202020204" pitchFamily="34" charset="0"/>
                          <a:cs typeface="Arial" panose="020B0604020202020204" pitchFamily="34" charset="0"/>
                        </a:rPr>
                        <a:t>Not Equals</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{&lt;key&gt;:{$ne:&lt;value&gt;}}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err="1">
                          <a:solidFill>
                            <a:schemeClr val="tx1"/>
                          </a:solidFill>
                          <a:effectLst/>
                          <a:latin typeface="Arial" panose="020B0604020202020204" pitchFamily="34" charset="0"/>
                          <a:cs typeface="Arial" panose="020B0604020202020204" pitchFamily="34" charset="0"/>
                        </a:rPr>
                        <a:t>db.mycol.find</a:t>
                      </a:r>
                      <a:r>
                        <a:rPr lang="en-IN" sz="2000" dirty="0">
                          <a:solidFill>
                            <a:schemeClr val="tx1"/>
                          </a:solidFill>
                          <a:effectLst/>
                          <a:latin typeface="Arial" panose="020B0604020202020204" pitchFamily="34" charset="0"/>
                          <a:cs typeface="Arial" panose="020B0604020202020204" pitchFamily="34" charset="0"/>
                        </a:rPr>
                        <a:t>({"likes":{$ne:50}}).pretty()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a:solidFill>
                            <a:schemeClr val="tx1"/>
                          </a:solidFill>
                          <a:effectLst/>
                          <a:latin typeface="Arial" panose="020B0604020202020204" pitchFamily="34" charset="0"/>
                          <a:cs typeface="Arial" panose="020B0604020202020204" pitchFamily="34" charset="0"/>
                        </a:rPr>
                        <a:t>where likes != 50</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0621473"/>
                  </a:ext>
                </a:extLst>
              </a:tr>
            </a:tbl>
          </a:graphicData>
        </a:graphic>
      </p:graphicFrame>
    </p:spTree>
    <p:extLst>
      <p:ext uri="{BB962C8B-B14F-4D97-AF65-F5344CB8AC3E}">
        <p14:creationId xmlns:p14="http://schemas.microsoft.com/office/powerpoint/2010/main" val="3537151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Selections</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400" dirty="0">
                <a:latin typeface="Arial" panose="020B0604020202020204" pitchFamily="34" charset="0"/>
                <a:cs typeface="Arial" panose="020B0604020202020204" pitchFamily="34" charset="0"/>
              </a:rPr>
              <a:t>Insert the following documents:</a:t>
            </a:r>
          </a:p>
          <a:p>
            <a:pPr marL="0" indent="0">
              <a:lnSpc>
                <a:spcPct val="110000"/>
              </a:lnSpc>
              <a:spcBef>
                <a:spcPts val="0"/>
              </a:spcBef>
              <a:buNone/>
            </a:pPr>
            <a:endParaRPr lang="en-US" sz="2400" dirty="0">
              <a:solidFill>
                <a:srgbClr val="404040"/>
              </a:solidFill>
              <a:latin typeface="Arial" panose="020B0604020202020204" pitchFamily="34" charset="0"/>
              <a:cs typeface="Arial" panose="020B0604020202020204" pitchFamily="34" charset="0"/>
            </a:endParaRPr>
          </a:p>
          <a:p>
            <a:pPr marL="0" indent="0">
              <a:lnSpc>
                <a:spcPct val="110000"/>
              </a:lnSpc>
              <a:spcBef>
                <a:spcPts val="0"/>
              </a:spcBef>
              <a:buNone/>
            </a:pPr>
            <a:r>
              <a:rPr lang="en-US" sz="2400" dirty="0" err="1">
                <a:solidFill>
                  <a:srgbClr val="404040"/>
                </a:solidFill>
                <a:latin typeface="Arial" panose="020B0604020202020204" pitchFamily="34" charset="0"/>
                <a:cs typeface="Arial" panose="020B0604020202020204" pitchFamily="34" charset="0"/>
              </a:rPr>
              <a:t>db.cse.insert</a:t>
            </a:r>
            <a:r>
              <a:rPr lang="en-US" sz="2400" dirty="0">
                <a:solidFill>
                  <a:srgbClr val="404040"/>
                </a:solidFill>
                <a:latin typeface="Arial" panose="020B0604020202020204" pitchFamily="34" charset="0"/>
                <a:cs typeface="Arial" panose="020B0604020202020204" pitchFamily="34" charset="0"/>
              </a:rPr>
              <a:t>({sid:501,sname:'name1',age:23,mark:68})</a:t>
            </a:r>
          </a:p>
          <a:p>
            <a:pPr marL="0" indent="0">
              <a:lnSpc>
                <a:spcPct val="110000"/>
              </a:lnSpc>
              <a:spcBef>
                <a:spcPts val="0"/>
              </a:spcBef>
              <a:buNone/>
            </a:pPr>
            <a:r>
              <a:rPr lang="en-US" sz="2400" dirty="0" err="1">
                <a:solidFill>
                  <a:srgbClr val="404040"/>
                </a:solidFill>
                <a:latin typeface="Arial" panose="020B0604020202020204" pitchFamily="34" charset="0"/>
                <a:cs typeface="Arial" panose="020B0604020202020204" pitchFamily="34" charset="0"/>
              </a:rPr>
              <a:t>db.cse.insert</a:t>
            </a:r>
            <a:r>
              <a:rPr lang="en-US" sz="2400" dirty="0">
                <a:solidFill>
                  <a:srgbClr val="404040"/>
                </a:solidFill>
                <a:latin typeface="Arial" panose="020B0604020202020204" pitchFamily="34" charset="0"/>
                <a:cs typeface="Arial" panose="020B0604020202020204" pitchFamily="34" charset="0"/>
              </a:rPr>
              <a:t>({sid:502,sname:'name2',age:22,mark:98})</a:t>
            </a:r>
          </a:p>
          <a:p>
            <a:pPr marL="0" indent="0">
              <a:lnSpc>
                <a:spcPct val="110000"/>
              </a:lnSpc>
              <a:spcBef>
                <a:spcPts val="0"/>
              </a:spcBef>
              <a:buNone/>
            </a:pPr>
            <a:r>
              <a:rPr lang="en-US" sz="2400" dirty="0" err="1">
                <a:solidFill>
                  <a:srgbClr val="404040"/>
                </a:solidFill>
                <a:latin typeface="Arial" panose="020B0604020202020204" pitchFamily="34" charset="0"/>
                <a:cs typeface="Arial" panose="020B0604020202020204" pitchFamily="34" charset="0"/>
              </a:rPr>
              <a:t>db.cse.insert</a:t>
            </a:r>
            <a:r>
              <a:rPr lang="en-US" sz="2400" dirty="0">
                <a:solidFill>
                  <a:srgbClr val="404040"/>
                </a:solidFill>
                <a:latin typeface="Arial" panose="020B0604020202020204" pitchFamily="34" charset="0"/>
                <a:cs typeface="Arial" panose="020B0604020202020204" pitchFamily="34" charset="0"/>
              </a:rPr>
              <a:t>({sid:503,sname:'name3',age:23,mark:88})</a:t>
            </a:r>
          </a:p>
          <a:p>
            <a:pPr marL="0" indent="0">
              <a:lnSpc>
                <a:spcPct val="110000"/>
              </a:lnSpc>
              <a:spcBef>
                <a:spcPts val="0"/>
              </a:spcBef>
              <a:buNone/>
            </a:pPr>
            <a:r>
              <a:rPr lang="en-US" sz="2400" dirty="0" err="1">
                <a:solidFill>
                  <a:srgbClr val="404040"/>
                </a:solidFill>
                <a:latin typeface="Arial" panose="020B0604020202020204" pitchFamily="34" charset="0"/>
                <a:cs typeface="Arial" panose="020B0604020202020204" pitchFamily="34" charset="0"/>
              </a:rPr>
              <a:t>db.cse.insert</a:t>
            </a:r>
            <a:r>
              <a:rPr lang="en-US" sz="2400" dirty="0">
                <a:solidFill>
                  <a:srgbClr val="404040"/>
                </a:solidFill>
                <a:latin typeface="Arial" panose="020B0604020202020204" pitchFamily="34" charset="0"/>
                <a:cs typeface="Arial" panose="020B0604020202020204" pitchFamily="34" charset="0"/>
              </a:rPr>
              <a:t>({sid:504,sname:'name4',age:24,mark:78})</a:t>
            </a:r>
          </a:p>
          <a:p>
            <a:pPr marL="0" indent="0">
              <a:lnSpc>
                <a:spcPct val="110000"/>
              </a:lnSpc>
              <a:spcBef>
                <a:spcPts val="0"/>
              </a:spcBef>
              <a:buNone/>
            </a:pPr>
            <a:r>
              <a:rPr lang="en-US" sz="2400" dirty="0" err="1">
                <a:solidFill>
                  <a:srgbClr val="404040"/>
                </a:solidFill>
                <a:latin typeface="Arial" panose="020B0604020202020204" pitchFamily="34" charset="0"/>
                <a:cs typeface="Arial" panose="020B0604020202020204" pitchFamily="34" charset="0"/>
              </a:rPr>
              <a:t>db.cse.insert</a:t>
            </a:r>
            <a:r>
              <a:rPr lang="en-US" sz="2400" dirty="0">
                <a:solidFill>
                  <a:srgbClr val="404040"/>
                </a:solidFill>
                <a:latin typeface="Arial" panose="020B0604020202020204" pitchFamily="34" charset="0"/>
                <a:cs typeface="Arial" panose="020B0604020202020204" pitchFamily="34" charset="0"/>
              </a:rPr>
              <a:t>({sid:505,sname:'name5',age:25})</a:t>
            </a:r>
          </a:p>
          <a:p>
            <a:pPr marL="0" indent="0">
              <a:lnSpc>
                <a:spcPct val="110000"/>
              </a:lnSpc>
              <a:spcBef>
                <a:spcPts val="0"/>
              </a:spcBef>
              <a:buNone/>
            </a:pPr>
            <a:r>
              <a:rPr lang="en-US" sz="2400" dirty="0" err="1">
                <a:solidFill>
                  <a:srgbClr val="404040"/>
                </a:solidFill>
                <a:latin typeface="Arial" panose="020B0604020202020204" pitchFamily="34" charset="0"/>
                <a:cs typeface="Arial" panose="020B0604020202020204" pitchFamily="34" charset="0"/>
              </a:rPr>
              <a:t>db.cse.insert</a:t>
            </a:r>
            <a:r>
              <a:rPr lang="en-US" sz="2400" dirty="0">
                <a:solidFill>
                  <a:srgbClr val="404040"/>
                </a:solidFill>
                <a:latin typeface="Arial" panose="020B0604020202020204" pitchFamily="34" charset="0"/>
                <a:cs typeface="Arial" panose="020B0604020202020204" pitchFamily="34" charset="0"/>
              </a:rPr>
              <a:t>({sid:506,sname:'name6',mark:75})</a:t>
            </a: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12-07-2024</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24</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8728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AND, OR in MongoDB</a:t>
            </a:r>
          </a:p>
        </p:txBody>
      </p:sp>
      <p:sp>
        <p:nvSpPr>
          <p:cNvPr id="3" name="Content Placeholder 2"/>
          <p:cNvSpPr>
            <a:spLocks noGrp="1"/>
          </p:cNvSpPr>
          <p:nvPr>
            <p:ph idx="1"/>
          </p:nvPr>
        </p:nvSpPr>
        <p:spPr>
          <a:xfrm>
            <a:off x="838200" y="1690688"/>
            <a:ext cx="4340192" cy="4486275"/>
          </a:xfrm>
        </p:spPr>
        <p:txBody>
          <a:bodyPr>
            <a:noAutofit/>
          </a:bodyPr>
          <a:lstStyle/>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db.mycol.find</a:t>
            </a:r>
            <a:r>
              <a:rPr lang="en-US" sz="22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 $and: [</a:t>
            </a: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{key1: value1}, {key2:value2}</a:t>
            </a: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   } )</a:t>
            </a:r>
          </a:p>
          <a:p>
            <a:pPr marL="0" indent="0">
              <a:lnSpc>
                <a:spcPct val="110000"/>
              </a:lnSpc>
              <a:spcBef>
                <a:spcPts val="0"/>
              </a:spcBef>
              <a:buNone/>
            </a:pPr>
            <a:endParaRPr lang="en-US" sz="2200" dirty="0">
              <a:solidFill>
                <a:srgbClr val="FF0000"/>
              </a:solidFill>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&gt; </a:t>
            </a:r>
            <a:r>
              <a:rPr lang="en-US" sz="2200" dirty="0" err="1">
                <a:latin typeface="Arial" panose="020B0604020202020204" pitchFamily="34" charset="0"/>
                <a:cs typeface="Arial" panose="020B0604020202020204" pitchFamily="34" charset="0"/>
              </a:rPr>
              <a:t>db.cse.find</a:t>
            </a:r>
            <a:r>
              <a:rPr lang="en-US" sz="2200" dirty="0">
                <a:latin typeface="Arial" panose="020B0604020202020204" pitchFamily="34" charset="0"/>
                <a:cs typeface="Arial" panose="020B0604020202020204" pitchFamily="34" charset="0"/>
              </a:rPr>
              <a:t>({ $and: [{</a:t>
            </a:r>
            <a:r>
              <a:rPr lang="en-US" sz="2200" dirty="0" err="1">
                <a:latin typeface="Arial" panose="020B0604020202020204" pitchFamily="34" charset="0"/>
                <a:cs typeface="Arial" panose="020B0604020202020204" pitchFamily="34" charset="0"/>
              </a:rPr>
              <a:t>sid</a:t>
            </a:r>
            <a:r>
              <a:rPr lang="en-US" sz="2200" dirty="0">
                <a:latin typeface="Arial" panose="020B0604020202020204" pitchFamily="34" charset="0"/>
                <a:cs typeface="Arial" panose="020B0604020202020204" pitchFamily="34" charset="0"/>
              </a:rPr>
              <a:t>: {$gt:500}},{mark:{$gte:70}} ] } )</a:t>
            </a:r>
            <a:endParaRPr lang="en-US" sz="22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12-07-2024</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25</a:t>
            </a:fld>
            <a:endParaRPr lang="en-IN" sz="2000" dirty="0">
              <a:latin typeface="Arial" panose="020B0604020202020204" pitchFamily="34" charset="0"/>
              <a:cs typeface="Arial" panose="020B0604020202020204" pitchFamily="34" charset="0"/>
            </a:endParaRPr>
          </a:p>
        </p:txBody>
      </p:sp>
      <p:sp>
        <p:nvSpPr>
          <p:cNvPr id="11" name="Content Placeholder 2"/>
          <p:cNvSpPr txBox="1">
            <a:spLocks/>
          </p:cNvSpPr>
          <p:nvPr/>
        </p:nvSpPr>
        <p:spPr>
          <a:xfrm>
            <a:off x="6440504" y="1690687"/>
            <a:ext cx="4340192" cy="44862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buFont typeface="Arial" panose="020B0604020202020204" pitchFamily="34" charset="0"/>
              <a:buNone/>
            </a:pP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db.mycol.find</a:t>
            </a:r>
            <a:r>
              <a:rPr lang="en-US" sz="22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Font typeface="Arial" panose="020B0604020202020204" pitchFamily="34" charset="0"/>
              <a:buNone/>
            </a:pPr>
            <a:r>
              <a:rPr lang="en-US" sz="2200" dirty="0">
                <a:solidFill>
                  <a:srgbClr val="FF0000"/>
                </a:solidFill>
                <a:latin typeface="Arial" panose="020B0604020202020204" pitchFamily="34" charset="0"/>
                <a:cs typeface="Arial" panose="020B0604020202020204" pitchFamily="34" charset="0"/>
              </a:rPr>
              <a:t>   { $or: [</a:t>
            </a:r>
          </a:p>
          <a:p>
            <a:pPr marL="0" indent="0">
              <a:lnSpc>
                <a:spcPct val="110000"/>
              </a:lnSpc>
              <a:spcBef>
                <a:spcPts val="0"/>
              </a:spcBef>
              <a:buFont typeface="Arial" panose="020B0604020202020204" pitchFamily="34" charset="0"/>
              <a:buNone/>
            </a:pPr>
            <a:r>
              <a:rPr lang="en-US" sz="2200" dirty="0">
                <a:solidFill>
                  <a:srgbClr val="FF0000"/>
                </a:solidFill>
                <a:latin typeface="Arial" panose="020B0604020202020204" pitchFamily="34" charset="0"/>
                <a:cs typeface="Arial" panose="020B0604020202020204" pitchFamily="34" charset="0"/>
              </a:rPr>
              <a:t>         {key1: value1}, {key2:value2}</a:t>
            </a:r>
          </a:p>
          <a:p>
            <a:pPr marL="0" indent="0">
              <a:lnSpc>
                <a:spcPct val="110000"/>
              </a:lnSpc>
              <a:spcBef>
                <a:spcPts val="0"/>
              </a:spcBef>
              <a:buFont typeface="Arial" panose="020B0604020202020204" pitchFamily="34" charset="0"/>
              <a:buNone/>
            </a:pPr>
            <a:r>
              <a:rPr lang="en-US" sz="2200" dirty="0">
                <a:solidFill>
                  <a:srgbClr val="FF0000"/>
                </a:solidFill>
                <a:latin typeface="Arial" panose="020B0604020202020204" pitchFamily="34" charset="0"/>
                <a:cs typeface="Arial" panose="020B0604020202020204" pitchFamily="34" charset="0"/>
              </a:rPr>
              <a:t>      ]   } )</a:t>
            </a:r>
          </a:p>
          <a:p>
            <a:pPr marL="0" indent="0">
              <a:lnSpc>
                <a:spcPct val="110000"/>
              </a:lnSpc>
              <a:spcBef>
                <a:spcPts val="0"/>
              </a:spcBef>
              <a:buFont typeface="Arial" panose="020B0604020202020204" pitchFamily="34" charset="0"/>
              <a:buNone/>
            </a:pPr>
            <a:endParaRPr lang="en-US" sz="2200" dirty="0">
              <a:solidFill>
                <a:srgbClr val="FF0000"/>
              </a:solidFill>
              <a:latin typeface="Arial" panose="020B0604020202020204" pitchFamily="34" charset="0"/>
              <a:cs typeface="Arial" panose="020B0604020202020204" pitchFamily="34" charset="0"/>
            </a:endParaRPr>
          </a:p>
          <a:p>
            <a:pPr marL="0" indent="0">
              <a:lnSpc>
                <a:spcPct val="110000"/>
              </a:lnSpc>
              <a:spcBef>
                <a:spcPts val="0"/>
              </a:spcBef>
              <a:buFont typeface="Arial" panose="020B0604020202020204" pitchFamily="34" charset="0"/>
              <a:buNone/>
            </a:pPr>
            <a:r>
              <a:rPr lang="en-US" sz="2200" dirty="0">
                <a:latin typeface="Arial" panose="020B0604020202020204" pitchFamily="34" charset="0"/>
                <a:cs typeface="Arial" panose="020B0604020202020204" pitchFamily="34" charset="0"/>
              </a:rPr>
              <a:t>&gt; </a:t>
            </a:r>
            <a:r>
              <a:rPr lang="en-US" sz="2200" dirty="0" err="1">
                <a:latin typeface="Arial" panose="020B0604020202020204" pitchFamily="34" charset="0"/>
                <a:cs typeface="Arial" panose="020B0604020202020204" pitchFamily="34" charset="0"/>
              </a:rPr>
              <a:t>db.cse.find</a:t>
            </a:r>
            <a:r>
              <a:rPr lang="en-US" sz="2200" dirty="0">
                <a:latin typeface="Arial" panose="020B0604020202020204" pitchFamily="34" charset="0"/>
                <a:cs typeface="Arial" panose="020B0604020202020204" pitchFamily="34" charset="0"/>
              </a:rPr>
              <a:t>({ $or: [{</a:t>
            </a:r>
            <a:r>
              <a:rPr lang="en-US" sz="2200" dirty="0" err="1">
                <a:latin typeface="Arial" panose="020B0604020202020204" pitchFamily="34" charset="0"/>
                <a:cs typeface="Arial" panose="020B0604020202020204" pitchFamily="34" charset="0"/>
              </a:rPr>
              <a:t>sid</a:t>
            </a:r>
            <a:r>
              <a:rPr lang="en-US" sz="2200" dirty="0">
                <a:latin typeface="Arial" panose="020B0604020202020204" pitchFamily="34" charset="0"/>
                <a:cs typeface="Arial" panose="020B0604020202020204" pitchFamily="34" charset="0"/>
              </a:rPr>
              <a:t>: {$gt:500}},{mark:{$gte:70}} ] } )</a:t>
            </a:r>
            <a:endParaRPr lang="en-US" sz="22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2998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conditions</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Specify Conditions Using Query Operators</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db.cse.find</a:t>
            </a:r>
            <a:r>
              <a:rPr lang="en-US" sz="2200" dirty="0">
                <a:solidFill>
                  <a:srgbClr val="FF0000"/>
                </a:solidFill>
                <a:latin typeface="Arial" panose="020B0604020202020204" pitchFamily="34" charset="0"/>
                <a:cs typeface="Arial" panose="020B0604020202020204" pitchFamily="34" charset="0"/>
              </a:rPr>
              <a:t>( { </a:t>
            </a:r>
            <a:r>
              <a:rPr lang="en-US" sz="2200" dirty="0" err="1">
                <a:solidFill>
                  <a:srgbClr val="FF0000"/>
                </a:solidFill>
                <a:latin typeface="Arial" panose="020B0604020202020204" pitchFamily="34" charset="0"/>
                <a:cs typeface="Arial" panose="020B0604020202020204" pitchFamily="34" charset="0"/>
              </a:rPr>
              <a:t>sid</a:t>
            </a:r>
            <a:r>
              <a:rPr lang="en-US" sz="2200" dirty="0">
                <a:solidFill>
                  <a:srgbClr val="FF0000"/>
                </a:solidFill>
                <a:latin typeface="Arial" panose="020B0604020202020204" pitchFamily="34" charset="0"/>
                <a:cs typeface="Arial" panose="020B0604020202020204" pitchFamily="34" charset="0"/>
              </a:rPr>
              <a:t>: { $in: [ 502,504] } } )</a:t>
            </a:r>
          </a:p>
          <a:p>
            <a:pPr marL="0" indent="0">
              <a:lnSpc>
                <a:spcPct val="110000"/>
              </a:lnSpc>
              <a:spcBef>
                <a:spcPts val="1800"/>
              </a:spcBef>
              <a:buNone/>
            </a:pPr>
            <a:r>
              <a:rPr lang="en-US" sz="2200" dirty="0">
                <a:solidFill>
                  <a:srgbClr val="404040"/>
                </a:solidFill>
                <a:latin typeface="Arial" panose="020B0604020202020204" pitchFamily="34" charset="0"/>
                <a:cs typeface="Arial" panose="020B0604020202020204" pitchFamily="34" charset="0"/>
              </a:rPr>
              <a:t>Specify AND Conditions</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db.cse.find</a:t>
            </a:r>
            <a:r>
              <a:rPr lang="en-US" sz="2200" dirty="0">
                <a:solidFill>
                  <a:srgbClr val="FF0000"/>
                </a:solidFill>
                <a:latin typeface="Arial" panose="020B0604020202020204" pitchFamily="34" charset="0"/>
                <a:cs typeface="Arial" panose="020B0604020202020204" pitchFamily="34" charset="0"/>
              </a:rPr>
              <a:t>({</a:t>
            </a:r>
            <a:r>
              <a:rPr lang="en-US" sz="2200" dirty="0" err="1">
                <a:solidFill>
                  <a:srgbClr val="FF0000"/>
                </a:solidFill>
                <a:latin typeface="Arial" panose="020B0604020202020204" pitchFamily="34" charset="0"/>
                <a:cs typeface="Arial" panose="020B0604020202020204" pitchFamily="34" charset="0"/>
              </a:rPr>
              <a:t>sid</a:t>
            </a:r>
            <a:r>
              <a:rPr lang="en-US" sz="2200" dirty="0">
                <a:solidFill>
                  <a:srgbClr val="FF0000"/>
                </a:solidFill>
                <a:latin typeface="Arial" panose="020B0604020202020204" pitchFamily="34" charset="0"/>
                <a:cs typeface="Arial" panose="020B0604020202020204" pitchFamily="34" charset="0"/>
              </a:rPr>
              <a:t>: {$gt:500},mark:{$gte:70}})</a:t>
            </a:r>
          </a:p>
          <a:p>
            <a:pPr marL="0" indent="0">
              <a:lnSpc>
                <a:spcPct val="110000"/>
              </a:lnSpc>
              <a:spcBef>
                <a:spcPts val="1800"/>
              </a:spcBef>
              <a:buNone/>
            </a:pPr>
            <a:r>
              <a:rPr lang="en-US" sz="2200" dirty="0">
                <a:solidFill>
                  <a:srgbClr val="404040"/>
                </a:solidFill>
                <a:latin typeface="Arial" panose="020B0604020202020204" pitchFamily="34" charset="0"/>
                <a:cs typeface="Arial" panose="020B0604020202020204" pitchFamily="34" charset="0"/>
              </a:rPr>
              <a:t>Specify AND with OR Conditions</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db.cse.find</a:t>
            </a:r>
            <a:r>
              <a:rPr lang="en-US" sz="2200" dirty="0">
                <a:solidFill>
                  <a:srgbClr val="FF0000"/>
                </a:solidFill>
                <a:latin typeface="Arial" panose="020B0604020202020204" pitchFamily="34" charset="0"/>
                <a:cs typeface="Arial" panose="020B0604020202020204" pitchFamily="34" charset="0"/>
              </a:rPr>
              <a:t>( {$and: [ </a:t>
            </a:r>
          </a:p>
          <a:p>
            <a:pPr marL="33210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a:t>
            </a:r>
            <a:r>
              <a:rPr lang="en-US" sz="2200" dirty="0" err="1">
                <a:solidFill>
                  <a:srgbClr val="FF0000"/>
                </a:solidFill>
                <a:latin typeface="Arial" panose="020B0604020202020204" pitchFamily="34" charset="0"/>
                <a:cs typeface="Arial" panose="020B0604020202020204" pitchFamily="34" charset="0"/>
              </a:rPr>
              <a:t>sid</a:t>
            </a:r>
            <a:r>
              <a:rPr lang="en-US" sz="2200" dirty="0">
                <a:solidFill>
                  <a:srgbClr val="FF0000"/>
                </a:solidFill>
                <a:latin typeface="Arial" panose="020B0604020202020204" pitchFamily="34" charset="0"/>
                <a:cs typeface="Arial" panose="020B0604020202020204" pitchFamily="34" charset="0"/>
              </a:rPr>
              <a:t>:{$gt:500}},</a:t>
            </a:r>
          </a:p>
          <a:p>
            <a:pPr marL="33210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{$or:[</a:t>
            </a:r>
          </a:p>
          <a:p>
            <a:pPr marL="33210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{age:23},{mark:98}</a:t>
            </a:r>
          </a:p>
          <a:p>
            <a:pPr marL="332105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a:t>
            </a: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 } );</a:t>
            </a:r>
          </a:p>
          <a:p>
            <a:pPr marL="0" indent="0">
              <a:lnSpc>
                <a:spcPct val="110000"/>
              </a:lnSpc>
              <a:spcBef>
                <a:spcPts val="0"/>
              </a:spcBef>
              <a:buNone/>
            </a:pPr>
            <a:endParaRPr lang="en-US" sz="22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1121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Insert with Array</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To insert list of values in a document</a:t>
            </a:r>
          </a:p>
          <a:p>
            <a:pPr marL="457200" lvl="1" indent="0">
              <a:lnSpc>
                <a:spcPct val="110000"/>
              </a:lnSpc>
              <a:spcBef>
                <a:spcPts val="0"/>
              </a:spcBef>
              <a:buNone/>
            </a:pPr>
            <a:r>
              <a:rPr lang="en-US" sz="2200" dirty="0" err="1">
                <a:solidFill>
                  <a:srgbClr val="FF0000"/>
                </a:solidFill>
                <a:latin typeface="Arial" panose="020B0604020202020204" pitchFamily="34" charset="0"/>
                <a:cs typeface="Arial" panose="020B0604020202020204" pitchFamily="34" charset="0"/>
              </a:rPr>
              <a:t>db.cse.insert</a:t>
            </a:r>
            <a:r>
              <a:rPr lang="en-US" sz="2200" dirty="0">
                <a:solidFill>
                  <a:srgbClr val="FF0000"/>
                </a:solidFill>
                <a:latin typeface="Arial" panose="020B0604020202020204" pitchFamily="34" charset="0"/>
                <a:cs typeface="Arial" panose="020B0604020202020204" pitchFamily="34" charset="0"/>
              </a:rPr>
              <a:t>({sid:507,sname:'student7',age:24,mark:[78,65,98,76,88]})</a:t>
            </a:r>
          </a:p>
          <a:p>
            <a:pPr marL="457200" lvl="1" indent="0">
              <a:lnSpc>
                <a:spcPct val="110000"/>
              </a:lnSpc>
              <a:spcBef>
                <a:spcPts val="0"/>
              </a:spcBef>
              <a:buNone/>
            </a:pPr>
            <a:r>
              <a:rPr lang="en-US" sz="2200" dirty="0" err="1">
                <a:solidFill>
                  <a:srgbClr val="FF0000"/>
                </a:solidFill>
                <a:latin typeface="Arial" panose="020B0604020202020204" pitchFamily="34" charset="0"/>
                <a:cs typeface="Arial" panose="020B0604020202020204" pitchFamily="34" charset="0"/>
              </a:rPr>
              <a:t>WriteResult</a:t>
            </a: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nInserted</a:t>
            </a:r>
            <a:r>
              <a:rPr lang="en-US" sz="2200" dirty="0">
                <a:solidFill>
                  <a:srgbClr val="FF0000"/>
                </a:solidFill>
                <a:latin typeface="Arial" panose="020B0604020202020204" pitchFamily="34" charset="0"/>
                <a:cs typeface="Arial" panose="020B0604020202020204" pitchFamily="34" charset="0"/>
              </a:rPr>
              <a:t>" : 1 })</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To display values from the list of values in a document</a:t>
            </a:r>
          </a:p>
          <a:p>
            <a:pPr marL="457200" lvl="1" indent="0">
              <a:lnSpc>
                <a:spcPct val="110000"/>
              </a:lnSpc>
              <a:spcBef>
                <a:spcPts val="0"/>
              </a:spcBef>
              <a:buNone/>
            </a:pPr>
            <a:r>
              <a:rPr lang="en-US" sz="2200" dirty="0" err="1">
                <a:solidFill>
                  <a:srgbClr val="FF0000"/>
                </a:solidFill>
                <a:latin typeface="Arial" panose="020B0604020202020204" pitchFamily="34" charset="0"/>
                <a:cs typeface="Arial" panose="020B0604020202020204" pitchFamily="34" charset="0"/>
              </a:rPr>
              <a:t>db.cse.insert</a:t>
            </a:r>
            <a:r>
              <a:rPr lang="en-US" sz="2200" dirty="0">
                <a:solidFill>
                  <a:srgbClr val="FF0000"/>
                </a:solidFill>
                <a:latin typeface="Arial" panose="020B0604020202020204" pitchFamily="34" charset="0"/>
                <a:cs typeface="Arial" panose="020B0604020202020204" pitchFamily="34" charset="0"/>
              </a:rPr>
              <a:t>({sid:507,sname:'student7',age:24,mark:[78,65,98,76,88]})</a:t>
            </a:r>
          </a:p>
          <a:p>
            <a:pPr marL="457200" lvl="1" indent="0">
              <a:lnSpc>
                <a:spcPct val="110000"/>
              </a:lnSpc>
              <a:spcBef>
                <a:spcPts val="0"/>
              </a:spcBef>
              <a:buNone/>
            </a:pPr>
            <a:r>
              <a:rPr lang="en-US" sz="2200" dirty="0" err="1">
                <a:solidFill>
                  <a:srgbClr val="FF0000"/>
                </a:solidFill>
                <a:latin typeface="Arial" panose="020B0604020202020204" pitchFamily="34" charset="0"/>
                <a:cs typeface="Arial" panose="020B0604020202020204" pitchFamily="34" charset="0"/>
              </a:rPr>
              <a:t>WriteResult</a:t>
            </a: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nInserted</a:t>
            </a:r>
            <a:r>
              <a:rPr lang="en-US" sz="2200" dirty="0">
                <a:solidFill>
                  <a:srgbClr val="FF0000"/>
                </a:solidFill>
                <a:latin typeface="Arial" panose="020B0604020202020204" pitchFamily="34" charset="0"/>
                <a:cs typeface="Arial" panose="020B0604020202020204" pitchFamily="34" charset="0"/>
              </a:rPr>
              <a:t>" : 1 })</a:t>
            </a:r>
          </a:p>
          <a:p>
            <a:pPr marL="457200" lvl="1" indent="0">
              <a:lnSpc>
                <a:spcPct val="110000"/>
              </a:lnSpc>
              <a:spcBef>
                <a:spcPts val="0"/>
              </a:spcBef>
              <a:buNone/>
            </a:pPr>
            <a:endParaRPr lang="en-US" sz="22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12-07-2024</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27</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2863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Aggregate Functions</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To find the sum of values in a document</a:t>
            </a:r>
          </a:p>
          <a:p>
            <a:pPr marL="457200" lvl="1" indent="0">
              <a:lnSpc>
                <a:spcPct val="110000"/>
              </a:lnSpc>
              <a:spcBef>
                <a:spcPts val="0"/>
              </a:spcBef>
              <a:buNone/>
            </a:pPr>
            <a:r>
              <a:rPr lang="en-US" sz="2200" dirty="0" err="1">
                <a:solidFill>
                  <a:srgbClr val="FF0000"/>
                </a:solidFill>
                <a:latin typeface="Arial" panose="020B0604020202020204" pitchFamily="34" charset="0"/>
                <a:cs typeface="Arial" panose="020B0604020202020204" pitchFamily="34" charset="0"/>
              </a:rPr>
              <a:t>db.cse.aggregate</a:t>
            </a:r>
            <a:r>
              <a:rPr lang="en-US" sz="2200" dirty="0">
                <a:solidFill>
                  <a:srgbClr val="FF0000"/>
                </a:solidFill>
                <a:latin typeface="Arial" panose="020B0604020202020204" pitchFamily="34" charset="0"/>
                <a:cs typeface="Arial" panose="020B0604020202020204" pitchFamily="34" charset="0"/>
              </a:rPr>
              <a:t>([{$group : {_id : "$</a:t>
            </a:r>
            <a:r>
              <a:rPr lang="en-US" sz="2200" dirty="0" err="1">
                <a:solidFill>
                  <a:srgbClr val="FF0000"/>
                </a:solidFill>
                <a:latin typeface="Arial" panose="020B0604020202020204" pitchFamily="34" charset="0"/>
                <a:cs typeface="Arial" panose="020B0604020202020204" pitchFamily="34" charset="0"/>
              </a:rPr>
              <a:t>by_user</a:t>
            </a: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sum_age</a:t>
            </a:r>
            <a:r>
              <a:rPr lang="en-US" sz="2200" dirty="0">
                <a:solidFill>
                  <a:srgbClr val="FF0000"/>
                </a:solidFill>
                <a:latin typeface="Arial" panose="020B0604020202020204" pitchFamily="34" charset="0"/>
                <a:cs typeface="Arial" panose="020B0604020202020204" pitchFamily="34" charset="0"/>
              </a:rPr>
              <a:t> : {$sum : "$age"}}}]);</a:t>
            </a:r>
          </a:p>
          <a:p>
            <a:pPr marL="457200" lvl="1"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"_id" : null, "</a:t>
            </a:r>
            <a:r>
              <a:rPr lang="en-US" sz="2200" dirty="0" err="1">
                <a:solidFill>
                  <a:srgbClr val="404040"/>
                </a:solidFill>
                <a:latin typeface="Arial" panose="020B0604020202020204" pitchFamily="34" charset="0"/>
                <a:cs typeface="Arial" panose="020B0604020202020204" pitchFamily="34" charset="0"/>
              </a:rPr>
              <a:t>sum_age</a:t>
            </a:r>
            <a:r>
              <a:rPr lang="en-US" sz="2200" dirty="0">
                <a:solidFill>
                  <a:srgbClr val="404040"/>
                </a:solidFill>
                <a:latin typeface="Arial" panose="020B0604020202020204" pitchFamily="34" charset="0"/>
                <a:cs typeface="Arial" panose="020B0604020202020204" pitchFamily="34" charset="0"/>
              </a:rPr>
              <a:t>" : 117 }</a:t>
            </a:r>
          </a:p>
          <a:p>
            <a:pPr marL="457200" lvl="1"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To find average of values in a document</a:t>
            </a:r>
          </a:p>
          <a:p>
            <a:pPr marL="457200" lvl="1"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db.cse.aggregate</a:t>
            </a:r>
            <a:r>
              <a:rPr lang="en-US" sz="2200" dirty="0">
                <a:solidFill>
                  <a:srgbClr val="FF0000"/>
                </a:solidFill>
                <a:latin typeface="Arial" panose="020B0604020202020204" pitchFamily="34" charset="0"/>
                <a:cs typeface="Arial" panose="020B0604020202020204" pitchFamily="34" charset="0"/>
              </a:rPr>
              <a:t>([{$group : {_id : "$</a:t>
            </a:r>
            <a:r>
              <a:rPr lang="en-US" sz="2200" dirty="0" err="1">
                <a:solidFill>
                  <a:srgbClr val="FF0000"/>
                </a:solidFill>
                <a:latin typeface="Arial" panose="020B0604020202020204" pitchFamily="34" charset="0"/>
                <a:cs typeface="Arial" panose="020B0604020202020204" pitchFamily="34" charset="0"/>
              </a:rPr>
              <a:t>by_user</a:t>
            </a: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avg_mark</a:t>
            </a:r>
            <a:r>
              <a:rPr lang="en-US" sz="2200" dirty="0">
                <a:solidFill>
                  <a:srgbClr val="FF0000"/>
                </a:solidFill>
                <a:latin typeface="Arial" panose="020B0604020202020204" pitchFamily="34" charset="0"/>
                <a:cs typeface="Arial" panose="020B0604020202020204" pitchFamily="34" charset="0"/>
              </a:rPr>
              <a:t> : {$</a:t>
            </a:r>
            <a:r>
              <a:rPr lang="en-US" sz="2200" dirty="0" err="1">
                <a:solidFill>
                  <a:srgbClr val="FF0000"/>
                </a:solidFill>
                <a:latin typeface="Arial" panose="020B0604020202020204" pitchFamily="34" charset="0"/>
                <a:cs typeface="Arial" panose="020B0604020202020204" pitchFamily="34" charset="0"/>
              </a:rPr>
              <a:t>avg</a:t>
            </a:r>
            <a:r>
              <a:rPr lang="en-US" sz="2200" dirty="0">
                <a:solidFill>
                  <a:srgbClr val="FF0000"/>
                </a:solidFill>
                <a:latin typeface="Arial" panose="020B0604020202020204" pitchFamily="34" charset="0"/>
                <a:cs typeface="Arial" panose="020B0604020202020204" pitchFamily="34" charset="0"/>
              </a:rPr>
              <a:t> : "$mark"}}}]);</a:t>
            </a:r>
          </a:p>
          <a:p>
            <a:pPr marL="457200" lvl="1"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"_id" : null, "</a:t>
            </a:r>
            <a:r>
              <a:rPr lang="en-US" sz="2200" dirty="0" err="1">
                <a:solidFill>
                  <a:srgbClr val="404040"/>
                </a:solidFill>
                <a:latin typeface="Arial" panose="020B0604020202020204" pitchFamily="34" charset="0"/>
                <a:cs typeface="Arial" panose="020B0604020202020204" pitchFamily="34" charset="0"/>
              </a:rPr>
              <a:t>avg_mark</a:t>
            </a:r>
            <a:r>
              <a:rPr lang="en-US" sz="2200" dirty="0">
                <a:solidFill>
                  <a:srgbClr val="404040"/>
                </a:solidFill>
                <a:latin typeface="Arial" panose="020B0604020202020204" pitchFamily="34" charset="0"/>
                <a:cs typeface="Arial" panose="020B0604020202020204" pitchFamily="34" charset="0"/>
              </a:rPr>
              <a:t>" : 81.4 }</a:t>
            </a:r>
          </a:p>
          <a:p>
            <a:pPr marL="457200" lvl="1"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To find min of values in a document</a:t>
            </a:r>
          </a:p>
          <a:p>
            <a:pPr marL="457200" lvl="1"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db.cse.aggregate</a:t>
            </a:r>
            <a:r>
              <a:rPr lang="en-US" sz="2200" dirty="0">
                <a:solidFill>
                  <a:srgbClr val="FF0000"/>
                </a:solidFill>
                <a:latin typeface="Arial" panose="020B0604020202020204" pitchFamily="34" charset="0"/>
                <a:cs typeface="Arial" panose="020B0604020202020204" pitchFamily="34" charset="0"/>
              </a:rPr>
              <a:t>([{$group : {_id : "$</a:t>
            </a:r>
            <a:r>
              <a:rPr lang="en-US" sz="2200" dirty="0" err="1">
                <a:solidFill>
                  <a:srgbClr val="FF0000"/>
                </a:solidFill>
                <a:latin typeface="Arial" panose="020B0604020202020204" pitchFamily="34" charset="0"/>
                <a:cs typeface="Arial" panose="020B0604020202020204" pitchFamily="34" charset="0"/>
              </a:rPr>
              <a:t>by_user</a:t>
            </a: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min_mark</a:t>
            </a:r>
            <a:r>
              <a:rPr lang="en-US" sz="2200" dirty="0">
                <a:solidFill>
                  <a:srgbClr val="FF0000"/>
                </a:solidFill>
                <a:latin typeface="Arial" panose="020B0604020202020204" pitchFamily="34" charset="0"/>
                <a:cs typeface="Arial" panose="020B0604020202020204" pitchFamily="34" charset="0"/>
              </a:rPr>
              <a:t> : {$min : "$mark"}}}]);</a:t>
            </a:r>
          </a:p>
          <a:p>
            <a:pPr marL="457200" lvl="1"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"_id" : null, "</a:t>
            </a:r>
            <a:r>
              <a:rPr lang="en-US" sz="2200" dirty="0" err="1">
                <a:solidFill>
                  <a:srgbClr val="404040"/>
                </a:solidFill>
                <a:latin typeface="Arial" panose="020B0604020202020204" pitchFamily="34" charset="0"/>
                <a:cs typeface="Arial" panose="020B0604020202020204" pitchFamily="34" charset="0"/>
              </a:rPr>
              <a:t>min_mark</a:t>
            </a:r>
            <a:r>
              <a:rPr lang="en-US" sz="2200" dirty="0">
                <a:solidFill>
                  <a:srgbClr val="404040"/>
                </a:solidFill>
                <a:latin typeface="Arial" panose="020B0604020202020204" pitchFamily="34" charset="0"/>
                <a:cs typeface="Arial" panose="020B0604020202020204" pitchFamily="34" charset="0"/>
              </a:rPr>
              <a:t>" : 68 }</a:t>
            </a:r>
          </a:p>
          <a:p>
            <a:pPr marL="457200" lvl="1" indent="0">
              <a:lnSpc>
                <a:spcPct val="110000"/>
              </a:lnSpc>
              <a:spcBef>
                <a:spcPts val="0"/>
              </a:spcBef>
              <a:buNone/>
            </a:pPr>
            <a:endParaRPr lang="en-US" sz="2200" dirty="0">
              <a:solidFill>
                <a:srgbClr val="40404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12-07-2024</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28</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1142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Aggregate Functions</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To find min of values in a document</a:t>
            </a:r>
          </a:p>
          <a:p>
            <a:pPr marL="457200" lvl="1"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db.cse.aggregate</a:t>
            </a:r>
            <a:r>
              <a:rPr lang="en-US" sz="2200" dirty="0">
                <a:solidFill>
                  <a:srgbClr val="FF0000"/>
                </a:solidFill>
                <a:latin typeface="Arial" panose="020B0604020202020204" pitchFamily="34" charset="0"/>
                <a:cs typeface="Arial" panose="020B0604020202020204" pitchFamily="34" charset="0"/>
              </a:rPr>
              <a:t>([{$group : {_id : "$</a:t>
            </a:r>
            <a:r>
              <a:rPr lang="en-US" sz="2200" dirty="0" err="1">
                <a:solidFill>
                  <a:srgbClr val="FF0000"/>
                </a:solidFill>
                <a:latin typeface="Arial" panose="020B0604020202020204" pitchFamily="34" charset="0"/>
                <a:cs typeface="Arial" panose="020B0604020202020204" pitchFamily="34" charset="0"/>
              </a:rPr>
              <a:t>by_user</a:t>
            </a: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max_mark</a:t>
            </a:r>
            <a:r>
              <a:rPr lang="en-US" sz="2200" dirty="0">
                <a:solidFill>
                  <a:srgbClr val="FF0000"/>
                </a:solidFill>
                <a:latin typeface="Arial" panose="020B0604020202020204" pitchFamily="34" charset="0"/>
                <a:cs typeface="Arial" panose="020B0604020202020204" pitchFamily="34" charset="0"/>
              </a:rPr>
              <a:t> : {$max : "$mark"}}}]);</a:t>
            </a:r>
          </a:p>
          <a:p>
            <a:pPr marL="457200" lvl="1"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"_id" : null, "</a:t>
            </a:r>
            <a:r>
              <a:rPr lang="en-US" sz="2200" dirty="0" err="1">
                <a:solidFill>
                  <a:srgbClr val="404040"/>
                </a:solidFill>
                <a:latin typeface="Arial" panose="020B0604020202020204" pitchFamily="34" charset="0"/>
                <a:cs typeface="Arial" panose="020B0604020202020204" pitchFamily="34" charset="0"/>
              </a:rPr>
              <a:t>max_mark</a:t>
            </a:r>
            <a:r>
              <a:rPr lang="en-US" sz="2200" dirty="0">
                <a:solidFill>
                  <a:srgbClr val="404040"/>
                </a:solidFill>
                <a:latin typeface="Arial" panose="020B0604020202020204" pitchFamily="34" charset="0"/>
                <a:cs typeface="Arial" panose="020B0604020202020204" pitchFamily="34" charset="0"/>
              </a:rPr>
              <a:t>" : 98 }</a:t>
            </a:r>
          </a:p>
          <a:p>
            <a:pPr marL="457200" lvl="1" indent="0">
              <a:lnSpc>
                <a:spcPct val="110000"/>
              </a:lnSpc>
              <a:spcBef>
                <a:spcPts val="0"/>
              </a:spcBef>
              <a:buNone/>
            </a:pPr>
            <a:endParaRPr lang="en-US" sz="2200" dirty="0">
              <a:solidFill>
                <a:srgbClr val="404040"/>
              </a:solidFill>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To count in a document</a:t>
            </a:r>
          </a:p>
          <a:p>
            <a:pPr marL="457200" lvl="1" indent="0">
              <a:lnSpc>
                <a:spcPct val="110000"/>
              </a:lnSpc>
              <a:spcBef>
                <a:spcPts val="0"/>
              </a:spcBef>
              <a:buNone/>
            </a:pPr>
            <a:r>
              <a:rPr lang="en-US" sz="2200" dirty="0" err="1">
                <a:solidFill>
                  <a:srgbClr val="FF0000"/>
                </a:solidFill>
                <a:latin typeface="Arial" panose="020B0604020202020204" pitchFamily="34" charset="0"/>
                <a:cs typeface="Arial" panose="020B0604020202020204" pitchFamily="34" charset="0"/>
              </a:rPr>
              <a:t>db.cse.aggregate</a:t>
            </a:r>
            <a:r>
              <a:rPr lang="en-US" sz="2200" dirty="0">
                <a:solidFill>
                  <a:srgbClr val="FF0000"/>
                </a:solidFill>
                <a:latin typeface="Arial" panose="020B0604020202020204" pitchFamily="34" charset="0"/>
                <a:cs typeface="Arial" panose="020B0604020202020204" pitchFamily="34" charset="0"/>
              </a:rPr>
              <a:t>( [ { $match: {mark: {$</a:t>
            </a:r>
            <a:r>
              <a:rPr lang="en-US" sz="2200" dirty="0" err="1">
                <a:solidFill>
                  <a:srgbClr val="FF0000"/>
                </a:solidFill>
                <a:latin typeface="Arial" panose="020B0604020202020204" pitchFamily="34" charset="0"/>
                <a:cs typeface="Arial" panose="020B0604020202020204" pitchFamily="34" charset="0"/>
              </a:rPr>
              <a:t>gt</a:t>
            </a:r>
            <a:r>
              <a:rPr lang="en-US" sz="2200" dirty="0">
                <a:solidFill>
                  <a:srgbClr val="FF0000"/>
                </a:solidFill>
                <a:latin typeface="Arial" panose="020B0604020202020204" pitchFamily="34" charset="0"/>
                <a:cs typeface="Arial" panose="020B0604020202020204" pitchFamily="34" charset="0"/>
              </a:rPr>
              <a:t>: 80}}}, {$count: "above 80"} ] );</a:t>
            </a:r>
          </a:p>
          <a:p>
            <a:pPr marL="457200" lvl="1"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 "above 80" : 2 }</a:t>
            </a:r>
          </a:p>
          <a:p>
            <a:pPr marL="457200" lvl="1" indent="0">
              <a:lnSpc>
                <a:spcPct val="110000"/>
              </a:lnSpc>
              <a:spcBef>
                <a:spcPts val="0"/>
              </a:spcBef>
              <a:buNone/>
            </a:pPr>
            <a:endParaRPr lang="en-US" sz="2200" dirty="0">
              <a:solidFill>
                <a:srgbClr val="404040"/>
              </a:solidFill>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To ascending order in a document</a:t>
            </a:r>
          </a:p>
          <a:p>
            <a:pPr marL="457200" lvl="1" indent="0">
              <a:lnSpc>
                <a:spcPct val="110000"/>
              </a:lnSpc>
              <a:spcBef>
                <a:spcPts val="0"/>
              </a:spcBef>
              <a:buNone/>
            </a:pPr>
            <a:r>
              <a:rPr lang="en-US" sz="2200" dirty="0" err="1">
                <a:solidFill>
                  <a:srgbClr val="FF0000"/>
                </a:solidFill>
                <a:latin typeface="Arial" panose="020B0604020202020204" pitchFamily="34" charset="0"/>
                <a:cs typeface="Arial" panose="020B0604020202020204" pitchFamily="34" charset="0"/>
              </a:rPr>
              <a:t>db.cse.find</a:t>
            </a:r>
            <a:r>
              <a:rPr lang="en-US" sz="2200" dirty="0">
                <a:solidFill>
                  <a:srgbClr val="FF0000"/>
                </a:solidFill>
                <a:latin typeface="Arial" panose="020B0604020202020204" pitchFamily="34" charset="0"/>
                <a:cs typeface="Arial" panose="020B0604020202020204" pitchFamily="34" charset="0"/>
              </a:rPr>
              <a:t>({},{_id:0,sname:1,mark:1}).sort({mark:1}) //Ascending order</a:t>
            </a:r>
          </a:p>
          <a:p>
            <a:pPr marL="457200" lvl="1" indent="0">
              <a:lnSpc>
                <a:spcPct val="110000"/>
              </a:lnSpc>
              <a:spcBef>
                <a:spcPts val="0"/>
              </a:spcBef>
              <a:buNone/>
            </a:pPr>
            <a:r>
              <a:rPr lang="en-US" sz="2200" dirty="0" err="1">
                <a:solidFill>
                  <a:srgbClr val="FF0000"/>
                </a:solidFill>
                <a:latin typeface="Arial" panose="020B0604020202020204" pitchFamily="34" charset="0"/>
                <a:cs typeface="Arial" panose="020B0604020202020204" pitchFamily="34" charset="0"/>
              </a:rPr>
              <a:t>db.cse.find</a:t>
            </a:r>
            <a:r>
              <a:rPr lang="en-US" sz="2200" dirty="0">
                <a:solidFill>
                  <a:srgbClr val="FF0000"/>
                </a:solidFill>
                <a:latin typeface="Arial" panose="020B0604020202020204" pitchFamily="34" charset="0"/>
                <a:cs typeface="Arial" panose="020B0604020202020204" pitchFamily="34" charset="0"/>
              </a:rPr>
              <a:t>({},{_id:0,sname:1,mark:1}).sort({mark:1}).limit(1) //topper</a:t>
            </a: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12-07-2024</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29</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3767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Update in MongoDB</a:t>
            </a:r>
          </a:p>
        </p:txBody>
      </p:sp>
      <p:sp>
        <p:nvSpPr>
          <p:cNvPr id="3" name="Content Placeholder 2"/>
          <p:cNvSpPr>
            <a:spLocks noGrp="1"/>
          </p:cNvSpPr>
          <p:nvPr>
            <p:ph idx="1"/>
          </p:nvPr>
        </p:nvSpPr>
        <p:spPr>
          <a:xfrm>
            <a:off x="838200" y="1690688"/>
            <a:ext cx="10515600" cy="4486275"/>
          </a:xfrm>
        </p:spPr>
        <p:txBody>
          <a:bodyPr>
            <a:noAutofit/>
          </a:bodyPr>
          <a:lstStyle/>
          <a:p>
            <a:pPr marL="182562" indent="0">
              <a:lnSpc>
                <a:spcPct val="130000"/>
              </a:lnSpc>
              <a:spcBef>
                <a:spcPts val="0"/>
              </a:spcBef>
              <a:buNone/>
            </a:pPr>
            <a:r>
              <a:rPr lang="en-US" sz="2200" dirty="0" err="1">
                <a:solidFill>
                  <a:srgbClr val="0000FF"/>
                </a:solidFill>
                <a:latin typeface="Arial" panose="020B0604020202020204" pitchFamily="34" charset="0"/>
                <a:cs typeface="Arial" panose="020B0604020202020204" pitchFamily="34" charset="0"/>
              </a:rPr>
              <a:t>db.collection.update</a:t>
            </a:r>
            <a:r>
              <a:rPr lang="en-US" sz="2200" dirty="0">
                <a:solidFill>
                  <a:srgbClr val="0000FF"/>
                </a:solidFill>
                <a:latin typeface="Arial" panose="020B0604020202020204" pitchFamily="34" charset="0"/>
                <a:cs typeface="Arial" panose="020B0604020202020204" pitchFamily="34" charset="0"/>
              </a:rPr>
              <a:t>() //deprecated</a:t>
            </a:r>
          </a:p>
          <a:p>
            <a:pPr marL="639762" lvl="1" indent="0">
              <a:lnSpc>
                <a:spcPct val="130000"/>
              </a:lnSpc>
              <a:spcBef>
                <a:spcPts val="0"/>
              </a:spcBef>
              <a:buNone/>
            </a:pPr>
            <a:r>
              <a:rPr lang="en-US" sz="2200" dirty="0" err="1">
                <a:solidFill>
                  <a:srgbClr val="FF0000"/>
                </a:solidFill>
                <a:latin typeface="Arial" panose="020B0604020202020204" pitchFamily="34" charset="0"/>
                <a:cs typeface="Arial" panose="020B0604020202020204" pitchFamily="34" charset="0"/>
              </a:rPr>
              <a:t>db.cse.update</a:t>
            </a:r>
            <a:r>
              <a:rPr lang="en-US" sz="2200" dirty="0">
                <a:solidFill>
                  <a:srgbClr val="FF0000"/>
                </a:solidFill>
                <a:latin typeface="Arial" panose="020B0604020202020204" pitchFamily="34" charset="0"/>
                <a:cs typeface="Arial" panose="020B0604020202020204" pitchFamily="34" charset="0"/>
              </a:rPr>
              <a:t>({sid:502},{$set:{sid:502,sname:'vihan',age:22,mark:98}})</a:t>
            </a:r>
          </a:p>
          <a:p>
            <a:pPr marL="639762" lvl="1" indent="0">
              <a:lnSpc>
                <a:spcPct val="130000"/>
              </a:lnSpc>
              <a:spcBef>
                <a:spcPts val="0"/>
              </a:spcBef>
              <a:buNone/>
            </a:pPr>
            <a:r>
              <a:rPr lang="en-US" sz="2200" dirty="0" err="1">
                <a:solidFill>
                  <a:srgbClr val="404040"/>
                </a:solidFill>
                <a:latin typeface="Arial" panose="020B0604020202020204" pitchFamily="34" charset="0"/>
                <a:cs typeface="Arial" panose="020B0604020202020204" pitchFamily="34" charset="0"/>
              </a:rPr>
              <a:t>WriteResult</a:t>
            </a: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nMatched</a:t>
            </a:r>
            <a:r>
              <a:rPr lang="en-US" sz="2200" dirty="0">
                <a:solidFill>
                  <a:srgbClr val="404040"/>
                </a:solidFill>
                <a:latin typeface="Arial" panose="020B0604020202020204" pitchFamily="34" charset="0"/>
                <a:cs typeface="Arial" panose="020B0604020202020204" pitchFamily="34" charset="0"/>
              </a:rPr>
              <a:t>" : 1, "</a:t>
            </a:r>
            <a:r>
              <a:rPr lang="en-US" sz="2200" dirty="0" err="1">
                <a:solidFill>
                  <a:srgbClr val="404040"/>
                </a:solidFill>
                <a:latin typeface="Arial" panose="020B0604020202020204" pitchFamily="34" charset="0"/>
                <a:cs typeface="Arial" panose="020B0604020202020204" pitchFamily="34" charset="0"/>
              </a:rPr>
              <a:t>nUpserted</a:t>
            </a:r>
            <a:r>
              <a:rPr lang="en-US" sz="2200" dirty="0">
                <a:solidFill>
                  <a:srgbClr val="404040"/>
                </a:solidFill>
                <a:latin typeface="Arial" panose="020B0604020202020204" pitchFamily="34" charset="0"/>
                <a:cs typeface="Arial" panose="020B0604020202020204" pitchFamily="34" charset="0"/>
              </a:rPr>
              <a:t>" : 0, "</a:t>
            </a:r>
            <a:r>
              <a:rPr lang="en-US" sz="2200" dirty="0" err="1">
                <a:solidFill>
                  <a:srgbClr val="404040"/>
                </a:solidFill>
                <a:latin typeface="Arial" panose="020B0604020202020204" pitchFamily="34" charset="0"/>
                <a:cs typeface="Arial" panose="020B0604020202020204" pitchFamily="34" charset="0"/>
              </a:rPr>
              <a:t>nModified</a:t>
            </a:r>
            <a:r>
              <a:rPr lang="en-US" sz="2200" dirty="0">
                <a:solidFill>
                  <a:srgbClr val="404040"/>
                </a:solidFill>
                <a:latin typeface="Arial" panose="020B0604020202020204" pitchFamily="34" charset="0"/>
                <a:cs typeface="Arial" panose="020B0604020202020204" pitchFamily="34" charset="0"/>
              </a:rPr>
              <a:t>" : 1 })</a:t>
            </a:r>
          </a:p>
          <a:p>
            <a:pPr marL="182562" indent="0">
              <a:lnSpc>
                <a:spcPct val="130000"/>
              </a:lnSpc>
              <a:spcBef>
                <a:spcPts val="1800"/>
              </a:spcBef>
              <a:buNone/>
            </a:pPr>
            <a:r>
              <a:rPr lang="en-US" sz="2200" dirty="0" err="1">
                <a:solidFill>
                  <a:srgbClr val="0000FF"/>
                </a:solidFill>
                <a:latin typeface="Arial" panose="020B0604020202020204" pitchFamily="34" charset="0"/>
                <a:cs typeface="Arial" panose="020B0604020202020204" pitchFamily="34" charset="0"/>
              </a:rPr>
              <a:t>db.collection.updateOne</a:t>
            </a:r>
            <a:r>
              <a:rPr lang="en-US" sz="2200" dirty="0">
                <a:solidFill>
                  <a:srgbClr val="0000FF"/>
                </a:solidFill>
                <a:latin typeface="Arial" panose="020B0604020202020204" pitchFamily="34" charset="0"/>
                <a:cs typeface="Arial" panose="020B0604020202020204" pitchFamily="34" charset="0"/>
              </a:rPr>
              <a:t>() </a:t>
            </a:r>
          </a:p>
          <a:p>
            <a:pPr marL="639762" lvl="1" indent="0">
              <a:lnSpc>
                <a:spcPct val="130000"/>
              </a:lnSpc>
              <a:spcBef>
                <a:spcPts val="0"/>
              </a:spcBef>
              <a:buNone/>
            </a:pPr>
            <a:r>
              <a:rPr lang="en-US" sz="2200" dirty="0" err="1">
                <a:solidFill>
                  <a:srgbClr val="FF0000"/>
                </a:solidFill>
                <a:latin typeface="Arial" panose="020B0604020202020204" pitchFamily="34" charset="0"/>
                <a:cs typeface="Arial" panose="020B0604020202020204" pitchFamily="34" charset="0"/>
              </a:rPr>
              <a:t>db.cse.updateOne</a:t>
            </a:r>
            <a:r>
              <a:rPr lang="en-US" sz="2200" dirty="0">
                <a:solidFill>
                  <a:srgbClr val="FF0000"/>
                </a:solidFill>
                <a:latin typeface="Arial" panose="020B0604020202020204" pitchFamily="34" charset="0"/>
                <a:cs typeface="Arial" panose="020B0604020202020204" pitchFamily="34" charset="0"/>
              </a:rPr>
              <a:t>({sid:502},{$set:{sid:502,sname:'vihan',age:22,mark:98}})</a:t>
            </a:r>
          </a:p>
          <a:p>
            <a:pPr marL="639762" lvl="1" indent="0">
              <a:lnSpc>
                <a:spcPct val="130000"/>
              </a:lnSpc>
              <a:spcBef>
                <a:spcPts val="0"/>
              </a:spcBef>
              <a:buNone/>
            </a:pPr>
            <a:r>
              <a:rPr lang="en-US" sz="2200" dirty="0" err="1">
                <a:solidFill>
                  <a:srgbClr val="404040"/>
                </a:solidFill>
                <a:latin typeface="Arial" panose="020B0604020202020204" pitchFamily="34" charset="0"/>
                <a:cs typeface="Arial" panose="020B0604020202020204" pitchFamily="34" charset="0"/>
              </a:rPr>
              <a:t>WriteResult</a:t>
            </a: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nMatched</a:t>
            </a:r>
            <a:r>
              <a:rPr lang="en-US" sz="2200" dirty="0">
                <a:solidFill>
                  <a:srgbClr val="404040"/>
                </a:solidFill>
                <a:latin typeface="Arial" panose="020B0604020202020204" pitchFamily="34" charset="0"/>
                <a:cs typeface="Arial" panose="020B0604020202020204" pitchFamily="34" charset="0"/>
              </a:rPr>
              <a:t>" : 1, "</a:t>
            </a:r>
            <a:r>
              <a:rPr lang="en-US" sz="2200" dirty="0" err="1">
                <a:solidFill>
                  <a:srgbClr val="404040"/>
                </a:solidFill>
                <a:latin typeface="Arial" panose="020B0604020202020204" pitchFamily="34" charset="0"/>
                <a:cs typeface="Arial" panose="020B0604020202020204" pitchFamily="34" charset="0"/>
              </a:rPr>
              <a:t>nUpserted</a:t>
            </a:r>
            <a:r>
              <a:rPr lang="en-US" sz="2200" dirty="0">
                <a:solidFill>
                  <a:srgbClr val="404040"/>
                </a:solidFill>
                <a:latin typeface="Arial" panose="020B0604020202020204" pitchFamily="34" charset="0"/>
                <a:cs typeface="Arial" panose="020B0604020202020204" pitchFamily="34" charset="0"/>
              </a:rPr>
              <a:t>" : 0, "</a:t>
            </a:r>
            <a:r>
              <a:rPr lang="en-US" sz="2200" dirty="0" err="1">
                <a:solidFill>
                  <a:srgbClr val="404040"/>
                </a:solidFill>
                <a:latin typeface="Arial" panose="020B0604020202020204" pitchFamily="34" charset="0"/>
                <a:cs typeface="Arial" panose="020B0604020202020204" pitchFamily="34" charset="0"/>
              </a:rPr>
              <a:t>nModified</a:t>
            </a:r>
            <a:r>
              <a:rPr lang="en-US" sz="2200" dirty="0">
                <a:solidFill>
                  <a:srgbClr val="404040"/>
                </a:solidFill>
                <a:latin typeface="Arial" panose="020B0604020202020204" pitchFamily="34" charset="0"/>
                <a:cs typeface="Arial" panose="020B0604020202020204" pitchFamily="34" charset="0"/>
              </a:rPr>
              <a:t>" : 1 })</a:t>
            </a:r>
          </a:p>
          <a:p>
            <a:pPr marL="182562" indent="0">
              <a:lnSpc>
                <a:spcPct val="130000"/>
              </a:lnSpc>
              <a:spcBef>
                <a:spcPts val="1800"/>
              </a:spcBef>
              <a:buNone/>
            </a:pPr>
            <a:r>
              <a:rPr lang="en-US" sz="2200" dirty="0" err="1">
                <a:solidFill>
                  <a:srgbClr val="0000FF"/>
                </a:solidFill>
                <a:latin typeface="Arial" panose="020B0604020202020204" pitchFamily="34" charset="0"/>
                <a:cs typeface="Arial" panose="020B0604020202020204" pitchFamily="34" charset="0"/>
              </a:rPr>
              <a:t>db.collection.updateMany</a:t>
            </a:r>
            <a:r>
              <a:rPr lang="en-US" sz="2200" dirty="0">
                <a:solidFill>
                  <a:srgbClr val="0000FF"/>
                </a:solidFill>
                <a:latin typeface="Arial" panose="020B0604020202020204" pitchFamily="34" charset="0"/>
                <a:cs typeface="Arial" panose="020B0604020202020204" pitchFamily="34" charset="0"/>
              </a:rPr>
              <a:t>() </a:t>
            </a:r>
          </a:p>
          <a:p>
            <a:pPr marL="639762" lvl="1" indent="0">
              <a:lnSpc>
                <a:spcPct val="130000"/>
              </a:lnSpc>
              <a:spcBef>
                <a:spcPts val="0"/>
              </a:spcBef>
              <a:buNone/>
            </a:pPr>
            <a:r>
              <a:rPr lang="en-US" sz="2200" dirty="0" err="1">
                <a:solidFill>
                  <a:srgbClr val="FF0000"/>
                </a:solidFill>
                <a:latin typeface="Arial" panose="020B0604020202020204" pitchFamily="34" charset="0"/>
                <a:cs typeface="Arial" panose="020B0604020202020204" pitchFamily="34" charset="0"/>
              </a:rPr>
              <a:t>db.cse.updateMany</a:t>
            </a:r>
            <a:r>
              <a:rPr lang="en-US" sz="2200" dirty="0">
                <a:solidFill>
                  <a:srgbClr val="FF0000"/>
                </a:solidFill>
                <a:latin typeface="Arial" panose="020B0604020202020204" pitchFamily="34" charset="0"/>
                <a:cs typeface="Arial" panose="020B0604020202020204" pitchFamily="34" charset="0"/>
              </a:rPr>
              <a:t>({sid:</a:t>
            </a:r>
            <a:r>
              <a:rPr lang="en-US" sz="2200">
                <a:solidFill>
                  <a:srgbClr val="FF0000"/>
                </a:solidFill>
                <a:latin typeface="Arial" panose="020B0604020202020204" pitchFamily="34" charset="0"/>
                <a:cs typeface="Arial" panose="020B0604020202020204" pitchFamily="34" charset="0"/>
              </a:rPr>
              <a:t>502},{$set:{sid</a:t>
            </a:r>
            <a:r>
              <a:rPr lang="en-US" sz="2200" dirty="0">
                <a:solidFill>
                  <a:srgbClr val="FF0000"/>
                </a:solidFill>
                <a:latin typeface="Arial" panose="020B0604020202020204" pitchFamily="34" charset="0"/>
                <a:cs typeface="Arial" panose="020B0604020202020204" pitchFamily="34" charset="0"/>
              </a:rPr>
              <a:t>:502,sname:'vihan',age:22,mark</a:t>
            </a:r>
            <a:r>
              <a:rPr lang="en-US" sz="2200">
                <a:solidFill>
                  <a:srgbClr val="FF0000"/>
                </a:solidFill>
                <a:latin typeface="Arial" panose="020B0604020202020204" pitchFamily="34" charset="0"/>
                <a:cs typeface="Arial" panose="020B0604020202020204" pitchFamily="34" charset="0"/>
              </a:rPr>
              <a:t>:98}})</a:t>
            </a:r>
            <a:endParaRPr lang="en-US" sz="2200" dirty="0">
              <a:solidFill>
                <a:srgbClr val="FF0000"/>
              </a:solidFill>
              <a:latin typeface="Arial" panose="020B0604020202020204" pitchFamily="34" charset="0"/>
              <a:cs typeface="Arial" panose="020B0604020202020204" pitchFamily="34" charset="0"/>
            </a:endParaRPr>
          </a:p>
          <a:p>
            <a:pPr marL="639762" lvl="1" indent="0">
              <a:lnSpc>
                <a:spcPct val="130000"/>
              </a:lnSpc>
              <a:spcBef>
                <a:spcPts val="0"/>
              </a:spcBef>
              <a:buNone/>
            </a:pPr>
            <a:r>
              <a:rPr lang="en-US" sz="2200" dirty="0" err="1">
                <a:solidFill>
                  <a:srgbClr val="404040"/>
                </a:solidFill>
                <a:latin typeface="Arial" panose="020B0604020202020204" pitchFamily="34" charset="0"/>
                <a:cs typeface="Arial" panose="020B0604020202020204" pitchFamily="34" charset="0"/>
              </a:rPr>
              <a:t>WriteResult</a:t>
            </a: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nMatched</a:t>
            </a:r>
            <a:r>
              <a:rPr lang="en-US" sz="2200" dirty="0">
                <a:solidFill>
                  <a:srgbClr val="404040"/>
                </a:solidFill>
                <a:latin typeface="Arial" panose="020B0604020202020204" pitchFamily="34" charset="0"/>
                <a:cs typeface="Arial" panose="020B0604020202020204" pitchFamily="34" charset="0"/>
              </a:rPr>
              <a:t>" : 1, "</a:t>
            </a:r>
            <a:r>
              <a:rPr lang="en-US" sz="2200" dirty="0" err="1">
                <a:solidFill>
                  <a:srgbClr val="404040"/>
                </a:solidFill>
                <a:latin typeface="Arial" panose="020B0604020202020204" pitchFamily="34" charset="0"/>
                <a:cs typeface="Arial" panose="020B0604020202020204" pitchFamily="34" charset="0"/>
              </a:rPr>
              <a:t>nUpserted</a:t>
            </a:r>
            <a:r>
              <a:rPr lang="en-US" sz="2200" dirty="0">
                <a:solidFill>
                  <a:srgbClr val="404040"/>
                </a:solidFill>
                <a:latin typeface="Arial" panose="020B0604020202020204" pitchFamily="34" charset="0"/>
                <a:cs typeface="Arial" panose="020B0604020202020204" pitchFamily="34" charset="0"/>
              </a:rPr>
              <a:t>" : 0, "</a:t>
            </a:r>
            <a:r>
              <a:rPr lang="en-US" sz="2200" dirty="0" err="1">
                <a:solidFill>
                  <a:srgbClr val="404040"/>
                </a:solidFill>
                <a:latin typeface="Arial" panose="020B0604020202020204" pitchFamily="34" charset="0"/>
                <a:cs typeface="Arial" panose="020B0604020202020204" pitchFamily="34" charset="0"/>
              </a:rPr>
              <a:t>nModified</a:t>
            </a:r>
            <a:r>
              <a:rPr lang="en-US" sz="2200" dirty="0">
                <a:solidFill>
                  <a:srgbClr val="404040"/>
                </a:solidFill>
                <a:latin typeface="Arial" panose="020B0604020202020204" pitchFamily="34" charset="0"/>
                <a:cs typeface="Arial" panose="020B0604020202020204" pitchFamily="34" charset="0"/>
              </a:rPr>
              <a:t>" : 1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6185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remove()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MongoDB's remove() method is used to remove a document from the collection. remove() method accepts two parameters. One is deletion criteria and second is </a:t>
            </a:r>
            <a:r>
              <a:rPr lang="en-US" sz="2200" dirty="0" err="1">
                <a:latin typeface="Arial" panose="020B0604020202020204" pitchFamily="34" charset="0"/>
                <a:cs typeface="Arial" panose="020B0604020202020204" pitchFamily="34" charset="0"/>
              </a:rPr>
              <a:t>justOne</a:t>
            </a:r>
            <a:r>
              <a:rPr lang="en-US" sz="2200" dirty="0">
                <a:latin typeface="Arial" panose="020B0604020202020204" pitchFamily="34" charset="0"/>
                <a:cs typeface="Arial" panose="020B0604020202020204" pitchFamily="34" charset="0"/>
              </a:rPr>
              <a:t> flag.</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200" b="1" dirty="0">
                <a:latin typeface="Arial" panose="020B0604020202020204" pitchFamily="34" charset="0"/>
                <a:cs typeface="Arial" panose="020B0604020202020204" pitchFamily="34" charset="0"/>
              </a:rPr>
              <a:t>deletion criteria </a:t>
            </a:r>
            <a:r>
              <a:rPr lang="en-US" sz="2200" dirty="0">
                <a:latin typeface="Arial" panose="020B0604020202020204" pitchFamily="34" charset="0"/>
                <a:cs typeface="Arial" panose="020B0604020202020204" pitchFamily="34" charset="0"/>
              </a:rPr>
              <a:t>− (Optional) deletion criteria according to documents will be removed.</a:t>
            </a:r>
          </a:p>
          <a:p>
            <a:pPr marL="539750" indent="-357188">
              <a:lnSpc>
                <a:spcPct val="110000"/>
              </a:lnSpc>
              <a:spcBef>
                <a:spcPts val="0"/>
              </a:spcBef>
            </a:pPr>
            <a:r>
              <a:rPr lang="en-US" sz="2200" b="1" dirty="0" err="1">
                <a:latin typeface="Arial" panose="020B0604020202020204" pitchFamily="34" charset="0"/>
                <a:cs typeface="Arial" panose="020B0604020202020204" pitchFamily="34" charset="0"/>
              </a:rPr>
              <a:t>justOne</a:t>
            </a:r>
            <a:r>
              <a:rPr lang="en-US" sz="2200" dirty="0">
                <a:latin typeface="Arial" panose="020B0604020202020204" pitchFamily="34" charset="0"/>
                <a:cs typeface="Arial" panose="020B0604020202020204" pitchFamily="34" charset="0"/>
              </a:rPr>
              <a:t> − (Optional) if set to true or 1, then remove only one document.</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b="1"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db.COLLECTION_NAME.remove</a:t>
            </a:r>
            <a:r>
              <a:rPr lang="en-US" sz="2200" dirty="0">
                <a:solidFill>
                  <a:srgbClr val="FF0000"/>
                </a:solidFill>
                <a:latin typeface="Arial" panose="020B0604020202020204" pitchFamily="34" charset="0"/>
                <a:cs typeface="Arial" panose="020B0604020202020204" pitchFamily="34" charset="0"/>
              </a:rPr>
              <a:t>(DELLETION_CRITTERIA)</a:t>
            </a: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12-07-2024</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31</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283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remove()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1200"/>
              </a:spcBef>
              <a:spcAft>
                <a:spcPts val="600"/>
              </a:spcAft>
              <a:buNone/>
            </a:pPr>
            <a:r>
              <a:rPr lang="en-US" sz="2200" b="1" dirty="0">
                <a:latin typeface="Arial" panose="020B0604020202020204" pitchFamily="34" charset="0"/>
                <a:cs typeface="Arial" panose="020B0604020202020204" pitchFamily="34" charset="0"/>
              </a:rPr>
              <a:t>Remove All Documents</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If you don't specify deletion criteria, then MongoDB will delete whole documents from the collection. This is equivalent of SQL's truncate command.</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db.cse.remove</a:t>
            </a:r>
            <a:r>
              <a:rPr lang="en-US" sz="2200" dirty="0">
                <a:solidFill>
                  <a:srgbClr val="FF0000"/>
                </a:solidFill>
                <a:latin typeface="Arial" panose="020B0604020202020204" pitchFamily="34" charset="0"/>
                <a:cs typeface="Arial" panose="020B0604020202020204" pitchFamily="34" charset="0"/>
              </a:rPr>
              <a:t>({stud_id:105}); //</a:t>
            </a:r>
            <a:r>
              <a:rPr lang="en-US" sz="2200" dirty="0" err="1">
                <a:solidFill>
                  <a:srgbClr val="FF0000"/>
                </a:solidFill>
                <a:latin typeface="Arial" panose="020B0604020202020204" pitchFamily="34" charset="0"/>
                <a:cs typeface="Arial" panose="020B0604020202020204" pitchFamily="34" charset="0"/>
              </a:rPr>
              <a:t>deprec</a:t>
            </a:r>
            <a:endParaRPr lang="en-US" sz="2200" dirty="0">
              <a:solidFill>
                <a:srgbClr val="FF0000"/>
              </a:solidFill>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WriteResult</a:t>
            </a: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nRemoved</a:t>
            </a:r>
            <a:r>
              <a:rPr lang="en-US" sz="2200" dirty="0">
                <a:solidFill>
                  <a:srgbClr val="404040"/>
                </a:solidFill>
                <a:latin typeface="Arial" panose="020B0604020202020204" pitchFamily="34" charset="0"/>
                <a:cs typeface="Arial" panose="020B0604020202020204" pitchFamily="34" charset="0"/>
              </a:rPr>
              <a:t>" : 4 }) </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600"/>
              </a:spcBef>
              <a:spcAft>
                <a:spcPts val="600"/>
              </a:spcAft>
              <a:buNone/>
            </a:pPr>
            <a:r>
              <a:rPr lang="en-US" sz="2200" b="1" dirty="0">
                <a:latin typeface="Arial" panose="020B0604020202020204" pitchFamily="34" charset="0"/>
                <a:cs typeface="Arial" panose="020B0604020202020204" pitchFamily="34" charset="0"/>
              </a:rPr>
              <a:t>Remove Only One</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If there are multiple records and you want to delete only the first record, then set </a:t>
            </a:r>
            <a:r>
              <a:rPr lang="en-US" sz="2200" dirty="0" err="1">
                <a:latin typeface="Arial" panose="020B0604020202020204" pitchFamily="34" charset="0"/>
                <a:cs typeface="Arial" panose="020B0604020202020204" pitchFamily="34" charset="0"/>
              </a:rPr>
              <a:t>justOne</a:t>
            </a:r>
            <a:r>
              <a:rPr lang="en-US" sz="2200" dirty="0">
                <a:latin typeface="Arial" panose="020B0604020202020204" pitchFamily="34" charset="0"/>
                <a:cs typeface="Arial" panose="020B0604020202020204" pitchFamily="34" charset="0"/>
              </a:rPr>
              <a:t> parameter in remove() method.</a:t>
            </a:r>
          </a:p>
          <a:p>
            <a:pPr marL="0" indent="0">
              <a:lnSpc>
                <a:spcPct val="110000"/>
              </a:lnSpc>
              <a:spcBef>
                <a:spcPts val="0"/>
              </a:spcBef>
              <a:spcAft>
                <a:spcPts val="600"/>
              </a:spcAft>
              <a:buNone/>
            </a:pPr>
            <a:r>
              <a:rPr lang="en-US" sz="2200" dirty="0">
                <a:latin typeface="Arial" panose="020B0604020202020204" pitchFamily="34" charset="0"/>
                <a:cs typeface="Arial" panose="020B0604020202020204" pitchFamily="34" charset="0"/>
              </a:rPr>
              <a:t>	 &gt;</a:t>
            </a:r>
            <a:r>
              <a:rPr lang="en-US" sz="2200" dirty="0" err="1">
                <a:solidFill>
                  <a:srgbClr val="FF0000"/>
                </a:solidFill>
                <a:latin typeface="Arial" panose="020B0604020202020204" pitchFamily="34" charset="0"/>
                <a:cs typeface="Arial" panose="020B0604020202020204" pitchFamily="34" charset="0"/>
              </a:rPr>
              <a:t>db.cse.remove</a:t>
            </a:r>
            <a:r>
              <a:rPr lang="en-US" sz="2200" dirty="0">
                <a:solidFill>
                  <a:srgbClr val="FF0000"/>
                </a:solidFill>
                <a:latin typeface="Arial" panose="020B0604020202020204" pitchFamily="34" charset="0"/>
                <a:cs typeface="Arial" panose="020B0604020202020204" pitchFamily="34" charset="0"/>
              </a:rPr>
              <a:t>({stud_id:102},1);</a:t>
            </a:r>
          </a:p>
          <a:p>
            <a:pPr marL="0" indent="0">
              <a:lnSpc>
                <a:spcPct val="110000"/>
              </a:lnSpc>
              <a:spcBef>
                <a:spcPts val="0"/>
              </a:spcBef>
              <a:spcAft>
                <a:spcPts val="600"/>
              </a:spcAft>
              <a:buNone/>
            </a:pP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WriteResult</a:t>
            </a: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nRemoved</a:t>
            </a:r>
            <a:r>
              <a:rPr lang="en-US" sz="2200" dirty="0">
                <a:solidFill>
                  <a:srgbClr val="404040"/>
                </a:solidFill>
                <a:latin typeface="Arial" panose="020B0604020202020204" pitchFamily="34" charset="0"/>
                <a:cs typeface="Arial" panose="020B0604020202020204" pitchFamily="34" charset="0"/>
              </a:rPr>
              <a:t>" : 1 })</a:t>
            </a: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12-07-2024</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32</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9200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Other important methods</a:t>
            </a:r>
          </a:p>
        </p:txBody>
      </p:sp>
      <p:sp>
        <p:nvSpPr>
          <p:cNvPr id="3" name="Content Placeholder 2"/>
          <p:cNvSpPr>
            <a:spLocks noGrp="1"/>
          </p:cNvSpPr>
          <p:nvPr>
            <p:ph idx="1"/>
          </p:nvPr>
        </p:nvSpPr>
        <p:spPr>
          <a:xfrm>
            <a:off x="838200" y="1690688"/>
            <a:ext cx="10515600" cy="4486275"/>
          </a:xfrm>
        </p:spPr>
        <p:txBody>
          <a:bodyPr>
            <a:normAutofit/>
          </a:bodyPr>
          <a:lstStyle/>
          <a:p>
            <a:pPr marL="539750" indent="-357188">
              <a:lnSpc>
                <a:spcPct val="130000"/>
              </a:lnSpc>
              <a:spcBef>
                <a:spcPts val="0"/>
              </a:spcBef>
            </a:pPr>
            <a:r>
              <a:rPr lang="en-US" sz="2400" dirty="0" err="1">
                <a:solidFill>
                  <a:srgbClr val="0000FF"/>
                </a:solidFill>
                <a:latin typeface="Arial" panose="020B0604020202020204" pitchFamily="34" charset="0"/>
                <a:cs typeface="Arial" panose="020B0604020202020204" pitchFamily="34" charset="0"/>
              </a:rPr>
              <a:t>db.collection.findAndModify</a:t>
            </a:r>
            <a:r>
              <a:rPr lang="en-US" sz="2400" dirty="0">
                <a:solidFill>
                  <a:srgbClr val="0000FF"/>
                </a:solidFill>
                <a:latin typeface="Arial" panose="020B0604020202020204" pitchFamily="34" charset="0"/>
                <a:cs typeface="Arial" panose="020B0604020202020204" pitchFamily="34" charset="0"/>
              </a:rPr>
              <a:t>() </a:t>
            </a:r>
          </a:p>
          <a:p>
            <a:pPr marL="539750" indent="-357188">
              <a:lnSpc>
                <a:spcPct val="130000"/>
              </a:lnSpc>
              <a:spcBef>
                <a:spcPts val="0"/>
              </a:spcBef>
            </a:pPr>
            <a:r>
              <a:rPr lang="en-US" sz="2400" dirty="0" err="1">
                <a:solidFill>
                  <a:srgbClr val="0000FF"/>
                </a:solidFill>
                <a:latin typeface="Arial" panose="020B0604020202020204" pitchFamily="34" charset="0"/>
                <a:cs typeface="Arial" panose="020B0604020202020204" pitchFamily="34" charset="0"/>
              </a:rPr>
              <a:t>db.collection.findOneAndUpdate</a:t>
            </a:r>
            <a:r>
              <a:rPr lang="en-US" sz="2400" dirty="0">
                <a:solidFill>
                  <a:srgbClr val="0000FF"/>
                </a:solidFill>
                <a:latin typeface="Arial" panose="020B0604020202020204" pitchFamily="34" charset="0"/>
                <a:cs typeface="Arial" panose="020B0604020202020204" pitchFamily="34" charset="0"/>
              </a:rPr>
              <a:t>() </a:t>
            </a:r>
          </a:p>
          <a:p>
            <a:pPr marL="539750" indent="-357188">
              <a:lnSpc>
                <a:spcPct val="130000"/>
              </a:lnSpc>
              <a:spcBef>
                <a:spcPts val="0"/>
              </a:spcBef>
            </a:pPr>
            <a:r>
              <a:rPr lang="en-US" sz="2400" dirty="0" err="1">
                <a:solidFill>
                  <a:srgbClr val="0000FF"/>
                </a:solidFill>
                <a:latin typeface="Arial" panose="020B0604020202020204" pitchFamily="34" charset="0"/>
                <a:cs typeface="Arial" panose="020B0604020202020204" pitchFamily="34" charset="0"/>
              </a:rPr>
              <a:t>db.collection.findOneAndReplace</a:t>
            </a:r>
            <a:r>
              <a:rPr lang="en-US" sz="2400" dirty="0">
                <a:solidFill>
                  <a:srgbClr val="0000FF"/>
                </a:solidFill>
                <a:latin typeface="Arial" panose="020B0604020202020204" pitchFamily="34" charset="0"/>
                <a:cs typeface="Arial" panose="020B0604020202020204" pitchFamily="34" charset="0"/>
              </a:rPr>
              <a:t>() </a:t>
            </a:r>
          </a:p>
          <a:p>
            <a:pPr marL="539750" indent="-357188">
              <a:lnSpc>
                <a:spcPct val="130000"/>
              </a:lnSpc>
              <a:spcBef>
                <a:spcPts val="0"/>
              </a:spcBef>
            </a:pPr>
            <a:r>
              <a:rPr lang="en-US" sz="2400" dirty="0" err="1">
                <a:solidFill>
                  <a:srgbClr val="0000FF"/>
                </a:solidFill>
                <a:latin typeface="Arial" panose="020B0604020202020204" pitchFamily="34" charset="0"/>
                <a:cs typeface="Arial" panose="020B0604020202020204" pitchFamily="34" charset="0"/>
              </a:rPr>
              <a:t>db.collection.save</a:t>
            </a:r>
            <a:r>
              <a:rPr lang="en-US" sz="2400" dirty="0">
                <a:solidFill>
                  <a:srgbClr val="0000FF"/>
                </a:solidFill>
                <a:latin typeface="Arial" panose="020B0604020202020204" pitchFamily="34" charset="0"/>
                <a:cs typeface="Arial" panose="020B0604020202020204" pitchFamily="34" charset="0"/>
              </a:rPr>
              <a:t>().</a:t>
            </a:r>
          </a:p>
          <a:p>
            <a:pPr marL="539750" indent="-357188">
              <a:lnSpc>
                <a:spcPct val="130000"/>
              </a:lnSpc>
              <a:spcBef>
                <a:spcPts val="0"/>
              </a:spcBef>
            </a:pPr>
            <a:r>
              <a:rPr lang="en-US" sz="2400" dirty="0" err="1">
                <a:solidFill>
                  <a:srgbClr val="0000FF"/>
                </a:solidFill>
                <a:latin typeface="Arial" panose="020B0604020202020204" pitchFamily="34" charset="0"/>
                <a:cs typeface="Arial" panose="020B0604020202020204" pitchFamily="34" charset="0"/>
              </a:rPr>
              <a:t>db.collection.bulkWrite</a:t>
            </a:r>
            <a:r>
              <a:rPr lang="en-US" sz="2400" dirty="0">
                <a:solidFill>
                  <a:srgbClr val="0000FF"/>
                </a:solidFill>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4008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drop()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400" dirty="0">
                <a:latin typeface="Arial" panose="020B0604020202020204" pitchFamily="34" charset="0"/>
                <a:cs typeface="Arial" panose="020B0604020202020204" pitchFamily="34" charset="0"/>
              </a:rPr>
              <a:t>MongoDB's </a:t>
            </a:r>
            <a:r>
              <a:rPr lang="en-US" sz="2400" dirty="0" err="1">
                <a:latin typeface="Arial" panose="020B0604020202020204" pitchFamily="34" charset="0"/>
                <a:cs typeface="Arial" panose="020B0604020202020204" pitchFamily="34" charset="0"/>
              </a:rPr>
              <a:t>db.collection.drop</a:t>
            </a:r>
            <a:r>
              <a:rPr lang="en-US" sz="2400" dirty="0">
                <a:latin typeface="Arial" panose="020B0604020202020204" pitchFamily="34" charset="0"/>
                <a:cs typeface="Arial" panose="020B0604020202020204" pitchFamily="34" charset="0"/>
              </a:rPr>
              <a:t>() is used to drop a collection from the database.</a:t>
            </a:r>
          </a:p>
          <a:p>
            <a:pPr marL="0" indent="0">
              <a:lnSpc>
                <a:spcPct val="110000"/>
              </a:lnSpc>
              <a:spcBef>
                <a:spcPts val="0"/>
              </a:spcBef>
              <a:buNone/>
            </a:pPr>
            <a:endParaRPr lang="en-US" sz="24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4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400" dirty="0">
                <a:latin typeface="Arial" panose="020B0604020202020204" pitchFamily="34" charset="0"/>
                <a:cs typeface="Arial" panose="020B0604020202020204" pitchFamily="34" charset="0"/>
              </a:rPr>
              <a:t>	</a:t>
            </a:r>
            <a:r>
              <a:rPr lang="en-US" sz="2400" dirty="0" err="1">
                <a:solidFill>
                  <a:srgbClr val="FF0000"/>
                </a:solidFill>
                <a:latin typeface="Arial" panose="020B0604020202020204" pitchFamily="34" charset="0"/>
                <a:cs typeface="Arial" panose="020B0604020202020204" pitchFamily="34" charset="0"/>
              </a:rPr>
              <a:t>db.COLLECTION_NAME.drop</a:t>
            </a:r>
            <a:r>
              <a:rPr lang="en-US" sz="24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endParaRPr lang="en-US" sz="24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400" dirty="0">
                <a:latin typeface="Arial" panose="020B0604020202020204" pitchFamily="34" charset="0"/>
                <a:cs typeface="Arial" panose="020B0604020202020204" pitchFamily="34" charset="0"/>
              </a:rPr>
              <a:t>Example</a:t>
            </a:r>
          </a:p>
          <a:p>
            <a:pPr marL="0" indent="0">
              <a:lnSpc>
                <a:spcPct val="110000"/>
              </a:lnSpc>
              <a:spcBef>
                <a:spcPts val="0"/>
              </a:spcBef>
              <a:buNone/>
            </a:pPr>
            <a:r>
              <a:rPr lang="en-US" sz="2400" dirty="0">
                <a:latin typeface="Arial" panose="020B0604020202020204" pitchFamily="34" charset="0"/>
                <a:cs typeface="Arial" panose="020B0604020202020204" pitchFamily="34" charset="0"/>
              </a:rPr>
              <a:t>	&gt;</a:t>
            </a:r>
            <a:r>
              <a:rPr lang="en-US" sz="2400" dirty="0" err="1">
                <a:solidFill>
                  <a:srgbClr val="FF0000"/>
                </a:solidFill>
                <a:latin typeface="Arial" panose="020B0604020202020204" pitchFamily="34" charset="0"/>
                <a:cs typeface="Arial" panose="020B0604020202020204" pitchFamily="34" charset="0"/>
              </a:rPr>
              <a:t>db.cse.drop</a:t>
            </a:r>
            <a:r>
              <a:rPr lang="en-US" sz="24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r>
              <a:rPr lang="en-US" sz="2400" dirty="0">
                <a:latin typeface="Arial" panose="020B0604020202020204" pitchFamily="34" charset="0"/>
                <a:cs typeface="Arial" panose="020B0604020202020204" pitchFamily="34" charset="0"/>
              </a:rPr>
              <a:t>	true</a:t>
            </a:r>
            <a:endParaRPr lang="en-US" sz="24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8097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db.dropDatabase</a:t>
            </a:r>
            <a:r>
              <a:rPr lang="en-IN" sz="3200" b="1" u="sng" dirty="0">
                <a:solidFill>
                  <a:srgbClr val="0070C0"/>
                </a:solidFill>
                <a:latin typeface="Arial" panose="020B0604020202020204" pitchFamily="34" charset="0"/>
                <a:cs typeface="Arial" panose="020B0604020202020204" pitchFamily="34" charset="0"/>
              </a:rPr>
              <a:t>() command </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MongoDB </a:t>
            </a:r>
            <a:r>
              <a:rPr lang="en-US" sz="2200" dirty="0" err="1">
                <a:latin typeface="Arial" panose="020B0604020202020204" pitchFamily="34" charset="0"/>
                <a:cs typeface="Arial" panose="020B0604020202020204" pitchFamily="34" charset="0"/>
              </a:rPr>
              <a:t>db.dropDatabase</a:t>
            </a:r>
            <a:r>
              <a:rPr lang="en-US" sz="2200" dirty="0">
                <a:latin typeface="Arial" panose="020B0604020202020204" pitchFamily="34" charset="0"/>
                <a:cs typeface="Arial" panose="020B0604020202020204" pitchFamily="34" charset="0"/>
              </a:rPr>
              <a:t>() command is used to drop a existing database.</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a:t>
            </a:r>
            <a:r>
              <a:rPr lang="en-US" sz="2200" dirty="0" err="1">
                <a:solidFill>
                  <a:srgbClr val="FF0000"/>
                </a:solidFill>
                <a:latin typeface="Arial" panose="020B0604020202020204" pitchFamily="34" charset="0"/>
                <a:cs typeface="Arial" panose="020B0604020202020204" pitchFamily="34" charset="0"/>
              </a:rPr>
              <a:t>db.dropDatabase</a:t>
            </a:r>
            <a:r>
              <a:rPr lang="en-US" sz="22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This will delete the selected database. If you have not selected any database, then it will delete default 'test' database.</a:t>
            </a: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Example</a:t>
            </a:r>
          </a:p>
          <a:p>
            <a:pPr marL="722313"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&gt;use student</a:t>
            </a:r>
          </a:p>
          <a:p>
            <a:pPr marL="722313"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switched to </a:t>
            </a:r>
            <a:r>
              <a:rPr lang="en-US" sz="2200" dirty="0" err="1">
                <a:solidFill>
                  <a:srgbClr val="404040"/>
                </a:solidFill>
                <a:latin typeface="Arial" panose="020B0604020202020204" pitchFamily="34" charset="0"/>
                <a:cs typeface="Arial" panose="020B0604020202020204" pitchFamily="34" charset="0"/>
              </a:rPr>
              <a:t>db</a:t>
            </a:r>
            <a:r>
              <a:rPr lang="en-US" sz="2200" dirty="0">
                <a:solidFill>
                  <a:srgbClr val="404040"/>
                </a:solidFill>
                <a:latin typeface="Arial" panose="020B0604020202020204" pitchFamily="34" charset="0"/>
                <a:cs typeface="Arial" panose="020B0604020202020204" pitchFamily="34" charset="0"/>
              </a:rPr>
              <a:t> </a:t>
            </a:r>
            <a:r>
              <a:rPr lang="en-US" sz="2200" dirty="0" err="1">
                <a:solidFill>
                  <a:srgbClr val="404040"/>
                </a:solidFill>
                <a:latin typeface="Arial" panose="020B0604020202020204" pitchFamily="34" charset="0"/>
                <a:cs typeface="Arial" panose="020B0604020202020204" pitchFamily="34" charset="0"/>
              </a:rPr>
              <a:t>mydb</a:t>
            </a:r>
            <a:endParaRPr lang="en-US" sz="2200" dirty="0">
              <a:solidFill>
                <a:srgbClr val="404040"/>
              </a:solidFill>
              <a:latin typeface="Arial" panose="020B0604020202020204" pitchFamily="34" charset="0"/>
              <a:cs typeface="Arial" panose="020B0604020202020204" pitchFamily="34" charset="0"/>
            </a:endParaRPr>
          </a:p>
          <a:p>
            <a:pPr marL="722313"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db.dropDatabase</a:t>
            </a:r>
            <a:r>
              <a:rPr lang="en-US" sz="2200" dirty="0">
                <a:solidFill>
                  <a:srgbClr val="FF0000"/>
                </a:solidFill>
                <a:latin typeface="Arial" panose="020B0604020202020204" pitchFamily="34" charset="0"/>
                <a:cs typeface="Arial" panose="020B0604020202020204" pitchFamily="34" charset="0"/>
              </a:rPr>
              <a:t>()</a:t>
            </a:r>
          </a:p>
          <a:p>
            <a:pPr marL="722313" indent="0">
              <a:lnSpc>
                <a:spcPct val="110000"/>
              </a:lnSpc>
              <a:spcBef>
                <a:spcPts val="0"/>
              </a:spcBef>
              <a:buNone/>
            </a:pPr>
            <a:r>
              <a:rPr lang="en-US" sz="2200" dirty="0">
                <a:solidFill>
                  <a:srgbClr val="404040"/>
                </a:solidFill>
                <a:latin typeface="Arial" panose="020B0604020202020204" pitchFamily="34" charset="0"/>
                <a:cs typeface="Arial" panose="020B0604020202020204" pitchFamily="34" charset="0"/>
              </a:rPr>
              <a:t>&gt;{ "dropped" : "</a:t>
            </a:r>
            <a:r>
              <a:rPr lang="en-US" sz="2200" dirty="0" err="1">
                <a:solidFill>
                  <a:srgbClr val="404040"/>
                </a:solidFill>
                <a:latin typeface="Arial" panose="020B0604020202020204" pitchFamily="34" charset="0"/>
                <a:cs typeface="Arial" panose="020B0604020202020204" pitchFamily="34" charset="0"/>
              </a:rPr>
              <a:t>mydb</a:t>
            </a:r>
            <a:r>
              <a:rPr lang="en-US" sz="2200" dirty="0">
                <a:solidFill>
                  <a:srgbClr val="404040"/>
                </a:solidFill>
                <a:latin typeface="Arial" panose="020B0604020202020204" pitchFamily="34" charset="0"/>
                <a:cs typeface="Arial" panose="020B0604020202020204" pitchFamily="34" charset="0"/>
              </a:rPr>
              <a:t>", "ok" : 1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9136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nested documents </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0"/>
              </a:spcBef>
              <a:spcAft>
                <a:spcPts val="600"/>
              </a:spcAft>
              <a:buNone/>
            </a:pPr>
            <a:r>
              <a:rPr lang="en-US" sz="2400" dirty="0" err="1">
                <a:latin typeface="Arial" panose="020B0604020202020204" pitchFamily="34" charset="0"/>
                <a:cs typeface="Arial" panose="020B0604020202020204" pitchFamily="34" charset="0"/>
              </a:rPr>
              <a:t>db.inventory.insertMany</a:t>
            </a:r>
            <a:r>
              <a:rPr lang="en-US" sz="2400" dirty="0">
                <a:latin typeface="Arial" panose="020B0604020202020204" pitchFamily="34" charset="0"/>
                <a:cs typeface="Arial" panose="020B0604020202020204" pitchFamily="34" charset="0"/>
              </a:rPr>
              <a:t>([</a:t>
            </a:r>
          </a:p>
          <a:p>
            <a:pPr marL="0" indent="0">
              <a:lnSpc>
                <a:spcPct val="120000"/>
              </a:lnSpc>
              <a:spcBef>
                <a:spcPts val="0"/>
              </a:spcBef>
              <a:spcAft>
                <a:spcPts val="600"/>
              </a:spcAft>
              <a:buNone/>
            </a:pPr>
            <a:r>
              <a:rPr lang="en-US" sz="2400" dirty="0">
                <a:latin typeface="Arial" panose="020B0604020202020204" pitchFamily="34" charset="0"/>
                <a:cs typeface="Arial" panose="020B0604020202020204" pitchFamily="34" charset="0"/>
              </a:rPr>
              <a:t>   { item: "journal",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25, size: { h: 14, w: 21, </a:t>
            </a:r>
            <a:r>
              <a:rPr lang="en-US" sz="2400" dirty="0" err="1">
                <a:latin typeface="Arial" panose="020B0604020202020204" pitchFamily="34" charset="0"/>
                <a:cs typeface="Arial" panose="020B0604020202020204" pitchFamily="34" charset="0"/>
              </a:rPr>
              <a:t>uom</a:t>
            </a:r>
            <a:r>
              <a:rPr lang="en-US" sz="2400" dirty="0">
                <a:latin typeface="Arial" panose="020B0604020202020204" pitchFamily="34" charset="0"/>
                <a:cs typeface="Arial" panose="020B0604020202020204" pitchFamily="34" charset="0"/>
              </a:rPr>
              <a:t>: "cm" }, status: "A" },</a:t>
            </a:r>
          </a:p>
          <a:p>
            <a:pPr marL="0" indent="0">
              <a:lnSpc>
                <a:spcPct val="120000"/>
              </a:lnSpc>
              <a:spcBef>
                <a:spcPts val="0"/>
              </a:spcBef>
              <a:spcAft>
                <a:spcPts val="600"/>
              </a:spcAft>
              <a:buNone/>
            </a:pPr>
            <a:r>
              <a:rPr lang="en-US" sz="2400" dirty="0">
                <a:latin typeface="Arial" panose="020B0604020202020204" pitchFamily="34" charset="0"/>
                <a:cs typeface="Arial" panose="020B0604020202020204" pitchFamily="34" charset="0"/>
              </a:rPr>
              <a:t>   { item: "notebook",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50, size: { h: 8.5, w: 11, </a:t>
            </a:r>
            <a:r>
              <a:rPr lang="en-US" sz="2400" dirty="0" err="1">
                <a:latin typeface="Arial" panose="020B0604020202020204" pitchFamily="34" charset="0"/>
                <a:cs typeface="Arial" panose="020B0604020202020204" pitchFamily="34" charset="0"/>
              </a:rPr>
              <a:t>uom</a:t>
            </a:r>
            <a:r>
              <a:rPr lang="en-US" sz="2400" dirty="0">
                <a:latin typeface="Arial" panose="020B0604020202020204" pitchFamily="34" charset="0"/>
                <a:cs typeface="Arial" panose="020B0604020202020204" pitchFamily="34" charset="0"/>
              </a:rPr>
              <a:t>: "in" }, status: "A" },</a:t>
            </a:r>
          </a:p>
          <a:p>
            <a:pPr marL="0" indent="0">
              <a:lnSpc>
                <a:spcPct val="120000"/>
              </a:lnSpc>
              <a:spcBef>
                <a:spcPts val="0"/>
              </a:spcBef>
              <a:spcAft>
                <a:spcPts val="600"/>
              </a:spcAft>
              <a:buNone/>
            </a:pPr>
            <a:r>
              <a:rPr lang="en-US" sz="2400" dirty="0">
                <a:latin typeface="Arial" panose="020B0604020202020204" pitchFamily="34" charset="0"/>
                <a:cs typeface="Arial" panose="020B0604020202020204" pitchFamily="34" charset="0"/>
              </a:rPr>
              <a:t>   { item: "paper",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100, size: { h: 8.5, w: 11, </a:t>
            </a:r>
            <a:r>
              <a:rPr lang="en-US" sz="2400" dirty="0" err="1">
                <a:latin typeface="Arial" panose="020B0604020202020204" pitchFamily="34" charset="0"/>
                <a:cs typeface="Arial" panose="020B0604020202020204" pitchFamily="34" charset="0"/>
              </a:rPr>
              <a:t>uom</a:t>
            </a:r>
            <a:r>
              <a:rPr lang="en-US" sz="2400" dirty="0">
                <a:latin typeface="Arial" panose="020B0604020202020204" pitchFamily="34" charset="0"/>
                <a:cs typeface="Arial" panose="020B0604020202020204" pitchFamily="34" charset="0"/>
              </a:rPr>
              <a:t>: "in" }, status: "D" },</a:t>
            </a:r>
          </a:p>
          <a:p>
            <a:pPr marL="0" indent="0">
              <a:lnSpc>
                <a:spcPct val="120000"/>
              </a:lnSpc>
              <a:spcBef>
                <a:spcPts val="0"/>
              </a:spcBef>
              <a:spcAft>
                <a:spcPts val="600"/>
              </a:spcAft>
              <a:buNone/>
            </a:pPr>
            <a:r>
              <a:rPr lang="en-US" sz="2400" dirty="0">
                <a:latin typeface="Arial" panose="020B0604020202020204" pitchFamily="34" charset="0"/>
                <a:cs typeface="Arial" panose="020B0604020202020204" pitchFamily="34" charset="0"/>
              </a:rPr>
              <a:t>   { item: "planner",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75, size: { h: 22.85, w: 30, </a:t>
            </a:r>
            <a:r>
              <a:rPr lang="en-US" sz="2400" dirty="0" err="1">
                <a:latin typeface="Arial" panose="020B0604020202020204" pitchFamily="34" charset="0"/>
                <a:cs typeface="Arial" panose="020B0604020202020204" pitchFamily="34" charset="0"/>
              </a:rPr>
              <a:t>uom</a:t>
            </a:r>
            <a:r>
              <a:rPr lang="en-US" sz="2400" dirty="0">
                <a:latin typeface="Arial" panose="020B0604020202020204" pitchFamily="34" charset="0"/>
                <a:cs typeface="Arial" panose="020B0604020202020204" pitchFamily="34" charset="0"/>
              </a:rPr>
              <a:t>: "cm" }, status: "D" },</a:t>
            </a:r>
          </a:p>
          <a:p>
            <a:pPr marL="0" indent="0">
              <a:lnSpc>
                <a:spcPct val="120000"/>
              </a:lnSpc>
              <a:spcBef>
                <a:spcPts val="0"/>
              </a:spcBef>
              <a:spcAft>
                <a:spcPts val="600"/>
              </a:spcAft>
              <a:buNone/>
            </a:pPr>
            <a:r>
              <a:rPr lang="en-US" sz="2400" dirty="0">
                <a:latin typeface="Arial" panose="020B0604020202020204" pitchFamily="34" charset="0"/>
                <a:cs typeface="Arial" panose="020B0604020202020204" pitchFamily="34" charset="0"/>
              </a:rPr>
              <a:t>   { item: "postcard",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45, size: { h: 10, w: 15.25, </a:t>
            </a:r>
            <a:r>
              <a:rPr lang="en-US" sz="2400" dirty="0" err="1">
                <a:latin typeface="Arial" panose="020B0604020202020204" pitchFamily="34" charset="0"/>
                <a:cs typeface="Arial" panose="020B0604020202020204" pitchFamily="34" charset="0"/>
              </a:rPr>
              <a:t>uom</a:t>
            </a:r>
            <a:r>
              <a:rPr lang="en-US" sz="2400" dirty="0">
                <a:latin typeface="Arial" panose="020B0604020202020204" pitchFamily="34" charset="0"/>
                <a:cs typeface="Arial" panose="020B0604020202020204" pitchFamily="34" charset="0"/>
              </a:rPr>
              <a:t>: "cm" }, status: "A" }</a:t>
            </a:r>
          </a:p>
          <a:p>
            <a:pPr marL="0" indent="0">
              <a:lnSpc>
                <a:spcPct val="120000"/>
              </a:lnSpc>
              <a:spcBef>
                <a:spcPts val="0"/>
              </a:spcBef>
              <a:spcAft>
                <a:spcPts val="600"/>
              </a:spcAft>
              <a:buNone/>
            </a:pPr>
            <a:r>
              <a:rPr lang="en-US" sz="2400" dirty="0">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2958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nested documents </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Match an Embedded/Nested Document</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To specify an equality condition on a field that is an embedded/nested document, use the query filter document { &lt;field&gt;: &lt;value&gt; } where &lt;value&gt; is the document to match.</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For example, the following query selects all documents where the field size equals the document { h: 14, w: 21, </a:t>
            </a:r>
            <a:r>
              <a:rPr lang="en-US" sz="2400" dirty="0" err="1">
                <a:latin typeface="Arial" panose="020B0604020202020204" pitchFamily="34" charset="0"/>
                <a:cs typeface="Arial" panose="020B0604020202020204" pitchFamily="34" charset="0"/>
              </a:rPr>
              <a:t>uom</a:t>
            </a:r>
            <a:r>
              <a:rPr lang="en-US" sz="2400" dirty="0">
                <a:latin typeface="Arial" panose="020B0604020202020204" pitchFamily="34" charset="0"/>
                <a:cs typeface="Arial" panose="020B0604020202020204" pitchFamily="34" charset="0"/>
              </a:rPr>
              <a:t>: "cm" }:</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	</a:t>
            </a:r>
            <a:r>
              <a:rPr lang="en-US" sz="2400" dirty="0">
                <a:solidFill>
                  <a:srgbClr val="FF0000"/>
                </a:solidFill>
                <a:latin typeface="Arial" panose="020B0604020202020204" pitchFamily="34" charset="0"/>
                <a:cs typeface="Arial" panose="020B0604020202020204" pitchFamily="34" charset="0"/>
              </a:rPr>
              <a:t> &gt; </a:t>
            </a: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size: { h: 14, w: 21, </a:t>
            </a:r>
            <a:r>
              <a:rPr lang="en-US" sz="2400" dirty="0" err="1">
                <a:solidFill>
                  <a:srgbClr val="FF0000"/>
                </a:solidFill>
                <a:latin typeface="Arial" panose="020B0604020202020204" pitchFamily="34" charset="0"/>
                <a:cs typeface="Arial" panose="020B0604020202020204" pitchFamily="34" charset="0"/>
              </a:rPr>
              <a:t>uom</a:t>
            </a:r>
            <a:r>
              <a:rPr lang="en-US" sz="2400" dirty="0">
                <a:solidFill>
                  <a:srgbClr val="FF0000"/>
                </a:solidFill>
                <a:latin typeface="Arial" panose="020B0604020202020204" pitchFamily="34" charset="0"/>
                <a:cs typeface="Arial" panose="020B0604020202020204" pitchFamily="34" charset="0"/>
              </a:rPr>
              <a:t>: "cm" } },{_id:0})</a:t>
            </a:r>
          </a:p>
          <a:p>
            <a:pPr marL="895350" indent="0">
              <a:lnSpc>
                <a:spcPct val="110000"/>
              </a:lnSpc>
              <a:spcBef>
                <a:spcPts val="1800"/>
              </a:spcBef>
              <a:buNone/>
            </a:pPr>
            <a:r>
              <a:rPr lang="en-US" sz="2400" dirty="0">
                <a:solidFill>
                  <a:srgbClr val="404040"/>
                </a:solidFill>
                <a:latin typeface="Arial" panose="020B0604020202020204" pitchFamily="34" charset="0"/>
                <a:cs typeface="Arial" panose="020B0604020202020204" pitchFamily="34" charset="0"/>
              </a:rPr>
              <a:t>{ "item" : "journal", "</a:t>
            </a:r>
            <a:r>
              <a:rPr lang="en-US" sz="2400" dirty="0" err="1">
                <a:solidFill>
                  <a:srgbClr val="404040"/>
                </a:solidFill>
                <a:latin typeface="Arial" panose="020B0604020202020204" pitchFamily="34" charset="0"/>
                <a:cs typeface="Arial" panose="020B0604020202020204" pitchFamily="34" charset="0"/>
              </a:rPr>
              <a:t>qty</a:t>
            </a:r>
            <a:r>
              <a:rPr lang="en-US" sz="2400" dirty="0">
                <a:solidFill>
                  <a:srgbClr val="404040"/>
                </a:solidFill>
                <a:latin typeface="Arial" panose="020B0604020202020204" pitchFamily="34" charset="0"/>
                <a:cs typeface="Arial" panose="020B0604020202020204" pitchFamily="34" charset="0"/>
              </a:rPr>
              <a:t>" : 25, "size" : { "h" : 14, "w" : 21, "</a:t>
            </a:r>
            <a:r>
              <a:rPr lang="en-US" sz="2400" dirty="0" err="1">
                <a:solidFill>
                  <a:srgbClr val="404040"/>
                </a:solidFill>
                <a:latin typeface="Arial" panose="020B0604020202020204" pitchFamily="34" charset="0"/>
                <a:cs typeface="Arial" panose="020B0604020202020204" pitchFamily="34" charset="0"/>
              </a:rPr>
              <a:t>uom</a:t>
            </a:r>
            <a:r>
              <a:rPr lang="en-US" sz="2400" dirty="0">
                <a:solidFill>
                  <a:srgbClr val="404040"/>
                </a:solidFill>
                <a:latin typeface="Arial" panose="020B0604020202020204" pitchFamily="34" charset="0"/>
                <a:cs typeface="Arial" panose="020B0604020202020204" pitchFamily="34" charset="0"/>
              </a:rPr>
              <a:t>" : "cm" }, "status" : "A"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7344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nested documents </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Query on Nested Field</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selects all documents where the field </a:t>
            </a:r>
            <a:r>
              <a:rPr lang="en-US" sz="2400" dirty="0" err="1">
                <a:latin typeface="Arial" panose="020B0604020202020204" pitchFamily="34" charset="0"/>
                <a:cs typeface="Arial" panose="020B0604020202020204" pitchFamily="34" charset="0"/>
              </a:rPr>
              <a:t>uom</a:t>
            </a:r>
            <a:r>
              <a:rPr lang="en-US" sz="2400" dirty="0">
                <a:latin typeface="Arial" panose="020B0604020202020204" pitchFamily="34" charset="0"/>
                <a:cs typeface="Arial" panose="020B0604020202020204" pitchFamily="34" charset="0"/>
              </a:rPr>
              <a:t> nested in the size field equals "in":</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size.uom</a:t>
            </a:r>
            <a:r>
              <a:rPr lang="en-US" sz="2400" dirty="0">
                <a:solidFill>
                  <a:srgbClr val="FF0000"/>
                </a:solidFill>
                <a:latin typeface="Arial" panose="020B0604020202020204" pitchFamily="34" charset="0"/>
                <a:cs typeface="Arial" panose="020B0604020202020204" pitchFamily="34" charset="0"/>
              </a:rPr>
              <a:t>": "in" } ,{_id:0})</a:t>
            </a:r>
          </a:p>
          <a:p>
            <a:pPr marL="0" indent="0">
              <a:lnSpc>
                <a:spcPct val="110000"/>
              </a:lnSpc>
              <a:spcBef>
                <a:spcPts val="1800"/>
              </a:spcBef>
              <a:buNone/>
            </a:pPr>
            <a:r>
              <a:rPr lang="en-US" sz="2400" dirty="0">
                <a:latin typeface="Arial" panose="020B0604020202020204" pitchFamily="34" charset="0"/>
                <a:cs typeface="Arial" panose="020B0604020202020204" pitchFamily="34" charset="0"/>
              </a:rPr>
              <a:t>Specify Match using Query Operator</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query uses the less than operator ($</a:t>
            </a:r>
            <a:r>
              <a:rPr lang="en-US" sz="2400" dirty="0" err="1">
                <a:latin typeface="Arial" panose="020B0604020202020204" pitchFamily="34" charset="0"/>
                <a:cs typeface="Arial" panose="020B0604020202020204" pitchFamily="34" charset="0"/>
              </a:rPr>
              <a:t>lt</a:t>
            </a:r>
            <a:r>
              <a:rPr lang="en-US" sz="2400" dirty="0">
                <a:latin typeface="Arial" panose="020B0604020202020204" pitchFamily="34" charset="0"/>
                <a:cs typeface="Arial" panose="020B0604020202020204" pitchFamily="34" charset="0"/>
              </a:rPr>
              <a:t>) on the field h embedded in the size field:</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size.h</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lt</a:t>
            </a:r>
            <a:r>
              <a:rPr lang="en-US" sz="2400" dirty="0">
                <a:solidFill>
                  <a:srgbClr val="FF0000"/>
                </a:solidFill>
                <a:latin typeface="Arial" panose="020B0604020202020204" pitchFamily="34" charset="0"/>
                <a:cs typeface="Arial" panose="020B0604020202020204" pitchFamily="34" charset="0"/>
              </a:rPr>
              <a:t>: 15 } } ,{_id:0})</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50714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nested documents </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Specify AND Condition</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query selects all documents where the nested field h is less than 15, the nested field </a:t>
            </a:r>
            <a:r>
              <a:rPr lang="en-US" sz="2400" dirty="0" err="1">
                <a:latin typeface="Arial" panose="020B0604020202020204" pitchFamily="34" charset="0"/>
                <a:cs typeface="Arial" panose="020B0604020202020204" pitchFamily="34" charset="0"/>
              </a:rPr>
              <a:t>uom</a:t>
            </a:r>
            <a:r>
              <a:rPr lang="en-US" sz="2400" dirty="0">
                <a:latin typeface="Arial" panose="020B0604020202020204" pitchFamily="34" charset="0"/>
                <a:cs typeface="Arial" panose="020B0604020202020204" pitchFamily="34" charset="0"/>
              </a:rPr>
              <a:t> equals "in", and the status field equals "D":</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size.h</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lt</a:t>
            </a:r>
            <a:r>
              <a:rPr lang="en-US" sz="2400" dirty="0">
                <a:solidFill>
                  <a:srgbClr val="FF0000"/>
                </a:solidFill>
                <a:latin typeface="Arial" panose="020B0604020202020204" pitchFamily="34" charset="0"/>
                <a:cs typeface="Arial" panose="020B0604020202020204" pitchFamily="34" charset="0"/>
              </a:rPr>
              <a:t>: 15 }, "</a:t>
            </a:r>
            <a:r>
              <a:rPr lang="en-US" sz="2400" dirty="0" err="1">
                <a:solidFill>
                  <a:srgbClr val="FF0000"/>
                </a:solidFill>
                <a:latin typeface="Arial" panose="020B0604020202020204" pitchFamily="34" charset="0"/>
                <a:cs typeface="Arial" panose="020B0604020202020204" pitchFamily="34" charset="0"/>
              </a:rPr>
              <a:t>size.uom</a:t>
            </a:r>
            <a:r>
              <a:rPr lang="en-US" sz="2400" dirty="0">
                <a:solidFill>
                  <a:srgbClr val="FF0000"/>
                </a:solidFill>
                <a:latin typeface="Arial" panose="020B0604020202020204" pitchFamily="34" charset="0"/>
                <a:cs typeface="Arial" panose="020B0604020202020204" pitchFamily="34" charset="0"/>
              </a:rPr>
              <a:t>": "in", status: "D" } ,{_id:0}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79130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600"/>
              </a:spcBef>
              <a:buNone/>
            </a:pPr>
            <a:r>
              <a:rPr lang="en-US" sz="2400" dirty="0" err="1">
                <a:latin typeface="Arial" panose="020B0604020202020204" pitchFamily="34" charset="0"/>
                <a:cs typeface="Arial" panose="020B0604020202020204" pitchFamily="34" charset="0"/>
              </a:rPr>
              <a:t>db.inventory.insertMany</a:t>
            </a:r>
            <a:r>
              <a:rPr lang="en-US" sz="2400" dirty="0">
                <a:latin typeface="Arial" panose="020B0604020202020204" pitchFamily="34" charset="0"/>
                <a:cs typeface="Arial" panose="020B0604020202020204" pitchFamily="34" charset="0"/>
              </a:rPr>
              <a:t>([</a:t>
            </a:r>
          </a:p>
          <a:p>
            <a:pPr marL="0" indent="0">
              <a:lnSpc>
                <a:spcPct val="110000"/>
              </a:lnSpc>
              <a:spcBef>
                <a:spcPts val="600"/>
              </a:spcBef>
              <a:buNone/>
            </a:pPr>
            <a:r>
              <a:rPr lang="en-US" sz="2400" dirty="0">
                <a:latin typeface="Arial" panose="020B0604020202020204" pitchFamily="34" charset="0"/>
                <a:cs typeface="Arial" panose="020B0604020202020204" pitchFamily="34" charset="0"/>
              </a:rPr>
              <a:t>   { item: "journal",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25, tags: ["blank", "red"], </a:t>
            </a:r>
            <a:r>
              <a:rPr lang="en-US" sz="2400" dirty="0" err="1">
                <a:latin typeface="Arial" panose="020B0604020202020204" pitchFamily="34" charset="0"/>
                <a:cs typeface="Arial" panose="020B0604020202020204" pitchFamily="34" charset="0"/>
              </a:rPr>
              <a:t>dim_cm</a:t>
            </a:r>
            <a:r>
              <a:rPr lang="en-US" sz="2400" dirty="0">
                <a:latin typeface="Arial" panose="020B0604020202020204" pitchFamily="34" charset="0"/>
                <a:cs typeface="Arial" panose="020B0604020202020204" pitchFamily="34" charset="0"/>
              </a:rPr>
              <a:t>: [ 14, 21 ] },</a:t>
            </a:r>
          </a:p>
          <a:p>
            <a:pPr marL="0" indent="0">
              <a:lnSpc>
                <a:spcPct val="110000"/>
              </a:lnSpc>
              <a:spcBef>
                <a:spcPts val="600"/>
              </a:spcBef>
              <a:buNone/>
            </a:pPr>
            <a:r>
              <a:rPr lang="en-US" sz="2400" dirty="0">
                <a:latin typeface="Arial" panose="020B0604020202020204" pitchFamily="34" charset="0"/>
                <a:cs typeface="Arial" panose="020B0604020202020204" pitchFamily="34" charset="0"/>
              </a:rPr>
              <a:t>   { item: "notebook",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50, tags: ["red", "blank"], </a:t>
            </a:r>
            <a:r>
              <a:rPr lang="en-US" sz="2400" dirty="0" err="1">
                <a:latin typeface="Arial" panose="020B0604020202020204" pitchFamily="34" charset="0"/>
                <a:cs typeface="Arial" panose="020B0604020202020204" pitchFamily="34" charset="0"/>
              </a:rPr>
              <a:t>dim_cm</a:t>
            </a:r>
            <a:r>
              <a:rPr lang="en-US" sz="2400" dirty="0">
                <a:latin typeface="Arial" panose="020B0604020202020204" pitchFamily="34" charset="0"/>
                <a:cs typeface="Arial" panose="020B0604020202020204" pitchFamily="34" charset="0"/>
              </a:rPr>
              <a:t>: [ 14, 21 ] },</a:t>
            </a:r>
          </a:p>
          <a:p>
            <a:pPr marL="0" indent="0">
              <a:lnSpc>
                <a:spcPct val="110000"/>
              </a:lnSpc>
              <a:spcBef>
                <a:spcPts val="600"/>
              </a:spcBef>
              <a:buNone/>
            </a:pPr>
            <a:r>
              <a:rPr lang="en-US" sz="2400" dirty="0">
                <a:latin typeface="Arial" panose="020B0604020202020204" pitchFamily="34" charset="0"/>
                <a:cs typeface="Arial" panose="020B0604020202020204" pitchFamily="34" charset="0"/>
              </a:rPr>
              <a:t>   { item: "paper",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100, tags: ["red", "blank", "plain"], </a:t>
            </a:r>
            <a:r>
              <a:rPr lang="en-US" sz="2400" dirty="0" err="1">
                <a:latin typeface="Arial" panose="020B0604020202020204" pitchFamily="34" charset="0"/>
                <a:cs typeface="Arial" panose="020B0604020202020204" pitchFamily="34" charset="0"/>
              </a:rPr>
              <a:t>dim_cm</a:t>
            </a:r>
            <a:r>
              <a:rPr lang="en-US" sz="2400" dirty="0">
                <a:latin typeface="Arial" panose="020B0604020202020204" pitchFamily="34" charset="0"/>
                <a:cs typeface="Arial" panose="020B0604020202020204" pitchFamily="34" charset="0"/>
              </a:rPr>
              <a:t>: [ 14, 21 ] },</a:t>
            </a:r>
          </a:p>
          <a:p>
            <a:pPr marL="0" indent="0">
              <a:lnSpc>
                <a:spcPct val="110000"/>
              </a:lnSpc>
              <a:spcBef>
                <a:spcPts val="600"/>
              </a:spcBef>
              <a:buNone/>
            </a:pPr>
            <a:r>
              <a:rPr lang="en-US" sz="2400" dirty="0">
                <a:latin typeface="Arial" panose="020B0604020202020204" pitchFamily="34" charset="0"/>
                <a:cs typeface="Arial" panose="020B0604020202020204" pitchFamily="34" charset="0"/>
              </a:rPr>
              <a:t>   { item: "planner",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75, tags: ["blank", "red"], </a:t>
            </a:r>
            <a:r>
              <a:rPr lang="en-US" sz="2400" dirty="0" err="1">
                <a:latin typeface="Arial" panose="020B0604020202020204" pitchFamily="34" charset="0"/>
                <a:cs typeface="Arial" panose="020B0604020202020204" pitchFamily="34" charset="0"/>
              </a:rPr>
              <a:t>dim_cm</a:t>
            </a:r>
            <a:r>
              <a:rPr lang="en-US" sz="2400" dirty="0">
                <a:latin typeface="Arial" panose="020B0604020202020204" pitchFamily="34" charset="0"/>
                <a:cs typeface="Arial" panose="020B0604020202020204" pitchFamily="34" charset="0"/>
              </a:rPr>
              <a:t>: [ 22.85, 30 ] },</a:t>
            </a:r>
          </a:p>
          <a:p>
            <a:pPr marL="0" indent="0">
              <a:lnSpc>
                <a:spcPct val="110000"/>
              </a:lnSpc>
              <a:spcBef>
                <a:spcPts val="600"/>
              </a:spcBef>
              <a:buNone/>
            </a:pPr>
            <a:r>
              <a:rPr lang="en-US" sz="2400" dirty="0">
                <a:latin typeface="Arial" panose="020B0604020202020204" pitchFamily="34" charset="0"/>
                <a:cs typeface="Arial" panose="020B0604020202020204" pitchFamily="34" charset="0"/>
              </a:rPr>
              <a:t>   { item: "postcard",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45, tags: ["blue"], </a:t>
            </a:r>
            <a:r>
              <a:rPr lang="en-US" sz="2400" dirty="0" err="1">
                <a:latin typeface="Arial" panose="020B0604020202020204" pitchFamily="34" charset="0"/>
                <a:cs typeface="Arial" panose="020B0604020202020204" pitchFamily="34" charset="0"/>
              </a:rPr>
              <a:t>dim_cm</a:t>
            </a:r>
            <a:r>
              <a:rPr lang="en-US" sz="2400" dirty="0">
                <a:latin typeface="Arial" panose="020B0604020202020204" pitchFamily="34" charset="0"/>
                <a:cs typeface="Arial" panose="020B0604020202020204" pitchFamily="34" charset="0"/>
              </a:rPr>
              <a:t>: [ 10, 15.25 ] }</a:t>
            </a:r>
          </a:p>
          <a:p>
            <a:pPr marL="0" indent="0">
              <a:lnSpc>
                <a:spcPct val="110000"/>
              </a:lnSpc>
              <a:spcBef>
                <a:spcPts val="600"/>
              </a:spcBef>
              <a:buNone/>
            </a:pPr>
            <a:r>
              <a:rPr lang="en-US" sz="2400" dirty="0">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84250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Match an Array</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queries for all documents where the field tags value is an array with exactly two elements, "red" and "blank", in the specified order:</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tags: ["red", "blank"] } ,{_id:0} )</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If, instead, you wish to find an array that contains both the elements "red" and "blank", without regard to order or other elements in the array, use the $all operator:</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tags: { $all: ["red", "blank"] } } ,{_id:0}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45089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Query an Array for an Element</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queries for all documents where tags is an array that contains the string "red" as one of its elements:</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tags: "red" } ,{_id:0} )</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operation queries for all documents where the array </a:t>
            </a:r>
            <a:r>
              <a:rPr lang="en-US" sz="2400" dirty="0" err="1">
                <a:latin typeface="Arial" panose="020B0604020202020204" pitchFamily="34" charset="0"/>
                <a:cs typeface="Arial" panose="020B0604020202020204" pitchFamily="34" charset="0"/>
              </a:rPr>
              <a:t>dim_cm</a:t>
            </a:r>
            <a:r>
              <a:rPr lang="en-US" sz="2400" dirty="0">
                <a:latin typeface="Arial" panose="020B0604020202020204" pitchFamily="34" charset="0"/>
                <a:cs typeface="Arial" panose="020B0604020202020204" pitchFamily="34" charset="0"/>
              </a:rPr>
              <a:t> contains at least one element whose value is greater than 25.</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dim_cm</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gt</a:t>
            </a:r>
            <a:r>
              <a:rPr lang="en-US" sz="2400" dirty="0">
                <a:solidFill>
                  <a:srgbClr val="FF0000"/>
                </a:solidFill>
                <a:latin typeface="Arial" panose="020B0604020202020204" pitchFamily="34" charset="0"/>
                <a:cs typeface="Arial" panose="020B0604020202020204" pitchFamily="34" charset="0"/>
              </a:rPr>
              <a:t>: 25 } } ,{_id:0}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597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a:t>
            </a: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Specify Multiple Conditions for Array Elements</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queries for documents where the </a:t>
            </a:r>
            <a:r>
              <a:rPr lang="en-US" sz="2400" dirty="0" err="1">
                <a:latin typeface="Arial" panose="020B0604020202020204" pitchFamily="34" charset="0"/>
                <a:cs typeface="Arial" panose="020B0604020202020204" pitchFamily="34" charset="0"/>
              </a:rPr>
              <a:t>dim_cm</a:t>
            </a:r>
            <a:r>
              <a:rPr lang="en-US" sz="2400" dirty="0">
                <a:latin typeface="Arial" panose="020B0604020202020204" pitchFamily="34" charset="0"/>
                <a:cs typeface="Arial" panose="020B0604020202020204" pitchFamily="34" charset="0"/>
              </a:rPr>
              <a:t> array contains elements that in some combination satisfy the query conditions; e.g., one element can satisfy the greater than 15 condition and another element can satisfy the less than 20 condition, or a single element can satisfy both:</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dim_cm</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gt</a:t>
            </a:r>
            <a:r>
              <a:rPr lang="en-US" sz="2400" dirty="0">
                <a:solidFill>
                  <a:srgbClr val="FF0000"/>
                </a:solidFill>
                <a:latin typeface="Arial" panose="020B0604020202020204" pitchFamily="34" charset="0"/>
                <a:cs typeface="Arial" panose="020B0604020202020204" pitchFamily="34" charset="0"/>
              </a:rPr>
              <a:t>: 15, $</a:t>
            </a:r>
            <a:r>
              <a:rPr lang="en-US" sz="2400" dirty="0" err="1">
                <a:solidFill>
                  <a:srgbClr val="FF0000"/>
                </a:solidFill>
                <a:latin typeface="Arial" panose="020B0604020202020204" pitchFamily="34" charset="0"/>
                <a:cs typeface="Arial" panose="020B0604020202020204" pitchFamily="34" charset="0"/>
              </a:rPr>
              <a:t>lt</a:t>
            </a:r>
            <a:r>
              <a:rPr lang="en-US" sz="2400" dirty="0">
                <a:solidFill>
                  <a:srgbClr val="FF0000"/>
                </a:solidFill>
                <a:latin typeface="Arial" panose="020B0604020202020204" pitchFamily="34" charset="0"/>
                <a:cs typeface="Arial" panose="020B0604020202020204" pitchFamily="34" charset="0"/>
              </a:rPr>
              <a:t>: 20 } } ,{_id:0} )</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queries for documents where the </a:t>
            </a:r>
            <a:r>
              <a:rPr lang="en-US" sz="2400" dirty="0" err="1">
                <a:latin typeface="Arial" panose="020B0604020202020204" pitchFamily="34" charset="0"/>
                <a:cs typeface="Arial" panose="020B0604020202020204" pitchFamily="34" charset="0"/>
              </a:rPr>
              <a:t>dim_cm</a:t>
            </a:r>
            <a:r>
              <a:rPr lang="en-US" sz="2400" dirty="0">
                <a:latin typeface="Arial" panose="020B0604020202020204" pitchFamily="34" charset="0"/>
                <a:cs typeface="Arial" panose="020B0604020202020204" pitchFamily="34" charset="0"/>
              </a:rPr>
              <a:t> array contains at least one element that is both greater than ($</a:t>
            </a:r>
            <a:r>
              <a:rPr lang="en-US" sz="2400" dirty="0" err="1">
                <a:latin typeface="Arial" panose="020B0604020202020204" pitchFamily="34" charset="0"/>
                <a:cs typeface="Arial" panose="020B0604020202020204" pitchFamily="34" charset="0"/>
              </a:rPr>
              <a:t>gt</a:t>
            </a:r>
            <a:r>
              <a:rPr lang="en-US" sz="2400" dirty="0">
                <a:latin typeface="Arial" panose="020B0604020202020204" pitchFamily="34" charset="0"/>
                <a:cs typeface="Arial" panose="020B0604020202020204" pitchFamily="34" charset="0"/>
              </a:rPr>
              <a:t>) 22 and less than ($</a:t>
            </a:r>
            <a:r>
              <a:rPr lang="en-US" sz="2400" dirty="0" err="1">
                <a:latin typeface="Arial" panose="020B0604020202020204" pitchFamily="34" charset="0"/>
                <a:cs typeface="Arial" panose="020B0604020202020204" pitchFamily="34" charset="0"/>
              </a:rPr>
              <a:t>lt</a:t>
            </a:r>
            <a:r>
              <a:rPr lang="en-US" sz="2400" dirty="0">
                <a:latin typeface="Arial" panose="020B0604020202020204" pitchFamily="34" charset="0"/>
                <a:cs typeface="Arial" panose="020B0604020202020204" pitchFamily="34" charset="0"/>
              </a:rPr>
              <a:t>) 30:</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dim_cm</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elemMatch</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gt</a:t>
            </a:r>
            <a:r>
              <a:rPr lang="en-US" sz="2400" dirty="0">
                <a:solidFill>
                  <a:srgbClr val="FF0000"/>
                </a:solidFill>
                <a:latin typeface="Arial" panose="020B0604020202020204" pitchFamily="34" charset="0"/>
                <a:cs typeface="Arial" panose="020B0604020202020204" pitchFamily="34" charset="0"/>
              </a:rPr>
              <a:t>: 22, $</a:t>
            </a:r>
            <a:r>
              <a:rPr lang="en-US" sz="2400" dirty="0" err="1">
                <a:solidFill>
                  <a:srgbClr val="FF0000"/>
                </a:solidFill>
                <a:latin typeface="Arial" panose="020B0604020202020204" pitchFamily="34" charset="0"/>
                <a:cs typeface="Arial" panose="020B0604020202020204" pitchFamily="34" charset="0"/>
              </a:rPr>
              <a:t>lt</a:t>
            </a:r>
            <a:r>
              <a:rPr lang="en-US" sz="2400" dirty="0">
                <a:solidFill>
                  <a:srgbClr val="FF0000"/>
                </a:solidFill>
                <a:latin typeface="Arial" panose="020B0604020202020204" pitchFamily="34" charset="0"/>
                <a:cs typeface="Arial" panose="020B0604020202020204" pitchFamily="34" charset="0"/>
              </a:rPr>
              <a:t>: 30 } } } ,{_id:0}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0119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Query for an Element by the Array Index Position</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queries for all documents where the second element in the array </a:t>
            </a:r>
            <a:r>
              <a:rPr lang="en-US" sz="2400" dirty="0" err="1">
                <a:latin typeface="Arial" panose="020B0604020202020204" pitchFamily="34" charset="0"/>
                <a:cs typeface="Arial" panose="020B0604020202020204" pitchFamily="34" charset="0"/>
              </a:rPr>
              <a:t>dim_cm</a:t>
            </a:r>
            <a:r>
              <a:rPr lang="en-US" sz="2400" dirty="0">
                <a:latin typeface="Arial" panose="020B0604020202020204" pitchFamily="34" charset="0"/>
                <a:cs typeface="Arial" panose="020B0604020202020204" pitchFamily="34" charset="0"/>
              </a:rPr>
              <a:t> is greater than 25:</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"dim_cm.1": { $</a:t>
            </a:r>
            <a:r>
              <a:rPr lang="en-US" sz="2400" dirty="0" err="1">
                <a:solidFill>
                  <a:srgbClr val="FF0000"/>
                </a:solidFill>
                <a:latin typeface="Arial" panose="020B0604020202020204" pitchFamily="34" charset="0"/>
                <a:cs typeface="Arial" panose="020B0604020202020204" pitchFamily="34" charset="0"/>
              </a:rPr>
              <a:t>gt</a:t>
            </a:r>
            <a:r>
              <a:rPr lang="en-US" sz="2400" dirty="0">
                <a:solidFill>
                  <a:srgbClr val="FF0000"/>
                </a:solidFill>
                <a:latin typeface="Arial" panose="020B0604020202020204" pitchFamily="34" charset="0"/>
                <a:cs typeface="Arial" panose="020B0604020202020204" pitchFamily="34" charset="0"/>
              </a:rPr>
              <a:t>: 25 } } ,{_id:0} )</a:t>
            </a:r>
          </a:p>
          <a:p>
            <a:pPr marL="0" indent="0">
              <a:lnSpc>
                <a:spcPct val="110000"/>
              </a:lnSpc>
              <a:spcBef>
                <a:spcPts val="1800"/>
              </a:spcBef>
              <a:buNone/>
            </a:pPr>
            <a:r>
              <a:rPr lang="en-US" sz="2400" dirty="0">
                <a:latin typeface="Arial" panose="020B0604020202020204" pitchFamily="34" charset="0"/>
                <a:cs typeface="Arial" panose="020B0604020202020204" pitchFamily="34" charset="0"/>
              </a:rPr>
              <a:t>Query an Array by Array Length</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selects documents where the array tags has 3 elements.</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"tags": { $size: 3 } } ,{_id:0}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96634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 and Nested documents</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600"/>
              </a:spcBef>
              <a:buNone/>
            </a:pPr>
            <a:r>
              <a:rPr lang="en-US" sz="2100" dirty="0" err="1">
                <a:latin typeface="Arial" panose="020B0604020202020204" pitchFamily="34" charset="0"/>
                <a:cs typeface="Arial" panose="020B0604020202020204" pitchFamily="34" charset="0"/>
              </a:rPr>
              <a:t>db.inventory.insertMany</a:t>
            </a:r>
            <a:r>
              <a:rPr lang="en-US" sz="2100" dirty="0">
                <a:latin typeface="Arial" panose="020B0604020202020204" pitchFamily="34" charset="0"/>
                <a:cs typeface="Arial" panose="020B0604020202020204" pitchFamily="34" charset="0"/>
              </a:rPr>
              <a:t>( [</a:t>
            </a:r>
          </a:p>
          <a:p>
            <a:pPr marL="0" indent="0">
              <a:lnSpc>
                <a:spcPct val="110000"/>
              </a:lnSpc>
              <a:spcBef>
                <a:spcPts val="600"/>
              </a:spcBef>
              <a:buNone/>
            </a:pPr>
            <a:r>
              <a:rPr lang="en-US" sz="2100" dirty="0">
                <a:latin typeface="Arial" panose="020B0604020202020204" pitchFamily="34" charset="0"/>
                <a:cs typeface="Arial" panose="020B0604020202020204" pitchFamily="34" charset="0"/>
              </a:rPr>
              <a:t>   { item: "journal", </a:t>
            </a:r>
            <a:r>
              <a:rPr lang="en-US" sz="2100" dirty="0" err="1">
                <a:latin typeface="Arial" panose="020B0604020202020204" pitchFamily="34" charset="0"/>
                <a:cs typeface="Arial" panose="020B0604020202020204" pitchFamily="34" charset="0"/>
              </a:rPr>
              <a:t>instock</a:t>
            </a:r>
            <a:r>
              <a:rPr lang="en-US" sz="2100" dirty="0">
                <a:latin typeface="Arial" panose="020B0604020202020204" pitchFamily="34" charset="0"/>
                <a:cs typeface="Arial" panose="020B0604020202020204" pitchFamily="34" charset="0"/>
              </a:rPr>
              <a:t>: [ { warehouse: "A", </a:t>
            </a:r>
            <a:r>
              <a:rPr lang="en-US" sz="2100" dirty="0" err="1">
                <a:latin typeface="Arial" panose="020B0604020202020204" pitchFamily="34" charset="0"/>
                <a:cs typeface="Arial" panose="020B0604020202020204" pitchFamily="34" charset="0"/>
              </a:rPr>
              <a:t>qty</a:t>
            </a:r>
            <a:r>
              <a:rPr lang="en-US" sz="2100" dirty="0">
                <a:latin typeface="Arial" panose="020B0604020202020204" pitchFamily="34" charset="0"/>
                <a:cs typeface="Arial" panose="020B0604020202020204" pitchFamily="34" charset="0"/>
              </a:rPr>
              <a:t>: 5 }, { warehouse: "C", </a:t>
            </a:r>
            <a:r>
              <a:rPr lang="en-US" sz="2100" dirty="0" err="1">
                <a:latin typeface="Arial" panose="020B0604020202020204" pitchFamily="34" charset="0"/>
                <a:cs typeface="Arial" panose="020B0604020202020204" pitchFamily="34" charset="0"/>
              </a:rPr>
              <a:t>qty</a:t>
            </a:r>
            <a:r>
              <a:rPr lang="en-US" sz="2100" dirty="0">
                <a:latin typeface="Arial" panose="020B0604020202020204" pitchFamily="34" charset="0"/>
                <a:cs typeface="Arial" panose="020B0604020202020204" pitchFamily="34" charset="0"/>
              </a:rPr>
              <a:t>: 15 } ] },</a:t>
            </a:r>
          </a:p>
          <a:p>
            <a:pPr marL="0" indent="0">
              <a:lnSpc>
                <a:spcPct val="110000"/>
              </a:lnSpc>
              <a:spcBef>
                <a:spcPts val="600"/>
              </a:spcBef>
              <a:buNone/>
            </a:pPr>
            <a:r>
              <a:rPr lang="en-US" sz="2100" dirty="0">
                <a:latin typeface="Arial" panose="020B0604020202020204" pitchFamily="34" charset="0"/>
                <a:cs typeface="Arial" panose="020B0604020202020204" pitchFamily="34" charset="0"/>
              </a:rPr>
              <a:t>   { item: "notebook", </a:t>
            </a:r>
            <a:r>
              <a:rPr lang="en-US" sz="2100" dirty="0" err="1">
                <a:latin typeface="Arial" panose="020B0604020202020204" pitchFamily="34" charset="0"/>
                <a:cs typeface="Arial" panose="020B0604020202020204" pitchFamily="34" charset="0"/>
              </a:rPr>
              <a:t>instock</a:t>
            </a:r>
            <a:r>
              <a:rPr lang="en-US" sz="2100" dirty="0">
                <a:latin typeface="Arial" panose="020B0604020202020204" pitchFamily="34" charset="0"/>
                <a:cs typeface="Arial" panose="020B0604020202020204" pitchFamily="34" charset="0"/>
              </a:rPr>
              <a:t>: [ { warehouse: "C", </a:t>
            </a:r>
            <a:r>
              <a:rPr lang="en-US" sz="2100" dirty="0" err="1">
                <a:latin typeface="Arial" panose="020B0604020202020204" pitchFamily="34" charset="0"/>
                <a:cs typeface="Arial" panose="020B0604020202020204" pitchFamily="34" charset="0"/>
              </a:rPr>
              <a:t>qty</a:t>
            </a:r>
            <a:r>
              <a:rPr lang="en-US" sz="2100" dirty="0">
                <a:latin typeface="Arial" panose="020B0604020202020204" pitchFamily="34" charset="0"/>
                <a:cs typeface="Arial" panose="020B0604020202020204" pitchFamily="34" charset="0"/>
              </a:rPr>
              <a:t>: 5 } ] },</a:t>
            </a:r>
          </a:p>
          <a:p>
            <a:pPr marL="0" indent="0">
              <a:lnSpc>
                <a:spcPct val="110000"/>
              </a:lnSpc>
              <a:spcBef>
                <a:spcPts val="600"/>
              </a:spcBef>
              <a:buNone/>
            </a:pPr>
            <a:r>
              <a:rPr lang="en-US" sz="2100" dirty="0">
                <a:latin typeface="Arial" panose="020B0604020202020204" pitchFamily="34" charset="0"/>
                <a:cs typeface="Arial" panose="020B0604020202020204" pitchFamily="34" charset="0"/>
              </a:rPr>
              <a:t>   { item: "paper", </a:t>
            </a:r>
            <a:r>
              <a:rPr lang="en-US" sz="2100" dirty="0" err="1">
                <a:latin typeface="Arial" panose="020B0604020202020204" pitchFamily="34" charset="0"/>
                <a:cs typeface="Arial" panose="020B0604020202020204" pitchFamily="34" charset="0"/>
              </a:rPr>
              <a:t>instock</a:t>
            </a:r>
            <a:r>
              <a:rPr lang="en-US" sz="2100" dirty="0">
                <a:latin typeface="Arial" panose="020B0604020202020204" pitchFamily="34" charset="0"/>
                <a:cs typeface="Arial" panose="020B0604020202020204" pitchFamily="34" charset="0"/>
              </a:rPr>
              <a:t>: [ { warehouse: "A", </a:t>
            </a:r>
            <a:r>
              <a:rPr lang="en-US" sz="2100" dirty="0" err="1">
                <a:latin typeface="Arial" panose="020B0604020202020204" pitchFamily="34" charset="0"/>
                <a:cs typeface="Arial" panose="020B0604020202020204" pitchFamily="34" charset="0"/>
              </a:rPr>
              <a:t>qty</a:t>
            </a:r>
            <a:r>
              <a:rPr lang="en-US" sz="2100" dirty="0">
                <a:latin typeface="Arial" panose="020B0604020202020204" pitchFamily="34" charset="0"/>
                <a:cs typeface="Arial" panose="020B0604020202020204" pitchFamily="34" charset="0"/>
              </a:rPr>
              <a:t>: 60 }, { warehouse: "B", </a:t>
            </a:r>
            <a:r>
              <a:rPr lang="en-US" sz="2100" dirty="0" err="1">
                <a:latin typeface="Arial" panose="020B0604020202020204" pitchFamily="34" charset="0"/>
                <a:cs typeface="Arial" panose="020B0604020202020204" pitchFamily="34" charset="0"/>
              </a:rPr>
              <a:t>qty</a:t>
            </a:r>
            <a:r>
              <a:rPr lang="en-US" sz="2100" dirty="0">
                <a:latin typeface="Arial" panose="020B0604020202020204" pitchFamily="34" charset="0"/>
                <a:cs typeface="Arial" panose="020B0604020202020204" pitchFamily="34" charset="0"/>
              </a:rPr>
              <a:t>: 15 } ] },</a:t>
            </a:r>
          </a:p>
          <a:p>
            <a:pPr marL="0" indent="0">
              <a:lnSpc>
                <a:spcPct val="110000"/>
              </a:lnSpc>
              <a:spcBef>
                <a:spcPts val="600"/>
              </a:spcBef>
              <a:buNone/>
            </a:pPr>
            <a:r>
              <a:rPr lang="en-US" sz="2100" dirty="0">
                <a:latin typeface="Arial" panose="020B0604020202020204" pitchFamily="34" charset="0"/>
                <a:cs typeface="Arial" panose="020B0604020202020204" pitchFamily="34" charset="0"/>
              </a:rPr>
              <a:t>   { item: "planner", </a:t>
            </a:r>
            <a:r>
              <a:rPr lang="en-US" sz="2100" dirty="0" err="1">
                <a:latin typeface="Arial" panose="020B0604020202020204" pitchFamily="34" charset="0"/>
                <a:cs typeface="Arial" panose="020B0604020202020204" pitchFamily="34" charset="0"/>
              </a:rPr>
              <a:t>instock</a:t>
            </a:r>
            <a:r>
              <a:rPr lang="en-US" sz="2100" dirty="0">
                <a:latin typeface="Arial" panose="020B0604020202020204" pitchFamily="34" charset="0"/>
                <a:cs typeface="Arial" panose="020B0604020202020204" pitchFamily="34" charset="0"/>
              </a:rPr>
              <a:t>: [ { warehouse: "A", </a:t>
            </a:r>
            <a:r>
              <a:rPr lang="en-US" sz="2100" dirty="0" err="1">
                <a:latin typeface="Arial" panose="020B0604020202020204" pitchFamily="34" charset="0"/>
                <a:cs typeface="Arial" panose="020B0604020202020204" pitchFamily="34" charset="0"/>
              </a:rPr>
              <a:t>qty</a:t>
            </a:r>
            <a:r>
              <a:rPr lang="en-US" sz="2100" dirty="0">
                <a:latin typeface="Arial" panose="020B0604020202020204" pitchFamily="34" charset="0"/>
                <a:cs typeface="Arial" panose="020B0604020202020204" pitchFamily="34" charset="0"/>
              </a:rPr>
              <a:t>: 40 }, { warehouse: "B", </a:t>
            </a:r>
            <a:r>
              <a:rPr lang="en-US" sz="2100" dirty="0" err="1">
                <a:latin typeface="Arial" panose="020B0604020202020204" pitchFamily="34" charset="0"/>
                <a:cs typeface="Arial" panose="020B0604020202020204" pitchFamily="34" charset="0"/>
              </a:rPr>
              <a:t>qty</a:t>
            </a:r>
            <a:r>
              <a:rPr lang="en-US" sz="2100" dirty="0">
                <a:latin typeface="Arial" panose="020B0604020202020204" pitchFamily="34" charset="0"/>
                <a:cs typeface="Arial" panose="020B0604020202020204" pitchFamily="34" charset="0"/>
              </a:rPr>
              <a:t>: 5 } ] },</a:t>
            </a:r>
          </a:p>
          <a:p>
            <a:pPr marL="0" indent="0">
              <a:lnSpc>
                <a:spcPct val="110000"/>
              </a:lnSpc>
              <a:spcBef>
                <a:spcPts val="600"/>
              </a:spcBef>
              <a:buNone/>
            </a:pPr>
            <a:r>
              <a:rPr lang="en-US" sz="2100" dirty="0">
                <a:latin typeface="Arial" panose="020B0604020202020204" pitchFamily="34" charset="0"/>
                <a:cs typeface="Arial" panose="020B0604020202020204" pitchFamily="34" charset="0"/>
              </a:rPr>
              <a:t>   { item: "postcard", </a:t>
            </a:r>
            <a:r>
              <a:rPr lang="en-US" sz="2100" dirty="0" err="1">
                <a:latin typeface="Arial" panose="020B0604020202020204" pitchFamily="34" charset="0"/>
                <a:cs typeface="Arial" panose="020B0604020202020204" pitchFamily="34" charset="0"/>
              </a:rPr>
              <a:t>instock</a:t>
            </a:r>
            <a:r>
              <a:rPr lang="en-US" sz="2100" dirty="0">
                <a:latin typeface="Arial" panose="020B0604020202020204" pitchFamily="34" charset="0"/>
                <a:cs typeface="Arial" panose="020B0604020202020204" pitchFamily="34" charset="0"/>
              </a:rPr>
              <a:t>: [ { warehouse: "B", </a:t>
            </a:r>
            <a:r>
              <a:rPr lang="en-US" sz="2100" dirty="0" err="1">
                <a:latin typeface="Arial" panose="020B0604020202020204" pitchFamily="34" charset="0"/>
                <a:cs typeface="Arial" panose="020B0604020202020204" pitchFamily="34" charset="0"/>
              </a:rPr>
              <a:t>qty</a:t>
            </a:r>
            <a:r>
              <a:rPr lang="en-US" sz="2100" dirty="0">
                <a:latin typeface="Arial" panose="020B0604020202020204" pitchFamily="34" charset="0"/>
                <a:cs typeface="Arial" panose="020B0604020202020204" pitchFamily="34" charset="0"/>
              </a:rPr>
              <a:t>: 15 }, { warehouse: "C", </a:t>
            </a:r>
            <a:r>
              <a:rPr lang="en-US" sz="2100" dirty="0" err="1">
                <a:latin typeface="Arial" panose="020B0604020202020204" pitchFamily="34" charset="0"/>
                <a:cs typeface="Arial" panose="020B0604020202020204" pitchFamily="34" charset="0"/>
              </a:rPr>
              <a:t>qty</a:t>
            </a:r>
            <a:r>
              <a:rPr lang="en-US" sz="2100" dirty="0">
                <a:latin typeface="Arial" panose="020B0604020202020204" pitchFamily="34" charset="0"/>
                <a:cs typeface="Arial" panose="020B0604020202020204" pitchFamily="34" charset="0"/>
              </a:rPr>
              <a:t>: 35 } ] }</a:t>
            </a:r>
          </a:p>
          <a:p>
            <a:pPr marL="0" indent="0">
              <a:lnSpc>
                <a:spcPct val="110000"/>
              </a:lnSpc>
              <a:spcBef>
                <a:spcPts val="600"/>
              </a:spcBef>
              <a:buNone/>
            </a:pPr>
            <a:r>
              <a:rPr lang="en-US" sz="2100" dirty="0">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26879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 and Nested documents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Query for a Document Nested in an Array</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selects all documents where an element in the </a:t>
            </a:r>
            <a:r>
              <a:rPr lang="en-US" sz="2400" dirty="0" err="1">
                <a:latin typeface="Arial" panose="020B0604020202020204" pitchFamily="34" charset="0"/>
                <a:cs typeface="Arial" panose="020B0604020202020204" pitchFamily="34" charset="0"/>
              </a:rPr>
              <a:t>instock</a:t>
            </a:r>
            <a:r>
              <a:rPr lang="en-US" sz="2400" dirty="0">
                <a:latin typeface="Arial" panose="020B0604020202020204" pitchFamily="34" charset="0"/>
                <a:cs typeface="Arial" panose="020B0604020202020204" pitchFamily="34" charset="0"/>
              </a:rPr>
              <a:t> array matches the specified document:</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instock</a:t>
            </a:r>
            <a:r>
              <a:rPr lang="en-US" sz="2400" dirty="0">
                <a:solidFill>
                  <a:srgbClr val="FF0000"/>
                </a:solidFill>
                <a:latin typeface="Arial" panose="020B0604020202020204" pitchFamily="34" charset="0"/>
                <a:cs typeface="Arial" panose="020B0604020202020204" pitchFamily="34" charset="0"/>
              </a:rPr>
              <a:t>": { warehouse: "A", </a:t>
            </a:r>
            <a:r>
              <a:rPr lang="en-US" sz="2400" dirty="0" err="1">
                <a:solidFill>
                  <a:srgbClr val="FF0000"/>
                </a:solidFill>
                <a:latin typeface="Arial" panose="020B0604020202020204" pitchFamily="34" charset="0"/>
                <a:cs typeface="Arial" panose="020B0604020202020204" pitchFamily="34" charset="0"/>
              </a:rPr>
              <a:t>qty</a:t>
            </a:r>
            <a:r>
              <a:rPr lang="en-US" sz="2400" dirty="0">
                <a:solidFill>
                  <a:srgbClr val="FF0000"/>
                </a:solidFill>
                <a:latin typeface="Arial" panose="020B0604020202020204" pitchFamily="34" charset="0"/>
                <a:cs typeface="Arial" panose="020B0604020202020204" pitchFamily="34" charset="0"/>
              </a:rPr>
              <a:t>: 5 } } ,{_id:0} )</a:t>
            </a:r>
          </a:p>
          <a:p>
            <a:pPr marL="895350" indent="0">
              <a:lnSpc>
                <a:spcPct val="110000"/>
              </a:lnSpc>
              <a:spcBef>
                <a:spcPts val="3600"/>
              </a:spcBef>
              <a:buNone/>
            </a:pPr>
            <a:r>
              <a:rPr lang="en-US" sz="2400" dirty="0">
                <a:latin typeface="Arial" panose="020B0604020202020204" pitchFamily="34" charset="0"/>
                <a:cs typeface="Arial" panose="020B0604020202020204" pitchFamily="34" charset="0"/>
              </a:rPr>
              <a:t>The following query does not match any documents in the inventory collection:</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instock</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qty</a:t>
            </a:r>
            <a:r>
              <a:rPr lang="en-US" sz="2400" dirty="0">
                <a:solidFill>
                  <a:srgbClr val="FF0000"/>
                </a:solidFill>
                <a:latin typeface="Arial" panose="020B0604020202020204" pitchFamily="34" charset="0"/>
                <a:cs typeface="Arial" panose="020B0604020202020204" pitchFamily="34" charset="0"/>
              </a:rPr>
              <a:t>: 5, warehouse: "A" } } ,{_id:0}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31381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 and Nested documents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Specify a Query Condition on a Field Embedded in an Array of Documents</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If you do not know the index position of the document nested in the array, concatenate the name of the array field, with a dot (.) and the name of the field in the nested document.</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selects all documents where the </a:t>
            </a:r>
            <a:r>
              <a:rPr lang="en-US" sz="2400" dirty="0" err="1">
                <a:latin typeface="Arial" panose="020B0604020202020204" pitchFamily="34" charset="0"/>
                <a:cs typeface="Arial" panose="020B0604020202020204" pitchFamily="34" charset="0"/>
              </a:rPr>
              <a:t>instock</a:t>
            </a:r>
            <a:r>
              <a:rPr lang="en-US" sz="2400" dirty="0">
                <a:latin typeface="Arial" panose="020B0604020202020204" pitchFamily="34" charset="0"/>
                <a:cs typeface="Arial" panose="020B0604020202020204" pitchFamily="34" charset="0"/>
              </a:rPr>
              <a:t> array has at least one embedded document that contains the field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whose value is less than or equal to 20:</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instock.qty</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lte</a:t>
            </a:r>
            <a:r>
              <a:rPr lang="en-US" sz="2400" dirty="0">
                <a:solidFill>
                  <a:srgbClr val="FF0000"/>
                </a:solidFill>
                <a:latin typeface="Arial" panose="020B0604020202020204" pitchFamily="34" charset="0"/>
                <a:cs typeface="Arial" panose="020B0604020202020204" pitchFamily="34" charset="0"/>
              </a:rPr>
              <a:t>: 20 } } ,{_id:0}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95083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 and Nested documents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Use the Array Index to Query for a Field in the Embedded Document</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selects all documents where the </a:t>
            </a:r>
            <a:r>
              <a:rPr lang="en-US" sz="2400" dirty="0" err="1">
                <a:latin typeface="Arial" panose="020B0604020202020204" pitchFamily="34" charset="0"/>
                <a:cs typeface="Arial" panose="020B0604020202020204" pitchFamily="34" charset="0"/>
              </a:rPr>
              <a:t>instock</a:t>
            </a:r>
            <a:r>
              <a:rPr lang="en-US" sz="2400" dirty="0">
                <a:latin typeface="Arial" panose="020B0604020202020204" pitchFamily="34" charset="0"/>
                <a:cs typeface="Arial" panose="020B0604020202020204" pitchFamily="34" charset="0"/>
              </a:rPr>
              <a:t> array has as its first element a document that contains the field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whose value is less than or equal to 20:</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'instock.0.qty': { $</a:t>
            </a:r>
            <a:r>
              <a:rPr lang="en-US" sz="2400" dirty="0" err="1">
                <a:solidFill>
                  <a:srgbClr val="FF0000"/>
                </a:solidFill>
                <a:latin typeface="Arial" panose="020B0604020202020204" pitchFamily="34" charset="0"/>
                <a:cs typeface="Arial" panose="020B0604020202020204" pitchFamily="34" charset="0"/>
              </a:rPr>
              <a:t>lte</a:t>
            </a:r>
            <a:r>
              <a:rPr lang="en-US" sz="2400" dirty="0">
                <a:solidFill>
                  <a:srgbClr val="FF0000"/>
                </a:solidFill>
                <a:latin typeface="Arial" panose="020B0604020202020204" pitchFamily="34" charset="0"/>
                <a:cs typeface="Arial" panose="020B0604020202020204" pitchFamily="34" charset="0"/>
              </a:rPr>
              <a:t>: 20 } } ,{_id:0} )</a:t>
            </a:r>
          </a:p>
          <a:p>
            <a:pPr marL="0" indent="0">
              <a:lnSpc>
                <a:spcPct val="110000"/>
              </a:lnSpc>
              <a:spcBef>
                <a:spcPts val="1800"/>
              </a:spcBef>
              <a:buNone/>
            </a:pPr>
            <a:r>
              <a:rPr lang="en-US" sz="2400" dirty="0">
                <a:latin typeface="Arial" panose="020B0604020202020204" pitchFamily="34" charset="0"/>
                <a:cs typeface="Arial" panose="020B0604020202020204" pitchFamily="34" charset="0"/>
              </a:rPr>
              <a:t>NOTE</a:t>
            </a:r>
          </a:p>
          <a:p>
            <a:pPr marL="0" indent="0">
              <a:lnSpc>
                <a:spcPct val="110000"/>
              </a:lnSpc>
              <a:spcBef>
                <a:spcPts val="1800"/>
              </a:spcBef>
              <a:buNone/>
            </a:pPr>
            <a:r>
              <a:rPr lang="en-US" sz="2400" dirty="0">
                <a:latin typeface="Arial" panose="020B0604020202020204" pitchFamily="34" charset="0"/>
                <a:cs typeface="Arial" panose="020B0604020202020204" pitchFamily="34" charset="0"/>
              </a:rPr>
              <a:t>When querying using dot notation, the field and index must be inside quotation marks.</a:t>
            </a:r>
          </a:p>
          <a:p>
            <a:pPr marL="0" indent="0">
              <a:lnSpc>
                <a:spcPct val="110000"/>
              </a:lnSpc>
              <a:spcBef>
                <a:spcPts val="1800"/>
              </a:spcBef>
              <a:buNone/>
            </a:pPr>
            <a:endParaRPr lang="en-US"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9018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 and Nested documents</a:t>
            </a: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A Single Nested Document Meets Multiple Query Conditions on Nested Fields</a:t>
            </a:r>
          </a:p>
          <a:p>
            <a:pPr marL="182563"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queries for documents where the </a:t>
            </a:r>
            <a:r>
              <a:rPr lang="en-US" sz="2400" dirty="0" err="1">
                <a:latin typeface="Arial" panose="020B0604020202020204" pitchFamily="34" charset="0"/>
                <a:cs typeface="Arial" panose="020B0604020202020204" pitchFamily="34" charset="0"/>
              </a:rPr>
              <a:t>instock</a:t>
            </a:r>
            <a:r>
              <a:rPr lang="en-US" sz="2400" dirty="0">
                <a:latin typeface="Arial" panose="020B0604020202020204" pitchFamily="34" charset="0"/>
                <a:cs typeface="Arial" panose="020B0604020202020204" pitchFamily="34" charset="0"/>
              </a:rPr>
              <a:t> array has at least one embedded document that contains both the field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equal to 5 and the field warehouse equal to A:</a:t>
            </a:r>
          </a:p>
          <a:p>
            <a:pPr marL="182563"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instock</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elemMatch</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qty</a:t>
            </a:r>
            <a:r>
              <a:rPr lang="en-US" sz="2400" dirty="0">
                <a:solidFill>
                  <a:srgbClr val="FF0000"/>
                </a:solidFill>
                <a:latin typeface="Arial" panose="020B0604020202020204" pitchFamily="34" charset="0"/>
                <a:cs typeface="Arial" panose="020B0604020202020204" pitchFamily="34" charset="0"/>
              </a:rPr>
              <a:t>: 5, warehouse: "A" } } } ,{_id:0} )</a:t>
            </a:r>
          </a:p>
          <a:p>
            <a:pPr marL="182563"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queries for documents where the </a:t>
            </a:r>
            <a:r>
              <a:rPr lang="en-US" sz="2400" dirty="0" err="1">
                <a:latin typeface="Arial" panose="020B0604020202020204" pitchFamily="34" charset="0"/>
                <a:cs typeface="Arial" panose="020B0604020202020204" pitchFamily="34" charset="0"/>
              </a:rPr>
              <a:t>instock</a:t>
            </a:r>
            <a:r>
              <a:rPr lang="en-US" sz="2400" dirty="0">
                <a:latin typeface="Arial" panose="020B0604020202020204" pitchFamily="34" charset="0"/>
                <a:cs typeface="Arial" panose="020B0604020202020204" pitchFamily="34" charset="0"/>
              </a:rPr>
              <a:t> array has at least one embedded document that contains the field </a:t>
            </a:r>
            <a:r>
              <a:rPr lang="en-US" sz="2400" dirty="0" err="1">
                <a:latin typeface="Arial" panose="020B0604020202020204" pitchFamily="34" charset="0"/>
                <a:cs typeface="Arial" panose="020B0604020202020204" pitchFamily="34" charset="0"/>
              </a:rPr>
              <a:t>qty</a:t>
            </a:r>
            <a:r>
              <a:rPr lang="en-US" sz="2400" dirty="0">
                <a:latin typeface="Arial" panose="020B0604020202020204" pitchFamily="34" charset="0"/>
                <a:cs typeface="Arial" panose="020B0604020202020204" pitchFamily="34" charset="0"/>
              </a:rPr>
              <a:t> that is greater than 10 and less than or equal to 20:</a:t>
            </a:r>
          </a:p>
          <a:p>
            <a:pPr marL="182563"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instock</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elemMatch</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qty</a:t>
            </a:r>
            <a:r>
              <a:rPr lang="en-US" sz="2400" dirty="0">
                <a:solidFill>
                  <a:srgbClr val="FF0000"/>
                </a:solidFill>
                <a:latin typeface="Arial" panose="020B0604020202020204" pitchFamily="34" charset="0"/>
                <a:cs typeface="Arial" panose="020B0604020202020204" pitchFamily="34" charset="0"/>
              </a:rPr>
              <a:t>: { $</a:t>
            </a:r>
            <a:r>
              <a:rPr lang="en-US" sz="2400" dirty="0" err="1">
                <a:solidFill>
                  <a:srgbClr val="FF0000"/>
                </a:solidFill>
                <a:latin typeface="Arial" panose="020B0604020202020204" pitchFamily="34" charset="0"/>
                <a:cs typeface="Arial" panose="020B0604020202020204" pitchFamily="34" charset="0"/>
              </a:rPr>
              <a:t>gt</a:t>
            </a:r>
            <a:r>
              <a:rPr lang="en-US" sz="2400" dirty="0">
                <a:solidFill>
                  <a:srgbClr val="FF0000"/>
                </a:solidFill>
                <a:latin typeface="Arial" panose="020B0604020202020204" pitchFamily="34" charset="0"/>
                <a:cs typeface="Arial" panose="020B0604020202020204" pitchFamily="34" charset="0"/>
              </a:rPr>
              <a:t>: 10, $</a:t>
            </a:r>
            <a:r>
              <a:rPr lang="en-US" sz="2400" dirty="0" err="1">
                <a:solidFill>
                  <a:srgbClr val="FF0000"/>
                </a:solidFill>
                <a:latin typeface="Arial" panose="020B0604020202020204" pitchFamily="34" charset="0"/>
                <a:cs typeface="Arial" panose="020B0604020202020204" pitchFamily="34" charset="0"/>
              </a:rPr>
              <a:t>lte</a:t>
            </a:r>
            <a:r>
              <a:rPr lang="en-US" sz="2400" dirty="0">
                <a:solidFill>
                  <a:srgbClr val="FF0000"/>
                </a:solidFill>
                <a:latin typeface="Arial" panose="020B0604020202020204" pitchFamily="34" charset="0"/>
                <a:cs typeface="Arial" panose="020B0604020202020204" pitchFamily="34" charset="0"/>
              </a:rPr>
              <a:t>: 20 } } } } ,{_id:0}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92184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 and Nested documents</a:t>
            </a:r>
          </a:p>
        </p:txBody>
      </p:sp>
      <p:sp>
        <p:nvSpPr>
          <p:cNvPr id="3" name="Content Placeholder 2"/>
          <p:cNvSpPr>
            <a:spLocks noGrp="1"/>
          </p:cNvSpPr>
          <p:nvPr>
            <p:ph idx="1"/>
          </p:nvPr>
        </p:nvSpPr>
        <p:spPr>
          <a:xfrm>
            <a:off x="838200" y="1690688"/>
            <a:ext cx="10515600" cy="4486275"/>
          </a:xfrm>
        </p:spPr>
        <p:txBody>
          <a:bodyPr>
            <a:normAutofit fontScale="85000" lnSpcReduction="20000"/>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Query for Null or Missing Fields</a:t>
            </a:r>
          </a:p>
          <a:p>
            <a:pPr marL="0" indent="0">
              <a:lnSpc>
                <a:spcPct val="110000"/>
              </a:lnSpc>
              <a:spcBef>
                <a:spcPts val="1800"/>
              </a:spcBef>
              <a:buNone/>
            </a:pPr>
            <a:r>
              <a:rPr lang="en-US" sz="2400" dirty="0">
                <a:latin typeface="Arial" panose="020B0604020202020204" pitchFamily="34" charset="0"/>
                <a:cs typeface="Arial" panose="020B0604020202020204" pitchFamily="34" charset="0"/>
              </a:rPr>
              <a:t>Equality Filter</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 item : null } query matches documents that either contain the item field whose value is null or that do not contain the item field.</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item: null } ,{_id:0} )</a:t>
            </a:r>
          </a:p>
          <a:p>
            <a:pPr marL="0" indent="0">
              <a:lnSpc>
                <a:spcPct val="110000"/>
              </a:lnSpc>
              <a:spcBef>
                <a:spcPts val="1800"/>
              </a:spcBef>
              <a:buNone/>
            </a:pPr>
            <a:r>
              <a:rPr lang="en-US" sz="2400" dirty="0">
                <a:latin typeface="Arial" panose="020B0604020202020204" pitchFamily="34" charset="0"/>
                <a:cs typeface="Arial" panose="020B0604020202020204" pitchFamily="34" charset="0"/>
              </a:rPr>
              <a:t>Type Check</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 item : { $type: 10 } } query matches only documents that contain the item field whose value is null; i.e. the value of the item field is of BSON Type Null (type number 10) :</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item : { $type: 10 } } ,{_id:0}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81054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Querying with Arrays and Nested documents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1800"/>
              </a:spcBef>
              <a:buNone/>
            </a:pPr>
            <a:r>
              <a:rPr lang="en-US" sz="2400" dirty="0">
                <a:latin typeface="Arial" panose="020B0604020202020204" pitchFamily="34" charset="0"/>
                <a:cs typeface="Arial" panose="020B0604020202020204" pitchFamily="34" charset="0"/>
              </a:rPr>
              <a:t>Existence Check</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following example queries for documents that do not contain a field. </a:t>
            </a:r>
          </a:p>
          <a:p>
            <a:pPr marL="895350" indent="0">
              <a:lnSpc>
                <a:spcPct val="110000"/>
              </a:lnSpc>
              <a:spcBef>
                <a:spcPts val="1800"/>
              </a:spcBef>
              <a:buNone/>
            </a:pPr>
            <a:r>
              <a:rPr lang="en-US" sz="2400" dirty="0">
                <a:latin typeface="Arial" panose="020B0604020202020204" pitchFamily="34" charset="0"/>
                <a:cs typeface="Arial" panose="020B0604020202020204" pitchFamily="34" charset="0"/>
              </a:rPr>
              <a:t>The { item : { $exists: false } } query matches documents that do not contain the item field:</a:t>
            </a:r>
          </a:p>
          <a:p>
            <a:pPr marL="895350" indent="0">
              <a:lnSpc>
                <a:spcPct val="110000"/>
              </a:lnSpc>
              <a:spcBef>
                <a:spcPts val="1800"/>
              </a:spcBef>
              <a:buNone/>
            </a:pPr>
            <a:r>
              <a:rPr lang="en-US" sz="2400" dirty="0" err="1">
                <a:solidFill>
                  <a:srgbClr val="FF0000"/>
                </a:solidFill>
                <a:latin typeface="Arial" panose="020B0604020202020204" pitchFamily="34" charset="0"/>
                <a:cs typeface="Arial" panose="020B0604020202020204" pitchFamily="34" charset="0"/>
              </a:rPr>
              <a:t>db.inventory.find</a:t>
            </a:r>
            <a:r>
              <a:rPr lang="en-US" sz="2400" dirty="0">
                <a:solidFill>
                  <a:srgbClr val="FF0000"/>
                </a:solidFill>
                <a:latin typeface="Arial" panose="020B0604020202020204" pitchFamily="34" charset="0"/>
                <a:cs typeface="Arial" panose="020B0604020202020204" pitchFamily="34" charset="0"/>
              </a:rPr>
              <a:t>( { item : { $exists: false } } ,{_id:0}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34000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solidFill>
                  <a:srgbClr val="404040"/>
                </a:solidFill>
                <a:latin typeface="Arial" panose="020B0604020202020204" pitchFamily="34" charset="0"/>
                <a:cs typeface="Arial" panose="020B0604020202020204" pitchFamily="34" charset="0"/>
              </a:rPr>
              <a:t>Introduction to MongoDB</a:t>
            </a:r>
          </a:p>
          <a:p>
            <a:pPr marL="996950" lvl="1" indent="-539750">
              <a:lnSpc>
                <a:spcPct val="120000"/>
              </a:lnSpc>
              <a:spcBef>
                <a:spcPts val="600"/>
              </a:spcBef>
              <a:spcAft>
                <a:spcPts val="600"/>
              </a:spcAft>
            </a:pPr>
            <a:r>
              <a:rPr lang="en-IN" dirty="0">
                <a:solidFill>
                  <a:srgbClr val="404040"/>
                </a:solidFill>
                <a:latin typeface="Arial" panose="020B0604020202020204" pitchFamily="34" charset="0"/>
                <a:cs typeface="Arial" panose="020B0604020202020204" pitchFamily="34" charset="0"/>
              </a:rPr>
              <a:t>MongoDB Commands</a:t>
            </a: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12-07-2024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Custom 1">
      <a:dk1>
        <a:srgbClr val="40404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801</TotalTime>
  <Words>5357</Words>
  <Application>Microsoft Office PowerPoint</Application>
  <PresentationFormat>Widescreen</PresentationFormat>
  <Paragraphs>617</Paragraphs>
  <Slides>52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Calibri (Body)</vt:lpstr>
      <vt:lpstr>Calibri Light</vt:lpstr>
      <vt:lpstr>Office Theme</vt:lpstr>
      <vt:lpstr>PowerPoint Presentation</vt:lpstr>
      <vt:lpstr>Objectives</vt:lpstr>
      <vt:lpstr>Mongo DB</vt:lpstr>
      <vt:lpstr>Who Uses MongoDB</vt:lpstr>
      <vt:lpstr>MongoDB Terminology</vt:lpstr>
      <vt:lpstr>MongoDB: Hierarchical Objects</vt:lpstr>
      <vt:lpstr>MongoDB: Installation</vt:lpstr>
      <vt:lpstr>show dbs command</vt:lpstr>
      <vt:lpstr>createCollection() Method</vt:lpstr>
      <vt:lpstr>createCollection() Method</vt:lpstr>
      <vt:lpstr>insert() Method</vt:lpstr>
      <vt:lpstr>Mongo DB Datatypes</vt:lpstr>
      <vt:lpstr>Mongo DB Datatypes</vt:lpstr>
      <vt:lpstr>Mongo DB Datatypes</vt:lpstr>
      <vt:lpstr>find() command</vt:lpstr>
      <vt:lpstr>Projections</vt:lpstr>
      <vt:lpstr>insertOne() command</vt:lpstr>
      <vt:lpstr>insert() command</vt:lpstr>
      <vt:lpstr>insertMany() command</vt:lpstr>
      <vt:lpstr>Save() Method</vt:lpstr>
      <vt:lpstr>Selections</vt:lpstr>
      <vt:lpstr>Querying</vt:lpstr>
      <vt:lpstr>Where Clause in MongoDB</vt:lpstr>
      <vt:lpstr>Selections</vt:lpstr>
      <vt:lpstr>AND, OR in MongoDB</vt:lpstr>
      <vt:lpstr>Querying with conditions</vt:lpstr>
      <vt:lpstr>Insert with Array</vt:lpstr>
      <vt:lpstr>Aggregate Functions</vt:lpstr>
      <vt:lpstr>Aggregate Functions</vt:lpstr>
      <vt:lpstr>Update in MongoDB</vt:lpstr>
      <vt:lpstr>remove() Method</vt:lpstr>
      <vt:lpstr>remove() Method</vt:lpstr>
      <vt:lpstr>Other important methods</vt:lpstr>
      <vt:lpstr>drop() Method</vt:lpstr>
      <vt:lpstr>db.dropDatabase() command </vt:lpstr>
      <vt:lpstr>Querying with nested documents </vt:lpstr>
      <vt:lpstr>Querying with nested documents </vt:lpstr>
      <vt:lpstr>Querying with nested documents </vt:lpstr>
      <vt:lpstr>Querying with nested documents </vt:lpstr>
      <vt:lpstr>Querying with Arrays</vt:lpstr>
      <vt:lpstr>Querying with Arrays</vt:lpstr>
      <vt:lpstr>Querying with Arrays</vt:lpstr>
      <vt:lpstr>Querying with Arrays</vt:lpstr>
      <vt:lpstr>Querying with Arrays</vt:lpstr>
      <vt:lpstr>Querying with Arrays and Nested documents</vt:lpstr>
      <vt:lpstr>Querying with Arrays and Nested documents</vt:lpstr>
      <vt:lpstr>Querying with Arrays and Nested documents</vt:lpstr>
      <vt:lpstr>Querying with Arrays and Nested documents</vt:lpstr>
      <vt:lpstr>Querying with Arrays and Nested documents</vt:lpstr>
      <vt:lpstr>Querying with Arrays and Nested documents</vt:lpstr>
      <vt:lpstr>Querying with Arrays and Nested documents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87</cp:revision>
  <dcterms:created xsi:type="dcterms:W3CDTF">2019-11-30T05:18:24Z</dcterms:created>
  <dcterms:modified xsi:type="dcterms:W3CDTF">2024-07-12T14:07:48Z</dcterms:modified>
</cp:coreProperties>
</file>