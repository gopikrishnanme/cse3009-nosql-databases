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368" r:id="rId4"/>
    <p:sldId id="423" r:id="rId5"/>
    <p:sldId id="424" r:id="rId6"/>
    <p:sldId id="426" r:id="rId7"/>
    <p:sldId id="398" r:id="rId8"/>
    <p:sldId id="428" r:id="rId9"/>
    <p:sldId id="429" r:id="rId10"/>
    <p:sldId id="427" r:id="rId11"/>
    <p:sldId id="399" r:id="rId12"/>
    <p:sldId id="438" r:id="rId13"/>
    <p:sldId id="439" r:id="rId14"/>
    <p:sldId id="440" r:id="rId15"/>
    <p:sldId id="441" r:id="rId16"/>
    <p:sldId id="442" r:id="rId17"/>
    <p:sldId id="443" r:id="rId18"/>
    <p:sldId id="437" r:id="rId19"/>
    <p:sldId id="431" r:id="rId20"/>
    <p:sldId id="430" r:id="rId21"/>
    <p:sldId id="400" r:id="rId22"/>
    <p:sldId id="432" r:id="rId23"/>
    <p:sldId id="433" r:id="rId24"/>
    <p:sldId id="434" r:id="rId25"/>
    <p:sldId id="435" r:id="rId26"/>
    <p:sldId id="436" r:id="rId27"/>
    <p:sldId id="259" r:id="rId28"/>
    <p:sldId id="445" r:id="rId29"/>
    <p:sldId id="446" r:id="rId30"/>
    <p:sldId id="447" r:id="rId31"/>
    <p:sldId id="454" r:id="rId32"/>
    <p:sldId id="455" r:id="rId33"/>
    <p:sldId id="453" r:id="rId34"/>
    <p:sldId id="457" r:id="rId35"/>
    <p:sldId id="448" r:id="rId36"/>
    <p:sldId id="449" r:id="rId37"/>
    <p:sldId id="450" r:id="rId38"/>
    <p:sldId id="451" r:id="rId39"/>
    <p:sldId id="444" r:id="rId40"/>
    <p:sldId id="458" r:id="rId41"/>
    <p:sldId id="45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14-05-2020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14-05-2020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14-05-2020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Algorithm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14-05-2020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Graph Algorithms Introduction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Page Rank computation using Iterative Processing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Page Rank computation using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Random Walk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Graph Algorithms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transactions and operational decisions, you need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graph analysis to provide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local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of relationships between specific data items and take action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make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discoveries about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overall nature of networks and model the behavior of complex systems, you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need graph algorithms.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provide the means to understand, model and predict complicated dynamics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such as the flow of resources or information, the pathways through which contagions or network failures spread, and the influences on and resiliency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groups.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5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Graph Algorithms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572976"/>
              </p:ext>
            </p:extLst>
          </p:nvPr>
        </p:nvGraphicFramePr>
        <p:xfrm>
          <a:off x="838200" y="1588984"/>
          <a:ext cx="10515600" cy="451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388">
                  <a:extLst>
                    <a:ext uri="{9D8B030D-6E8A-4147-A177-3AD203B41FA5}">
                      <a16:colId xmlns:a16="http://schemas.microsoft.com/office/drawing/2014/main" val="159434929"/>
                    </a:ext>
                  </a:extLst>
                </a:gridCol>
                <a:gridCol w="2932340">
                  <a:extLst>
                    <a:ext uri="{9D8B030D-6E8A-4147-A177-3AD203B41FA5}">
                      <a16:colId xmlns:a16="http://schemas.microsoft.com/office/drawing/2014/main" val="1985862433"/>
                    </a:ext>
                  </a:extLst>
                </a:gridCol>
                <a:gridCol w="4827872">
                  <a:extLst>
                    <a:ext uri="{9D8B030D-6E8A-4147-A177-3AD203B41FA5}">
                      <a16:colId xmlns:a16="http://schemas.microsoft.com/office/drawing/2014/main" val="3909103595"/>
                    </a:ext>
                  </a:extLst>
                </a:gridCol>
              </a:tblGrid>
              <a:tr h="59989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 Type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Graph Problem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40575"/>
                  </a:ext>
                </a:extLst>
              </a:tr>
              <a:tr h="1228091">
                <a:tc>
                  <a:txBody>
                    <a:bodyPr/>
                    <a:lstStyle/>
                    <a:p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Find the optimal path or evaluate route availability and quality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Find the quickest route to travel from A to B </a:t>
                      </a:r>
                    </a:p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Telephone call routing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82719"/>
                  </a:ext>
                </a:extLst>
              </a:tr>
              <a:tr h="1482291">
                <a:tc>
                  <a:txBody>
                    <a:bodyPr/>
                    <a:lstStyle/>
                    <a:p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Determine the importance of distinct nodes in the networks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Determine social media influencers </a:t>
                      </a:r>
                    </a:p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Find likely attack targets in communication and transportation networks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323989"/>
                  </a:ext>
                </a:extLst>
              </a:tr>
              <a:tr h="1199786">
                <a:tc>
                  <a:txBody>
                    <a:bodyPr/>
                    <a:lstStyle/>
                    <a:p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Evaluate how a group is clustered or partitioned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Segment customers </a:t>
                      </a:r>
                    </a:p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Find potential members of a fraud ring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295771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285" y="2205931"/>
            <a:ext cx="1318184" cy="115713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521" y="4905071"/>
            <a:ext cx="1116052" cy="11724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515" y="3546803"/>
            <a:ext cx="1404454" cy="12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4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Graph Algorithms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Traversal &amp; Pathfinding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Breadth-First Search (BFS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Depth-First Search (DFS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Single-Source Shortest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All-Pairs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Shortest Path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Minimum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Weight Spanning Tree (MWST)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Centrality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PageRank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Degree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Centrality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Closeness Centrality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Betweenness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Centrality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39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Graph Algorithms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Community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Detection Algorithms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Label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Propagation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Strongly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Union-Find / Connected Components / Weakly Connected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Louvain Modularity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Local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Clustering Coefficient / Node Clustering Coefficient</a:t>
            </a:r>
          </a:p>
          <a:p>
            <a:pPr marL="895350" indent="-355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Triangle-Count and Average Clustering Coefficient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99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Algorithm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is an algorithm that measures the transitive, or directional, influence of nodes. </a:t>
            </a:r>
            <a:endParaRPr lang="en-US" sz="22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other centrality algorithms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direct influence of a node, whereas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considers the influence of your neighbors and their neighbors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2313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example, having a few influential friends could raise your PageRank more than just having a lot of low-influence friends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PageRank is named after Google co-founder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Larry Page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is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rank websites in Google’s search results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counts the number, and quality, of links to a page which determines an estimation of how important the page is.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76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- 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Personalized PageRank is used by Twitter to present users with recommendations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other accounts that they may wish to follow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has been used to rank public spaces or streets, predicting traffic flow and human movement in these areas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The algorithm is run over a graph which contains intersections connected by roads, where the PageRank score reflects the tendency of people to park, or end their journey, on each street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can be used as part of an anomaly or fraud detection system in the healthcare and insurance industries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It can help find doctors or providers that are behaving in an unusual manner, and then feed the score into a machine learning algorithm.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2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when NOT 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some things to be aware of when using the PageRank algorithm: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no links from within a group of pages to outside of the group, then the group is considered a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spider trap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 sink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occur when a network of pages form an infinite cycle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Dead-ends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 when pages have no out-links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If a page contains a link to another page which has no out-links, the link would be known as a dangling link.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8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Algorithm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0515601" cy="448627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PageRank is defined in the original Google paper as follows: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PR(A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IN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d>
                      <m:d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𝑃𝑅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𝐶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+…….+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𝑃𝑅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𝐶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2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2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IN" sz="2200" b="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marL="539750" indent="-357188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that a page A has pages T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which point to it (i.e., are citations).</a:t>
                </a:r>
              </a:p>
              <a:p>
                <a:pPr marL="539750" indent="-357188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d is a damping factor which can be set between 0 and 1. It is usually set to 0.85.</a:t>
                </a:r>
              </a:p>
              <a:p>
                <a:pPr marL="539750" indent="-357188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C(A) is defined as the number of links going out of page A.</a:t>
                </a:r>
                <a:endParaRPr lang="en-US" sz="2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0515601" cy="4486275"/>
              </a:xfrm>
              <a:blipFill>
                <a:blip r:embed="rId2"/>
                <a:stretch>
                  <a:fillRect l="-695" t="-679" b="-24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95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Compute the page rank score for the given graph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74" y="2495885"/>
            <a:ext cx="2997449" cy="368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7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84" y="1511301"/>
            <a:ext cx="3537265" cy="43440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487" y="1690688"/>
            <a:ext cx="48482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84" y="1511301"/>
            <a:ext cx="3537265" cy="43440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511301"/>
            <a:ext cx="6532495" cy="463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1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658" y="2164779"/>
            <a:ext cx="2843879" cy="34924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8" y="1539613"/>
            <a:ext cx="8327840" cy="481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3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548325"/>
            <a:ext cx="2871169" cy="35259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1511301"/>
            <a:ext cx="7574280" cy="4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9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298068"/>
            <a:ext cx="2871169" cy="35259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1533526"/>
            <a:ext cx="7641426" cy="469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8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: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298068"/>
            <a:ext cx="2871169" cy="35259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98069"/>
            <a:ext cx="7688013" cy="268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6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PageRank computation in Neo4j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name:'Site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A'})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name:'Site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B'})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name:'Site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C'})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name:'Site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D'})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MERGE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name:'Site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E'})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A"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y.name = "Site B"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 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087606"/>
            <a:ext cx="2997449" cy="368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3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A" AND y.name = "Site C"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A" AND y.name = "Site D"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B" AND y.name = "Site C"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 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00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C" AND y.name = "Site E"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D" AND y.name = "Site C"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y:Page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WHERE x.name = "Site D" AND y.name = "Site E"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(x)-[: Relation]-&gt;(y)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2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Neo4j command to apply PageRank Algorithm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algo.pageRank.stream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('Page', 'Relation', {iterations:1, dampingFactor:0.85})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score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algo.asNode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).name AS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page,score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 BY score DESC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79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0</a:t>
            </a:r>
            <a:r>
              <a:rPr lang="en-IN" sz="3200" b="1" u="sng" baseline="30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Iteration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690688"/>
            <a:ext cx="7315200" cy="431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5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1</a:t>
            </a:r>
            <a:r>
              <a:rPr lang="en-IN" sz="3200" b="1" u="sng" baseline="30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Iteration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676" y="1690688"/>
            <a:ext cx="7436647" cy="44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6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2</a:t>
            </a:r>
            <a:r>
              <a:rPr lang="en-IN" sz="3200" b="1" u="sng" baseline="30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Iteration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84" y="1690688"/>
            <a:ext cx="7441431" cy="436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2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3</a:t>
            </a:r>
            <a:r>
              <a:rPr lang="en-IN" sz="3200" b="1" u="sng" baseline="30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Iteration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483" y="1690688"/>
            <a:ext cx="7659819" cy="44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4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4</a:t>
            </a:r>
            <a:r>
              <a:rPr lang="en-IN" sz="3200" b="1" u="sng" baseline="30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Iteration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483" y="1690688"/>
            <a:ext cx="7659819" cy="44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4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Walk: PageRank 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Random Walk is an algorithm that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random paths in a graph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random walk means that we start at one node, choose a neighbor to navigate to at random or based on a provided probability distribution, and then do the same from that node, keeping the resulting path in a list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term "random walk" was first mentioned by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Karl Pearson in 1905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letter to Nature magazine titled The Problem of the Random Walk.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use Random Walk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has be shown to relate to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Brownian motion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also to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movement and dispersal of animals in the study of Random walk models in biology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has been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ALSI index of the JSE stock exchange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show that the index followed the random walk hypothesis between years 2000 and 2011.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used as part of the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Walktrap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Infomap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community detection algorithms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If a random walk returns a small set of nodes repeatedly, then it indicates that those set of nodes may have a community structure.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used as part of the training process of machine learning model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as described in David Mack’s article Review prediction with Neo4j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22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NOT to use Random Walk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Dead-ends occur when pages have no out-links. In this case, the random walk will abort and a path containing only the first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node will be returned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This problem can be avoided by passing the direction: BOTH parameter, so that the random walk will traverse relationships in both directions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there are no links from within a group of pages to outside of the group, then the group is considered a spider trap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Random walks starting from any of the nodes in that group will only traverse to the others in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group.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Neo4j implementation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the algorithm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doesn’t allow a random walk to jump to non-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neighbouring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nodes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Sinks can occur when a network of links form an infinite cycle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Walk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following graph finds the random walk page ranking for the example considered in iteration page rank model.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853037"/>
            <a:ext cx="98298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Walk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1690688"/>
            <a:ext cx="92011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4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Walk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87" y="2399506"/>
            <a:ext cx="76676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3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Walk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								Result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97" y="2409825"/>
            <a:ext cx="7324725" cy="304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023" y="2409825"/>
            <a:ext cx="17430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7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Walk Example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following graph finds the random walk page ranking for the example considered in iteration page rank model.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284" y="2723950"/>
            <a:ext cx="7923432" cy="34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3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score using Random Walk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If node a is selected as starting, 5 number of steps and 1 walk: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a:Page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{name: "Site A"})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algo.randomWalk.stream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(id(a), 5, 1)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YIELD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UNWIND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algo.asNode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).name AS page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787" y="1870075"/>
            <a:ext cx="1275155" cy="390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6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score using Random Walk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If node b is selected as starting, 2 number of steps and 2 walk: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b:Page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{name: "Site B"})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algo.randomWalk.stream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(id(b),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2,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2)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YIELD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UNWIND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algo.asNode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).name AS page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749" y="1694657"/>
            <a:ext cx="113347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1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Random Walk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a:Page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{name: "Site A"})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algo.pageRank.stream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(null, null, {direction: "BOTH",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sourceNodes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[a]})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YIELD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score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MATCH (n) WHERE id(n) =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nodeId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n &lt;&gt; a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RETURN coalesce(n.name,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n.title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AS node,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labels(n)[0] AS label,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score,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[node in nodes(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shortestpath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((a)-[*]-(n))) |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coalesce(node.name,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node.title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)] AS path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ORDER BY score DESC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Rank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Output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36807"/>
            <a:ext cx="10515600" cy="28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3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Problems: Iteration processing based Page Rank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Compute the page rank for each node using iterative method and verify it with Neo4j command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31" y="2905691"/>
            <a:ext cx="4275590" cy="31142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568" y="2786491"/>
            <a:ext cx="5750232" cy="32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8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Problems: Random Walk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Compute the page rank for each node using iterative method and verify it with Neo4j command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232" y="2669741"/>
            <a:ext cx="3411921" cy="26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6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Graph Algorithms Introduction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Page Rank computation using Iterative Processing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Page Rank computation using Random Walk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46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5200</TotalTime>
  <Words>1916</Words>
  <Application>Microsoft Office PowerPoint</Application>
  <PresentationFormat>Widescreen</PresentationFormat>
  <Paragraphs>296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(Body)</vt:lpstr>
      <vt:lpstr>Calibri Light</vt:lpstr>
      <vt:lpstr>Cambria Math</vt:lpstr>
      <vt:lpstr>Office Theme</vt:lpstr>
      <vt:lpstr>Course code : CSE3009 Course title  : No SQL Data Bases Module  : 6     Topic   : 7</vt:lpstr>
      <vt:lpstr>Objectives</vt:lpstr>
      <vt:lpstr>Introduction to Graph Algorithms</vt:lpstr>
      <vt:lpstr>Type of Graph Algorithms</vt:lpstr>
      <vt:lpstr>Introduction to Graph Algorithms</vt:lpstr>
      <vt:lpstr>Introduction to Graph Algorithms</vt:lpstr>
      <vt:lpstr>Page Rank Algorithm</vt:lpstr>
      <vt:lpstr>Page Rank - when to use</vt:lpstr>
      <vt:lpstr>Page Rank – when NOT to use</vt:lpstr>
      <vt:lpstr>Page Rank Algorithm</vt:lpstr>
      <vt:lpstr>PageRank computation : Example</vt:lpstr>
      <vt:lpstr>PageRank computation : Example</vt:lpstr>
      <vt:lpstr>PageRank computation : Example</vt:lpstr>
      <vt:lpstr>PageRank computation : Example</vt:lpstr>
      <vt:lpstr>PageRank computation : Example</vt:lpstr>
      <vt:lpstr>PageRank computation : Example</vt:lpstr>
      <vt:lpstr>PageRank computation : Example</vt:lpstr>
      <vt:lpstr>PageRank computation in Neo4j</vt:lpstr>
      <vt:lpstr>Return Clause</vt:lpstr>
      <vt:lpstr>Return Clause</vt:lpstr>
      <vt:lpstr>Neo4j command to apply PageRank Algorithm</vt:lpstr>
      <vt:lpstr>Result: 0th Iteration </vt:lpstr>
      <vt:lpstr>Result: 1st Iteration </vt:lpstr>
      <vt:lpstr>Result: 2nd Iteration </vt:lpstr>
      <vt:lpstr>Result: 3rd Iteration </vt:lpstr>
      <vt:lpstr>Result: 4th Iteration </vt:lpstr>
      <vt:lpstr>Random Walk: PageRank Algorithm</vt:lpstr>
      <vt:lpstr>When to use Random Walk</vt:lpstr>
      <vt:lpstr>When NOT to use Random Walk</vt:lpstr>
      <vt:lpstr>Random Walk Example</vt:lpstr>
      <vt:lpstr>Random Walk Example</vt:lpstr>
      <vt:lpstr>Random Walk Example</vt:lpstr>
      <vt:lpstr>Random Walk Example</vt:lpstr>
      <vt:lpstr>Random Walk Example</vt:lpstr>
      <vt:lpstr>Page Rank score using Random Walk </vt:lpstr>
      <vt:lpstr>Page Rank score using Random Walk </vt:lpstr>
      <vt:lpstr>Page Rank Path using Random Walk </vt:lpstr>
      <vt:lpstr>Page Rank Path Output</vt:lpstr>
      <vt:lpstr>Problems: Iteration processing based Page Rank</vt:lpstr>
      <vt:lpstr>Problems: Random Walk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Windows User</cp:lastModifiedBy>
  <cp:revision>245</cp:revision>
  <dcterms:created xsi:type="dcterms:W3CDTF">2019-11-30T05:18:24Z</dcterms:created>
  <dcterms:modified xsi:type="dcterms:W3CDTF">2020-05-14T10:30:16Z</dcterms:modified>
</cp:coreProperties>
</file>