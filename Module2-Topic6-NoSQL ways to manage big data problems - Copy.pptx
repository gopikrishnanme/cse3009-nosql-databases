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6" r:id="rId2"/>
    <p:sldId id="258" r:id="rId3"/>
    <p:sldId id="260" r:id="rId4"/>
    <p:sldId id="358" r:id="rId5"/>
    <p:sldId id="359" r:id="rId6"/>
    <p:sldId id="339" r:id="rId7"/>
    <p:sldId id="360" r:id="rId8"/>
    <p:sldId id="361" r:id="rId9"/>
    <p:sldId id="362" r:id="rId10"/>
    <p:sldId id="363" r:id="rId11"/>
    <p:sldId id="340" r:id="rId12"/>
    <p:sldId id="364" r:id="rId13"/>
    <p:sldId id="366" r:id="rId14"/>
    <p:sldId id="367" r:id="rId15"/>
    <p:sldId id="365" r:id="rId16"/>
    <p:sldId id="368" r:id="rId17"/>
    <p:sldId id="259"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0CC00"/>
    <a:srgbClr val="2102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643"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CF716F9-1CCB-412E-807B-54E78A47C39C}" type="datetimeFigureOut">
              <a:rPr lang="en-IN" smtClean="0"/>
              <a:t>04-02-2023</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7070DDA-CF3D-48BA-A0B0-D24E17EB7419}" type="slidenum">
              <a:rPr lang="en-IN" smtClean="0"/>
              <a:t>‹#›</a:t>
            </a:fld>
            <a:endParaRPr lang="en-IN"/>
          </a:p>
        </p:txBody>
      </p:sp>
    </p:spTree>
    <p:extLst>
      <p:ext uri="{BB962C8B-B14F-4D97-AF65-F5344CB8AC3E}">
        <p14:creationId xmlns:p14="http://schemas.microsoft.com/office/powerpoint/2010/main" val="25428697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D18207AF-BBE6-41CB-838F-3B91C45E6842}" type="datetime1">
              <a:rPr lang="en-IN" smtClean="0"/>
              <a:t>04-02-2023</a:t>
            </a:fld>
            <a:endParaRPr lang="en-IN"/>
          </a:p>
        </p:txBody>
      </p:sp>
      <p:sp>
        <p:nvSpPr>
          <p:cNvPr id="5" name="Footer Placeholder 4"/>
          <p:cNvSpPr>
            <a:spLocks noGrp="1"/>
          </p:cNvSpPr>
          <p:nvPr>
            <p:ph type="ftr" sz="quarter" idx="11"/>
          </p:nvPr>
        </p:nvSpPr>
        <p:spPr/>
        <p:txBody>
          <a:bodyPr/>
          <a:lstStyle/>
          <a:p>
            <a:r>
              <a:rPr lang="en-IN"/>
              <a:t>Dr. S. Gopikrishnan</a:t>
            </a:r>
          </a:p>
        </p:txBody>
      </p:sp>
      <p:sp>
        <p:nvSpPr>
          <p:cNvPr id="6" name="Slide Number Placeholder 5"/>
          <p:cNvSpPr>
            <a:spLocks noGrp="1"/>
          </p:cNvSpPr>
          <p:nvPr>
            <p:ph type="sldNum" sz="quarter" idx="12"/>
          </p:nvPr>
        </p:nvSpPr>
        <p:spPr/>
        <p:txBody>
          <a:bodyPr/>
          <a:lstStyle/>
          <a:p>
            <a:fld id="{E02F8B39-E037-49D7-848F-F055834E3AA1}" type="slidenum">
              <a:rPr lang="en-IN" smtClean="0"/>
              <a:t>‹#›</a:t>
            </a:fld>
            <a:endParaRPr lang="en-IN"/>
          </a:p>
        </p:txBody>
      </p:sp>
      <p:pic>
        <p:nvPicPr>
          <p:cNvPr id="7" name="Picture 6">
            <a:extLst>
              <a:ext uri="{FF2B5EF4-FFF2-40B4-BE49-F238E27FC236}">
                <a16:creationId xmlns:a16="http://schemas.microsoft.com/office/drawing/2014/main" id="{011102F4-952A-B13E-1B82-FC929B73D30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07545" y="190860"/>
            <a:ext cx="1630037" cy="504687"/>
          </a:xfrm>
          <a:prstGeom prst="rect">
            <a:avLst/>
          </a:prstGeom>
        </p:spPr>
      </p:pic>
    </p:spTree>
    <p:extLst>
      <p:ext uri="{BB962C8B-B14F-4D97-AF65-F5344CB8AC3E}">
        <p14:creationId xmlns:p14="http://schemas.microsoft.com/office/powerpoint/2010/main" val="41205776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842001CB-2F0D-4565-974A-BB3B4237F7A0}" type="datetime1">
              <a:rPr lang="en-IN" smtClean="0"/>
              <a:t>04-02-2023</a:t>
            </a:fld>
            <a:endParaRPr lang="en-IN"/>
          </a:p>
        </p:txBody>
      </p:sp>
      <p:sp>
        <p:nvSpPr>
          <p:cNvPr id="5" name="Footer Placeholder 4"/>
          <p:cNvSpPr>
            <a:spLocks noGrp="1"/>
          </p:cNvSpPr>
          <p:nvPr>
            <p:ph type="ftr" sz="quarter" idx="11"/>
          </p:nvPr>
        </p:nvSpPr>
        <p:spPr/>
        <p:txBody>
          <a:bodyPr/>
          <a:lstStyle/>
          <a:p>
            <a:r>
              <a:rPr lang="en-IN"/>
              <a:t>Dr. S. Gopikrishnan</a:t>
            </a:r>
          </a:p>
        </p:txBody>
      </p:sp>
      <p:sp>
        <p:nvSpPr>
          <p:cNvPr id="6" name="Slide Number Placeholder 5"/>
          <p:cNvSpPr>
            <a:spLocks noGrp="1"/>
          </p:cNvSpPr>
          <p:nvPr>
            <p:ph type="sldNum" sz="quarter" idx="12"/>
          </p:nvPr>
        </p:nvSpPr>
        <p:spPr/>
        <p:txBody>
          <a:bodyPr/>
          <a:lstStyle/>
          <a:p>
            <a:fld id="{E02F8B39-E037-49D7-848F-F055834E3AA1}" type="slidenum">
              <a:rPr lang="en-IN" smtClean="0"/>
              <a:t>‹#›</a:t>
            </a:fld>
            <a:endParaRPr lang="en-IN"/>
          </a:p>
        </p:txBody>
      </p:sp>
      <p:pic>
        <p:nvPicPr>
          <p:cNvPr id="7" name="Picture 6">
            <a:extLst>
              <a:ext uri="{FF2B5EF4-FFF2-40B4-BE49-F238E27FC236}">
                <a16:creationId xmlns:a16="http://schemas.microsoft.com/office/drawing/2014/main" id="{BDEE5709-CAB2-8C86-AD5D-852E833C228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07545" y="190860"/>
            <a:ext cx="1630037" cy="504687"/>
          </a:xfrm>
          <a:prstGeom prst="rect">
            <a:avLst/>
          </a:prstGeom>
        </p:spPr>
      </p:pic>
    </p:spTree>
    <p:extLst>
      <p:ext uri="{BB962C8B-B14F-4D97-AF65-F5344CB8AC3E}">
        <p14:creationId xmlns:p14="http://schemas.microsoft.com/office/powerpoint/2010/main" val="2428863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325E08F-6321-4732-8935-8B18B4878320}" type="datetime1">
              <a:rPr lang="en-IN" smtClean="0"/>
              <a:t>04-02-2023</a:t>
            </a:fld>
            <a:endParaRPr lang="en-IN"/>
          </a:p>
        </p:txBody>
      </p:sp>
      <p:sp>
        <p:nvSpPr>
          <p:cNvPr id="5" name="Footer Placeholder 4"/>
          <p:cNvSpPr>
            <a:spLocks noGrp="1"/>
          </p:cNvSpPr>
          <p:nvPr>
            <p:ph type="ftr" sz="quarter" idx="11"/>
          </p:nvPr>
        </p:nvSpPr>
        <p:spPr/>
        <p:txBody>
          <a:bodyPr/>
          <a:lstStyle/>
          <a:p>
            <a:r>
              <a:rPr lang="en-IN"/>
              <a:t>Dr. S. Gopikrishnan</a:t>
            </a:r>
          </a:p>
        </p:txBody>
      </p:sp>
      <p:sp>
        <p:nvSpPr>
          <p:cNvPr id="6" name="Slide Number Placeholder 5"/>
          <p:cNvSpPr>
            <a:spLocks noGrp="1"/>
          </p:cNvSpPr>
          <p:nvPr>
            <p:ph type="sldNum" sz="quarter" idx="12"/>
          </p:nvPr>
        </p:nvSpPr>
        <p:spPr/>
        <p:txBody>
          <a:bodyPr/>
          <a:lstStyle/>
          <a:p>
            <a:fld id="{E02F8B39-E037-49D7-848F-F055834E3AA1}" type="slidenum">
              <a:rPr lang="en-IN" smtClean="0"/>
              <a:t>‹#›</a:t>
            </a:fld>
            <a:endParaRPr lang="en-IN"/>
          </a:p>
        </p:txBody>
      </p:sp>
      <p:pic>
        <p:nvPicPr>
          <p:cNvPr id="7" name="Picture 6">
            <a:extLst>
              <a:ext uri="{FF2B5EF4-FFF2-40B4-BE49-F238E27FC236}">
                <a16:creationId xmlns:a16="http://schemas.microsoft.com/office/drawing/2014/main" id="{8606306E-33AD-1089-D3A1-B18A322C6D7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07545" y="190860"/>
            <a:ext cx="1630037" cy="504687"/>
          </a:xfrm>
          <a:prstGeom prst="rect">
            <a:avLst/>
          </a:prstGeom>
        </p:spPr>
      </p:pic>
    </p:spTree>
    <p:extLst>
      <p:ext uri="{BB962C8B-B14F-4D97-AF65-F5344CB8AC3E}">
        <p14:creationId xmlns:p14="http://schemas.microsoft.com/office/powerpoint/2010/main" val="18708958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8FAE6CD2-53BA-43CE-85B2-BECBEC79BED8}" type="datetime1">
              <a:rPr lang="en-IN" smtClean="0"/>
              <a:t>04-02-2023</a:t>
            </a:fld>
            <a:endParaRPr lang="en-IN"/>
          </a:p>
        </p:txBody>
      </p:sp>
      <p:sp>
        <p:nvSpPr>
          <p:cNvPr id="6" name="Footer Placeholder 5"/>
          <p:cNvSpPr>
            <a:spLocks noGrp="1"/>
          </p:cNvSpPr>
          <p:nvPr>
            <p:ph type="ftr" sz="quarter" idx="11"/>
          </p:nvPr>
        </p:nvSpPr>
        <p:spPr/>
        <p:txBody>
          <a:bodyPr/>
          <a:lstStyle/>
          <a:p>
            <a:r>
              <a:rPr lang="en-IN"/>
              <a:t>Dr. S. Gopikrishnan</a:t>
            </a:r>
          </a:p>
        </p:txBody>
      </p:sp>
      <p:sp>
        <p:nvSpPr>
          <p:cNvPr id="7" name="Slide Number Placeholder 6"/>
          <p:cNvSpPr>
            <a:spLocks noGrp="1"/>
          </p:cNvSpPr>
          <p:nvPr>
            <p:ph type="sldNum" sz="quarter" idx="12"/>
          </p:nvPr>
        </p:nvSpPr>
        <p:spPr/>
        <p:txBody>
          <a:bodyPr/>
          <a:lstStyle/>
          <a:p>
            <a:fld id="{E02F8B39-E037-49D7-848F-F055834E3AA1}" type="slidenum">
              <a:rPr lang="en-IN" smtClean="0"/>
              <a:t>‹#›</a:t>
            </a:fld>
            <a:endParaRPr lang="en-IN"/>
          </a:p>
        </p:txBody>
      </p:sp>
      <p:pic>
        <p:nvPicPr>
          <p:cNvPr id="8" name="Picture 7">
            <a:extLst>
              <a:ext uri="{FF2B5EF4-FFF2-40B4-BE49-F238E27FC236}">
                <a16:creationId xmlns:a16="http://schemas.microsoft.com/office/drawing/2014/main" id="{4C585D14-A1E6-1999-D66A-25A026034BA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07545" y="190860"/>
            <a:ext cx="1630037" cy="504687"/>
          </a:xfrm>
          <a:prstGeom prst="rect">
            <a:avLst/>
          </a:prstGeom>
        </p:spPr>
      </p:pic>
    </p:spTree>
    <p:extLst>
      <p:ext uri="{BB962C8B-B14F-4D97-AF65-F5344CB8AC3E}">
        <p14:creationId xmlns:p14="http://schemas.microsoft.com/office/powerpoint/2010/main" val="11329585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F010AD05-A4E4-4CA4-974B-F265446B2FC3}" type="datetime1">
              <a:rPr lang="en-IN" smtClean="0"/>
              <a:t>04-02-2023</a:t>
            </a:fld>
            <a:endParaRPr lang="en-IN"/>
          </a:p>
        </p:txBody>
      </p:sp>
      <p:sp>
        <p:nvSpPr>
          <p:cNvPr id="8" name="Footer Placeholder 7"/>
          <p:cNvSpPr>
            <a:spLocks noGrp="1"/>
          </p:cNvSpPr>
          <p:nvPr>
            <p:ph type="ftr" sz="quarter" idx="11"/>
          </p:nvPr>
        </p:nvSpPr>
        <p:spPr/>
        <p:txBody>
          <a:bodyPr/>
          <a:lstStyle/>
          <a:p>
            <a:r>
              <a:rPr lang="en-IN"/>
              <a:t>Dr. S. Gopikrishnan</a:t>
            </a:r>
          </a:p>
        </p:txBody>
      </p:sp>
      <p:sp>
        <p:nvSpPr>
          <p:cNvPr id="9" name="Slide Number Placeholder 8"/>
          <p:cNvSpPr>
            <a:spLocks noGrp="1"/>
          </p:cNvSpPr>
          <p:nvPr>
            <p:ph type="sldNum" sz="quarter" idx="12"/>
          </p:nvPr>
        </p:nvSpPr>
        <p:spPr/>
        <p:txBody>
          <a:bodyPr/>
          <a:lstStyle/>
          <a:p>
            <a:fld id="{E02F8B39-E037-49D7-848F-F055834E3AA1}" type="slidenum">
              <a:rPr lang="en-IN" smtClean="0"/>
              <a:t>‹#›</a:t>
            </a:fld>
            <a:endParaRPr lang="en-IN"/>
          </a:p>
        </p:txBody>
      </p:sp>
      <p:pic>
        <p:nvPicPr>
          <p:cNvPr id="10" name="Picture 9">
            <a:extLst>
              <a:ext uri="{FF2B5EF4-FFF2-40B4-BE49-F238E27FC236}">
                <a16:creationId xmlns:a16="http://schemas.microsoft.com/office/drawing/2014/main" id="{6FBB042B-228C-E53E-893F-FA16384C050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07545" y="190860"/>
            <a:ext cx="1630037" cy="504687"/>
          </a:xfrm>
          <a:prstGeom prst="rect">
            <a:avLst/>
          </a:prstGeom>
        </p:spPr>
      </p:pic>
    </p:spTree>
    <p:extLst>
      <p:ext uri="{BB962C8B-B14F-4D97-AF65-F5344CB8AC3E}">
        <p14:creationId xmlns:p14="http://schemas.microsoft.com/office/powerpoint/2010/main" val="18554184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928D32E8-1E32-4E2A-B217-B612998A856C}" type="datetime1">
              <a:rPr lang="en-IN" smtClean="0"/>
              <a:t>04-02-2023</a:t>
            </a:fld>
            <a:endParaRPr lang="en-IN"/>
          </a:p>
        </p:txBody>
      </p:sp>
      <p:sp>
        <p:nvSpPr>
          <p:cNvPr id="4" name="Footer Placeholder 3"/>
          <p:cNvSpPr>
            <a:spLocks noGrp="1"/>
          </p:cNvSpPr>
          <p:nvPr>
            <p:ph type="ftr" sz="quarter" idx="11"/>
          </p:nvPr>
        </p:nvSpPr>
        <p:spPr/>
        <p:txBody>
          <a:bodyPr/>
          <a:lstStyle/>
          <a:p>
            <a:r>
              <a:rPr lang="en-IN"/>
              <a:t>Dr. S. Gopikrishnan</a:t>
            </a:r>
          </a:p>
        </p:txBody>
      </p:sp>
      <p:sp>
        <p:nvSpPr>
          <p:cNvPr id="5" name="Slide Number Placeholder 4"/>
          <p:cNvSpPr>
            <a:spLocks noGrp="1"/>
          </p:cNvSpPr>
          <p:nvPr>
            <p:ph type="sldNum" sz="quarter" idx="12"/>
          </p:nvPr>
        </p:nvSpPr>
        <p:spPr/>
        <p:txBody>
          <a:bodyPr/>
          <a:lstStyle/>
          <a:p>
            <a:fld id="{E02F8B39-E037-49D7-848F-F055834E3AA1}" type="slidenum">
              <a:rPr lang="en-IN" smtClean="0"/>
              <a:t>‹#›</a:t>
            </a:fld>
            <a:endParaRPr lang="en-IN"/>
          </a:p>
        </p:txBody>
      </p:sp>
      <p:pic>
        <p:nvPicPr>
          <p:cNvPr id="6" name="Picture 5">
            <a:extLst>
              <a:ext uri="{FF2B5EF4-FFF2-40B4-BE49-F238E27FC236}">
                <a16:creationId xmlns:a16="http://schemas.microsoft.com/office/drawing/2014/main" id="{9F993D52-688A-0824-9BC2-714191C10F5A}"/>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07545" y="190860"/>
            <a:ext cx="1630037" cy="504687"/>
          </a:xfrm>
          <a:prstGeom prst="rect">
            <a:avLst/>
          </a:prstGeom>
        </p:spPr>
      </p:pic>
    </p:spTree>
    <p:extLst>
      <p:ext uri="{BB962C8B-B14F-4D97-AF65-F5344CB8AC3E}">
        <p14:creationId xmlns:p14="http://schemas.microsoft.com/office/powerpoint/2010/main" val="27778630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CE7F75-E219-4A7A-86AA-8B901170D2FE}" type="datetime1">
              <a:rPr lang="en-IN" smtClean="0"/>
              <a:t>04-02-2023</a:t>
            </a:fld>
            <a:endParaRPr lang="en-IN"/>
          </a:p>
        </p:txBody>
      </p:sp>
      <p:sp>
        <p:nvSpPr>
          <p:cNvPr id="3" name="Footer Placeholder 2"/>
          <p:cNvSpPr>
            <a:spLocks noGrp="1"/>
          </p:cNvSpPr>
          <p:nvPr>
            <p:ph type="ftr" sz="quarter" idx="11"/>
          </p:nvPr>
        </p:nvSpPr>
        <p:spPr/>
        <p:txBody>
          <a:bodyPr/>
          <a:lstStyle/>
          <a:p>
            <a:r>
              <a:rPr lang="en-IN"/>
              <a:t>Dr. S. Gopikrishnan</a:t>
            </a:r>
          </a:p>
        </p:txBody>
      </p:sp>
      <p:sp>
        <p:nvSpPr>
          <p:cNvPr id="4" name="Slide Number Placeholder 3"/>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12624135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6F16AFA-FDBE-49F0-A857-020340421B04}" type="datetime1">
              <a:rPr lang="en-IN" smtClean="0"/>
              <a:t>04-02-2023</a:t>
            </a:fld>
            <a:endParaRPr lang="en-IN"/>
          </a:p>
        </p:txBody>
      </p:sp>
      <p:sp>
        <p:nvSpPr>
          <p:cNvPr id="6" name="Footer Placeholder 5"/>
          <p:cNvSpPr>
            <a:spLocks noGrp="1"/>
          </p:cNvSpPr>
          <p:nvPr>
            <p:ph type="ftr" sz="quarter" idx="11"/>
          </p:nvPr>
        </p:nvSpPr>
        <p:spPr/>
        <p:txBody>
          <a:bodyPr/>
          <a:lstStyle/>
          <a:p>
            <a:r>
              <a:rPr lang="en-IN"/>
              <a:t>Dr. S. Gopikrishnan</a:t>
            </a:r>
          </a:p>
        </p:txBody>
      </p:sp>
      <p:sp>
        <p:nvSpPr>
          <p:cNvPr id="7" name="Slide Number Placeholder 6"/>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14413558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F176920-F609-41C5-957C-A5E46109118D}" type="datetime1">
              <a:rPr lang="en-IN" smtClean="0"/>
              <a:t>04-02-2023</a:t>
            </a:fld>
            <a:endParaRPr lang="en-IN"/>
          </a:p>
        </p:txBody>
      </p:sp>
      <p:sp>
        <p:nvSpPr>
          <p:cNvPr id="6" name="Footer Placeholder 5"/>
          <p:cNvSpPr>
            <a:spLocks noGrp="1"/>
          </p:cNvSpPr>
          <p:nvPr>
            <p:ph type="ftr" sz="quarter" idx="11"/>
          </p:nvPr>
        </p:nvSpPr>
        <p:spPr/>
        <p:txBody>
          <a:bodyPr/>
          <a:lstStyle/>
          <a:p>
            <a:r>
              <a:rPr lang="en-IN"/>
              <a:t>Dr. S. Gopikrishnan</a:t>
            </a:r>
          </a:p>
        </p:txBody>
      </p:sp>
      <p:sp>
        <p:nvSpPr>
          <p:cNvPr id="7" name="Slide Number Placeholder 6"/>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3977155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18908AA1-2BEE-4CB8-A992-73CF63948E2E}" type="datetime1">
              <a:rPr lang="en-IN" smtClean="0"/>
              <a:t>04-02-2023</a:t>
            </a:fld>
            <a:endParaRPr lang="en-IN"/>
          </a:p>
        </p:txBody>
      </p:sp>
      <p:sp>
        <p:nvSpPr>
          <p:cNvPr id="5" name="Footer Placeholder 4"/>
          <p:cNvSpPr>
            <a:spLocks noGrp="1"/>
          </p:cNvSpPr>
          <p:nvPr>
            <p:ph type="ftr" sz="quarter" idx="11"/>
          </p:nvPr>
        </p:nvSpPr>
        <p:spPr/>
        <p:txBody>
          <a:bodyPr/>
          <a:lstStyle/>
          <a:p>
            <a:r>
              <a:rPr lang="en-IN"/>
              <a:t>Dr. S. Gopikrishnan</a:t>
            </a:r>
          </a:p>
        </p:txBody>
      </p:sp>
      <p:sp>
        <p:nvSpPr>
          <p:cNvPr id="6" name="Slide Number Placeholder 5"/>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24868929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C957EAF6-71C1-4CCC-BB0E-BC6703073DD8}" type="datetime1">
              <a:rPr lang="en-IN" smtClean="0"/>
              <a:t>04-02-2023</a:t>
            </a:fld>
            <a:endParaRPr lang="en-IN"/>
          </a:p>
        </p:txBody>
      </p:sp>
      <p:sp>
        <p:nvSpPr>
          <p:cNvPr id="5" name="Footer Placeholder 4"/>
          <p:cNvSpPr>
            <a:spLocks noGrp="1"/>
          </p:cNvSpPr>
          <p:nvPr>
            <p:ph type="ftr" sz="quarter" idx="11"/>
          </p:nvPr>
        </p:nvSpPr>
        <p:spPr/>
        <p:txBody>
          <a:bodyPr/>
          <a:lstStyle/>
          <a:p>
            <a:r>
              <a:rPr lang="en-IN"/>
              <a:t>Dr. S. Gopikrishnan</a:t>
            </a:r>
          </a:p>
        </p:txBody>
      </p:sp>
      <p:sp>
        <p:nvSpPr>
          <p:cNvPr id="6" name="Slide Number Placeholder 5"/>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98657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6A101D-20D2-4D81-A838-9588DFC7E809}" type="datetime1">
              <a:rPr lang="en-IN" smtClean="0"/>
              <a:t>04-02-2023</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Dr. S. Gopikrishnan</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02F8B39-E037-49D7-848F-F055834E3AA1}" type="slidenum">
              <a:rPr lang="en-IN" smtClean="0"/>
              <a:t>‹#›</a:t>
            </a:fld>
            <a:endParaRPr lang="en-IN"/>
          </a:p>
        </p:txBody>
      </p:sp>
    </p:spTree>
    <p:extLst>
      <p:ext uri="{BB962C8B-B14F-4D97-AF65-F5344CB8AC3E}">
        <p14:creationId xmlns:p14="http://schemas.microsoft.com/office/powerpoint/2010/main" val="37427917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ctrTitle"/>
          </p:nvPr>
        </p:nvSpPr>
        <p:spPr>
          <a:xfrm>
            <a:off x="1524000" y="2178260"/>
            <a:ext cx="9144000" cy="953575"/>
          </a:xfrm>
        </p:spPr>
        <p:txBody>
          <a:bodyPr>
            <a:noAutofit/>
          </a:bodyPr>
          <a:lstStyle/>
          <a:p>
            <a:pPr algn="l">
              <a:lnSpc>
                <a:spcPct val="100000"/>
              </a:lnSpc>
            </a:pPr>
            <a:r>
              <a:rPr lang="en-IN" sz="2800" dirty="0">
                <a:solidFill>
                  <a:srgbClr val="00B050"/>
                </a:solidFill>
                <a:latin typeface="Arial" panose="020B0604020202020204" pitchFamily="34" charset="0"/>
                <a:cs typeface="Arial" panose="020B0604020202020204" pitchFamily="34" charset="0"/>
              </a:rPr>
              <a:t>Course code	: </a:t>
            </a:r>
            <a:r>
              <a:rPr lang="en-IN" sz="2800" b="1" dirty="0">
                <a:solidFill>
                  <a:srgbClr val="00B050"/>
                </a:solidFill>
                <a:latin typeface="Arial" panose="020B0604020202020204" pitchFamily="34" charset="0"/>
                <a:cs typeface="Arial" panose="020B0604020202020204" pitchFamily="34" charset="0"/>
              </a:rPr>
              <a:t>CSE3009</a:t>
            </a:r>
            <a:br>
              <a:rPr lang="en-IN" sz="2800" dirty="0">
                <a:solidFill>
                  <a:srgbClr val="00B050"/>
                </a:solidFill>
                <a:latin typeface="Arial" panose="020B0604020202020204" pitchFamily="34" charset="0"/>
                <a:cs typeface="Arial" panose="020B0604020202020204" pitchFamily="34" charset="0"/>
              </a:rPr>
            </a:br>
            <a:r>
              <a:rPr lang="en-IN" sz="2800" dirty="0">
                <a:solidFill>
                  <a:srgbClr val="00B050"/>
                </a:solidFill>
                <a:latin typeface="Arial" panose="020B0604020202020204" pitchFamily="34" charset="0"/>
                <a:cs typeface="Arial" panose="020B0604020202020204" pitchFamily="34" charset="0"/>
              </a:rPr>
              <a:t>Course title		: </a:t>
            </a:r>
            <a:r>
              <a:rPr lang="en-IN" sz="2800" b="1" dirty="0">
                <a:solidFill>
                  <a:srgbClr val="00B050"/>
                </a:solidFill>
                <a:latin typeface="Arial" panose="020B0604020202020204" pitchFamily="34" charset="0"/>
                <a:cs typeface="Arial" panose="020B0604020202020204" pitchFamily="34" charset="0"/>
              </a:rPr>
              <a:t>No SQL Data Bases</a:t>
            </a:r>
            <a:br>
              <a:rPr lang="en-IN" sz="2800" b="1" dirty="0">
                <a:solidFill>
                  <a:srgbClr val="00B050"/>
                </a:solidFill>
                <a:latin typeface="Arial" panose="020B0604020202020204" pitchFamily="34" charset="0"/>
                <a:cs typeface="Arial" panose="020B0604020202020204" pitchFamily="34" charset="0"/>
              </a:rPr>
            </a:br>
            <a:r>
              <a:rPr lang="en-IN" sz="2800" dirty="0">
                <a:solidFill>
                  <a:srgbClr val="00B050"/>
                </a:solidFill>
                <a:latin typeface="Arial" panose="020B0604020202020204" pitchFamily="34" charset="0"/>
                <a:cs typeface="Arial" panose="020B0604020202020204" pitchFamily="34" charset="0"/>
              </a:rPr>
              <a:t>Module		: </a:t>
            </a:r>
            <a:r>
              <a:rPr lang="en-IN" sz="2800" b="1" dirty="0">
                <a:solidFill>
                  <a:srgbClr val="00B050"/>
                </a:solidFill>
                <a:latin typeface="Arial" panose="020B0604020202020204" pitchFamily="34" charset="0"/>
                <a:cs typeface="Arial" panose="020B0604020202020204" pitchFamily="34" charset="0"/>
              </a:rPr>
              <a:t>2</a:t>
            </a:r>
            <a:r>
              <a:rPr lang="en-IN" sz="2800" dirty="0">
                <a:solidFill>
                  <a:srgbClr val="00B050"/>
                </a:solidFill>
                <a:latin typeface="Arial" panose="020B0604020202020204" pitchFamily="34" charset="0"/>
                <a:cs typeface="Arial" panose="020B0604020202020204" pitchFamily="34" charset="0"/>
              </a:rPr>
              <a:t> 			</a:t>
            </a:r>
            <a:br>
              <a:rPr lang="en-IN" sz="2800" dirty="0">
                <a:solidFill>
                  <a:srgbClr val="00B050"/>
                </a:solidFill>
                <a:latin typeface="Arial" panose="020B0604020202020204" pitchFamily="34" charset="0"/>
                <a:cs typeface="Arial" panose="020B0604020202020204" pitchFamily="34" charset="0"/>
              </a:rPr>
            </a:br>
            <a:r>
              <a:rPr lang="en-IN" sz="2800" dirty="0">
                <a:solidFill>
                  <a:srgbClr val="00B050"/>
                </a:solidFill>
                <a:latin typeface="Arial" panose="020B0604020202020204" pitchFamily="34" charset="0"/>
                <a:cs typeface="Arial" panose="020B0604020202020204" pitchFamily="34" charset="0"/>
              </a:rPr>
              <a:t>Topic			: </a:t>
            </a:r>
            <a:r>
              <a:rPr lang="en-IN" sz="2800" b="1" dirty="0">
                <a:solidFill>
                  <a:srgbClr val="00B050"/>
                </a:solidFill>
                <a:latin typeface="Arial" panose="020B0604020202020204" pitchFamily="34" charset="0"/>
                <a:cs typeface="Arial" panose="020B0604020202020204" pitchFamily="34" charset="0"/>
              </a:rPr>
              <a:t>6</a:t>
            </a:r>
          </a:p>
        </p:txBody>
      </p:sp>
      <p:sp>
        <p:nvSpPr>
          <p:cNvPr id="6" name="Subtitle 2"/>
          <p:cNvSpPr>
            <a:spLocks noGrp="1"/>
          </p:cNvSpPr>
          <p:nvPr>
            <p:ph type="subTitle" idx="1"/>
          </p:nvPr>
        </p:nvSpPr>
        <p:spPr>
          <a:xfrm>
            <a:off x="1402183" y="3677818"/>
            <a:ext cx="9144000" cy="1655762"/>
          </a:xfrm>
        </p:spPr>
        <p:txBody>
          <a:bodyPr>
            <a:normAutofit/>
          </a:bodyPr>
          <a:lstStyle/>
          <a:p>
            <a:r>
              <a:rPr lang="en-US" sz="4000" b="1" dirty="0">
                <a:solidFill>
                  <a:srgbClr val="0070C0"/>
                </a:solidFill>
                <a:latin typeface="Arial" panose="020B0604020202020204" pitchFamily="34" charset="0"/>
                <a:cs typeface="Arial" panose="020B0604020202020204" pitchFamily="34" charset="0"/>
              </a:rPr>
              <a:t>NoSQL Systems to handle Big data</a:t>
            </a:r>
            <a:endParaRPr lang="en-IN" sz="4000" b="1" dirty="0">
              <a:solidFill>
                <a:srgbClr val="0070C0"/>
              </a:solidFill>
              <a:latin typeface="Arial" panose="020B0604020202020204" pitchFamily="34" charset="0"/>
              <a:cs typeface="Arial" panose="020B0604020202020204" pitchFamily="34" charset="0"/>
            </a:endParaRPr>
          </a:p>
        </p:txBody>
      </p:sp>
      <p:sp>
        <p:nvSpPr>
          <p:cNvPr id="8" name="Date Placeholder 7"/>
          <p:cNvSpPr>
            <a:spLocks noGrp="1"/>
          </p:cNvSpPr>
          <p:nvPr>
            <p:ph type="dt" sz="half" idx="10"/>
          </p:nvPr>
        </p:nvSpPr>
        <p:spPr/>
        <p:txBody>
          <a:bodyPr/>
          <a:lstStyle/>
          <a:p>
            <a:fld id="{756728E3-B72D-49A5-85A2-5AE45557AE43}" type="datetime1">
              <a:rPr lang="en-IN" smtClean="0">
                <a:latin typeface="Calibri (Body)"/>
              </a:rPr>
              <a:t>04-02-2023</a:t>
            </a:fld>
            <a:endParaRPr lang="en-IN" dirty="0">
              <a:latin typeface="Calibri (Body)"/>
            </a:endParaRPr>
          </a:p>
        </p:txBody>
      </p:sp>
      <p:sp>
        <p:nvSpPr>
          <p:cNvPr id="9" name="Footer Placeholder 8"/>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Gopikrishnan</a:t>
            </a:r>
          </a:p>
        </p:txBody>
      </p:sp>
      <p:sp>
        <p:nvSpPr>
          <p:cNvPr id="10" name="Slide Number Placeholder 9"/>
          <p:cNvSpPr>
            <a:spLocks noGrp="1"/>
          </p:cNvSpPr>
          <p:nvPr>
            <p:ph type="sldNum" sz="quarter" idx="12"/>
          </p:nvPr>
        </p:nvSpPr>
        <p:spPr/>
        <p:txBody>
          <a:bodyPr/>
          <a:lstStyle/>
          <a:p>
            <a:fld id="{E02F8B39-E037-49D7-848F-F055834E3AA1}" type="slidenum">
              <a:rPr lang="en-IN" smtClean="0">
                <a:latin typeface="Arial" panose="020B0604020202020204" pitchFamily="34" charset="0"/>
                <a:cs typeface="Arial" panose="020B0604020202020204" pitchFamily="34" charset="0"/>
              </a:rPr>
              <a:t>1</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5895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Objectives</a:t>
            </a:r>
          </a:p>
        </p:txBody>
      </p:sp>
      <p:sp>
        <p:nvSpPr>
          <p:cNvPr id="3" name="Content Placeholder 2"/>
          <p:cNvSpPr>
            <a:spLocks noGrp="1"/>
          </p:cNvSpPr>
          <p:nvPr>
            <p:ph idx="1"/>
          </p:nvPr>
        </p:nvSpPr>
        <p:spPr>
          <a:xfrm>
            <a:off x="838200" y="1690688"/>
            <a:ext cx="10515600" cy="4486275"/>
          </a:xfrm>
        </p:spPr>
        <p:txBody>
          <a:bodyPr>
            <a:normAutofit/>
          </a:bodyPr>
          <a:lstStyle/>
          <a:p>
            <a:pPr marL="0" indent="0">
              <a:lnSpc>
                <a:spcPct val="120000"/>
              </a:lnSpc>
              <a:spcBef>
                <a:spcPts val="600"/>
              </a:spcBef>
              <a:spcAft>
                <a:spcPts val="600"/>
              </a:spcAft>
              <a:buNone/>
            </a:pPr>
            <a:r>
              <a:rPr lang="en-IN" sz="2400" dirty="0">
                <a:latin typeface="Arial" panose="020B0604020202020204" pitchFamily="34" charset="0"/>
                <a:cs typeface="Arial" panose="020B0604020202020204" pitchFamily="34" charset="0"/>
              </a:rPr>
              <a:t>This session will give the knowledge about</a:t>
            </a:r>
          </a:p>
          <a:p>
            <a:pPr marL="996950" lvl="1" indent="-539750">
              <a:lnSpc>
                <a:spcPct val="120000"/>
              </a:lnSpc>
              <a:spcBef>
                <a:spcPts val="600"/>
              </a:spcBef>
              <a:spcAft>
                <a:spcPts val="600"/>
              </a:spcAft>
            </a:pPr>
            <a:r>
              <a:rPr lang="en-US" dirty="0">
                <a:latin typeface="Arial" panose="020B0604020202020204" pitchFamily="34" charset="0"/>
                <a:cs typeface="Arial" panose="020B0604020202020204" pitchFamily="34" charset="0"/>
              </a:rPr>
              <a:t>NoSQL Systems to handle Big data</a:t>
            </a: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04-02-2023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2</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066111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solidFill>
                  <a:srgbClr val="0070C0"/>
                </a:solidFill>
                <a:latin typeface="Arial" panose="020B0604020202020204" pitchFamily="34" charset="0"/>
                <a:cs typeface="Arial" panose="020B0604020202020204" pitchFamily="34" charset="0"/>
              </a:rPr>
              <a:t>NoSQL Systems to handle Big data</a:t>
            </a:r>
            <a:endParaRPr lang="en-IN" sz="3200" b="1"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690688"/>
            <a:ext cx="10515600" cy="4486275"/>
          </a:xfrm>
        </p:spPr>
        <p:txBody>
          <a:bodyPr>
            <a:normAutofit lnSpcReduction="10000"/>
          </a:bodyPr>
          <a:lstStyle/>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Understanding your big data is important in determining the best solution.</a:t>
            </a:r>
          </a:p>
          <a:p>
            <a:pPr marL="0" indent="0">
              <a:lnSpc>
                <a:spcPct val="120000"/>
              </a:lnSpc>
              <a:spcBef>
                <a:spcPts val="1800"/>
              </a:spcBef>
              <a:spcAft>
                <a:spcPts val="1800"/>
              </a:spcAft>
              <a:buNone/>
            </a:pPr>
            <a:r>
              <a:rPr lang="en-US" sz="2400" dirty="0">
                <a:latin typeface="Arial" panose="020B0604020202020204" pitchFamily="34" charset="0"/>
                <a:cs typeface="Arial" panose="020B0604020202020204" pitchFamily="34" charset="0"/>
              </a:rPr>
              <a:t>Look at </a:t>
            </a:r>
            <a:r>
              <a:rPr lang="en-US" sz="2400" dirty="0">
                <a:solidFill>
                  <a:srgbClr val="FF0000"/>
                </a:solidFill>
                <a:latin typeface="Arial" panose="020B0604020202020204" pitchFamily="34" charset="0"/>
                <a:cs typeface="Arial" panose="020B0604020202020204" pitchFamily="34" charset="0"/>
              </a:rPr>
              <a:t>four of the most popular ways NoSQL systems handle big data challenges</a:t>
            </a:r>
            <a:r>
              <a:rPr lang="en-US" sz="2400" dirty="0">
                <a:latin typeface="Arial" panose="020B0604020202020204" pitchFamily="34" charset="0"/>
                <a:cs typeface="Arial" panose="020B0604020202020204" pitchFamily="34" charset="0"/>
              </a:rPr>
              <a:t>. Understanding these techniques is important when you’re evaluating any NoSQL system. </a:t>
            </a:r>
          </a:p>
          <a:p>
            <a:pPr marL="722313" indent="-366713">
              <a:lnSpc>
                <a:spcPct val="120000"/>
              </a:lnSpc>
              <a:spcBef>
                <a:spcPts val="600"/>
              </a:spcBef>
              <a:spcAft>
                <a:spcPts val="600"/>
              </a:spcAft>
            </a:pPr>
            <a:r>
              <a:rPr lang="en-US" sz="2400" dirty="0">
                <a:solidFill>
                  <a:srgbClr val="FF0000"/>
                </a:solidFill>
                <a:latin typeface="Arial" panose="020B0604020202020204" pitchFamily="34" charset="0"/>
                <a:cs typeface="Arial" panose="020B0604020202020204" pitchFamily="34" charset="0"/>
              </a:rPr>
              <a:t>Moving queries to the data, not data to the queries</a:t>
            </a:r>
          </a:p>
          <a:p>
            <a:pPr marL="722313" indent="-366713">
              <a:lnSpc>
                <a:spcPct val="120000"/>
              </a:lnSpc>
              <a:spcBef>
                <a:spcPts val="600"/>
              </a:spcBef>
              <a:spcAft>
                <a:spcPts val="600"/>
              </a:spcAft>
            </a:pPr>
            <a:r>
              <a:rPr lang="en-US" sz="2400" dirty="0">
                <a:solidFill>
                  <a:srgbClr val="FF0000"/>
                </a:solidFill>
                <a:latin typeface="Arial" panose="020B0604020202020204" pitchFamily="34" charset="0"/>
                <a:cs typeface="Arial" panose="020B0604020202020204" pitchFamily="34" charset="0"/>
              </a:rPr>
              <a:t>Using hash rings to evenly distribute data on a cluster</a:t>
            </a:r>
          </a:p>
          <a:p>
            <a:pPr marL="722313" indent="-366713">
              <a:lnSpc>
                <a:spcPct val="120000"/>
              </a:lnSpc>
              <a:spcBef>
                <a:spcPts val="600"/>
              </a:spcBef>
              <a:spcAft>
                <a:spcPts val="600"/>
              </a:spcAft>
            </a:pPr>
            <a:r>
              <a:rPr lang="en-US" sz="2400" dirty="0">
                <a:solidFill>
                  <a:srgbClr val="FF0000"/>
                </a:solidFill>
                <a:latin typeface="Arial" panose="020B0604020202020204" pitchFamily="34" charset="0"/>
                <a:cs typeface="Arial" panose="020B0604020202020204" pitchFamily="34" charset="0"/>
              </a:rPr>
              <a:t>Using replication to scale reads</a:t>
            </a:r>
          </a:p>
          <a:p>
            <a:pPr marL="722313" indent="-366713">
              <a:lnSpc>
                <a:spcPct val="120000"/>
              </a:lnSpc>
              <a:spcBef>
                <a:spcPts val="600"/>
              </a:spcBef>
              <a:spcAft>
                <a:spcPts val="600"/>
              </a:spcAft>
            </a:pPr>
            <a:r>
              <a:rPr lang="en-US" sz="2400" dirty="0">
                <a:solidFill>
                  <a:srgbClr val="FF0000"/>
                </a:solidFill>
                <a:latin typeface="Arial" panose="020B0604020202020204" pitchFamily="34" charset="0"/>
                <a:cs typeface="Arial" panose="020B0604020202020204" pitchFamily="34" charset="0"/>
              </a:rPr>
              <a:t>Letting the database distribute queries evenly to data nodes</a:t>
            </a:r>
          </a:p>
          <a:p>
            <a:pPr marL="0" indent="0">
              <a:lnSpc>
                <a:spcPct val="120000"/>
              </a:lnSpc>
              <a:spcBef>
                <a:spcPts val="1800"/>
              </a:spcBef>
              <a:spcAft>
                <a:spcPts val="600"/>
              </a:spcAft>
              <a:buNone/>
            </a:pPr>
            <a:endParaRPr lang="en-US" sz="2400" dirty="0">
              <a:latin typeface="Arial" panose="020B0604020202020204" pitchFamily="34" charset="0"/>
              <a:cs typeface="Arial" panose="020B0604020202020204" pitchFamily="34" charset="0"/>
            </a:endParaRP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04-02-2023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3</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383513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solidFill>
                  <a:srgbClr val="0070C0"/>
                </a:solidFill>
                <a:latin typeface="Arial" panose="020B0604020202020204" pitchFamily="34" charset="0"/>
                <a:cs typeface="Arial" panose="020B0604020202020204" pitchFamily="34" charset="0"/>
              </a:rPr>
              <a:t>Moving queries to the data, not data to the queries</a:t>
            </a:r>
            <a:endParaRPr lang="en-IN" sz="3200" b="1"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690688"/>
            <a:ext cx="10515600" cy="4486275"/>
          </a:xfrm>
        </p:spPr>
        <p:txBody>
          <a:bodyPr>
            <a:normAutofit fontScale="92500" lnSpcReduction="20000"/>
          </a:bodyPr>
          <a:lstStyle/>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Most NoSQL systems use commodity processors that </a:t>
            </a:r>
            <a:r>
              <a:rPr lang="en-US" sz="2400" dirty="0">
                <a:solidFill>
                  <a:srgbClr val="FF0000"/>
                </a:solidFill>
                <a:latin typeface="Arial" panose="020B0604020202020204" pitchFamily="34" charset="0"/>
                <a:cs typeface="Arial" panose="020B0604020202020204" pitchFamily="34" charset="0"/>
              </a:rPr>
              <a:t>each hold a subset of the data on their local shared-nothing drives </a:t>
            </a:r>
            <a:r>
              <a:rPr lang="en-US" sz="2400" dirty="0">
                <a:latin typeface="Arial" panose="020B0604020202020204" pitchFamily="34" charset="0"/>
                <a:cs typeface="Arial" panose="020B0604020202020204" pitchFamily="34" charset="0"/>
              </a:rPr>
              <a:t>except large graph databases.</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When a client wants to send a general query to all nodes that hold data, </a:t>
            </a:r>
            <a:r>
              <a:rPr lang="en-US" sz="2400" dirty="0">
                <a:solidFill>
                  <a:srgbClr val="FF0000"/>
                </a:solidFill>
                <a:latin typeface="Arial" panose="020B0604020202020204" pitchFamily="34" charset="0"/>
                <a:cs typeface="Arial" panose="020B0604020202020204" pitchFamily="34" charset="0"/>
              </a:rPr>
              <a:t>it’s more efficient to send the query to each node than it is to transfer large datasets to a central processor</a:t>
            </a:r>
            <a:r>
              <a:rPr lang="en-US" sz="2400" dirty="0">
                <a:latin typeface="Arial" panose="020B0604020202020204" pitchFamily="34" charset="0"/>
                <a:cs typeface="Arial" panose="020B0604020202020204" pitchFamily="34" charset="0"/>
              </a:rPr>
              <a:t>. </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This may seem obvious, but it’s amazing how many traditional databases still can’t distribute queries and aggregate query results.</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This simple rule helps you understand how NoSQL databases can have dramatic performance advantages over systems that weren’t designed to distribute queries to the data nodes.</a:t>
            </a: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04-02-2023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4</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41304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solidFill>
                  <a:srgbClr val="0070C0"/>
                </a:solidFill>
                <a:latin typeface="Arial" panose="020B0604020202020204" pitchFamily="34" charset="0"/>
                <a:cs typeface="Arial" panose="020B0604020202020204" pitchFamily="34" charset="0"/>
              </a:rPr>
              <a:t>Moving queries to the Data</a:t>
            </a:r>
            <a:endParaRPr lang="en-IN" sz="3200" b="1"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690688"/>
            <a:ext cx="10515600" cy="4486275"/>
          </a:xfrm>
        </p:spPr>
        <p:txBody>
          <a:bodyPr>
            <a:normAutofit fontScale="92500" lnSpcReduction="20000"/>
          </a:bodyPr>
          <a:lstStyle/>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Consider an RDBMS that has tables distributed over two different nodes. </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In order for the SQL query to work, information about rows on one table must all be moved across the network to the other node. Larger tables result in more data movement, which results in slower queries. Think of all the steps involved. </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The tables can be extracted, serialized, sent through the network interface, transmitted over networks, reassembled, and then compared on the server with the SQL query. </a:t>
            </a:r>
          </a:p>
          <a:p>
            <a:pPr marL="0" indent="0">
              <a:lnSpc>
                <a:spcPct val="120000"/>
              </a:lnSpc>
              <a:spcBef>
                <a:spcPts val="1800"/>
              </a:spcBef>
              <a:spcAft>
                <a:spcPts val="600"/>
              </a:spcAft>
              <a:buNone/>
            </a:pPr>
            <a:r>
              <a:rPr lang="en-US" sz="2400" dirty="0">
                <a:solidFill>
                  <a:srgbClr val="0000FF"/>
                </a:solidFill>
                <a:latin typeface="Arial" panose="020B0604020202020204" pitchFamily="34" charset="0"/>
                <a:cs typeface="Arial" panose="020B0604020202020204" pitchFamily="34" charset="0"/>
              </a:rPr>
              <a:t>Keeping all the data within each data node in the form of logical documents means that only the query itself and the final result need to be moved over a network. </a:t>
            </a:r>
            <a:r>
              <a:rPr lang="en-US" sz="2400" dirty="0">
                <a:latin typeface="Arial" panose="020B0604020202020204" pitchFamily="34" charset="0"/>
                <a:cs typeface="Arial" panose="020B0604020202020204" pitchFamily="34" charset="0"/>
              </a:rPr>
              <a:t>This keeps your big data queries fast.</a:t>
            </a: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04-02-2023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5</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776823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0070C0"/>
                </a:solidFill>
                <a:latin typeface="Arial" panose="020B0604020202020204" pitchFamily="34" charset="0"/>
                <a:cs typeface="Arial" panose="020B0604020202020204" pitchFamily="34" charset="0"/>
              </a:rPr>
              <a:t>Using hash rings to evenly distribute data on a cluster</a:t>
            </a:r>
            <a:endParaRPr lang="en-IN" sz="3200" b="1" u="sng"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690688"/>
            <a:ext cx="10515600" cy="4486275"/>
          </a:xfrm>
        </p:spPr>
        <p:txBody>
          <a:bodyPr>
            <a:normAutofit/>
          </a:bodyPr>
          <a:lstStyle/>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One of the most challenging problems with distributed databases is </a:t>
            </a:r>
            <a:r>
              <a:rPr lang="en-US" sz="2400" dirty="0">
                <a:solidFill>
                  <a:srgbClr val="FF0000"/>
                </a:solidFill>
                <a:latin typeface="Arial" panose="020B0604020202020204" pitchFamily="34" charset="0"/>
                <a:cs typeface="Arial" panose="020B0604020202020204" pitchFamily="34" charset="0"/>
              </a:rPr>
              <a:t>figuring out a consistent way of assigning a document to a processing node</a:t>
            </a:r>
            <a:r>
              <a:rPr lang="en-US" sz="2400" dirty="0">
                <a:latin typeface="Arial" panose="020B0604020202020204" pitchFamily="34" charset="0"/>
                <a:cs typeface="Arial" panose="020B0604020202020204" pitchFamily="34" charset="0"/>
              </a:rPr>
              <a:t>. </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Using a </a:t>
            </a:r>
            <a:r>
              <a:rPr lang="en-US" sz="2400" dirty="0">
                <a:solidFill>
                  <a:srgbClr val="FF0000"/>
                </a:solidFill>
                <a:latin typeface="Arial" panose="020B0604020202020204" pitchFamily="34" charset="0"/>
                <a:cs typeface="Arial" panose="020B0604020202020204" pitchFamily="34" charset="0"/>
              </a:rPr>
              <a:t>hash ring technique </a:t>
            </a:r>
            <a:r>
              <a:rPr lang="en-US" sz="2400" dirty="0">
                <a:solidFill>
                  <a:srgbClr val="0000FF"/>
                </a:solidFill>
                <a:latin typeface="Arial" panose="020B0604020202020204" pitchFamily="34" charset="0"/>
                <a:cs typeface="Arial" panose="020B0604020202020204" pitchFamily="34" charset="0"/>
              </a:rPr>
              <a:t>to evenly distribute big data loads over many servers with a randomly generated 40-character key </a:t>
            </a:r>
            <a:r>
              <a:rPr lang="en-US" sz="2400" dirty="0">
                <a:latin typeface="Arial" panose="020B0604020202020204" pitchFamily="34" charset="0"/>
                <a:cs typeface="Arial" panose="020B0604020202020204" pitchFamily="34" charset="0"/>
              </a:rPr>
              <a:t>is a good way to evenly distribute a network load.</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Hash rings are common in big data solutions because </a:t>
            </a:r>
            <a:r>
              <a:rPr lang="en-US" sz="2400" dirty="0">
                <a:solidFill>
                  <a:srgbClr val="0000FF"/>
                </a:solidFill>
                <a:latin typeface="Arial" panose="020B0604020202020204" pitchFamily="34" charset="0"/>
                <a:cs typeface="Arial" panose="020B0604020202020204" pitchFamily="34" charset="0"/>
              </a:rPr>
              <a:t>they consistently determine how to assign a piece of data to a specific processor</a:t>
            </a:r>
            <a:endParaRPr lang="en-IN" sz="2400" dirty="0">
              <a:solidFill>
                <a:srgbClr val="0000FF"/>
              </a:solidFill>
              <a:latin typeface="Arial" panose="020B0604020202020204" pitchFamily="34" charset="0"/>
              <a:cs typeface="Arial" panose="020B0604020202020204" pitchFamily="34" charset="0"/>
            </a:endParaRP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04-02-2023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6</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425231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0070C0"/>
                </a:solidFill>
                <a:latin typeface="Arial" panose="020B0604020202020204" pitchFamily="34" charset="0"/>
                <a:cs typeface="Arial" panose="020B0604020202020204" pitchFamily="34" charset="0"/>
              </a:rPr>
              <a:t>Hash Rings</a:t>
            </a:r>
            <a:endParaRPr lang="en-IN" sz="3200" b="1" u="sng"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690688"/>
            <a:ext cx="10515600" cy="4486275"/>
          </a:xfrm>
        </p:spPr>
        <p:txBody>
          <a:bodyPr>
            <a:normAutofit/>
          </a:bodyPr>
          <a:lstStyle/>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Hash rings take the </a:t>
            </a:r>
            <a:r>
              <a:rPr lang="en-US" sz="2400" dirty="0">
                <a:solidFill>
                  <a:srgbClr val="0000FF"/>
                </a:solidFill>
                <a:latin typeface="Arial" panose="020B0604020202020204" pitchFamily="34" charset="0"/>
                <a:cs typeface="Arial" panose="020B0604020202020204" pitchFamily="34" charset="0"/>
              </a:rPr>
              <a:t>leading bits of a document’s hash value and use this to determine which node the document should be assigned</a:t>
            </a:r>
            <a:r>
              <a:rPr lang="en-US" sz="2400" dirty="0">
                <a:latin typeface="Arial" panose="020B0604020202020204" pitchFamily="34" charset="0"/>
                <a:cs typeface="Arial" panose="020B0604020202020204" pitchFamily="34" charset="0"/>
              </a:rPr>
              <a:t>. </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This allows any node in a cluster to know what node the data lives on and how to adapt to new assignment methods as your data grows. </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Partitioning keys into ranges and assigning different key ranges to specific nodes is known as </a:t>
            </a:r>
            <a:r>
              <a:rPr lang="en-US" sz="2400" dirty="0" err="1">
                <a:solidFill>
                  <a:srgbClr val="0000FF"/>
                </a:solidFill>
                <a:latin typeface="Arial" panose="020B0604020202020204" pitchFamily="34" charset="0"/>
                <a:cs typeface="Arial" panose="020B0604020202020204" pitchFamily="34" charset="0"/>
              </a:rPr>
              <a:t>keyspace</a:t>
            </a:r>
            <a:r>
              <a:rPr lang="en-US" sz="2400" dirty="0">
                <a:solidFill>
                  <a:srgbClr val="0000FF"/>
                </a:solidFill>
                <a:latin typeface="Arial" panose="020B0604020202020204" pitchFamily="34" charset="0"/>
                <a:cs typeface="Arial" panose="020B0604020202020204" pitchFamily="34" charset="0"/>
              </a:rPr>
              <a:t> management</a:t>
            </a:r>
            <a:r>
              <a:rPr lang="en-US" sz="2400" dirty="0">
                <a:latin typeface="Arial" panose="020B0604020202020204" pitchFamily="34" charset="0"/>
                <a:cs typeface="Arial" panose="020B0604020202020204" pitchFamily="34" charset="0"/>
              </a:rPr>
              <a:t>.</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Most NoSQL systems, including </a:t>
            </a:r>
            <a:r>
              <a:rPr lang="en-US" sz="2400" dirty="0" err="1">
                <a:latin typeface="Arial" panose="020B0604020202020204" pitchFamily="34" charset="0"/>
                <a:cs typeface="Arial" panose="020B0604020202020204" pitchFamily="34" charset="0"/>
              </a:rPr>
              <a:t>MapReduce</a:t>
            </a:r>
            <a:r>
              <a:rPr lang="en-US" sz="2400" dirty="0">
                <a:latin typeface="Arial" panose="020B0604020202020204" pitchFamily="34" charset="0"/>
                <a:cs typeface="Arial" panose="020B0604020202020204" pitchFamily="34" charset="0"/>
              </a:rPr>
              <a:t>, use </a:t>
            </a:r>
            <a:r>
              <a:rPr lang="en-US" sz="2400" dirty="0" err="1">
                <a:latin typeface="Arial" panose="020B0604020202020204" pitchFamily="34" charset="0"/>
                <a:cs typeface="Arial" panose="020B0604020202020204" pitchFamily="34" charset="0"/>
              </a:rPr>
              <a:t>keyspace</a:t>
            </a:r>
            <a:r>
              <a:rPr lang="en-US" sz="2400" dirty="0">
                <a:latin typeface="Arial" panose="020B0604020202020204" pitchFamily="34" charset="0"/>
                <a:cs typeface="Arial" panose="020B0604020202020204" pitchFamily="34" charset="0"/>
              </a:rPr>
              <a:t> concepts to manage distributed computing problems.</a:t>
            </a:r>
            <a:endParaRPr lang="en-IN" sz="2400" dirty="0">
              <a:latin typeface="Arial" panose="020B0604020202020204" pitchFamily="34" charset="0"/>
              <a:cs typeface="Arial" panose="020B0604020202020204" pitchFamily="34" charset="0"/>
            </a:endParaRP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04-02-2023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7</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234435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0070C0"/>
                </a:solidFill>
                <a:latin typeface="Arial" panose="020B0604020202020204" pitchFamily="34" charset="0"/>
                <a:cs typeface="Arial" panose="020B0604020202020204" pitchFamily="34" charset="0"/>
              </a:rPr>
              <a:t>Sample Hash Ring with four nodes</a:t>
            </a:r>
            <a:endParaRPr lang="en-IN" sz="3200" b="1" u="sng" dirty="0">
              <a:solidFill>
                <a:srgbClr val="0070C0"/>
              </a:solidFill>
              <a:latin typeface="Arial" panose="020B0604020202020204" pitchFamily="34" charset="0"/>
              <a:cs typeface="Arial" panose="020B0604020202020204" pitchFamily="34" charset="0"/>
            </a:endParaRP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04-02-2023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8</a:t>
            </a:fld>
            <a:endParaRPr lang="en-IN" dirty="0">
              <a:latin typeface="Arial" panose="020B0604020202020204" pitchFamily="34" charset="0"/>
              <a:cs typeface="Arial" panose="020B0604020202020204" pitchFamily="34" charset="0"/>
            </a:endParaRPr>
          </a:p>
        </p:txBody>
      </p:sp>
      <p:pic>
        <p:nvPicPr>
          <p:cNvPr id="5" name="Picture 4"/>
          <p:cNvPicPr>
            <a:picLocks noChangeAspect="1"/>
          </p:cNvPicPr>
          <p:nvPr/>
        </p:nvPicPr>
        <p:blipFill>
          <a:blip r:embed="rId2"/>
          <a:stretch>
            <a:fillRect/>
          </a:stretch>
        </p:blipFill>
        <p:spPr>
          <a:xfrm>
            <a:off x="2522220" y="1592656"/>
            <a:ext cx="7147560" cy="4591002"/>
          </a:xfrm>
          <a:prstGeom prst="rect">
            <a:avLst/>
          </a:prstGeom>
        </p:spPr>
      </p:pic>
    </p:spTree>
    <p:extLst>
      <p:ext uri="{BB962C8B-B14F-4D97-AF65-F5344CB8AC3E}">
        <p14:creationId xmlns:p14="http://schemas.microsoft.com/office/powerpoint/2010/main" val="28863360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0070C0"/>
                </a:solidFill>
                <a:latin typeface="Arial" panose="020B0604020202020204" pitchFamily="34" charset="0"/>
                <a:cs typeface="Arial" panose="020B0604020202020204" pitchFamily="34" charset="0"/>
              </a:rPr>
              <a:t>Hash Rings</a:t>
            </a:r>
            <a:endParaRPr lang="en-IN" sz="3200" b="1" u="sng"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690688"/>
            <a:ext cx="10515600" cy="4486275"/>
          </a:xfrm>
        </p:spPr>
        <p:txBody>
          <a:bodyPr>
            <a:normAutofit fontScale="92500"/>
          </a:bodyPr>
          <a:lstStyle/>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A hash ring </a:t>
            </a:r>
            <a:r>
              <a:rPr lang="en-US" sz="2400" dirty="0">
                <a:solidFill>
                  <a:srgbClr val="FF0000"/>
                </a:solidFill>
                <a:latin typeface="Arial" panose="020B0604020202020204" pitchFamily="34" charset="0"/>
                <a:cs typeface="Arial" panose="020B0604020202020204" pitchFamily="34" charset="0"/>
              </a:rPr>
              <a:t>uses the concept of hashing, consistent hashing, and key-value stores to assign an item of data to a specific node </a:t>
            </a:r>
            <a:r>
              <a:rPr lang="en-US" sz="2400" dirty="0">
                <a:latin typeface="Arial" panose="020B0604020202020204" pitchFamily="34" charset="0"/>
                <a:cs typeface="Arial" panose="020B0604020202020204" pitchFamily="34" charset="0"/>
              </a:rPr>
              <a:t>in a NoSQL database cluster.</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From figure, each input will be assigned to a node based on the 40-character random key. </a:t>
            </a:r>
          </a:p>
          <a:p>
            <a:pPr marL="0" indent="0">
              <a:lnSpc>
                <a:spcPct val="120000"/>
              </a:lnSpc>
              <a:spcBef>
                <a:spcPts val="1800"/>
              </a:spcBef>
              <a:spcAft>
                <a:spcPts val="600"/>
              </a:spcAft>
              <a:buNone/>
            </a:pPr>
            <a:r>
              <a:rPr lang="en-US" sz="2400" dirty="0">
                <a:solidFill>
                  <a:srgbClr val="FF0000"/>
                </a:solidFill>
                <a:latin typeface="Arial" panose="020B0604020202020204" pitchFamily="34" charset="0"/>
                <a:cs typeface="Arial" panose="020B0604020202020204" pitchFamily="34" charset="0"/>
              </a:rPr>
              <a:t>One or more nodes in your cluster will be responsible for storing this key-to-node mapping algorithm</a:t>
            </a:r>
            <a:r>
              <a:rPr lang="en-US" sz="2400" dirty="0">
                <a:latin typeface="Arial" panose="020B0604020202020204" pitchFamily="34" charset="0"/>
                <a:cs typeface="Arial" panose="020B0604020202020204" pitchFamily="34" charset="0"/>
              </a:rPr>
              <a:t>. </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As your database grows, you’ll update the algorithm so that each new node will also be assigned some range of key values. </a:t>
            </a: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04-02-2023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9</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811882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0070C0"/>
                </a:solidFill>
                <a:latin typeface="Arial" panose="020B0604020202020204" pitchFamily="34" charset="0"/>
                <a:cs typeface="Arial" panose="020B0604020202020204" pitchFamily="34" charset="0"/>
              </a:rPr>
              <a:t>Hash Rings</a:t>
            </a:r>
            <a:endParaRPr lang="en-IN" sz="3200" b="1" u="sng"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690688"/>
            <a:ext cx="10515600" cy="4486275"/>
          </a:xfrm>
        </p:spPr>
        <p:txBody>
          <a:bodyPr>
            <a:normAutofit/>
          </a:bodyPr>
          <a:lstStyle/>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The algorithm also needs to replicate items with these ranges from the old nodes to the new nodes.</a:t>
            </a:r>
            <a:endParaRPr lang="en-IN" sz="2400" dirty="0">
              <a:latin typeface="Arial" panose="020B0604020202020204" pitchFamily="34" charset="0"/>
              <a:cs typeface="Arial" panose="020B0604020202020204" pitchFamily="34" charset="0"/>
            </a:endParaRP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The concept of a hash ring can also be extended to include the requirement that an item must be stored on multiple nodes. </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When a new item is created, the </a:t>
            </a:r>
            <a:r>
              <a:rPr lang="en-US" sz="2400" dirty="0">
                <a:solidFill>
                  <a:srgbClr val="FF0000"/>
                </a:solidFill>
                <a:latin typeface="Arial" panose="020B0604020202020204" pitchFamily="34" charset="0"/>
                <a:cs typeface="Arial" panose="020B0604020202020204" pitchFamily="34" charset="0"/>
              </a:rPr>
              <a:t>hash ring rules might indicate both a primary and a secondary copy of where an item is stored</a:t>
            </a:r>
            <a:r>
              <a:rPr lang="en-US" sz="2400" dirty="0">
                <a:latin typeface="Arial" panose="020B0604020202020204" pitchFamily="34" charset="0"/>
                <a:cs typeface="Arial" panose="020B0604020202020204" pitchFamily="34" charset="0"/>
              </a:rPr>
              <a:t>.</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If the node that contains the primary fails, the system can look up the node where the secondary item is stored.</a:t>
            </a:r>
            <a:endParaRPr lang="en-IN" sz="2400" dirty="0">
              <a:latin typeface="Arial" panose="020B0604020202020204" pitchFamily="34" charset="0"/>
              <a:cs typeface="Arial" panose="020B0604020202020204" pitchFamily="34" charset="0"/>
            </a:endParaRP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04-02-2023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10</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450290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0070C0"/>
                </a:solidFill>
                <a:latin typeface="Arial" panose="020B0604020202020204" pitchFamily="34" charset="0"/>
                <a:cs typeface="Arial" panose="020B0604020202020204" pitchFamily="34" charset="0"/>
              </a:rPr>
              <a:t>Using replication to scale reads</a:t>
            </a:r>
            <a:endParaRPr lang="en-IN" sz="3200" b="1" u="sng"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690688"/>
            <a:ext cx="10515600" cy="4486275"/>
          </a:xfrm>
        </p:spPr>
        <p:txBody>
          <a:bodyPr>
            <a:normAutofit fontScale="92500"/>
          </a:bodyPr>
          <a:lstStyle/>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Replication strategy works well in most cases. There are only a few times when you must be concerned about the lag time between a write to the read/write node and a client reading that same record from a replica. </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One of the most common operations after a write is a read of that same record. </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If a client does a write and then an immediate read from that same node, there’s no problem. </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The problem occurs if a read occurs from a replica node before the update happens. This is an example of an inconsistent read.</a:t>
            </a:r>
            <a:endParaRPr lang="en-IN" sz="2400" dirty="0">
              <a:latin typeface="Arial" panose="020B0604020202020204" pitchFamily="34" charset="0"/>
              <a:cs typeface="Arial" panose="020B0604020202020204" pitchFamily="34" charset="0"/>
            </a:endParaRP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04-02-2023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11</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301806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0070C0"/>
                </a:solidFill>
                <a:latin typeface="Arial" panose="020B0604020202020204" pitchFamily="34" charset="0"/>
                <a:cs typeface="Arial" panose="020B0604020202020204" pitchFamily="34" charset="0"/>
              </a:rPr>
              <a:t>Using replication to scale reads</a:t>
            </a:r>
            <a:endParaRPr lang="en-IN" sz="3200" b="1" u="sng"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5524900" y="1690688"/>
            <a:ext cx="5828899" cy="4486275"/>
          </a:xfrm>
        </p:spPr>
        <p:txBody>
          <a:bodyPr>
            <a:noAutofit/>
          </a:bodyPr>
          <a:lstStyle/>
          <a:p>
            <a:pPr marL="0" indent="0">
              <a:lnSpc>
                <a:spcPct val="120000"/>
              </a:lnSpc>
              <a:spcBef>
                <a:spcPts val="1800"/>
              </a:spcBef>
              <a:spcAft>
                <a:spcPts val="600"/>
              </a:spcAft>
              <a:buNone/>
            </a:pPr>
            <a:r>
              <a:rPr lang="en-US" sz="2020" dirty="0">
                <a:latin typeface="Arial" panose="020B0604020202020204" pitchFamily="34" charset="0"/>
                <a:cs typeface="Arial" panose="020B0604020202020204" pitchFamily="34" charset="0"/>
              </a:rPr>
              <a:t>All incoming client requests enter from the left. All reads can be directed to any node, either a primary read/write node or a replica node. </a:t>
            </a:r>
          </a:p>
          <a:p>
            <a:pPr marL="0" indent="0">
              <a:lnSpc>
                <a:spcPct val="120000"/>
              </a:lnSpc>
              <a:spcBef>
                <a:spcPts val="1800"/>
              </a:spcBef>
              <a:spcAft>
                <a:spcPts val="600"/>
              </a:spcAft>
              <a:buNone/>
            </a:pPr>
            <a:r>
              <a:rPr lang="en-US" sz="2020" dirty="0">
                <a:latin typeface="Arial" panose="020B0604020202020204" pitchFamily="34" charset="0"/>
                <a:cs typeface="Arial" panose="020B0604020202020204" pitchFamily="34" charset="0"/>
              </a:rPr>
              <a:t>All write transactions can be sent to a central read/write node that will update the data and then automatically send the updates to replica nodes. </a:t>
            </a:r>
          </a:p>
          <a:p>
            <a:pPr marL="0" indent="0">
              <a:lnSpc>
                <a:spcPct val="120000"/>
              </a:lnSpc>
              <a:spcBef>
                <a:spcPts val="1800"/>
              </a:spcBef>
              <a:spcAft>
                <a:spcPts val="600"/>
              </a:spcAft>
              <a:buNone/>
            </a:pPr>
            <a:r>
              <a:rPr lang="en-US" sz="2020" dirty="0">
                <a:latin typeface="Arial" panose="020B0604020202020204" pitchFamily="34" charset="0"/>
                <a:cs typeface="Arial" panose="020B0604020202020204" pitchFamily="34" charset="0"/>
              </a:rPr>
              <a:t>The time between the write to the primary and the time the update arrives on the replica nodes determines how long it takes for reads to return consistent results.</a:t>
            </a:r>
            <a:endParaRPr lang="en-IN" sz="2020" dirty="0">
              <a:latin typeface="Arial" panose="020B0604020202020204" pitchFamily="34" charset="0"/>
              <a:cs typeface="Arial" panose="020B0604020202020204" pitchFamily="34" charset="0"/>
            </a:endParaRP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04-02-2023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12</a:t>
            </a:fld>
            <a:endParaRPr lang="en-IN" dirty="0">
              <a:latin typeface="Arial" panose="020B0604020202020204" pitchFamily="34" charset="0"/>
              <a:cs typeface="Arial" panose="020B0604020202020204" pitchFamily="34" charset="0"/>
            </a:endParaRPr>
          </a:p>
        </p:txBody>
      </p:sp>
      <p:pic>
        <p:nvPicPr>
          <p:cNvPr id="5" name="Picture 4"/>
          <p:cNvPicPr>
            <a:picLocks noChangeAspect="1"/>
          </p:cNvPicPr>
          <p:nvPr/>
        </p:nvPicPr>
        <p:blipFill>
          <a:blip r:embed="rId2"/>
          <a:stretch>
            <a:fillRect/>
          </a:stretch>
        </p:blipFill>
        <p:spPr>
          <a:xfrm>
            <a:off x="838200" y="2120332"/>
            <a:ext cx="4448175" cy="3486150"/>
          </a:xfrm>
          <a:prstGeom prst="rect">
            <a:avLst/>
          </a:prstGeom>
        </p:spPr>
      </p:pic>
    </p:spTree>
    <p:extLst>
      <p:ext uri="{BB962C8B-B14F-4D97-AF65-F5344CB8AC3E}">
        <p14:creationId xmlns:p14="http://schemas.microsoft.com/office/powerpoint/2010/main" val="36142857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0070C0"/>
                </a:solidFill>
                <a:latin typeface="Arial" panose="020B0604020202020204" pitchFamily="34" charset="0"/>
                <a:cs typeface="Arial" panose="020B0604020202020204" pitchFamily="34" charset="0"/>
              </a:rPr>
              <a:t>Using replication to scale reads</a:t>
            </a:r>
            <a:endParaRPr lang="en-IN" sz="3200" b="1" u="sng"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690688"/>
            <a:ext cx="10515600" cy="4486275"/>
          </a:xfrm>
        </p:spPr>
        <p:txBody>
          <a:bodyPr>
            <a:normAutofit/>
          </a:bodyPr>
          <a:lstStyle/>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The </a:t>
            </a:r>
            <a:r>
              <a:rPr lang="en-US" sz="2400" dirty="0">
                <a:solidFill>
                  <a:srgbClr val="FF0000"/>
                </a:solidFill>
                <a:latin typeface="Arial" panose="020B0604020202020204" pitchFamily="34" charset="0"/>
                <a:cs typeface="Arial" panose="020B0604020202020204" pitchFamily="34" charset="0"/>
              </a:rPr>
              <a:t>best way to avoid this type of problem is to only allow reads to the same write node after a write has been done</a:t>
            </a:r>
            <a:r>
              <a:rPr lang="en-US" sz="2400" dirty="0">
                <a:latin typeface="Arial" panose="020B0604020202020204" pitchFamily="34" charset="0"/>
                <a:cs typeface="Arial" panose="020B0604020202020204" pitchFamily="34" charset="0"/>
              </a:rPr>
              <a:t>. </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This </a:t>
            </a:r>
            <a:r>
              <a:rPr lang="en-US" sz="2400" dirty="0">
                <a:solidFill>
                  <a:srgbClr val="0000FF"/>
                </a:solidFill>
                <a:latin typeface="Arial" panose="020B0604020202020204" pitchFamily="34" charset="0"/>
                <a:cs typeface="Arial" panose="020B0604020202020204" pitchFamily="34" charset="0"/>
              </a:rPr>
              <a:t>logic can be added to a session or state management system at the application layer</a:t>
            </a:r>
            <a:r>
              <a:rPr lang="en-US" sz="2400" dirty="0">
                <a:latin typeface="Arial" panose="020B0604020202020204" pitchFamily="34" charset="0"/>
                <a:cs typeface="Arial" panose="020B0604020202020204" pitchFamily="34" charset="0"/>
              </a:rPr>
              <a:t>. </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Almost all distributed databases </a:t>
            </a:r>
            <a:r>
              <a:rPr lang="en-US" sz="2400" dirty="0">
                <a:solidFill>
                  <a:srgbClr val="FF0000"/>
                </a:solidFill>
                <a:latin typeface="Arial" panose="020B0604020202020204" pitchFamily="34" charset="0"/>
                <a:cs typeface="Arial" panose="020B0604020202020204" pitchFamily="34" charset="0"/>
              </a:rPr>
              <a:t>relax database consistency rules when a large number of nodes permit writes</a:t>
            </a:r>
            <a:r>
              <a:rPr lang="en-US" sz="2400" dirty="0">
                <a:latin typeface="Arial" panose="020B0604020202020204" pitchFamily="34" charset="0"/>
                <a:cs typeface="Arial" panose="020B0604020202020204" pitchFamily="34" charset="0"/>
              </a:rPr>
              <a:t>. </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If your application needs fast read/write consistency, you must deal with it at the application layer.</a:t>
            </a:r>
            <a:endParaRPr lang="en-IN" sz="2400" dirty="0">
              <a:latin typeface="Arial" panose="020B0604020202020204" pitchFamily="34" charset="0"/>
              <a:cs typeface="Arial" panose="020B0604020202020204" pitchFamily="34" charset="0"/>
            </a:endParaRP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04-02-2023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13</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902651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0070C0"/>
                </a:solidFill>
                <a:latin typeface="Arial" panose="020B0604020202020204" pitchFamily="34" charset="0"/>
                <a:cs typeface="Arial" panose="020B0604020202020204" pitchFamily="34" charset="0"/>
              </a:rPr>
              <a:t>Letting the database distribute queries evenly          to data nodes</a:t>
            </a:r>
            <a:endParaRPr lang="en-IN" sz="3200" b="1" u="sng"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690688"/>
            <a:ext cx="10515600" cy="4486275"/>
          </a:xfrm>
        </p:spPr>
        <p:txBody>
          <a:bodyPr>
            <a:normAutofit fontScale="92500" lnSpcReduction="20000"/>
          </a:bodyPr>
          <a:lstStyle/>
          <a:p>
            <a:pPr marL="0" indent="0">
              <a:lnSpc>
                <a:spcPct val="120000"/>
              </a:lnSpc>
              <a:spcBef>
                <a:spcPts val="1800"/>
              </a:spcBef>
              <a:spcAft>
                <a:spcPts val="600"/>
              </a:spcAft>
              <a:buNone/>
            </a:pPr>
            <a:r>
              <a:rPr lang="en-US" sz="2400" dirty="0">
                <a:solidFill>
                  <a:srgbClr val="FF0000"/>
                </a:solidFill>
                <a:latin typeface="Arial" panose="020B0604020202020204" pitchFamily="34" charset="0"/>
                <a:cs typeface="Arial" panose="020B0604020202020204" pitchFamily="34" charset="0"/>
              </a:rPr>
              <a:t>In order to get high performance </a:t>
            </a:r>
            <a:r>
              <a:rPr lang="en-US" sz="2400" dirty="0">
                <a:latin typeface="Arial" panose="020B0604020202020204" pitchFamily="34" charset="0"/>
                <a:cs typeface="Arial" panose="020B0604020202020204" pitchFamily="34" charset="0"/>
              </a:rPr>
              <a:t>from queries that span multiple nodes, it’s important to separate the concerns of query evaluation from query execution.</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The approach shown in next figure is </a:t>
            </a:r>
            <a:r>
              <a:rPr lang="en-US" sz="2400" dirty="0">
                <a:solidFill>
                  <a:srgbClr val="FF0000"/>
                </a:solidFill>
                <a:latin typeface="Arial" panose="020B0604020202020204" pitchFamily="34" charset="0"/>
                <a:cs typeface="Arial" panose="020B0604020202020204" pitchFamily="34" charset="0"/>
              </a:rPr>
              <a:t>moving the query to the data rather than moving the data to the query</a:t>
            </a:r>
            <a:r>
              <a:rPr lang="en-US" sz="2400" dirty="0">
                <a:latin typeface="Arial" panose="020B0604020202020204" pitchFamily="34" charset="0"/>
                <a:cs typeface="Arial" panose="020B0604020202020204" pitchFamily="34" charset="0"/>
              </a:rPr>
              <a:t>. This is an important part of NoSQL big data strategies.</a:t>
            </a:r>
          </a:p>
          <a:p>
            <a:pPr marL="0" indent="0">
              <a:lnSpc>
                <a:spcPct val="120000"/>
              </a:lnSpc>
              <a:spcBef>
                <a:spcPts val="1800"/>
              </a:spcBef>
              <a:spcAft>
                <a:spcPts val="600"/>
              </a:spcAft>
              <a:buNone/>
            </a:pPr>
            <a:r>
              <a:rPr lang="en-US" sz="2400" dirty="0">
                <a:solidFill>
                  <a:srgbClr val="0000FF"/>
                </a:solidFill>
                <a:latin typeface="Arial" panose="020B0604020202020204" pitchFamily="34" charset="0"/>
                <a:cs typeface="Arial" panose="020B0604020202020204" pitchFamily="34" charset="0"/>
              </a:rPr>
              <a:t>NoSQL systems move the query to a data node, but don’t move data to a query node. </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In this instance, moving the query is handled by the database server, and distribution of the query and waiting for all nodes to respond is the sole responsibility of the database, not the application layer.</a:t>
            </a:r>
            <a:endParaRPr lang="en-IN" sz="2400" dirty="0">
              <a:latin typeface="Arial" panose="020B0604020202020204" pitchFamily="34" charset="0"/>
              <a:cs typeface="Arial" panose="020B0604020202020204" pitchFamily="34" charset="0"/>
            </a:endParaRP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04-02-2023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14</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765587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0070C0"/>
                </a:solidFill>
                <a:latin typeface="Arial" panose="020B0604020202020204" pitchFamily="34" charset="0"/>
                <a:cs typeface="Arial" panose="020B0604020202020204" pitchFamily="34" charset="0"/>
              </a:rPr>
              <a:t>Distribute queries evenly</a:t>
            </a:r>
            <a:endParaRPr lang="en-IN" sz="3200" b="1" u="sng"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86324" y="1690688"/>
            <a:ext cx="10467475" cy="4486275"/>
          </a:xfrm>
        </p:spPr>
        <p:txBody>
          <a:bodyPr>
            <a:noAutofit/>
          </a:bodyPr>
          <a:lstStyle/>
          <a:p>
            <a:pPr marL="5737225" indent="0">
              <a:lnSpc>
                <a:spcPct val="120000"/>
              </a:lnSpc>
              <a:spcBef>
                <a:spcPts val="1800"/>
              </a:spcBef>
              <a:spcAft>
                <a:spcPts val="600"/>
              </a:spcAft>
              <a:buNone/>
            </a:pPr>
            <a:r>
              <a:rPr lang="en-US" sz="2100" dirty="0">
                <a:latin typeface="Arial" panose="020B0604020202020204" pitchFamily="34" charset="0"/>
                <a:cs typeface="Arial" panose="020B0604020202020204" pitchFamily="34" charset="0"/>
              </a:rPr>
              <a:t>In this example, all incoming queries arrive at query analyzer nodes. These nodes then forward the queries to each data node. </a:t>
            </a:r>
          </a:p>
          <a:p>
            <a:pPr marL="5737225" indent="0">
              <a:lnSpc>
                <a:spcPct val="120000"/>
              </a:lnSpc>
              <a:spcBef>
                <a:spcPts val="1800"/>
              </a:spcBef>
              <a:spcAft>
                <a:spcPts val="600"/>
              </a:spcAft>
              <a:buNone/>
            </a:pPr>
            <a:r>
              <a:rPr lang="en-US" sz="2100" dirty="0">
                <a:latin typeface="Arial" panose="020B0604020202020204" pitchFamily="34" charset="0"/>
                <a:cs typeface="Arial" panose="020B0604020202020204" pitchFamily="34" charset="0"/>
              </a:rPr>
              <a:t>If they have matches, the documents are returned to the query node. </a:t>
            </a:r>
          </a:p>
          <a:p>
            <a:pPr marL="0" indent="0">
              <a:lnSpc>
                <a:spcPct val="120000"/>
              </a:lnSpc>
              <a:spcBef>
                <a:spcPts val="3000"/>
              </a:spcBef>
              <a:spcAft>
                <a:spcPts val="600"/>
              </a:spcAft>
              <a:buNone/>
            </a:pPr>
            <a:r>
              <a:rPr lang="en-US" sz="2100" dirty="0">
                <a:latin typeface="Arial" panose="020B0604020202020204" pitchFamily="34" charset="0"/>
                <a:cs typeface="Arial" panose="020B0604020202020204" pitchFamily="34" charset="0"/>
              </a:rPr>
              <a:t>The query won’t return until all data nodes (or a response from a replica) have responded to the original query request. </a:t>
            </a:r>
          </a:p>
          <a:p>
            <a:pPr marL="0" indent="0">
              <a:lnSpc>
                <a:spcPct val="120000"/>
              </a:lnSpc>
              <a:spcBef>
                <a:spcPts val="1800"/>
              </a:spcBef>
              <a:spcAft>
                <a:spcPts val="600"/>
              </a:spcAft>
              <a:buNone/>
            </a:pPr>
            <a:r>
              <a:rPr lang="en-US" sz="2100" dirty="0">
                <a:latin typeface="Arial" panose="020B0604020202020204" pitchFamily="34" charset="0"/>
                <a:cs typeface="Arial" panose="020B0604020202020204" pitchFamily="34" charset="0"/>
              </a:rPr>
              <a:t>If the data node is down, a query can be redirected to a replica of the data node.</a:t>
            </a:r>
            <a:endParaRPr lang="en-IN" sz="2100" dirty="0">
              <a:latin typeface="Arial" panose="020B0604020202020204" pitchFamily="34" charset="0"/>
              <a:cs typeface="Arial" panose="020B0604020202020204" pitchFamily="34" charset="0"/>
            </a:endParaRP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04-02-2023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15</a:t>
            </a:fld>
            <a:endParaRPr lang="en-IN" dirty="0">
              <a:latin typeface="Arial" panose="020B0604020202020204" pitchFamily="34" charset="0"/>
              <a:cs typeface="Arial" panose="020B0604020202020204" pitchFamily="34" charset="0"/>
            </a:endParaRPr>
          </a:p>
        </p:txBody>
      </p:sp>
      <p:pic>
        <p:nvPicPr>
          <p:cNvPr id="6" name="Picture 5"/>
          <p:cNvPicPr>
            <a:picLocks noChangeAspect="1"/>
          </p:cNvPicPr>
          <p:nvPr/>
        </p:nvPicPr>
        <p:blipFill>
          <a:blip r:embed="rId2"/>
          <a:stretch>
            <a:fillRect/>
          </a:stretch>
        </p:blipFill>
        <p:spPr>
          <a:xfrm>
            <a:off x="905574" y="1841256"/>
            <a:ext cx="5448300" cy="2809875"/>
          </a:xfrm>
          <a:prstGeom prst="rect">
            <a:avLst/>
          </a:prstGeom>
        </p:spPr>
      </p:pic>
    </p:spTree>
    <p:extLst>
      <p:ext uri="{BB962C8B-B14F-4D97-AF65-F5344CB8AC3E}">
        <p14:creationId xmlns:p14="http://schemas.microsoft.com/office/powerpoint/2010/main" val="16428609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0070C0"/>
                </a:solidFill>
                <a:latin typeface="Arial" panose="020B0604020202020204" pitchFamily="34" charset="0"/>
                <a:cs typeface="Arial" panose="020B0604020202020204" pitchFamily="34" charset="0"/>
              </a:rPr>
              <a:t>Distribute queries evenly</a:t>
            </a:r>
            <a:endParaRPr lang="en-IN" sz="3200" b="1" u="sng"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690688"/>
            <a:ext cx="10515600" cy="4486275"/>
          </a:xfrm>
        </p:spPr>
        <p:txBody>
          <a:bodyPr>
            <a:normAutofit/>
          </a:bodyPr>
          <a:lstStyle/>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This approach is somewhat similar to the concept of </a:t>
            </a:r>
            <a:r>
              <a:rPr lang="en-US" sz="2400" dirty="0">
                <a:solidFill>
                  <a:srgbClr val="0000FF"/>
                </a:solidFill>
                <a:latin typeface="Arial" panose="020B0604020202020204" pitchFamily="34" charset="0"/>
                <a:cs typeface="Arial" panose="020B0604020202020204" pitchFamily="34" charset="0"/>
              </a:rPr>
              <a:t>federated search</a:t>
            </a:r>
            <a:r>
              <a:rPr lang="en-US" sz="2400" dirty="0">
                <a:latin typeface="Arial" panose="020B0604020202020204" pitchFamily="34" charset="0"/>
                <a:cs typeface="Arial" panose="020B0604020202020204" pitchFamily="34" charset="0"/>
              </a:rPr>
              <a:t>. </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Federated search takes a single query and distributes it to distinct servers and then combines the results together to give the user the impression they’re searching a single system. </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In some cases, these servers may be in different geographic regions. </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In this case, </a:t>
            </a:r>
            <a:r>
              <a:rPr lang="en-US" sz="2400" dirty="0">
                <a:solidFill>
                  <a:srgbClr val="FF0000"/>
                </a:solidFill>
                <a:latin typeface="Arial" panose="020B0604020202020204" pitchFamily="34" charset="0"/>
                <a:cs typeface="Arial" panose="020B0604020202020204" pitchFamily="34" charset="0"/>
              </a:rPr>
              <a:t>you’re sending your query to a single cluster that’s not only performing search queries on a single local cluster but also performing update and delete operations</a:t>
            </a:r>
            <a:r>
              <a:rPr lang="en-US" sz="2400" dirty="0">
                <a:latin typeface="Arial" panose="020B0604020202020204" pitchFamily="34" charset="0"/>
                <a:cs typeface="Arial" panose="020B0604020202020204" pitchFamily="34" charset="0"/>
              </a:rPr>
              <a:t>.</a:t>
            </a:r>
            <a:endParaRPr lang="en-IN" sz="2400" dirty="0">
              <a:latin typeface="Arial" panose="020B0604020202020204" pitchFamily="34" charset="0"/>
              <a:cs typeface="Arial" panose="020B0604020202020204" pitchFamily="34" charset="0"/>
            </a:endParaRP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04-02-2023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16</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338211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Summary</a:t>
            </a:r>
          </a:p>
        </p:txBody>
      </p:sp>
      <p:sp>
        <p:nvSpPr>
          <p:cNvPr id="3" name="Content Placeholder 2"/>
          <p:cNvSpPr>
            <a:spLocks noGrp="1"/>
          </p:cNvSpPr>
          <p:nvPr>
            <p:ph idx="1"/>
          </p:nvPr>
        </p:nvSpPr>
        <p:spPr>
          <a:xfrm>
            <a:off x="838200" y="1690688"/>
            <a:ext cx="10515600" cy="4486275"/>
          </a:xfrm>
        </p:spPr>
        <p:txBody>
          <a:bodyPr>
            <a:normAutofit/>
          </a:bodyPr>
          <a:lstStyle/>
          <a:p>
            <a:pPr marL="0" indent="0">
              <a:lnSpc>
                <a:spcPct val="120000"/>
              </a:lnSpc>
              <a:spcBef>
                <a:spcPts val="600"/>
              </a:spcBef>
              <a:spcAft>
                <a:spcPts val="600"/>
              </a:spcAft>
              <a:buNone/>
            </a:pPr>
            <a:r>
              <a:rPr lang="en-IN" sz="2400" dirty="0">
                <a:latin typeface="Arial" panose="020B0604020202020204" pitchFamily="34" charset="0"/>
                <a:cs typeface="Arial" panose="020B0604020202020204" pitchFamily="34" charset="0"/>
              </a:rPr>
              <a:t>This session will give the knowledge about</a:t>
            </a:r>
          </a:p>
          <a:p>
            <a:pPr marL="996950" lvl="1" indent="-539750">
              <a:lnSpc>
                <a:spcPct val="120000"/>
              </a:lnSpc>
              <a:spcBef>
                <a:spcPts val="600"/>
              </a:spcBef>
              <a:spcAft>
                <a:spcPts val="600"/>
              </a:spcAft>
            </a:pPr>
            <a:r>
              <a:rPr lang="en-US" dirty="0">
                <a:latin typeface="Arial" panose="020B0604020202020204" pitchFamily="34" charset="0"/>
                <a:cs typeface="Arial" panose="020B0604020202020204" pitchFamily="34" charset="0"/>
              </a:rPr>
              <a:t>NoSQL Systems to handle Big data</a:t>
            </a:r>
          </a:p>
          <a:p>
            <a:pPr marL="996950" lvl="1" indent="-539750">
              <a:lnSpc>
                <a:spcPct val="120000"/>
              </a:lnSpc>
              <a:spcBef>
                <a:spcPts val="600"/>
              </a:spcBef>
              <a:spcAft>
                <a:spcPts val="600"/>
              </a:spcAft>
            </a:pPr>
            <a:endParaRPr lang="en-IN" dirty="0">
              <a:latin typeface="Arial" panose="020B0604020202020204" pitchFamily="34" charset="0"/>
              <a:cs typeface="Arial" panose="020B0604020202020204" pitchFamily="34" charset="0"/>
            </a:endParaRPr>
          </a:p>
          <a:p>
            <a:pPr marL="0" indent="0">
              <a:lnSpc>
                <a:spcPct val="120000"/>
              </a:lnSpc>
              <a:spcBef>
                <a:spcPts val="600"/>
              </a:spcBef>
              <a:spcAft>
                <a:spcPts val="600"/>
              </a:spcAft>
              <a:buNone/>
            </a:pPr>
            <a:endParaRPr lang="en-IN" sz="2400" dirty="0">
              <a:latin typeface="Arial" panose="020B0604020202020204" pitchFamily="34" charset="0"/>
              <a:cs typeface="Arial" panose="020B0604020202020204" pitchFamily="34" charset="0"/>
            </a:endParaRPr>
          </a:p>
        </p:txBody>
      </p:sp>
      <p:sp>
        <p:nvSpPr>
          <p:cNvPr id="7" name="Date Placeholder 6"/>
          <p:cNvSpPr>
            <a:spLocks noGrp="1"/>
          </p:cNvSpPr>
          <p:nvPr>
            <p:ph type="dt" sz="half" idx="10"/>
          </p:nvPr>
        </p:nvSpPr>
        <p:spPr/>
        <p:txBody>
          <a:bodyPr/>
          <a:lstStyle/>
          <a:p>
            <a:fld id="{1E4FA2B1-6748-41D8-AB75-02C9BD84395F}" type="datetime1">
              <a:rPr lang="en-IN" smtClean="0">
                <a:latin typeface="Arial" panose="020B0604020202020204" pitchFamily="34" charset="0"/>
                <a:cs typeface="Arial" panose="020B0604020202020204" pitchFamily="34" charset="0"/>
              </a:rPr>
              <a:t>04-02-2023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17</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9057809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IT PPT Template.pptx" id="{54091FC3-898D-497D-92ED-2AD4019B5909}" vid="{614E3B1B-8E84-45D1-BB2E-2BDD1EEBD47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VIT PPT Template</Template>
  <TotalTime>1830</TotalTime>
  <Words>1478</Words>
  <Application>Microsoft Office PowerPoint</Application>
  <PresentationFormat>Widescreen</PresentationFormat>
  <Paragraphs>125</Paragraphs>
  <Slides>17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Calibri (Body)</vt:lpstr>
      <vt:lpstr>Calibri Light</vt:lpstr>
      <vt:lpstr>Office Theme</vt:lpstr>
      <vt:lpstr>Course code : CSE3009 Course title  : No SQL Data Bases Module  : 2     Topic   : 6</vt:lpstr>
      <vt:lpstr>Objectives</vt:lpstr>
      <vt:lpstr>NoSQL Systems to handle Big data</vt:lpstr>
      <vt:lpstr>Moving queries to the data, not data to the queries</vt:lpstr>
      <vt:lpstr>Moving queries to the Data</vt:lpstr>
      <vt:lpstr>Using hash rings to evenly distribute data on a cluster</vt:lpstr>
      <vt:lpstr>Hash Rings</vt:lpstr>
      <vt:lpstr>Sample Hash Ring with four nodes</vt:lpstr>
      <vt:lpstr>Hash Rings</vt:lpstr>
      <vt:lpstr>Hash Rings</vt:lpstr>
      <vt:lpstr>Using replication to scale reads</vt:lpstr>
      <vt:lpstr>Using replication to scale reads</vt:lpstr>
      <vt:lpstr>Using replication to scale reads</vt:lpstr>
      <vt:lpstr>Letting the database distribute queries evenly          to data nodes</vt:lpstr>
      <vt:lpstr>Distribute queries evenly</vt:lpstr>
      <vt:lpstr>Distribute queries evenly</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code : CSE1004 Course title  : Database Management System</dc:title>
  <dc:creator>gopikrishnan sundaram</dc:creator>
  <cp:lastModifiedBy>Dr. Gopikrishnan S</cp:lastModifiedBy>
  <cp:revision>99</cp:revision>
  <dcterms:created xsi:type="dcterms:W3CDTF">2019-11-30T05:18:24Z</dcterms:created>
  <dcterms:modified xsi:type="dcterms:W3CDTF">2023-02-04T03:41:36Z</dcterms:modified>
</cp:coreProperties>
</file>