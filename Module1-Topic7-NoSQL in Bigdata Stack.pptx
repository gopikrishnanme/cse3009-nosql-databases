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60" r:id="rId4"/>
    <p:sldId id="332" r:id="rId5"/>
    <p:sldId id="327" r:id="rId6"/>
    <p:sldId id="328" r:id="rId7"/>
    <p:sldId id="329" r:id="rId8"/>
    <p:sldId id="313" r:id="rId9"/>
    <p:sldId id="322" r:id="rId10"/>
    <p:sldId id="333" r:id="rId11"/>
    <p:sldId id="334" r:id="rId12"/>
    <p:sldId id="335" r:id="rId13"/>
    <p:sldId id="336" r:id="rId14"/>
    <p:sldId id="337" r:id="rId15"/>
    <p:sldId id="338" r:id="rId16"/>
    <p:sldId id="340" r:id="rId17"/>
    <p:sldId id="339" r:id="rId18"/>
    <p:sldId id="342" r:id="rId19"/>
    <p:sldId id="351" r:id="rId20"/>
    <p:sldId id="343" r:id="rId21"/>
    <p:sldId id="259" r:id="rId22"/>
    <p:sldId id="345" r:id="rId23"/>
    <p:sldId id="346" r:id="rId24"/>
    <p:sldId id="347" r:id="rId25"/>
    <p:sldId id="348" r:id="rId26"/>
    <p:sldId id="349" r:id="rId27"/>
    <p:sldId id="34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27-01-2023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27-01-2023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6062" y="243194"/>
            <a:ext cx="1793898" cy="555421"/>
          </a:xfrm>
          <a:prstGeom prst="rect">
            <a:avLst/>
          </a:prstGeom>
        </p:spPr>
      </p:pic>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27-01-2023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6062" y="243194"/>
            <a:ext cx="1793898" cy="555421"/>
          </a:xfrm>
          <a:prstGeom prst="rect">
            <a:avLst/>
          </a:prstGeom>
        </p:spPr>
      </p:pic>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27-01-2023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6062" y="243194"/>
            <a:ext cx="1793898" cy="555421"/>
          </a:xfrm>
          <a:prstGeom prst="rect">
            <a:avLst/>
          </a:prstGeom>
        </p:spPr>
      </p:pic>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27-01-2023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6062" y="243194"/>
            <a:ext cx="1793898" cy="555421"/>
          </a:xfrm>
          <a:prstGeom prst="rect">
            <a:avLst/>
          </a:prstGeom>
        </p:spPr>
      </p:pic>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27-01-2023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6062" y="243194"/>
            <a:ext cx="1793898" cy="555421"/>
          </a:xfrm>
          <a:prstGeom prst="rect">
            <a:avLst/>
          </a:prstGeom>
        </p:spPr>
      </p:pic>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27-01-2023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6062" y="243194"/>
            <a:ext cx="1793898" cy="555421"/>
          </a:xfrm>
          <a:prstGeom prst="rect">
            <a:avLst/>
          </a:prstGeom>
        </p:spPr>
      </p:pic>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27-01-2023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27-01-2023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27-01-2023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27-01-2023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27-01-2023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27-01-2023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1</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7</a:t>
            </a:r>
          </a:p>
        </p:txBody>
      </p:sp>
      <p:sp>
        <p:nvSpPr>
          <p:cNvPr id="6" name="Subtitle 2"/>
          <p:cNvSpPr>
            <a:spLocks noGrp="1"/>
          </p:cNvSpPr>
          <p:nvPr>
            <p:ph type="subTitle" idx="1"/>
          </p:nvPr>
        </p:nvSpPr>
        <p:spPr>
          <a:xfrm>
            <a:off x="1402183" y="3677818"/>
            <a:ext cx="9144000" cy="1655762"/>
          </a:xfrm>
        </p:spPr>
        <p:txBody>
          <a:bodyPr>
            <a:normAutofit/>
          </a:bodyPr>
          <a:lstStyle/>
          <a:p>
            <a:r>
              <a:rPr lang="en-US" sz="4000" b="1" dirty="0" err="1">
                <a:solidFill>
                  <a:srgbClr val="0070C0"/>
                </a:solidFill>
                <a:latin typeface="Arial" panose="020B0604020202020204" pitchFamily="34" charset="0"/>
                <a:cs typeface="Arial" panose="020B0604020202020204" pitchFamily="34" charset="0"/>
              </a:rPr>
              <a:t>BigData</a:t>
            </a:r>
            <a:r>
              <a:rPr lang="en-US" sz="4000" b="1" dirty="0">
                <a:solidFill>
                  <a:srgbClr val="0070C0"/>
                </a:solidFill>
                <a:latin typeface="Arial" panose="020B0604020202020204" pitchFamily="34" charset="0"/>
                <a:cs typeface="Arial" panose="020B0604020202020204" pitchFamily="34" charset="0"/>
              </a:rPr>
              <a:t> stack</a:t>
            </a:r>
            <a:endParaRPr lang="en-IN" sz="4000" b="1" dirty="0">
              <a:solidFill>
                <a:srgbClr val="0070C0"/>
              </a:solidFill>
              <a:latin typeface="Arial" panose="020B060402020202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756728E3-B72D-49A5-85A2-5AE45557AE43}" type="datetime1">
              <a:rPr lang="en-IN" smtClean="0">
                <a:latin typeface="Calibri (Body)"/>
              </a:rPr>
              <a:t>27-01-2023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Big Data concept</a:t>
            </a:r>
          </a:p>
          <a:p>
            <a:pPr marL="996950" lvl="1" indent="-539750">
              <a:lnSpc>
                <a:spcPct val="120000"/>
              </a:lnSpc>
              <a:spcBef>
                <a:spcPts val="600"/>
              </a:spcBef>
              <a:spcAft>
                <a:spcPts val="600"/>
              </a:spcAft>
            </a:pPr>
            <a:r>
              <a:rPr lang="en-US" dirty="0" err="1">
                <a:latin typeface="Arial" panose="020B0604020202020204" pitchFamily="34" charset="0"/>
                <a:cs typeface="Arial" panose="020B0604020202020204" pitchFamily="34" charset="0"/>
              </a:rPr>
              <a:t>BigData</a:t>
            </a:r>
            <a:r>
              <a:rPr lang="en-US" dirty="0">
                <a:latin typeface="Arial" panose="020B0604020202020204" pitchFamily="34" charset="0"/>
                <a:cs typeface="Arial" panose="020B0604020202020204" pitchFamily="34" charset="0"/>
              </a:rPr>
              <a:t> stack</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Position of NoSQL in </a:t>
            </a:r>
            <a:r>
              <a:rPr lang="en-US" dirty="0" err="1">
                <a:latin typeface="Arial" panose="020B0604020202020204" pitchFamily="34" charset="0"/>
                <a:cs typeface="Arial" panose="020B0604020202020204" pitchFamily="34" charset="0"/>
              </a:rPr>
              <a:t>BigData</a:t>
            </a:r>
            <a:r>
              <a:rPr lang="en-US" dirty="0">
                <a:latin typeface="Arial" panose="020B0604020202020204" pitchFamily="34" charset="0"/>
                <a:cs typeface="Arial" panose="020B0604020202020204" pitchFamily="34" charset="0"/>
              </a:rPr>
              <a:t> stack</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What is Big 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Data which are </a:t>
            </a:r>
            <a:r>
              <a:rPr lang="en-US" sz="2400" dirty="0">
                <a:solidFill>
                  <a:srgbClr val="FF0000"/>
                </a:solidFill>
                <a:latin typeface="Arial" panose="020B0604020202020204" pitchFamily="34" charset="0"/>
                <a:cs typeface="Arial" panose="020B0604020202020204" pitchFamily="34" charset="0"/>
              </a:rPr>
              <a:t>very large in size </a:t>
            </a:r>
            <a:r>
              <a:rPr lang="en-US" sz="2400" dirty="0">
                <a:latin typeface="Arial" panose="020B0604020202020204" pitchFamily="34" charset="0"/>
                <a:cs typeface="Arial" panose="020B0604020202020204" pitchFamily="34" charset="0"/>
              </a:rPr>
              <a:t>is called Big Data. </a:t>
            </a:r>
          </a:p>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Normally we work on data of size MB(</a:t>
            </a:r>
            <a:r>
              <a:rPr lang="en-US" sz="2400" dirty="0" err="1">
                <a:latin typeface="Arial" panose="020B0604020202020204" pitchFamily="34" charset="0"/>
                <a:cs typeface="Arial" panose="020B0604020202020204" pitchFamily="34" charset="0"/>
              </a:rPr>
              <a:t>WordDoc</a:t>
            </a:r>
            <a:r>
              <a:rPr lang="en-US" sz="2400" dirty="0">
                <a:latin typeface="Arial" panose="020B0604020202020204" pitchFamily="34" charset="0"/>
                <a:cs typeface="Arial" panose="020B0604020202020204" pitchFamily="34" charset="0"/>
              </a:rPr>
              <a:t> ,Excel) or maximum GB but data in </a:t>
            </a:r>
            <a:r>
              <a:rPr lang="en-US" sz="2400" dirty="0">
                <a:solidFill>
                  <a:srgbClr val="FF0000"/>
                </a:solidFill>
                <a:latin typeface="Arial" panose="020B0604020202020204" pitchFamily="34" charset="0"/>
                <a:cs typeface="Arial" panose="020B0604020202020204" pitchFamily="34" charset="0"/>
              </a:rPr>
              <a:t>Peta bytes i.e. 10^15 byte size </a:t>
            </a:r>
            <a:r>
              <a:rPr lang="en-US" sz="2400" dirty="0">
                <a:latin typeface="Arial" panose="020B0604020202020204" pitchFamily="34" charset="0"/>
                <a:cs typeface="Arial" panose="020B0604020202020204" pitchFamily="34" charset="0"/>
              </a:rPr>
              <a:t>is called Big Data.</a:t>
            </a:r>
          </a:p>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Big data is a great quantity of diverse information that arrives in increasing volumes and with ever-higher velocity.</a:t>
            </a:r>
          </a:p>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Big data can be structured (often numeric, easily formatted and stored) or unstructured (more free-form, less quantifiable).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8351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What is Big 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Nearly every department in a company can utilize findings from big data analysis, but handling its clutter and noise can pose problems.</a:t>
            </a:r>
          </a:p>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Big data can be collected from publicly shared comments on social networks and websites, voluntarily gathered from personal electronics and apps, through questionnaires, product purchases, and electronic check-ins.</a:t>
            </a:r>
          </a:p>
          <a:p>
            <a:pPr marL="354013" indent="-354013">
              <a:lnSpc>
                <a:spcPct val="110000"/>
              </a:lnSpc>
              <a:spcBef>
                <a:spcPts val="1800"/>
              </a:spcBef>
              <a:spcAft>
                <a:spcPts val="600"/>
              </a:spcAft>
            </a:pPr>
            <a:r>
              <a:rPr lang="en-US" sz="2400" dirty="0">
                <a:latin typeface="Arial" panose="020B0604020202020204" pitchFamily="34" charset="0"/>
                <a:cs typeface="Arial" panose="020B0604020202020204" pitchFamily="34" charset="0"/>
              </a:rPr>
              <a:t>Big data is most often stored in computer databases and is analyzed using software specifically designed to handle large, complex data sets.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71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Sources of Big 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354013" indent="-354013">
              <a:lnSpc>
                <a:spcPct val="120000"/>
              </a:lnSpc>
              <a:spcBef>
                <a:spcPts val="1800"/>
              </a:spcBef>
            </a:pPr>
            <a:r>
              <a:rPr lang="en-US" sz="2400" dirty="0">
                <a:solidFill>
                  <a:srgbClr val="FF0000"/>
                </a:solidFill>
                <a:latin typeface="Arial" panose="020B0604020202020204" pitchFamily="34" charset="0"/>
                <a:cs typeface="Arial" panose="020B0604020202020204" pitchFamily="34" charset="0"/>
              </a:rPr>
              <a:t>Social networking sites: </a:t>
            </a:r>
            <a:r>
              <a:rPr lang="en-US" sz="2400" dirty="0">
                <a:latin typeface="Arial" panose="020B0604020202020204" pitchFamily="34" charset="0"/>
                <a:cs typeface="Arial" panose="020B0604020202020204" pitchFamily="34" charset="0"/>
              </a:rPr>
              <a:t>Facebook, Google, LinkedIn all these sites generates huge amount of data on a day to day basis as they have billions of users worldwide.</a:t>
            </a:r>
          </a:p>
          <a:p>
            <a:pPr marL="354013" indent="-354013">
              <a:lnSpc>
                <a:spcPct val="120000"/>
              </a:lnSpc>
              <a:spcBef>
                <a:spcPts val="1800"/>
              </a:spcBef>
            </a:pPr>
            <a:r>
              <a:rPr lang="en-US" sz="2400" dirty="0">
                <a:solidFill>
                  <a:srgbClr val="FF0000"/>
                </a:solidFill>
                <a:latin typeface="Arial" panose="020B0604020202020204" pitchFamily="34" charset="0"/>
                <a:cs typeface="Arial" panose="020B0604020202020204" pitchFamily="34" charset="0"/>
              </a:rPr>
              <a:t>E-commerce site: </a:t>
            </a:r>
            <a:r>
              <a:rPr lang="en-US" sz="2400" dirty="0">
                <a:latin typeface="Arial" panose="020B0604020202020204" pitchFamily="34" charset="0"/>
                <a:cs typeface="Arial" panose="020B0604020202020204" pitchFamily="34" charset="0"/>
              </a:rPr>
              <a:t>Sites like Amazon, Flipkart, Alibaba generates huge amount of logs from which users buying trends can be traced.</a:t>
            </a:r>
          </a:p>
          <a:p>
            <a:pPr marL="354013" indent="-354013">
              <a:lnSpc>
                <a:spcPct val="120000"/>
              </a:lnSpc>
              <a:spcBef>
                <a:spcPts val="1800"/>
              </a:spcBef>
            </a:pPr>
            <a:r>
              <a:rPr lang="en-US" sz="2400" dirty="0">
                <a:solidFill>
                  <a:srgbClr val="FF0000"/>
                </a:solidFill>
                <a:latin typeface="Arial" panose="020B0604020202020204" pitchFamily="34" charset="0"/>
                <a:cs typeface="Arial" panose="020B0604020202020204" pitchFamily="34" charset="0"/>
              </a:rPr>
              <a:t>Weather Station: </a:t>
            </a:r>
            <a:r>
              <a:rPr lang="en-US" sz="2400" dirty="0">
                <a:latin typeface="Arial" panose="020B0604020202020204" pitchFamily="34" charset="0"/>
                <a:cs typeface="Arial" panose="020B0604020202020204" pitchFamily="34" charset="0"/>
              </a:rPr>
              <a:t>All the weather station and satellite gives very huge data which are stored and manipulated to forecast weather.</a:t>
            </a:r>
          </a:p>
          <a:p>
            <a:pPr marL="354013" indent="-354013">
              <a:lnSpc>
                <a:spcPct val="120000"/>
              </a:lnSpc>
              <a:spcBef>
                <a:spcPts val="1800"/>
              </a:spcBef>
            </a:pPr>
            <a:r>
              <a:rPr lang="en-US" sz="2400" dirty="0">
                <a:solidFill>
                  <a:srgbClr val="FF0000"/>
                </a:solidFill>
                <a:latin typeface="Arial" panose="020B0604020202020204" pitchFamily="34" charset="0"/>
                <a:cs typeface="Arial" panose="020B0604020202020204" pitchFamily="34" charset="0"/>
              </a:rPr>
              <a:t>Share Market: </a:t>
            </a:r>
            <a:r>
              <a:rPr lang="en-US" sz="2400" dirty="0">
                <a:latin typeface="Arial" panose="020B0604020202020204" pitchFamily="34" charset="0"/>
                <a:cs typeface="Arial" panose="020B0604020202020204" pitchFamily="34" charset="0"/>
              </a:rPr>
              <a:t>Stock exchange across the world generates huge amount of data through its daily transaction.</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7451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Types Of Big 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354013" indent="-354013">
              <a:lnSpc>
                <a:spcPct val="110000"/>
              </a:lnSpc>
              <a:spcBef>
                <a:spcPts val="2400"/>
              </a:spcBef>
            </a:pPr>
            <a:r>
              <a:rPr lang="en-US" sz="2400" dirty="0">
                <a:solidFill>
                  <a:srgbClr val="FF0000"/>
                </a:solidFill>
                <a:latin typeface="Arial" panose="020B0604020202020204" pitchFamily="34" charset="0"/>
                <a:cs typeface="Arial" panose="020B0604020202020204" pitchFamily="34" charset="0"/>
              </a:rPr>
              <a:t>Structured:</a:t>
            </a:r>
            <a:r>
              <a:rPr lang="en-US" sz="2400" dirty="0">
                <a:latin typeface="Arial" panose="020B0604020202020204" pitchFamily="34" charset="0"/>
                <a:cs typeface="Arial" panose="020B0604020202020204" pitchFamily="34" charset="0"/>
              </a:rPr>
              <a:t> Any data that can be stored, accessed and processed in the form of fixed format is termed as a ‘structured’ data.</a:t>
            </a:r>
          </a:p>
          <a:p>
            <a:pPr marL="354013" indent="-354013">
              <a:lnSpc>
                <a:spcPct val="110000"/>
              </a:lnSpc>
              <a:spcBef>
                <a:spcPts val="2400"/>
              </a:spcBef>
            </a:pPr>
            <a:r>
              <a:rPr lang="en-US" sz="2400" dirty="0">
                <a:solidFill>
                  <a:srgbClr val="FF0000"/>
                </a:solidFill>
                <a:latin typeface="Arial" panose="020B0604020202020204" pitchFamily="34" charset="0"/>
                <a:cs typeface="Arial" panose="020B0604020202020204" pitchFamily="34" charset="0"/>
              </a:rPr>
              <a:t>Unstructured: </a:t>
            </a:r>
            <a:r>
              <a:rPr lang="en-US" sz="2400" dirty="0">
                <a:latin typeface="Arial" panose="020B0604020202020204" pitchFamily="34" charset="0"/>
                <a:cs typeface="Arial" panose="020B0604020202020204" pitchFamily="34" charset="0"/>
              </a:rPr>
              <a:t>Any data with unknown form or the structure is classified as unstructured data. </a:t>
            </a:r>
          </a:p>
          <a:p>
            <a:pPr marL="354013" indent="-354013">
              <a:lnSpc>
                <a:spcPct val="110000"/>
              </a:lnSpc>
              <a:spcBef>
                <a:spcPts val="2400"/>
              </a:spcBef>
            </a:pPr>
            <a:r>
              <a:rPr lang="en-US" sz="2400" dirty="0">
                <a:solidFill>
                  <a:srgbClr val="FF0000"/>
                </a:solidFill>
                <a:latin typeface="Arial" panose="020B0604020202020204" pitchFamily="34" charset="0"/>
                <a:cs typeface="Arial" panose="020B0604020202020204" pitchFamily="34" charset="0"/>
              </a:rPr>
              <a:t>Semi-structured:</a:t>
            </a:r>
            <a:r>
              <a:rPr lang="en-US" sz="2400" dirty="0">
                <a:latin typeface="Arial" panose="020B0604020202020204" pitchFamily="34" charset="0"/>
                <a:cs typeface="Arial" panose="020B0604020202020204" pitchFamily="34" charset="0"/>
              </a:rPr>
              <a:t> Semi-structured data can contain both the forms of data. We can see semi-structured data as a structured in form but it is actually not defined like DBMS. Example of semi-structured data is a data represented in an XML file.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3719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Characteristics Of Big 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354013" indent="-354013">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Volume</a:t>
            </a:r>
            <a:r>
              <a:rPr lang="en-US" sz="2400" dirty="0">
                <a:latin typeface="Arial" panose="020B0604020202020204" pitchFamily="34" charset="0"/>
                <a:cs typeface="Arial" panose="020B0604020202020204" pitchFamily="34" charset="0"/>
              </a:rPr>
              <a:t> – The name Big Data itself is related to a size which is enormous. Size of data plays a very crucial role in determining value out of data.</a:t>
            </a:r>
          </a:p>
          <a:p>
            <a:pPr marL="354013" indent="-354013">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Variety</a:t>
            </a:r>
            <a:r>
              <a:rPr lang="en-US" sz="2400" dirty="0">
                <a:latin typeface="Arial" panose="020B0604020202020204" pitchFamily="34" charset="0"/>
                <a:cs typeface="Arial" panose="020B0604020202020204" pitchFamily="34" charset="0"/>
              </a:rPr>
              <a:t> –  Variety refers to heterogeneous sources and the nature of data, both structured and unstructured.</a:t>
            </a:r>
          </a:p>
          <a:p>
            <a:pPr marL="354013" indent="-354013">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Velocity</a:t>
            </a:r>
            <a:r>
              <a:rPr lang="en-US" sz="2400" dirty="0">
                <a:latin typeface="Arial" panose="020B0604020202020204" pitchFamily="34" charset="0"/>
                <a:cs typeface="Arial" panose="020B0604020202020204" pitchFamily="34" charset="0"/>
              </a:rPr>
              <a:t> – The term ‘velocity’ refers to the speed of generation of data.</a:t>
            </a:r>
          </a:p>
          <a:p>
            <a:pPr marL="354013" indent="-354013">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Variability </a:t>
            </a:r>
            <a:r>
              <a:rPr lang="en-US" sz="2400" dirty="0">
                <a:latin typeface="Arial" panose="020B0604020202020204" pitchFamily="34" charset="0"/>
                <a:cs typeface="Arial" panose="020B0604020202020204" pitchFamily="34" charset="0"/>
              </a:rPr>
              <a:t>– This refers to the inconsistency which can be shown by the data at times, thus hampering the process of being able to handle and manage the data effectively.</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7965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How to deal with Bigdata</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355600" indent="-3556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Storage:</a:t>
            </a:r>
            <a:r>
              <a:rPr lang="en-US" sz="2400" dirty="0">
                <a:latin typeface="Arial" panose="020B0604020202020204" pitchFamily="34" charset="0"/>
                <a:cs typeface="Arial" panose="020B0604020202020204" pitchFamily="34" charset="0"/>
              </a:rPr>
              <a:t> This huge amount of data, Hadoop uses HDFS (Hadoop Distributed File System) which uses commodity hardware to form clusters and store data in a distributed fashion. It works on Write once, read many times principle.</a:t>
            </a:r>
          </a:p>
          <a:p>
            <a:pPr marL="355600" indent="-3556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Processing:</a:t>
            </a:r>
            <a:r>
              <a:rPr lang="en-US" sz="2400" dirty="0">
                <a:latin typeface="Arial" panose="020B0604020202020204" pitchFamily="34" charset="0"/>
                <a:cs typeface="Arial" panose="020B0604020202020204" pitchFamily="34" charset="0"/>
              </a:rPr>
              <a:t> Map Reduce paradigm is applied to data distributed over network to find the required output.</a:t>
            </a:r>
          </a:p>
          <a:p>
            <a:pPr marL="355600" indent="-3556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Analyze: </a:t>
            </a:r>
            <a:r>
              <a:rPr lang="en-US" sz="2400" dirty="0">
                <a:latin typeface="Arial" panose="020B0604020202020204" pitchFamily="34" charset="0"/>
                <a:cs typeface="Arial" panose="020B0604020202020204" pitchFamily="34" charset="0"/>
              </a:rPr>
              <a:t>Pig, Hive can be used to analyze the data.</a:t>
            </a:r>
          </a:p>
          <a:p>
            <a:pPr marL="355600" indent="-355600">
              <a:lnSpc>
                <a:spcPct val="120000"/>
              </a:lnSpc>
              <a:spcBef>
                <a:spcPts val="2400"/>
              </a:spcBef>
              <a:spcAft>
                <a:spcPts val="600"/>
              </a:spcAft>
            </a:pPr>
            <a:r>
              <a:rPr lang="en-US" sz="2400" dirty="0">
                <a:solidFill>
                  <a:srgbClr val="FF0000"/>
                </a:solidFill>
                <a:latin typeface="Arial" panose="020B0604020202020204" pitchFamily="34" charset="0"/>
                <a:cs typeface="Arial" panose="020B0604020202020204" pitchFamily="34" charset="0"/>
              </a:rPr>
              <a:t>Cost: </a:t>
            </a:r>
            <a:r>
              <a:rPr lang="en-US" sz="2400" dirty="0">
                <a:latin typeface="Arial" panose="020B0604020202020204" pitchFamily="34" charset="0"/>
                <a:cs typeface="Arial" panose="020B0604020202020204" pitchFamily="34" charset="0"/>
              </a:rPr>
              <a:t>Hadoop is open source so the cost is no more an issue.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9657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Understanding Big Data Stack</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There are many Big Data Solution stacks.</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The</a:t>
            </a:r>
            <a:r>
              <a:rPr lang="en-US" sz="2400" dirty="0">
                <a:solidFill>
                  <a:srgbClr val="FF0000"/>
                </a:solidFill>
                <a:latin typeface="Arial" panose="020B0604020202020204" pitchFamily="34" charset="0"/>
                <a:cs typeface="Arial" panose="020B0604020202020204" pitchFamily="34" charset="0"/>
              </a:rPr>
              <a:t> first </a:t>
            </a:r>
            <a:r>
              <a:rPr lang="en-US" sz="2400" dirty="0">
                <a:latin typeface="Arial" panose="020B0604020202020204" pitchFamily="34" charset="0"/>
                <a:cs typeface="Arial" panose="020B0604020202020204" pitchFamily="34" charset="0"/>
              </a:rPr>
              <a:t>and most powerful stack is </a:t>
            </a:r>
            <a:r>
              <a:rPr lang="en-US" sz="2400" dirty="0">
                <a:solidFill>
                  <a:srgbClr val="FF0000"/>
                </a:solidFill>
                <a:latin typeface="Arial" panose="020B0604020202020204" pitchFamily="34" charset="0"/>
                <a:cs typeface="Arial" panose="020B0604020202020204" pitchFamily="34" charset="0"/>
              </a:rPr>
              <a:t>Apache Hadoop and Spark </a:t>
            </a:r>
            <a:r>
              <a:rPr lang="en-US" sz="2400" dirty="0">
                <a:latin typeface="Arial" panose="020B0604020202020204" pitchFamily="34" charset="0"/>
                <a:cs typeface="Arial" panose="020B0604020202020204" pitchFamily="34" charset="0"/>
              </a:rPr>
              <a:t>together. While Hadoop provides storage for structured and unstructured data, Spark provides the computational capability on top of Hadoop.</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The </a:t>
            </a:r>
            <a:r>
              <a:rPr lang="en-US" sz="2400" dirty="0">
                <a:solidFill>
                  <a:srgbClr val="00B050"/>
                </a:solidFill>
                <a:latin typeface="Arial" panose="020B0604020202020204" pitchFamily="34" charset="0"/>
                <a:cs typeface="Arial" panose="020B0604020202020204" pitchFamily="34" charset="0"/>
              </a:rPr>
              <a:t>second</a:t>
            </a:r>
            <a:r>
              <a:rPr lang="en-US" sz="2400" dirty="0">
                <a:latin typeface="Arial" panose="020B0604020202020204" pitchFamily="34" charset="0"/>
                <a:cs typeface="Arial" panose="020B0604020202020204" pitchFamily="34" charset="0"/>
              </a:rPr>
              <a:t> way could be to </a:t>
            </a:r>
            <a:r>
              <a:rPr lang="en-US" sz="2400" dirty="0">
                <a:solidFill>
                  <a:srgbClr val="00B050"/>
                </a:solidFill>
                <a:latin typeface="Arial" panose="020B0604020202020204" pitchFamily="34" charset="0"/>
                <a:cs typeface="Arial" panose="020B0604020202020204" pitchFamily="34" charset="0"/>
              </a:rPr>
              <a:t>use Cassandra or MongoDB</a:t>
            </a:r>
            <a:r>
              <a:rPr lang="en-US" sz="2400" dirty="0">
                <a:latin typeface="Arial" panose="020B0604020202020204" pitchFamily="34" charset="0"/>
                <a:cs typeface="Arial" panose="020B0604020202020204" pitchFamily="34" charset="0"/>
              </a:rPr>
              <a:t>.</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The </a:t>
            </a:r>
            <a:r>
              <a:rPr lang="en-US" sz="2400" dirty="0">
                <a:solidFill>
                  <a:srgbClr val="0070C0"/>
                </a:solidFill>
                <a:latin typeface="Arial" panose="020B0604020202020204" pitchFamily="34" charset="0"/>
                <a:cs typeface="Arial" panose="020B0604020202020204" pitchFamily="34" charset="0"/>
              </a:rPr>
              <a:t>third</a:t>
            </a:r>
            <a:r>
              <a:rPr lang="en-US" sz="2400" dirty="0">
                <a:latin typeface="Arial" panose="020B0604020202020204" pitchFamily="34" charset="0"/>
                <a:cs typeface="Arial" panose="020B0604020202020204" pitchFamily="34" charset="0"/>
              </a:rPr>
              <a:t> could be to use </a:t>
            </a:r>
            <a:r>
              <a:rPr lang="en-US" sz="2400" dirty="0">
                <a:solidFill>
                  <a:srgbClr val="0070C0"/>
                </a:solidFill>
                <a:latin typeface="Arial" panose="020B0604020202020204" pitchFamily="34" charset="0"/>
                <a:cs typeface="Arial" panose="020B0604020202020204" pitchFamily="34" charset="0"/>
              </a:rPr>
              <a:t>Google Compute Engine or Microsoft Azure</a:t>
            </a:r>
            <a:r>
              <a:rPr lang="en-US" sz="2400" dirty="0">
                <a:latin typeface="Arial" panose="020B0604020202020204" pitchFamily="34" charset="0"/>
                <a:cs typeface="Arial" panose="020B0604020202020204" pitchFamily="34" charset="0"/>
              </a:rPr>
              <a:t>. In such cases, you would have to upload your data to Google or Microsoft which may not be acceptable to your organization sometimes.</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1956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What is Hadoop?</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355600" indent="-355600">
              <a:lnSpc>
                <a:spcPct val="120000"/>
              </a:lnSpc>
              <a:spcBef>
                <a:spcPts val="1800"/>
              </a:spcBef>
            </a:pPr>
            <a:r>
              <a:rPr lang="en-US" sz="2200" dirty="0">
                <a:latin typeface="Arial" panose="020B0604020202020204" pitchFamily="34" charset="0"/>
                <a:cs typeface="Arial" panose="020B0604020202020204" pitchFamily="34" charset="0"/>
              </a:rPr>
              <a:t>Hadoop was created by Doug Cutting in order to build his search engine called </a:t>
            </a:r>
            <a:r>
              <a:rPr lang="en-US" sz="2200" dirty="0" err="1">
                <a:latin typeface="Arial" panose="020B0604020202020204" pitchFamily="34" charset="0"/>
                <a:cs typeface="Arial" panose="020B0604020202020204" pitchFamily="34" charset="0"/>
              </a:rPr>
              <a:t>Nutch</a:t>
            </a:r>
            <a:r>
              <a:rPr lang="en-US" sz="2200" dirty="0">
                <a:latin typeface="Arial" panose="020B0604020202020204" pitchFamily="34" charset="0"/>
                <a:cs typeface="Arial" panose="020B0604020202020204" pitchFamily="34" charset="0"/>
              </a:rPr>
              <a:t>. He was joined by Mike </a:t>
            </a:r>
            <a:r>
              <a:rPr lang="en-US" sz="2200" dirty="0" err="1">
                <a:latin typeface="Arial" panose="020B0604020202020204" pitchFamily="34" charset="0"/>
                <a:cs typeface="Arial" panose="020B0604020202020204" pitchFamily="34" charset="0"/>
              </a:rPr>
              <a:t>Cafarella</a:t>
            </a:r>
            <a:r>
              <a:rPr lang="en-US" sz="2200" dirty="0">
                <a:latin typeface="Arial" panose="020B0604020202020204" pitchFamily="34" charset="0"/>
                <a:cs typeface="Arial" panose="020B0604020202020204" pitchFamily="34" charset="0"/>
              </a:rPr>
              <a:t>. </a:t>
            </a:r>
          </a:p>
          <a:p>
            <a:pPr marL="355600" indent="-355600">
              <a:lnSpc>
                <a:spcPct val="120000"/>
              </a:lnSpc>
              <a:spcBef>
                <a:spcPts val="1800"/>
              </a:spcBef>
            </a:pPr>
            <a:r>
              <a:rPr lang="en-US" sz="2200" dirty="0">
                <a:latin typeface="Arial" panose="020B0604020202020204" pitchFamily="34" charset="0"/>
                <a:cs typeface="Arial" panose="020B0604020202020204" pitchFamily="34" charset="0"/>
              </a:rPr>
              <a:t>Hadoop was based on the three papers published by Google: Google File System, Google MapReduce, and Google Big Table. It is named after the toy elephant of Doug Cutting’s son.</a:t>
            </a:r>
            <a:endParaRPr lang="en-IN" sz="22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pic>
        <p:nvPicPr>
          <p:cNvPr id="1026" name="Picture 2" descr="History of Hadoop">
            <a:extLst>
              <a:ext uri="{FF2B5EF4-FFF2-40B4-BE49-F238E27FC236}">
                <a16:creationId xmlns:a16="http://schemas.microsoft.com/office/drawing/2014/main" id="{9B03C80B-AE4B-02E2-CCE5-69586F03C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9297" y="4293936"/>
            <a:ext cx="6653406" cy="2062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4856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Characteristics</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1. </a:t>
            </a:r>
            <a:r>
              <a:rPr lang="en-US" sz="2400" dirty="0">
                <a:solidFill>
                  <a:srgbClr val="FF0000"/>
                </a:solidFill>
                <a:latin typeface="Arial" panose="020B0604020202020204" pitchFamily="34" charset="0"/>
                <a:cs typeface="Arial" panose="020B0604020202020204" pitchFamily="34" charset="0"/>
              </a:rPr>
              <a:t>Distributed</a:t>
            </a:r>
            <a:r>
              <a:rPr lang="en-US" sz="2400" dirty="0">
                <a:latin typeface="Arial" panose="020B0604020202020204" pitchFamily="34" charset="0"/>
                <a:cs typeface="Arial" panose="020B0604020202020204" pitchFamily="34" charset="0"/>
              </a:rPr>
              <a:t> – They should be able to utilize multiple machines in order to solve a problem.</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2. </a:t>
            </a:r>
            <a:r>
              <a:rPr lang="en-US" sz="2400" dirty="0">
                <a:solidFill>
                  <a:srgbClr val="FF0000"/>
                </a:solidFill>
                <a:latin typeface="Arial" panose="020B0604020202020204" pitchFamily="34" charset="0"/>
                <a:cs typeface="Arial" panose="020B0604020202020204" pitchFamily="34" charset="0"/>
              </a:rPr>
              <a:t>Scalable</a:t>
            </a:r>
            <a:r>
              <a:rPr lang="en-US" sz="2400" dirty="0">
                <a:latin typeface="Arial" panose="020B0604020202020204" pitchFamily="34" charset="0"/>
                <a:cs typeface="Arial" panose="020B0604020202020204" pitchFamily="34" charset="0"/>
              </a:rPr>
              <a:t> – If needed it should be very easy to add more machines.</a:t>
            </a:r>
          </a:p>
          <a:p>
            <a:pPr marL="0" indent="0">
              <a:lnSpc>
                <a:spcPct val="120000"/>
              </a:lnSpc>
              <a:spcBef>
                <a:spcPts val="2400"/>
              </a:spcBef>
              <a:spcAft>
                <a:spcPts val="600"/>
              </a:spcAft>
              <a:buNone/>
            </a:pPr>
            <a:r>
              <a:rPr lang="en-US" sz="2400" dirty="0">
                <a:latin typeface="Arial" panose="020B0604020202020204" pitchFamily="34" charset="0"/>
                <a:cs typeface="Arial" panose="020B0604020202020204" pitchFamily="34" charset="0"/>
              </a:rPr>
              <a:t>3. </a:t>
            </a:r>
            <a:r>
              <a:rPr lang="en-US" sz="2400" dirty="0">
                <a:solidFill>
                  <a:srgbClr val="FF0000"/>
                </a:solidFill>
                <a:latin typeface="Arial" panose="020B0604020202020204" pitchFamily="34" charset="0"/>
                <a:cs typeface="Arial" panose="020B0604020202020204" pitchFamily="34" charset="0"/>
              </a:rPr>
              <a:t>Reliable</a:t>
            </a:r>
            <a:r>
              <a:rPr lang="en-US" sz="2400" dirty="0">
                <a:latin typeface="Arial" panose="020B0604020202020204" pitchFamily="34" charset="0"/>
                <a:cs typeface="Arial" panose="020B0604020202020204" pitchFamily="34" charset="0"/>
              </a:rPr>
              <a:t> – If some of the machines fail, they should still work fine. These are the three criteria for all the projects or components under Apache Hadoop.</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9213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pic>
        <p:nvPicPr>
          <p:cNvPr id="2052" name="Picture 4" descr="Components involved in Hadoop Ecosystem">
            <a:extLst>
              <a:ext uri="{FF2B5EF4-FFF2-40B4-BE49-F238E27FC236}">
                <a16:creationId xmlns:a16="http://schemas.microsoft.com/office/drawing/2014/main" id="{3347CB65-1D02-B77F-929D-A30CB1A885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1091" y="1494670"/>
            <a:ext cx="7349818" cy="4693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7306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HDFS</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HDFS or Hadoop Distributed File System is the most important component because the entire eco-system depends upon it. It is based on Google File System.</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It is basically a file system that runs on many computers to </a:t>
            </a:r>
            <a:r>
              <a:rPr lang="en-US" sz="2400" dirty="0">
                <a:solidFill>
                  <a:srgbClr val="00B050"/>
                </a:solidFill>
                <a:latin typeface="Arial" panose="020B0604020202020204" pitchFamily="34" charset="0"/>
                <a:cs typeface="Arial" panose="020B0604020202020204" pitchFamily="34" charset="0"/>
              </a:rPr>
              <a:t>provide huge storage</a:t>
            </a:r>
            <a:r>
              <a:rPr lang="en-US" sz="2400" dirty="0">
                <a:latin typeface="Arial" panose="020B0604020202020204" pitchFamily="34" charset="0"/>
                <a:cs typeface="Arial" panose="020B0604020202020204" pitchFamily="34" charset="0"/>
              </a:rPr>
              <a:t>. If you want to store petabytes of data in the form of files, you can use HDFS.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6308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YARN</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YARN or yet another resource negotiator </a:t>
            </a:r>
            <a:r>
              <a:rPr lang="en-US" sz="2400" dirty="0">
                <a:solidFill>
                  <a:srgbClr val="00B050"/>
                </a:solidFill>
                <a:latin typeface="Arial" panose="020B0604020202020204" pitchFamily="34" charset="0"/>
                <a:cs typeface="Arial" panose="020B0604020202020204" pitchFamily="34" charset="0"/>
              </a:rPr>
              <a:t>keeps track of all the resources (CPU, Memory) of machines in the network</a:t>
            </a:r>
            <a:r>
              <a:rPr lang="en-US" sz="2400" dirty="0">
                <a:latin typeface="Arial" panose="020B0604020202020204" pitchFamily="34" charset="0"/>
                <a:cs typeface="Arial" panose="020B0604020202020204" pitchFamily="34" charset="0"/>
              </a:rPr>
              <a:t> and run the applications. Any application which wants to run in distributed fashion would interact with YARN.</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HBase</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HBase </a:t>
            </a:r>
            <a:r>
              <a:rPr lang="en-US" sz="2400" dirty="0">
                <a:solidFill>
                  <a:srgbClr val="00B050"/>
                </a:solidFill>
                <a:latin typeface="Arial" panose="020B0604020202020204" pitchFamily="34" charset="0"/>
                <a:cs typeface="Arial" panose="020B0604020202020204" pitchFamily="34" charset="0"/>
              </a:rPr>
              <a:t>provides huge storage in the form of a database table</a:t>
            </a:r>
            <a:r>
              <a:rPr lang="en-US" sz="2400" dirty="0">
                <a:latin typeface="Arial" panose="020B0604020202020204" pitchFamily="34" charset="0"/>
                <a:cs typeface="Arial" panose="020B0604020202020204" pitchFamily="34" charset="0"/>
              </a:rPr>
              <a:t>. So, to manage humongous records, you would like to use HBase.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737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MapReduce</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MapReduce is </a:t>
            </a:r>
            <a:r>
              <a:rPr lang="en-US" sz="2400" dirty="0">
                <a:solidFill>
                  <a:srgbClr val="00B050"/>
                </a:solidFill>
                <a:latin typeface="Arial" panose="020B0604020202020204" pitchFamily="34" charset="0"/>
                <a:cs typeface="Arial" panose="020B0604020202020204" pitchFamily="34" charset="0"/>
              </a:rPr>
              <a:t>a framework for distributed computing</a:t>
            </a:r>
            <a:r>
              <a:rPr lang="en-US" sz="2400" dirty="0">
                <a:latin typeface="Arial" panose="020B0604020202020204" pitchFamily="34" charset="0"/>
                <a:cs typeface="Arial" panose="020B0604020202020204" pitchFamily="34" charset="0"/>
              </a:rPr>
              <a:t>. It utilizes YARN to execute programs and has a very good sorting engine.</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You write your programs in two parts Map and reduce. The map part transforms the raw data into key-value and reduce part groups and combines data based on the key. We will learn MapReduce in details later.</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2964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Spark</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Spark is another c</a:t>
            </a:r>
            <a:r>
              <a:rPr lang="en-US" sz="2400" dirty="0">
                <a:solidFill>
                  <a:srgbClr val="00B050"/>
                </a:solidFill>
                <a:latin typeface="Arial" panose="020B0604020202020204" pitchFamily="34" charset="0"/>
                <a:cs typeface="Arial" panose="020B0604020202020204" pitchFamily="34" charset="0"/>
              </a:rPr>
              <a:t>omputational framework similar to MapReduce but faster and more recent</a:t>
            </a:r>
            <a:r>
              <a:rPr lang="en-US" sz="2400" dirty="0">
                <a:latin typeface="Arial" panose="020B0604020202020204" pitchFamily="34" charset="0"/>
                <a:cs typeface="Arial" panose="020B0604020202020204" pitchFamily="34" charset="0"/>
              </a:rPr>
              <a:t>. It uses similar constructs as MapReduce to solve big data problems. Spark has its own huge stack. </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Hive</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Writing code in MapReduce is very time-consuming. So, Apache Hive makes it </a:t>
            </a:r>
            <a:r>
              <a:rPr lang="en-US" sz="2400" dirty="0">
                <a:solidFill>
                  <a:srgbClr val="00B050"/>
                </a:solidFill>
                <a:latin typeface="Arial" panose="020B0604020202020204" pitchFamily="34" charset="0"/>
                <a:cs typeface="Arial" panose="020B0604020202020204" pitchFamily="34" charset="0"/>
              </a:rPr>
              <a:t>possible to write your logic in SQL </a:t>
            </a:r>
            <a:r>
              <a:rPr lang="en-US" sz="2400" dirty="0">
                <a:latin typeface="Arial" panose="020B0604020202020204" pitchFamily="34" charset="0"/>
                <a:cs typeface="Arial" panose="020B0604020202020204" pitchFamily="34" charset="0"/>
              </a:rPr>
              <a:t>which internally converts it into MapReduce. </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0391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lnSpcReduction="10000"/>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Pig (Latin)</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Pig Latin is a simplified SQL like </a:t>
            </a:r>
            <a:r>
              <a:rPr lang="en-US" sz="2400" dirty="0">
                <a:solidFill>
                  <a:srgbClr val="00B050"/>
                </a:solidFill>
                <a:latin typeface="Arial" panose="020B0604020202020204" pitchFamily="34" charset="0"/>
                <a:cs typeface="Arial" panose="020B0604020202020204" pitchFamily="34" charset="0"/>
              </a:rPr>
              <a:t>language to express your ETL </a:t>
            </a:r>
            <a:r>
              <a:rPr lang="en-US" sz="2400" dirty="0">
                <a:latin typeface="Arial" panose="020B0604020202020204" pitchFamily="34" charset="0"/>
                <a:cs typeface="Arial" panose="020B0604020202020204" pitchFamily="34" charset="0"/>
              </a:rPr>
              <a:t>(Extract, Transform, Load) needs in stepwise fashion. Pig is the engine that translates Pig Latin into Map Reduce and executes it on Hadoop.</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Mahout</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Mahout is </a:t>
            </a:r>
            <a:r>
              <a:rPr lang="en-US" sz="2400" dirty="0">
                <a:solidFill>
                  <a:srgbClr val="00B050"/>
                </a:solidFill>
                <a:latin typeface="Arial" panose="020B0604020202020204" pitchFamily="34" charset="0"/>
                <a:cs typeface="Arial" panose="020B0604020202020204" pitchFamily="34" charset="0"/>
              </a:rPr>
              <a:t>a library of machine learning algorithms </a:t>
            </a:r>
            <a:r>
              <a:rPr lang="en-US" sz="2400" dirty="0">
                <a:latin typeface="Arial" panose="020B0604020202020204" pitchFamily="34" charset="0"/>
                <a:cs typeface="Arial" panose="020B0604020202020204" pitchFamily="34" charset="0"/>
              </a:rPr>
              <a:t>that run in a distributed fashion. mahout breaks down work such that it gets executed on MapReduce running on many machines.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7190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Apache </a:t>
            </a:r>
            <a:r>
              <a:rPr lang="en-US" sz="2400" dirty="0" err="1">
                <a:solidFill>
                  <a:srgbClr val="FF0000"/>
                </a:solidFill>
                <a:latin typeface="Arial" panose="020B0604020202020204" pitchFamily="34" charset="0"/>
                <a:cs typeface="Arial" panose="020B0604020202020204" pitchFamily="34" charset="0"/>
              </a:rPr>
              <a:t>ZooKeeper</a:t>
            </a:r>
            <a:endParaRPr lang="en-US" sz="2400" dirty="0">
              <a:solidFill>
                <a:srgbClr val="FF0000"/>
              </a:solidFill>
              <a:latin typeface="Arial" panose="020B0604020202020204" pitchFamily="34" charset="0"/>
              <a:cs typeface="Arial" panose="020B0604020202020204" pitchFamily="34" charset="0"/>
            </a:endParaRP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Apache Zookeeper is an independent component which is used by various distributed frameworks such as HDFS, HBase, Kafka, YARN. </a:t>
            </a:r>
          </a:p>
          <a:p>
            <a:pPr marL="354013" indent="-354013">
              <a:lnSpc>
                <a:spcPct val="120000"/>
              </a:lnSpc>
              <a:spcBef>
                <a:spcPts val="2400"/>
              </a:spcBef>
              <a:spcAft>
                <a:spcPts val="600"/>
              </a:spcAft>
            </a:pPr>
            <a:r>
              <a:rPr lang="en-US" sz="2400" dirty="0">
                <a:solidFill>
                  <a:srgbClr val="00B050"/>
                </a:solidFill>
                <a:latin typeface="Arial" panose="020B0604020202020204" pitchFamily="34" charset="0"/>
                <a:cs typeface="Arial" panose="020B0604020202020204" pitchFamily="34" charset="0"/>
              </a:rPr>
              <a:t>It is used for the coordination between various components</a:t>
            </a:r>
            <a:r>
              <a:rPr lang="en-US" sz="2400" dirty="0">
                <a:latin typeface="Arial" panose="020B0604020202020204" pitchFamily="34" charset="0"/>
                <a:cs typeface="Arial" panose="020B0604020202020204" pitchFamily="34" charset="0"/>
              </a:rPr>
              <a:t>. It provides a distributed configuration service, synchronization service, and naming registry for large distributed systems.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1444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Flume (Data aggregator)</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Flume makes it possible to </a:t>
            </a:r>
            <a:r>
              <a:rPr lang="en-US" sz="2400" dirty="0">
                <a:solidFill>
                  <a:srgbClr val="00B050"/>
                </a:solidFill>
                <a:latin typeface="Arial" panose="020B0604020202020204" pitchFamily="34" charset="0"/>
                <a:cs typeface="Arial" panose="020B0604020202020204" pitchFamily="34" charset="0"/>
              </a:rPr>
              <a:t>continuously pump the unstructured data from many sources to a central source </a:t>
            </a:r>
            <a:r>
              <a:rPr lang="en-US" sz="2400" dirty="0">
                <a:latin typeface="Arial" panose="020B0604020202020204" pitchFamily="34" charset="0"/>
                <a:cs typeface="Arial" panose="020B0604020202020204" pitchFamily="34" charset="0"/>
              </a:rPr>
              <a:t>such as HDFS. </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If you have many machines continuously generating data such as Webserver Logs, you can use flume to aggregate data at a central place such as HDFS.</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6848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Components of the Hadoop ecosystem</a:t>
            </a:r>
            <a:endParaRPr lang="en-IN" sz="3200" b="1" u="sng" dirty="0">
              <a:solidFill>
                <a:srgbClr val="0070C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486275"/>
          </a:xfrm>
        </p:spPr>
        <p:txBody>
          <a:bodyPr>
            <a:normAutofit fontScale="92500"/>
          </a:bodyPr>
          <a:lstStyle/>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SQOOP</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Sqoop is used to </a:t>
            </a:r>
            <a:r>
              <a:rPr lang="en-US" sz="2400" dirty="0">
                <a:solidFill>
                  <a:srgbClr val="00B050"/>
                </a:solidFill>
                <a:latin typeface="Arial" panose="020B0604020202020204" pitchFamily="34" charset="0"/>
                <a:cs typeface="Arial" panose="020B0604020202020204" pitchFamily="34" charset="0"/>
              </a:rPr>
              <a:t>transport data between Hadoop and SQL Databases</a:t>
            </a:r>
            <a:r>
              <a:rPr lang="en-US" sz="2400" dirty="0">
                <a:latin typeface="Arial" panose="020B0604020202020204" pitchFamily="34" charset="0"/>
                <a:cs typeface="Arial" panose="020B0604020202020204" pitchFamily="34" charset="0"/>
              </a:rPr>
              <a:t>. Sqoop utilizes MapReduce to efficiently transport data using many machines in a network.</a:t>
            </a:r>
          </a:p>
          <a:p>
            <a:pPr marL="0" indent="0">
              <a:lnSpc>
                <a:spcPct val="120000"/>
              </a:lnSpc>
              <a:spcBef>
                <a:spcPts val="2400"/>
              </a:spcBef>
              <a:spcAft>
                <a:spcPts val="600"/>
              </a:spcAft>
              <a:buNone/>
            </a:pPr>
            <a:r>
              <a:rPr lang="en-US" sz="2400" dirty="0">
                <a:solidFill>
                  <a:srgbClr val="FF0000"/>
                </a:solidFill>
                <a:latin typeface="Arial" panose="020B0604020202020204" pitchFamily="34" charset="0"/>
                <a:cs typeface="Arial" panose="020B0604020202020204" pitchFamily="34" charset="0"/>
              </a:rPr>
              <a:t>Oozie (Workflow </a:t>
            </a:r>
            <a:r>
              <a:rPr lang="en-US" sz="2400" dirty="0" err="1">
                <a:solidFill>
                  <a:srgbClr val="FF0000"/>
                </a:solidFill>
                <a:latin typeface="Arial" panose="020B0604020202020204" pitchFamily="34" charset="0"/>
                <a:cs typeface="Arial" panose="020B0604020202020204" pitchFamily="34" charset="0"/>
              </a:rPr>
              <a:t>managment</a:t>
            </a:r>
            <a:r>
              <a:rPr lang="en-US" sz="2400" dirty="0">
                <a:solidFill>
                  <a:srgbClr val="FF0000"/>
                </a:solidFill>
                <a:latin typeface="Arial" panose="020B0604020202020204" pitchFamily="34" charset="0"/>
                <a:cs typeface="Arial" panose="020B0604020202020204" pitchFamily="34" charset="0"/>
              </a:rPr>
              <a:t>)</a:t>
            </a:r>
          </a:p>
          <a:p>
            <a:pPr marL="354013" indent="-354013">
              <a:lnSpc>
                <a:spcPct val="120000"/>
              </a:lnSpc>
              <a:spcBef>
                <a:spcPts val="2400"/>
              </a:spcBef>
              <a:spcAft>
                <a:spcPts val="600"/>
              </a:spcAft>
            </a:pPr>
            <a:r>
              <a:rPr lang="en-US" sz="2400" dirty="0">
                <a:latin typeface="Arial" panose="020B0604020202020204" pitchFamily="34" charset="0"/>
                <a:cs typeface="Arial" panose="020B0604020202020204" pitchFamily="34" charset="0"/>
              </a:rPr>
              <a:t>A typical project might involve importing data from SQL Server, running some Hive Queries, doing predictions with Mahout, Saving data back to an SQL Server. This kind of workflow can be easily accomplished with Oozie.</a:t>
            </a:r>
          </a:p>
        </p:txBody>
      </p:sp>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79935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NoSQL way to deal with Big Data</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10000"/>
              </a:lnSpc>
              <a:spcBef>
                <a:spcPts val="0"/>
              </a:spcBef>
              <a:spcAft>
                <a:spcPts val="1800"/>
              </a:spcAft>
              <a:buNone/>
            </a:pPr>
            <a:r>
              <a:rPr lang="en-US" sz="2400" dirty="0">
                <a:latin typeface="Arial" panose="020B0604020202020204" pitchFamily="34" charset="0"/>
                <a:cs typeface="Arial" panose="020B0604020202020204" pitchFamily="34" charset="0"/>
              </a:rPr>
              <a:t>When we say “big data”, many think of the Hadoop technology stack. Is this the big data stack? Well, not anymore. Here are big data initiatives based on other technologies:</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NoSQL databases </a:t>
            </a:r>
            <a:r>
              <a:rPr lang="en-US" sz="2400" dirty="0">
                <a:latin typeface="Arial" panose="020B0604020202020204" pitchFamily="34" charset="0"/>
                <a:cs typeface="Arial" panose="020B0604020202020204" pitchFamily="34" charset="0"/>
              </a:rPr>
              <a:t>like MongoDB, PostgreSQL and Cassandra running huge volumes of data.</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Cloud-based data warehouses </a:t>
            </a:r>
            <a:r>
              <a:rPr lang="en-US" sz="2400" dirty="0">
                <a:latin typeface="Arial" panose="020B0604020202020204" pitchFamily="34" charset="0"/>
                <a:cs typeface="Arial" panose="020B0604020202020204" pitchFamily="34" charset="0"/>
              </a:rPr>
              <a:t>which can hold petabyte-scale data with blazing fast performance.</a:t>
            </a:r>
          </a:p>
          <a:p>
            <a:pPr marL="354013" indent="-354013">
              <a:lnSpc>
                <a:spcPct val="110000"/>
              </a:lnSpc>
              <a:spcBef>
                <a:spcPts val="0"/>
              </a:spcBef>
              <a:spcAft>
                <a:spcPts val="1800"/>
              </a:spcAft>
            </a:pPr>
            <a:r>
              <a:rPr lang="en-US" sz="2400" dirty="0">
                <a:latin typeface="Arial" panose="020B0604020202020204" pitchFamily="34" charset="0"/>
                <a:cs typeface="Arial" panose="020B0604020202020204" pitchFamily="34" charset="0"/>
              </a:rPr>
              <a:t>Even </a:t>
            </a:r>
            <a:r>
              <a:rPr lang="en-US" sz="2400" dirty="0">
                <a:solidFill>
                  <a:srgbClr val="FF0000"/>
                </a:solidFill>
                <a:latin typeface="Arial" panose="020B0604020202020204" pitchFamily="34" charset="0"/>
                <a:cs typeface="Arial" panose="020B0604020202020204" pitchFamily="34" charset="0"/>
              </a:rPr>
              <a:t>traditional databases </a:t>
            </a:r>
            <a:r>
              <a:rPr lang="en-US" sz="2400" dirty="0">
                <a:latin typeface="Arial" panose="020B0604020202020204" pitchFamily="34" charset="0"/>
                <a:cs typeface="Arial" panose="020B0604020202020204" pitchFamily="34" charset="0"/>
              </a:rPr>
              <a:t>store big data—for example, Facebook uses a sharded MySQL architecture to store over 10 petabytes of data.</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NoSQL - Big Data Technology Stack</a:t>
            </a: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pic>
        <p:nvPicPr>
          <p:cNvPr id="3074" name="Picture 2" descr="big data stack">
            <a:extLst>
              <a:ext uri="{FF2B5EF4-FFF2-40B4-BE49-F238E27FC236}">
                <a16:creationId xmlns:a16="http://schemas.microsoft.com/office/drawing/2014/main" id="{F986E482-7DA3-8D64-B3E8-6CBD1DDECE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552" y="1735457"/>
            <a:ext cx="6452896" cy="434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3534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Storage Systems</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Hadoop HDFS </a:t>
            </a:r>
            <a:r>
              <a:rPr lang="en-US" sz="2400" dirty="0">
                <a:latin typeface="Arial" panose="020B0604020202020204" pitchFamily="34" charset="0"/>
                <a:cs typeface="Arial" panose="020B0604020202020204" pitchFamily="34" charset="0"/>
              </a:rPr>
              <a:t>- the classic big data file system. It became popular due to its robustness and limitless scale on commodity hardware. However, it requires a specialized skillset and complex integration of a myriad open source components.</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Amazon S3 </a:t>
            </a:r>
            <a:r>
              <a:rPr lang="en-US" sz="2400" dirty="0">
                <a:latin typeface="Arial" panose="020B0604020202020204" pitchFamily="34" charset="0"/>
                <a:cs typeface="Arial" panose="020B0604020202020204" pitchFamily="34" charset="0"/>
              </a:rPr>
              <a:t>- create buckets and load data using a variety of integrations, with 99.99% guaranteed durability. S3 is simple, secure, and provides a quick and cheap solution for storing limitless amounts of big data.</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MongoDB </a:t>
            </a:r>
            <a:r>
              <a:rPr lang="en-US" sz="2400" dirty="0">
                <a:latin typeface="Arial" panose="020B0604020202020204" pitchFamily="34" charset="0"/>
                <a:cs typeface="Arial" panose="020B0604020202020204" pitchFamily="34" charset="0"/>
              </a:rPr>
              <a:t>- a open source document-based database, built to handle data at scale with proven performance. However, some have criticized its use as a first-class data storage system, due to its limited analytical capabilities and no support for transactional data.</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3436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Big Data Ingestion Tools</a:t>
            </a:r>
          </a:p>
        </p:txBody>
      </p:sp>
      <p:sp>
        <p:nvSpPr>
          <p:cNvPr id="3" name="Content Placeholder 2"/>
          <p:cNvSpPr>
            <a:spLocks noGrp="1"/>
          </p:cNvSpPr>
          <p:nvPr>
            <p:ph idx="1"/>
          </p:nvPr>
        </p:nvSpPr>
        <p:spPr>
          <a:xfrm>
            <a:off x="838200" y="1690688"/>
            <a:ext cx="10515600" cy="4486275"/>
          </a:xfrm>
        </p:spPr>
        <p:txBody>
          <a:bodyPr>
            <a:normAutofit fontScale="92500" lnSpcReduction="20000"/>
          </a:bodyPr>
          <a:lstStyle/>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Stitch</a:t>
            </a:r>
            <a:r>
              <a:rPr lang="en-US" sz="2400" dirty="0">
                <a:latin typeface="Arial" panose="020B0604020202020204" pitchFamily="34" charset="0"/>
                <a:cs typeface="Arial" panose="020B0604020202020204" pitchFamily="34" charset="0"/>
              </a:rPr>
              <a:t> - a lightweight ETL (Extract, Transform, Load) tool which pulls data from multiple pre-integrated data sources, transforms and cleans it as necessary. Stitch is easy to setup, seamless and integrates with dozens of data sources. However, it does not support data transformations.</a:t>
            </a:r>
          </a:p>
          <a:p>
            <a:pPr marL="354013" indent="-354013">
              <a:lnSpc>
                <a:spcPct val="110000"/>
              </a:lnSpc>
              <a:spcBef>
                <a:spcPts val="0"/>
              </a:spcBef>
              <a:spcAft>
                <a:spcPts val="1800"/>
              </a:spcAft>
            </a:pPr>
            <a:r>
              <a:rPr lang="en-US" sz="2400" dirty="0" err="1">
                <a:solidFill>
                  <a:srgbClr val="FF0000"/>
                </a:solidFill>
                <a:latin typeface="Arial" panose="020B0604020202020204" pitchFamily="34" charset="0"/>
                <a:cs typeface="Arial" panose="020B0604020202020204" pitchFamily="34" charset="0"/>
              </a:rPr>
              <a:t>Blendo</a:t>
            </a:r>
            <a:r>
              <a:rPr lang="en-US" sz="2400" dirty="0">
                <a:latin typeface="Arial" panose="020B0604020202020204" pitchFamily="34" charset="0"/>
                <a:cs typeface="Arial" panose="020B0604020202020204" pitchFamily="34" charset="0"/>
              </a:rPr>
              <a:t> - a cloud data integration tool that lets you connect data sources with a few clicks, and pipe them to Amazon Redshift, PostgreSQL, or MS SQL Server. </a:t>
            </a:r>
            <a:r>
              <a:rPr lang="en-US" sz="2400" dirty="0" err="1">
                <a:latin typeface="Arial" panose="020B0604020202020204" pitchFamily="34" charset="0"/>
                <a:cs typeface="Arial" panose="020B0604020202020204" pitchFamily="34" charset="0"/>
              </a:rPr>
              <a:t>Blendo</a:t>
            </a:r>
            <a:r>
              <a:rPr lang="en-US" sz="2400" dirty="0">
                <a:latin typeface="Arial" panose="020B0604020202020204" pitchFamily="34" charset="0"/>
                <a:cs typeface="Arial" panose="020B0604020202020204" pitchFamily="34" charset="0"/>
              </a:rPr>
              <a:t> provides schemas and optimization for email marketing, eCommerce and other big data use cases.</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Apache Kafka </a:t>
            </a:r>
            <a:r>
              <a:rPr lang="en-US" sz="2400" dirty="0">
                <a:latin typeface="Arial" panose="020B0604020202020204" pitchFamily="34" charset="0"/>
                <a:cs typeface="Arial" panose="020B0604020202020204" pitchFamily="34" charset="0"/>
              </a:rPr>
              <a:t>- an open source streaming messaging bus that can creates a feed from your data sources, partitions the data, and streams it to a passive listener. Apache Kafka is a mature and powerful solution used in production at huge scale. However it is complex to implement, and uses a messaging paradigm most data engineers are not familiar with.</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2988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Data Processing Tools</a:t>
            </a:r>
          </a:p>
        </p:txBody>
      </p:sp>
      <p:sp>
        <p:nvSpPr>
          <p:cNvPr id="3" name="Content Placeholder 2"/>
          <p:cNvSpPr>
            <a:spLocks noGrp="1"/>
          </p:cNvSpPr>
          <p:nvPr>
            <p:ph idx="1"/>
          </p:nvPr>
        </p:nvSpPr>
        <p:spPr>
          <a:xfrm>
            <a:off x="838200" y="1690688"/>
            <a:ext cx="10515600" cy="4486275"/>
          </a:xfrm>
        </p:spPr>
        <p:txBody>
          <a:bodyPr>
            <a:normAutofit fontScale="92500" lnSpcReduction="10000"/>
          </a:bodyPr>
          <a:lstStyle/>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Apache Spark </a:t>
            </a:r>
            <a:r>
              <a:rPr lang="en-US" sz="2400" dirty="0">
                <a:latin typeface="Arial" panose="020B0604020202020204" pitchFamily="34" charset="0"/>
                <a:cs typeface="Arial" panose="020B0604020202020204" pitchFamily="34" charset="0"/>
              </a:rPr>
              <a:t>- like the old Map/Reduce but over 100X faster. Runs parallelized queries on unstructured, distributed data in Hadoop, Mesos, Kubernetes and elsewhere. Spark also provides a SQL interface, but is not natively a SQL engine.</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PostgreSQL</a:t>
            </a:r>
            <a:r>
              <a:rPr lang="en-US" sz="2400" dirty="0">
                <a:latin typeface="Arial" panose="020B0604020202020204" pitchFamily="34" charset="0"/>
                <a:cs typeface="Arial" panose="020B0604020202020204" pitchFamily="34" charset="0"/>
              </a:rPr>
              <a:t> - many organizations pipe their data to good old Postgres to facilitate queries. PostgreSQL can be scaled by </a:t>
            </a:r>
            <a:r>
              <a:rPr lang="en-US" sz="2400" dirty="0" err="1">
                <a:latin typeface="Arial" panose="020B0604020202020204" pitchFamily="34" charset="0"/>
                <a:cs typeface="Arial" panose="020B0604020202020204" pitchFamily="34" charset="0"/>
              </a:rPr>
              <a:t>sharding</a:t>
            </a:r>
            <a:r>
              <a:rPr lang="en-US" sz="2400" dirty="0">
                <a:latin typeface="Arial" panose="020B0604020202020204" pitchFamily="34" charset="0"/>
                <a:cs typeface="Arial" panose="020B0604020202020204" pitchFamily="34" charset="0"/>
              </a:rPr>
              <a:t> or partitioning and is very reliable.</a:t>
            </a:r>
          </a:p>
          <a:p>
            <a:pPr marL="354013" indent="-354013">
              <a:lnSpc>
                <a:spcPct val="110000"/>
              </a:lnSpc>
              <a:spcBef>
                <a:spcPts val="0"/>
              </a:spcBef>
              <a:spcAft>
                <a:spcPts val="1800"/>
              </a:spcAft>
            </a:pPr>
            <a:r>
              <a:rPr lang="en-US" sz="2400" dirty="0" err="1">
                <a:solidFill>
                  <a:srgbClr val="FF0000"/>
                </a:solidFill>
                <a:latin typeface="Arial" panose="020B0604020202020204" pitchFamily="34" charset="0"/>
                <a:cs typeface="Arial" panose="020B0604020202020204" pitchFamily="34" charset="0"/>
              </a:rPr>
              <a:t>Sqream</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fully relational SQL database with automatic tuning, ultra fast performance, compression and scalability. </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Amazon Redshift </a:t>
            </a:r>
            <a:r>
              <a:rPr lang="en-US" sz="2400" dirty="0">
                <a:latin typeface="Arial" panose="020B0604020202020204" pitchFamily="34" charset="0"/>
                <a:cs typeface="Arial" panose="020B0604020202020204" pitchFamily="34" charset="0"/>
              </a:rPr>
              <a:t>- darling of the data industry, a cloud-based data warehouse offering blazing query speeds that can be used as a relational database.</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1912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BI / Analytics Tools</a:t>
            </a:r>
          </a:p>
        </p:txBody>
      </p:sp>
      <p:sp>
        <p:nvSpPr>
          <p:cNvPr id="3" name="Content Placeholder 2"/>
          <p:cNvSpPr>
            <a:spLocks noGrp="1"/>
          </p:cNvSpPr>
          <p:nvPr>
            <p:ph idx="1"/>
          </p:nvPr>
        </p:nvSpPr>
        <p:spPr>
          <a:xfrm>
            <a:off x="838200" y="1690688"/>
            <a:ext cx="10515600" cy="4486275"/>
          </a:xfrm>
        </p:spPr>
        <p:txBody>
          <a:bodyPr>
            <a:normAutofit/>
          </a:bodyPr>
          <a:lstStyle/>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Tableau</a:t>
            </a:r>
            <a:r>
              <a:rPr lang="en-US" sz="2400" dirty="0">
                <a:latin typeface="Arial" panose="020B0604020202020204" pitchFamily="34" charset="0"/>
                <a:cs typeface="Arial" panose="020B0604020202020204" pitchFamily="34" charset="0"/>
              </a:rPr>
              <a:t> - powerful BI and data visualization tool, which connects to your data and allows you to drill down, perform complex analysis, and build charts and dashboards.</a:t>
            </a:r>
          </a:p>
          <a:p>
            <a:pPr marL="354013" indent="-354013">
              <a:lnSpc>
                <a:spcPct val="110000"/>
              </a:lnSpc>
              <a:spcBef>
                <a:spcPts val="0"/>
              </a:spcBef>
              <a:spcAft>
                <a:spcPts val="1800"/>
              </a:spcAft>
            </a:pPr>
            <a:r>
              <a:rPr lang="en-US" sz="2400" dirty="0" err="1">
                <a:solidFill>
                  <a:srgbClr val="FF0000"/>
                </a:solidFill>
                <a:latin typeface="Arial" panose="020B0604020202020204" pitchFamily="34" charset="0"/>
                <a:cs typeface="Arial" panose="020B0604020202020204" pitchFamily="34" charset="0"/>
              </a:rPr>
              <a:t>Chartio</a:t>
            </a:r>
            <a:r>
              <a:rPr lang="en-US" sz="2400" dirty="0">
                <a:solidFill>
                  <a:srgbClr val="FF000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cloud BI service allowing you to connect data sources, explore data, build SQL queries and transform the data as needed, and create live auto-refreshing dashboards.</a:t>
            </a:r>
          </a:p>
          <a:p>
            <a:pPr marL="354013" indent="-354013">
              <a:lnSpc>
                <a:spcPct val="110000"/>
              </a:lnSpc>
              <a:spcBef>
                <a:spcPts val="0"/>
              </a:spcBef>
              <a:spcAft>
                <a:spcPts val="1800"/>
              </a:spcAft>
            </a:pPr>
            <a:r>
              <a:rPr lang="en-US" sz="2400" dirty="0">
                <a:solidFill>
                  <a:srgbClr val="FF0000"/>
                </a:solidFill>
                <a:latin typeface="Arial" panose="020B0604020202020204" pitchFamily="34" charset="0"/>
                <a:cs typeface="Arial" panose="020B0604020202020204" pitchFamily="34" charset="0"/>
              </a:rPr>
              <a:t>Looker </a:t>
            </a:r>
            <a:r>
              <a:rPr lang="en-US" sz="2400" dirty="0">
                <a:latin typeface="Arial" panose="020B0604020202020204" pitchFamily="34" charset="0"/>
                <a:cs typeface="Arial" panose="020B0604020202020204" pitchFamily="34" charset="0"/>
              </a:rPr>
              <a:t>- cloud-based BI platform that lets you query and analyze large data sets via SQL-define metrics once set up visualizations that tell a story with your data.</a:t>
            </a: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61294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Big Data concept</a:t>
            </a:r>
          </a:p>
          <a:p>
            <a:pPr marL="996950" lvl="1" indent="-539750">
              <a:lnSpc>
                <a:spcPct val="120000"/>
              </a:lnSpc>
              <a:spcBef>
                <a:spcPts val="600"/>
              </a:spcBef>
              <a:spcAft>
                <a:spcPts val="600"/>
              </a:spcAft>
            </a:pPr>
            <a:r>
              <a:rPr lang="en-US" dirty="0" err="1">
                <a:latin typeface="Arial" panose="020B0604020202020204" pitchFamily="34" charset="0"/>
                <a:cs typeface="Arial" panose="020B0604020202020204" pitchFamily="34" charset="0"/>
              </a:rPr>
              <a:t>BigData</a:t>
            </a:r>
            <a:r>
              <a:rPr lang="en-US" dirty="0">
                <a:latin typeface="Arial" panose="020B0604020202020204" pitchFamily="34" charset="0"/>
                <a:cs typeface="Arial" panose="020B0604020202020204" pitchFamily="34" charset="0"/>
              </a:rPr>
              <a:t> stack</a:t>
            </a:r>
          </a:p>
          <a:p>
            <a:pPr marL="996950" lvl="1" indent="-539750">
              <a:lnSpc>
                <a:spcPct val="120000"/>
              </a:lnSpc>
              <a:spcBef>
                <a:spcPts val="600"/>
              </a:spcBef>
              <a:spcAft>
                <a:spcPts val="600"/>
              </a:spcAft>
            </a:pPr>
            <a:r>
              <a:rPr lang="en-US" dirty="0">
                <a:latin typeface="Arial" panose="020B0604020202020204" pitchFamily="34" charset="0"/>
                <a:cs typeface="Arial" panose="020B0604020202020204" pitchFamily="34" charset="0"/>
              </a:rPr>
              <a:t>Position of NoSQL in </a:t>
            </a:r>
            <a:r>
              <a:rPr lang="en-US" dirty="0" err="1">
                <a:latin typeface="Arial" panose="020B0604020202020204" pitchFamily="34" charset="0"/>
                <a:cs typeface="Arial" panose="020B0604020202020204" pitchFamily="34" charset="0"/>
              </a:rPr>
              <a:t>BigData</a:t>
            </a:r>
            <a:r>
              <a:rPr lang="en-US" dirty="0">
                <a:latin typeface="Arial" panose="020B0604020202020204" pitchFamily="34" charset="0"/>
                <a:cs typeface="Arial" panose="020B0604020202020204" pitchFamily="34" charset="0"/>
              </a:rPr>
              <a:t> stack</a:t>
            </a:r>
            <a:endParaRPr lang="en-IN" sz="24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27-01-2023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7213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907</TotalTime>
  <Words>2223</Words>
  <Application>Microsoft Office PowerPoint</Application>
  <PresentationFormat>Widescreen</PresentationFormat>
  <Paragraphs>193</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(Body)</vt:lpstr>
      <vt:lpstr>Calibri Light</vt:lpstr>
      <vt:lpstr>Office Theme</vt:lpstr>
      <vt:lpstr>Course code : CSE3009 Course title  : No SQL Data Bases Module  : 1     Topic   : 7</vt:lpstr>
      <vt:lpstr>Objectives</vt:lpstr>
      <vt:lpstr>What is Big Data</vt:lpstr>
      <vt:lpstr>What is Big Data</vt:lpstr>
      <vt:lpstr>Sources of Big Data</vt:lpstr>
      <vt:lpstr>Types Of Big Data</vt:lpstr>
      <vt:lpstr>Characteristics Of Big Data</vt:lpstr>
      <vt:lpstr>How to deal with Bigdata</vt:lpstr>
      <vt:lpstr>Understanding Big Data Stack</vt:lpstr>
      <vt:lpstr>What is Hadoop?</vt:lpstr>
      <vt:lpstr>Characteristics</vt:lpstr>
      <vt:lpstr>Components of the Hadoop ecosystem</vt:lpstr>
      <vt:lpstr>Components of the Hadoop ecosystem</vt:lpstr>
      <vt:lpstr>Components of the Hadoop ecosystem</vt:lpstr>
      <vt:lpstr>Components of the Hadoop ecosystem</vt:lpstr>
      <vt:lpstr>Components of the Hadoop ecosystem</vt:lpstr>
      <vt:lpstr>Components of the Hadoop ecosystem</vt:lpstr>
      <vt:lpstr>Components of the Hadoop ecosystem</vt:lpstr>
      <vt:lpstr>Components of the Hadoop ecosystem</vt:lpstr>
      <vt:lpstr>Components of the Hadoop ecosystem</vt:lpstr>
      <vt:lpstr>NoSQL way to deal with Big Data</vt:lpstr>
      <vt:lpstr>NoSQL - Big Data Technology Stack</vt:lpstr>
      <vt:lpstr>Data Storage Systems</vt:lpstr>
      <vt:lpstr>Big Data Ingestion Tools</vt:lpstr>
      <vt:lpstr>Data Processing Tools</vt:lpstr>
      <vt:lpstr>BI / Analytics Tools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gopikrishnan sundaram</cp:lastModifiedBy>
  <cp:revision>73</cp:revision>
  <dcterms:created xsi:type="dcterms:W3CDTF">2019-11-30T05:18:24Z</dcterms:created>
  <dcterms:modified xsi:type="dcterms:W3CDTF">2023-01-27T03:24:50Z</dcterms:modified>
</cp:coreProperties>
</file>