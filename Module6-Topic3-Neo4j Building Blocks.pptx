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58" r:id="rId3"/>
    <p:sldId id="364" r:id="rId4"/>
    <p:sldId id="366" r:id="rId5"/>
    <p:sldId id="403" r:id="rId6"/>
    <p:sldId id="384" r:id="rId7"/>
    <p:sldId id="385" r:id="rId8"/>
    <p:sldId id="404" r:id="rId9"/>
    <p:sldId id="390" r:id="rId10"/>
    <p:sldId id="405" r:id="rId11"/>
    <p:sldId id="406" r:id="rId12"/>
    <p:sldId id="365" r:id="rId13"/>
    <p:sldId id="386" r:id="rId14"/>
    <p:sldId id="387" r:id="rId15"/>
    <p:sldId id="388" r:id="rId16"/>
    <p:sldId id="389" r:id="rId17"/>
    <p:sldId id="391" r:id="rId18"/>
    <p:sldId id="392" r:id="rId19"/>
    <p:sldId id="395" r:id="rId20"/>
    <p:sldId id="394" r:id="rId21"/>
    <p:sldId id="393" r:id="rId22"/>
    <p:sldId id="396" r:id="rId23"/>
    <p:sldId id="397" r:id="rId24"/>
    <p:sldId id="398" r:id="rId25"/>
    <p:sldId id="399" r:id="rId26"/>
    <p:sldId id="400" r:id="rId27"/>
    <p:sldId id="401" r:id="rId28"/>
    <p:sldId id="402" r:id="rId29"/>
    <p:sldId id="259"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CC00"/>
    <a:srgbClr val="2102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6" d="100"/>
          <a:sy n="66" d="100"/>
        </p:scale>
        <p:origin x="600"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F716F9-1CCB-412E-807B-54E78A47C39C}" type="datetimeFigureOut">
              <a:rPr lang="en-IN" smtClean="0"/>
              <a:t>05-05-2020</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070DDA-CF3D-48BA-A0B0-D24E17EB7419}" type="slidenum">
              <a:rPr lang="en-IN" smtClean="0"/>
              <a:t>‹#›</a:t>
            </a:fld>
            <a:endParaRPr lang="en-IN"/>
          </a:p>
        </p:txBody>
      </p:sp>
    </p:spTree>
    <p:extLst>
      <p:ext uri="{BB962C8B-B14F-4D97-AF65-F5344CB8AC3E}">
        <p14:creationId xmlns:p14="http://schemas.microsoft.com/office/powerpoint/2010/main" val="2542869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D18207AF-BBE6-41CB-838F-3B91C45E6842}" type="datetime1">
              <a:rPr lang="en-IN" smtClean="0"/>
              <a:t>05-05-2020</a:t>
            </a:fld>
            <a:endParaRPr lang="en-IN"/>
          </a:p>
        </p:txBody>
      </p:sp>
      <p:sp>
        <p:nvSpPr>
          <p:cNvPr id="5" name="Footer Placeholder 4"/>
          <p:cNvSpPr>
            <a:spLocks noGrp="1"/>
          </p:cNvSpPr>
          <p:nvPr>
            <p:ph type="ftr" sz="quarter" idx="11"/>
          </p:nvPr>
        </p:nvSpPr>
        <p:spPr/>
        <p:txBody>
          <a:bodyPr/>
          <a:lstStyle/>
          <a:p>
            <a:r>
              <a:rPr lang="en-IN" smtClean="0"/>
              <a:t>Dr. S. Gopikrishnan</a:t>
            </a:r>
            <a:endParaRPr lang="en-IN"/>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4120577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42001CB-2F0D-4565-974A-BB3B4237F7A0}" type="datetime1">
              <a:rPr lang="en-IN" smtClean="0"/>
              <a:t>05-05-2020</a:t>
            </a:fld>
            <a:endParaRPr lang="en-IN"/>
          </a:p>
        </p:txBody>
      </p:sp>
      <p:sp>
        <p:nvSpPr>
          <p:cNvPr id="5" name="Footer Placeholder 4"/>
          <p:cNvSpPr>
            <a:spLocks noGrp="1"/>
          </p:cNvSpPr>
          <p:nvPr>
            <p:ph type="ftr" sz="quarter" idx="11"/>
          </p:nvPr>
        </p:nvSpPr>
        <p:spPr/>
        <p:txBody>
          <a:bodyPr/>
          <a:lstStyle/>
          <a:p>
            <a:r>
              <a:rPr lang="en-IN" smtClean="0"/>
              <a:t>Dr. S. Gopikrishnan</a:t>
            </a:r>
            <a:endParaRPr lang="en-IN"/>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42886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325E08F-6321-4732-8935-8B18B4878320}" type="datetime1">
              <a:rPr lang="en-IN" smtClean="0"/>
              <a:t>05-05-2020</a:t>
            </a:fld>
            <a:endParaRPr lang="en-IN"/>
          </a:p>
        </p:txBody>
      </p:sp>
      <p:sp>
        <p:nvSpPr>
          <p:cNvPr id="5" name="Footer Placeholder 4"/>
          <p:cNvSpPr>
            <a:spLocks noGrp="1"/>
          </p:cNvSpPr>
          <p:nvPr>
            <p:ph type="ftr" sz="quarter" idx="11"/>
          </p:nvPr>
        </p:nvSpPr>
        <p:spPr/>
        <p:txBody>
          <a:bodyPr/>
          <a:lstStyle/>
          <a:p>
            <a:r>
              <a:rPr lang="en-IN" smtClean="0"/>
              <a:t>Dr. S. Gopikrishnan</a:t>
            </a:r>
            <a:endParaRPr lang="en-IN"/>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870895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8FAE6CD2-53BA-43CE-85B2-BECBEC79BED8}" type="datetime1">
              <a:rPr lang="en-IN" smtClean="0"/>
              <a:t>05-05-2020</a:t>
            </a:fld>
            <a:endParaRPr lang="en-IN"/>
          </a:p>
        </p:txBody>
      </p:sp>
      <p:sp>
        <p:nvSpPr>
          <p:cNvPr id="6" name="Footer Placeholder 5"/>
          <p:cNvSpPr>
            <a:spLocks noGrp="1"/>
          </p:cNvSpPr>
          <p:nvPr>
            <p:ph type="ftr" sz="quarter" idx="11"/>
          </p:nvPr>
        </p:nvSpPr>
        <p:spPr/>
        <p:txBody>
          <a:bodyPr/>
          <a:lstStyle/>
          <a:p>
            <a:r>
              <a:rPr lang="en-IN" smtClean="0"/>
              <a:t>Dr. S. Gopikrishnan</a:t>
            </a:r>
            <a:endParaRPr lang="en-IN"/>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132958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F010AD05-A4E4-4CA4-974B-F265446B2FC3}" type="datetime1">
              <a:rPr lang="en-IN" smtClean="0"/>
              <a:t>05-05-2020</a:t>
            </a:fld>
            <a:endParaRPr lang="en-IN"/>
          </a:p>
        </p:txBody>
      </p:sp>
      <p:sp>
        <p:nvSpPr>
          <p:cNvPr id="8" name="Footer Placeholder 7"/>
          <p:cNvSpPr>
            <a:spLocks noGrp="1"/>
          </p:cNvSpPr>
          <p:nvPr>
            <p:ph type="ftr" sz="quarter" idx="11"/>
          </p:nvPr>
        </p:nvSpPr>
        <p:spPr/>
        <p:txBody>
          <a:bodyPr/>
          <a:lstStyle/>
          <a:p>
            <a:r>
              <a:rPr lang="en-IN" smtClean="0"/>
              <a:t>Dr. S. Gopikrishnan</a:t>
            </a:r>
            <a:endParaRPr lang="en-IN"/>
          </a:p>
        </p:txBody>
      </p:sp>
      <p:sp>
        <p:nvSpPr>
          <p:cNvPr id="9" name="Slide Number Placeholder 8"/>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855418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928D32E8-1E32-4E2A-B217-B612998A856C}" type="datetime1">
              <a:rPr lang="en-IN" smtClean="0"/>
              <a:t>05-05-2020</a:t>
            </a:fld>
            <a:endParaRPr lang="en-IN"/>
          </a:p>
        </p:txBody>
      </p:sp>
      <p:sp>
        <p:nvSpPr>
          <p:cNvPr id="4" name="Footer Placeholder 3"/>
          <p:cNvSpPr>
            <a:spLocks noGrp="1"/>
          </p:cNvSpPr>
          <p:nvPr>
            <p:ph type="ftr" sz="quarter" idx="11"/>
          </p:nvPr>
        </p:nvSpPr>
        <p:spPr/>
        <p:txBody>
          <a:bodyPr/>
          <a:lstStyle/>
          <a:p>
            <a:r>
              <a:rPr lang="en-IN" smtClean="0"/>
              <a:t>Dr. S. Gopikrishnan</a:t>
            </a:r>
            <a:endParaRPr lang="en-IN"/>
          </a:p>
        </p:txBody>
      </p:sp>
      <p:sp>
        <p:nvSpPr>
          <p:cNvPr id="5" name="Slide Number Placeholder 4"/>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777863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CE7F75-E219-4A7A-86AA-8B901170D2FE}" type="datetime1">
              <a:rPr lang="en-IN" smtClean="0"/>
              <a:t>05-05-2020</a:t>
            </a:fld>
            <a:endParaRPr lang="en-IN"/>
          </a:p>
        </p:txBody>
      </p:sp>
      <p:sp>
        <p:nvSpPr>
          <p:cNvPr id="3" name="Footer Placeholder 2"/>
          <p:cNvSpPr>
            <a:spLocks noGrp="1"/>
          </p:cNvSpPr>
          <p:nvPr>
            <p:ph type="ftr" sz="quarter" idx="11"/>
          </p:nvPr>
        </p:nvSpPr>
        <p:spPr/>
        <p:txBody>
          <a:bodyPr/>
          <a:lstStyle/>
          <a:p>
            <a:r>
              <a:rPr lang="en-IN" smtClean="0"/>
              <a:t>Dr. S. Gopikrishnan</a:t>
            </a:r>
            <a:endParaRPr lang="en-IN"/>
          </a:p>
        </p:txBody>
      </p:sp>
      <p:sp>
        <p:nvSpPr>
          <p:cNvPr id="4" name="Slide Number Placeholder 3"/>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262413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6F16AFA-FDBE-49F0-A857-020340421B04}" type="datetime1">
              <a:rPr lang="en-IN" smtClean="0"/>
              <a:t>05-05-2020</a:t>
            </a:fld>
            <a:endParaRPr lang="en-IN"/>
          </a:p>
        </p:txBody>
      </p:sp>
      <p:sp>
        <p:nvSpPr>
          <p:cNvPr id="6" name="Footer Placeholder 5"/>
          <p:cNvSpPr>
            <a:spLocks noGrp="1"/>
          </p:cNvSpPr>
          <p:nvPr>
            <p:ph type="ftr" sz="quarter" idx="11"/>
          </p:nvPr>
        </p:nvSpPr>
        <p:spPr/>
        <p:txBody>
          <a:bodyPr/>
          <a:lstStyle/>
          <a:p>
            <a:r>
              <a:rPr lang="en-IN" smtClean="0"/>
              <a:t>Dr. S. Gopikrishnan</a:t>
            </a:r>
            <a:endParaRPr lang="en-IN"/>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441355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F176920-F609-41C5-957C-A5E46109118D}" type="datetime1">
              <a:rPr lang="en-IN" smtClean="0"/>
              <a:t>05-05-2020</a:t>
            </a:fld>
            <a:endParaRPr lang="en-IN"/>
          </a:p>
        </p:txBody>
      </p:sp>
      <p:sp>
        <p:nvSpPr>
          <p:cNvPr id="6" name="Footer Placeholder 5"/>
          <p:cNvSpPr>
            <a:spLocks noGrp="1"/>
          </p:cNvSpPr>
          <p:nvPr>
            <p:ph type="ftr" sz="quarter" idx="11"/>
          </p:nvPr>
        </p:nvSpPr>
        <p:spPr/>
        <p:txBody>
          <a:bodyPr/>
          <a:lstStyle/>
          <a:p>
            <a:r>
              <a:rPr lang="en-IN" smtClean="0"/>
              <a:t>Dr. S. Gopikrishnan</a:t>
            </a:r>
            <a:endParaRPr lang="en-IN"/>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397715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8908AA1-2BEE-4CB8-A992-73CF63948E2E}" type="datetime1">
              <a:rPr lang="en-IN" smtClean="0"/>
              <a:t>05-05-2020</a:t>
            </a:fld>
            <a:endParaRPr lang="en-IN"/>
          </a:p>
        </p:txBody>
      </p:sp>
      <p:sp>
        <p:nvSpPr>
          <p:cNvPr id="5" name="Footer Placeholder 4"/>
          <p:cNvSpPr>
            <a:spLocks noGrp="1"/>
          </p:cNvSpPr>
          <p:nvPr>
            <p:ph type="ftr" sz="quarter" idx="11"/>
          </p:nvPr>
        </p:nvSpPr>
        <p:spPr/>
        <p:txBody>
          <a:bodyPr/>
          <a:lstStyle/>
          <a:p>
            <a:r>
              <a:rPr lang="en-IN" smtClean="0"/>
              <a:t>Dr. S. Gopikrishnan</a:t>
            </a:r>
            <a:endParaRPr lang="en-IN"/>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486892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957EAF6-71C1-4CCC-BB0E-BC6703073DD8}" type="datetime1">
              <a:rPr lang="en-IN" smtClean="0"/>
              <a:t>05-05-2020</a:t>
            </a:fld>
            <a:endParaRPr lang="en-IN"/>
          </a:p>
        </p:txBody>
      </p:sp>
      <p:sp>
        <p:nvSpPr>
          <p:cNvPr id="5" name="Footer Placeholder 4"/>
          <p:cNvSpPr>
            <a:spLocks noGrp="1"/>
          </p:cNvSpPr>
          <p:nvPr>
            <p:ph type="ftr" sz="quarter" idx="11"/>
          </p:nvPr>
        </p:nvSpPr>
        <p:spPr/>
        <p:txBody>
          <a:bodyPr/>
          <a:lstStyle/>
          <a:p>
            <a:r>
              <a:rPr lang="en-IN" smtClean="0"/>
              <a:t>Dr. S. Gopikrishnan</a:t>
            </a:r>
            <a:endParaRPr lang="en-IN"/>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98657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A101D-20D2-4D81-A838-9588DFC7E809}" type="datetime1">
              <a:rPr lang="en-IN" smtClean="0"/>
              <a:t>05-05-2020</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smtClean="0"/>
              <a:t>Dr. S. Gopikrishnan</a:t>
            </a:r>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2F8B39-E037-49D7-848F-F055834E3AA1}" type="slidenum">
              <a:rPr lang="en-IN" smtClean="0"/>
              <a:t>‹#›</a:t>
            </a:fld>
            <a:endParaRPr lang="en-IN"/>
          </a:p>
        </p:txBody>
      </p:sp>
    </p:spTree>
    <p:extLst>
      <p:ext uri="{BB962C8B-B14F-4D97-AF65-F5344CB8AC3E}">
        <p14:creationId xmlns:p14="http://schemas.microsoft.com/office/powerpoint/2010/main" val="37427917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ctrTitle"/>
          </p:nvPr>
        </p:nvSpPr>
        <p:spPr>
          <a:xfrm>
            <a:off x="1524000" y="2178260"/>
            <a:ext cx="9144000" cy="953575"/>
          </a:xfrm>
        </p:spPr>
        <p:txBody>
          <a:bodyPr>
            <a:noAutofit/>
          </a:bodyPr>
          <a:lstStyle/>
          <a:p>
            <a:pPr algn="l">
              <a:lnSpc>
                <a:spcPct val="100000"/>
              </a:lnSpc>
            </a:pPr>
            <a:r>
              <a:rPr lang="en-IN" sz="2800" dirty="0" smtClean="0">
                <a:solidFill>
                  <a:srgbClr val="00B050"/>
                </a:solidFill>
                <a:latin typeface="Arial" panose="020B0604020202020204" pitchFamily="34" charset="0"/>
                <a:cs typeface="Arial" panose="020B0604020202020204" pitchFamily="34" charset="0"/>
              </a:rPr>
              <a:t>Course code	: </a:t>
            </a:r>
            <a:r>
              <a:rPr lang="en-IN" sz="2800" b="1" dirty="0" smtClean="0">
                <a:solidFill>
                  <a:srgbClr val="00B050"/>
                </a:solidFill>
                <a:latin typeface="Arial" panose="020B0604020202020204" pitchFamily="34" charset="0"/>
                <a:cs typeface="Arial" panose="020B0604020202020204" pitchFamily="34" charset="0"/>
              </a:rPr>
              <a:t>CSE3009</a:t>
            </a:r>
            <a:r>
              <a:rPr lang="en-IN" sz="2800" dirty="0" smtClean="0">
                <a:solidFill>
                  <a:srgbClr val="00B050"/>
                </a:solidFill>
                <a:latin typeface="Arial" panose="020B0604020202020204" pitchFamily="34" charset="0"/>
                <a:cs typeface="Arial" panose="020B0604020202020204" pitchFamily="34" charset="0"/>
              </a:rPr>
              <a:t/>
            </a:r>
            <a:br>
              <a:rPr lang="en-IN" sz="2800" dirty="0" smtClean="0">
                <a:solidFill>
                  <a:srgbClr val="00B050"/>
                </a:solidFill>
                <a:latin typeface="Arial" panose="020B0604020202020204" pitchFamily="34" charset="0"/>
                <a:cs typeface="Arial" panose="020B0604020202020204" pitchFamily="34" charset="0"/>
              </a:rPr>
            </a:br>
            <a:r>
              <a:rPr lang="en-IN" sz="2800" dirty="0" smtClean="0">
                <a:solidFill>
                  <a:srgbClr val="00B050"/>
                </a:solidFill>
                <a:latin typeface="Arial" panose="020B0604020202020204" pitchFamily="34" charset="0"/>
                <a:cs typeface="Arial" panose="020B0604020202020204" pitchFamily="34" charset="0"/>
              </a:rPr>
              <a:t>Course title		: </a:t>
            </a:r>
            <a:r>
              <a:rPr lang="en-IN" sz="2800" b="1" dirty="0">
                <a:solidFill>
                  <a:srgbClr val="00B050"/>
                </a:solidFill>
                <a:latin typeface="Arial" panose="020B0604020202020204" pitchFamily="34" charset="0"/>
                <a:cs typeface="Arial" panose="020B0604020202020204" pitchFamily="34" charset="0"/>
              </a:rPr>
              <a:t>No SQL Data Bases</a:t>
            </a:r>
            <a:r>
              <a:rPr lang="en-IN" sz="2800" b="1" dirty="0" smtClean="0">
                <a:solidFill>
                  <a:srgbClr val="00B050"/>
                </a:solidFill>
                <a:latin typeface="Arial" panose="020B0604020202020204" pitchFamily="34" charset="0"/>
                <a:cs typeface="Arial" panose="020B0604020202020204" pitchFamily="34" charset="0"/>
              </a:rPr>
              <a:t/>
            </a:r>
            <a:br>
              <a:rPr lang="en-IN" sz="2800" b="1" dirty="0" smtClean="0">
                <a:solidFill>
                  <a:srgbClr val="00B050"/>
                </a:solidFill>
                <a:latin typeface="Arial" panose="020B0604020202020204" pitchFamily="34" charset="0"/>
                <a:cs typeface="Arial" panose="020B0604020202020204" pitchFamily="34" charset="0"/>
              </a:rPr>
            </a:br>
            <a:r>
              <a:rPr lang="en-IN" sz="2800" dirty="0" smtClean="0">
                <a:solidFill>
                  <a:srgbClr val="00B050"/>
                </a:solidFill>
                <a:latin typeface="Arial" panose="020B0604020202020204" pitchFamily="34" charset="0"/>
                <a:cs typeface="Arial" panose="020B0604020202020204" pitchFamily="34" charset="0"/>
              </a:rPr>
              <a:t>Module		: </a:t>
            </a:r>
            <a:r>
              <a:rPr lang="en-IN" sz="2800" b="1" dirty="0">
                <a:solidFill>
                  <a:srgbClr val="00B050"/>
                </a:solidFill>
                <a:latin typeface="Arial" panose="020B0604020202020204" pitchFamily="34" charset="0"/>
                <a:cs typeface="Arial" panose="020B0604020202020204" pitchFamily="34" charset="0"/>
              </a:rPr>
              <a:t>6</a:t>
            </a:r>
            <a:r>
              <a:rPr lang="en-IN" sz="2800" dirty="0" smtClean="0">
                <a:solidFill>
                  <a:srgbClr val="00B050"/>
                </a:solidFill>
                <a:latin typeface="Arial" panose="020B0604020202020204" pitchFamily="34" charset="0"/>
                <a:cs typeface="Arial" panose="020B0604020202020204" pitchFamily="34" charset="0"/>
              </a:rPr>
              <a:t> 			</a:t>
            </a:r>
            <a:br>
              <a:rPr lang="en-IN" sz="2800" dirty="0" smtClean="0">
                <a:solidFill>
                  <a:srgbClr val="00B050"/>
                </a:solidFill>
                <a:latin typeface="Arial" panose="020B0604020202020204" pitchFamily="34" charset="0"/>
                <a:cs typeface="Arial" panose="020B0604020202020204" pitchFamily="34" charset="0"/>
              </a:rPr>
            </a:br>
            <a:r>
              <a:rPr lang="en-IN" sz="2800" dirty="0" smtClean="0">
                <a:solidFill>
                  <a:srgbClr val="00B050"/>
                </a:solidFill>
                <a:latin typeface="Arial" panose="020B0604020202020204" pitchFamily="34" charset="0"/>
                <a:cs typeface="Arial" panose="020B0604020202020204" pitchFamily="34" charset="0"/>
              </a:rPr>
              <a:t>Topic			: </a:t>
            </a:r>
            <a:r>
              <a:rPr lang="en-IN" sz="2800" b="1" dirty="0">
                <a:solidFill>
                  <a:srgbClr val="00B050"/>
                </a:solidFill>
                <a:latin typeface="Arial" panose="020B0604020202020204" pitchFamily="34" charset="0"/>
                <a:cs typeface="Arial" panose="020B0604020202020204" pitchFamily="34" charset="0"/>
              </a:rPr>
              <a:t>3</a:t>
            </a:r>
          </a:p>
        </p:txBody>
      </p:sp>
      <p:sp>
        <p:nvSpPr>
          <p:cNvPr id="6" name="Subtitle 2"/>
          <p:cNvSpPr>
            <a:spLocks noGrp="1"/>
          </p:cNvSpPr>
          <p:nvPr>
            <p:ph type="subTitle" idx="1"/>
          </p:nvPr>
        </p:nvSpPr>
        <p:spPr>
          <a:xfrm>
            <a:off x="1402183" y="3677818"/>
            <a:ext cx="9144000" cy="1655762"/>
          </a:xfrm>
        </p:spPr>
        <p:txBody>
          <a:bodyPr>
            <a:normAutofit/>
          </a:bodyPr>
          <a:lstStyle/>
          <a:p>
            <a:r>
              <a:rPr lang="it-IT" sz="4000" b="1" dirty="0" smtClean="0">
                <a:solidFill>
                  <a:srgbClr val="0070C0"/>
                </a:solidFill>
                <a:latin typeface="Arial" panose="020B0604020202020204" pitchFamily="34" charset="0"/>
                <a:cs typeface="Arial" panose="020B0604020202020204" pitchFamily="34" charset="0"/>
              </a:rPr>
              <a:t>Neo4j Query Execution</a:t>
            </a:r>
            <a:endParaRPr lang="en-IN" sz="4000" b="1" dirty="0">
              <a:solidFill>
                <a:srgbClr val="0070C0"/>
              </a:solidFill>
              <a:latin typeface="Arial" panose="020B0604020202020204" pitchFamily="34" charset="0"/>
              <a:cs typeface="Arial" panose="020B0604020202020204" pitchFamily="34" charset="0"/>
            </a:endParaRPr>
          </a:p>
        </p:txBody>
      </p:sp>
      <p:pic>
        <p:nvPicPr>
          <p:cNvPr id="7"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8" name="Date Placeholder 7"/>
          <p:cNvSpPr>
            <a:spLocks noGrp="1"/>
          </p:cNvSpPr>
          <p:nvPr>
            <p:ph type="dt" sz="half" idx="10"/>
          </p:nvPr>
        </p:nvSpPr>
        <p:spPr/>
        <p:txBody>
          <a:bodyPr/>
          <a:lstStyle/>
          <a:p>
            <a:fld id="{756728E3-B72D-49A5-85A2-5AE45557AE43}" type="datetime1">
              <a:rPr lang="en-IN" smtClean="0">
                <a:latin typeface="Calibri (Body)"/>
              </a:rPr>
              <a:t>05-05-2020</a:t>
            </a:fld>
            <a:endParaRPr lang="en-IN" dirty="0">
              <a:latin typeface="Calibri (Body)"/>
            </a:endParaRPr>
          </a:p>
        </p:txBody>
      </p:sp>
      <p:sp>
        <p:nvSpPr>
          <p:cNvPr id="9" name="Footer Placeholder 8"/>
          <p:cNvSpPr>
            <a:spLocks noGrp="1"/>
          </p:cNvSpPr>
          <p:nvPr>
            <p:ph type="ftr" sz="quarter" idx="11"/>
          </p:nvPr>
        </p:nvSpPr>
        <p:spPr/>
        <p:txBody>
          <a:bodyPr/>
          <a:lstStyle/>
          <a:p>
            <a:r>
              <a:rPr lang="en-IN" dirty="0" err="1" smtClean="0">
                <a:latin typeface="Arial" panose="020B0604020202020204" pitchFamily="34" charset="0"/>
                <a:cs typeface="Arial" panose="020B0604020202020204" pitchFamily="34" charset="0"/>
              </a:rPr>
              <a:t>Dr.</a:t>
            </a:r>
            <a:r>
              <a:rPr lang="en-IN" dirty="0" smtClean="0">
                <a:latin typeface="Arial" panose="020B0604020202020204" pitchFamily="34" charset="0"/>
                <a:cs typeface="Arial" panose="020B0604020202020204" pitchFamily="34" charset="0"/>
              </a:rPr>
              <a:t> S. Gopikrishnan</a:t>
            </a:r>
            <a:endParaRPr lang="en-IN" dirty="0">
              <a:latin typeface="Arial" panose="020B0604020202020204" pitchFamily="34" charset="0"/>
              <a:cs typeface="Arial" panose="020B0604020202020204" pitchFamily="34" charset="0"/>
            </a:endParaRPr>
          </a:p>
        </p:txBody>
      </p:sp>
      <p:sp>
        <p:nvSpPr>
          <p:cNvPr id="10" name="Slide Number Placeholder 9"/>
          <p:cNvSpPr>
            <a:spLocks noGrp="1"/>
          </p:cNvSpPr>
          <p:nvPr>
            <p:ph type="sldNum" sz="quarter" idx="12"/>
          </p:nvPr>
        </p:nvSpPr>
        <p:spPr/>
        <p:txBody>
          <a:bodyPr/>
          <a:lstStyle/>
          <a:p>
            <a:fld id="{E02F8B39-E037-49D7-848F-F055834E3AA1}" type="slidenum">
              <a:rPr lang="en-IN" smtClean="0">
                <a:latin typeface="Arial" panose="020B0604020202020204" pitchFamily="34" charset="0"/>
                <a:cs typeface="Arial" panose="020B0604020202020204" pitchFamily="34" charset="0"/>
              </a:rPr>
              <a:t>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5895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smtClean="0">
                <a:solidFill>
                  <a:srgbClr val="0070C0"/>
                </a:solidFill>
                <a:latin typeface="Arial" panose="020B0604020202020204" pitchFamily="34" charset="0"/>
                <a:cs typeface="Arial" panose="020B0604020202020204" pitchFamily="34" charset="0"/>
              </a:rPr>
              <a:t>Objectives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600"/>
              </a:spcBef>
              <a:spcAft>
                <a:spcPts val="600"/>
              </a:spcAft>
              <a:buNone/>
            </a:pPr>
            <a:r>
              <a:rPr lang="en-IN" sz="2400" dirty="0" smtClean="0">
                <a:latin typeface="Arial" panose="020B0604020202020204" pitchFamily="34" charset="0"/>
                <a:cs typeface="Arial" panose="020B0604020202020204" pitchFamily="34" charset="0"/>
              </a:rPr>
              <a:t>This session will give the knowledge about</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Neo4j </a:t>
            </a:r>
            <a:r>
              <a:rPr lang="en-IN" dirty="0" smtClean="0">
                <a:latin typeface="Arial" panose="020B0604020202020204" pitchFamily="34" charset="0"/>
                <a:cs typeface="Arial" panose="020B0604020202020204" pitchFamily="34" charset="0"/>
              </a:rPr>
              <a:t>Building Blocks</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Cypher Query Language </a:t>
            </a:r>
            <a:r>
              <a:rPr lang="en-IN" dirty="0" smtClean="0">
                <a:latin typeface="Arial" panose="020B0604020202020204" pitchFamily="34" charset="0"/>
                <a:cs typeface="Arial" panose="020B0604020202020204" pitchFamily="34" charset="0"/>
              </a:rPr>
              <a:t>(CQL) Introduction</a:t>
            </a:r>
            <a:endParaRPr lang="en-IN"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05-05-2020</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smtClean="0">
                <a:latin typeface="Arial" panose="020B0604020202020204" pitchFamily="34" charset="0"/>
                <a:cs typeface="Arial" panose="020B0604020202020204" pitchFamily="34" charset="0"/>
              </a:rPr>
              <a:t>Dr.</a:t>
            </a:r>
            <a:r>
              <a:rPr lang="en-IN" dirty="0" smtClean="0">
                <a:latin typeface="Arial" panose="020B0604020202020204" pitchFamily="34" charset="0"/>
                <a:cs typeface="Arial" panose="020B0604020202020204" pitchFamily="34" charset="0"/>
              </a:rPr>
              <a:t> S. </a:t>
            </a:r>
            <a:r>
              <a:rPr lang="en-IN" dirty="0" err="1" smtClean="0">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661119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it-IT" sz="3200" b="1" dirty="0">
                <a:solidFill>
                  <a:srgbClr val="0070C0"/>
                </a:solidFill>
                <a:latin typeface="Arial" panose="020B0604020202020204" pitchFamily="34" charset="0"/>
                <a:cs typeface="Arial" panose="020B0604020202020204" pitchFamily="34" charset="0"/>
              </a:rPr>
              <a:t>Neo4j - Building Blocks</a:t>
            </a:r>
            <a:endParaRPr lang="en-IN" sz="3200" b="1"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Neo4j Graph Database has the following building blocks −</a:t>
            </a:r>
          </a:p>
          <a:p>
            <a:pPr marL="539750" indent="-357188">
              <a:lnSpc>
                <a:spcPct val="120000"/>
              </a:lnSpc>
              <a:spcBef>
                <a:spcPts val="600"/>
              </a:spcBef>
              <a:spcAft>
                <a:spcPts val="600"/>
              </a:spcAft>
            </a:pPr>
            <a:r>
              <a:rPr lang="en-US" sz="2400" dirty="0" smtClean="0">
                <a:latin typeface="Arial" panose="020B0604020202020204" pitchFamily="34" charset="0"/>
                <a:cs typeface="Arial" panose="020B0604020202020204" pitchFamily="34" charset="0"/>
              </a:rPr>
              <a:t>Nodes</a:t>
            </a:r>
            <a:endParaRPr lang="en-US" sz="2400" dirty="0">
              <a:latin typeface="Arial" panose="020B0604020202020204" pitchFamily="34" charset="0"/>
              <a:cs typeface="Arial" panose="020B0604020202020204" pitchFamily="34" charset="0"/>
            </a:endParaRPr>
          </a:p>
          <a:p>
            <a:pPr marL="539750" indent="-357188">
              <a:lnSpc>
                <a:spcPct val="120000"/>
              </a:lnSpc>
              <a:spcBef>
                <a:spcPts val="600"/>
              </a:spcBef>
              <a:spcAft>
                <a:spcPts val="600"/>
              </a:spcAft>
            </a:pPr>
            <a:r>
              <a:rPr lang="en-US" sz="2400" dirty="0">
                <a:latin typeface="Arial" panose="020B0604020202020204" pitchFamily="34" charset="0"/>
                <a:cs typeface="Arial" panose="020B0604020202020204" pitchFamily="34" charset="0"/>
              </a:rPr>
              <a:t>Properties</a:t>
            </a:r>
          </a:p>
          <a:p>
            <a:pPr marL="539750" indent="-357188">
              <a:lnSpc>
                <a:spcPct val="120000"/>
              </a:lnSpc>
              <a:spcBef>
                <a:spcPts val="600"/>
              </a:spcBef>
              <a:spcAft>
                <a:spcPts val="600"/>
              </a:spcAft>
            </a:pPr>
            <a:r>
              <a:rPr lang="en-US" sz="2400" dirty="0">
                <a:latin typeface="Arial" panose="020B0604020202020204" pitchFamily="34" charset="0"/>
                <a:cs typeface="Arial" panose="020B0604020202020204" pitchFamily="34" charset="0"/>
              </a:rPr>
              <a:t>Relationships</a:t>
            </a:r>
          </a:p>
          <a:p>
            <a:pPr marL="539750" indent="-357188">
              <a:lnSpc>
                <a:spcPct val="120000"/>
              </a:lnSpc>
              <a:spcBef>
                <a:spcPts val="600"/>
              </a:spcBef>
              <a:spcAft>
                <a:spcPts val="600"/>
              </a:spcAft>
            </a:pPr>
            <a:r>
              <a:rPr lang="en-US" sz="2400" dirty="0">
                <a:latin typeface="Arial" panose="020B0604020202020204" pitchFamily="34" charset="0"/>
                <a:cs typeface="Arial" panose="020B0604020202020204" pitchFamily="34" charset="0"/>
              </a:rPr>
              <a:t>Labels</a:t>
            </a:r>
          </a:p>
          <a:p>
            <a:pPr marL="539750" indent="-357188">
              <a:lnSpc>
                <a:spcPct val="120000"/>
              </a:lnSpc>
              <a:spcBef>
                <a:spcPts val="600"/>
              </a:spcBef>
              <a:spcAft>
                <a:spcPts val="600"/>
              </a:spcAft>
            </a:pPr>
            <a:r>
              <a:rPr lang="en-US" sz="2400" dirty="0">
                <a:latin typeface="Arial" panose="020B0604020202020204" pitchFamily="34" charset="0"/>
                <a:cs typeface="Arial" panose="020B0604020202020204" pitchFamily="34" charset="0"/>
              </a:rPr>
              <a:t>Data Browser</a:t>
            </a:r>
            <a:endParaRPr lang="en-US" sz="2400" dirty="0" smtClean="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05-05-2020</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smtClean="0">
                <a:latin typeface="Arial" panose="020B0604020202020204" pitchFamily="34" charset="0"/>
                <a:cs typeface="Arial" panose="020B0604020202020204" pitchFamily="34" charset="0"/>
              </a:rPr>
              <a:t>Dr.</a:t>
            </a:r>
            <a:r>
              <a:rPr lang="en-IN" dirty="0" smtClean="0">
                <a:latin typeface="Arial" panose="020B0604020202020204" pitchFamily="34" charset="0"/>
                <a:cs typeface="Arial" panose="020B0604020202020204" pitchFamily="34" charset="0"/>
              </a:rPr>
              <a:t> S. </a:t>
            </a:r>
            <a:r>
              <a:rPr lang="en-IN" dirty="0" err="1" smtClean="0">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006016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smtClean="0">
                <a:solidFill>
                  <a:srgbClr val="0070C0"/>
                </a:solidFill>
                <a:latin typeface="Arial" panose="020B0604020202020204" pitchFamily="34" charset="0"/>
                <a:cs typeface="Arial" panose="020B0604020202020204" pitchFamily="34" charset="0"/>
              </a:rPr>
              <a:t>Node</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199" y="1690688"/>
            <a:ext cx="7882289" cy="4486275"/>
          </a:xfrm>
        </p:spPr>
        <p:txBody>
          <a:bodyPr>
            <a:noAutofit/>
          </a:bodyPr>
          <a:lstStyle/>
          <a:p>
            <a:pPr marL="0" indent="0">
              <a:lnSpc>
                <a:spcPct val="120000"/>
              </a:lnSpc>
              <a:spcBef>
                <a:spcPts val="600"/>
              </a:spcBef>
              <a:spcAft>
                <a:spcPts val="600"/>
              </a:spcAft>
              <a:buNone/>
            </a:pPr>
            <a:r>
              <a:rPr lang="en-US" sz="2000" b="1" dirty="0">
                <a:latin typeface="Arial" panose="020B0604020202020204" pitchFamily="34" charset="0"/>
                <a:cs typeface="Arial" panose="020B0604020202020204" pitchFamily="34" charset="0"/>
              </a:rPr>
              <a:t>Node</a:t>
            </a:r>
            <a:r>
              <a:rPr lang="en-US" sz="2000" dirty="0">
                <a:latin typeface="Arial" panose="020B0604020202020204" pitchFamily="34" charset="0"/>
                <a:cs typeface="Arial" panose="020B0604020202020204" pitchFamily="34" charset="0"/>
              </a:rPr>
              <a:t> is a fundamental unit of a Graph. It contains properties with key-value pairs as shown in the following image.</a:t>
            </a:r>
          </a:p>
          <a:p>
            <a:pPr marL="0" indent="0">
              <a:lnSpc>
                <a:spcPct val="120000"/>
              </a:lnSpc>
              <a:spcBef>
                <a:spcPts val="600"/>
              </a:spcBef>
              <a:spcAft>
                <a:spcPts val="600"/>
              </a:spcAft>
              <a:buNone/>
            </a:pPr>
            <a:r>
              <a:rPr lang="en-US" sz="2000" dirty="0" smtClean="0">
                <a:latin typeface="Arial" panose="020B0604020202020204" pitchFamily="34" charset="0"/>
                <a:cs typeface="Arial" panose="020B0604020202020204" pitchFamily="34" charset="0"/>
              </a:rPr>
              <a:t>Here</a:t>
            </a:r>
            <a:r>
              <a:rPr lang="en-US" sz="2000" dirty="0">
                <a:latin typeface="Arial" panose="020B0604020202020204" pitchFamily="34" charset="0"/>
                <a:cs typeface="Arial" panose="020B0604020202020204" pitchFamily="34" charset="0"/>
              </a:rPr>
              <a:t>, Node Name = "Employee" and it contains a set of properties as key-value pairs</a:t>
            </a:r>
            <a:r>
              <a:rPr lang="en-US" sz="2000" dirty="0" smtClean="0">
                <a:latin typeface="Arial" panose="020B0604020202020204" pitchFamily="34" charset="0"/>
                <a:cs typeface="Arial" panose="020B0604020202020204" pitchFamily="34" charset="0"/>
              </a:rPr>
              <a:t>.</a:t>
            </a:r>
          </a:p>
          <a:p>
            <a:pPr marL="0" indent="0">
              <a:lnSpc>
                <a:spcPct val="120000"/>
              </a:lnSpc>
              <a:spcBef>
                <a:spcPts val="600"/>
              </a:spcBef>
              <a:spcAft>
                <a:spcPts val="600"/>
              </a:spcAft>
              <a:buNone/>
            </a:pPr>
            <a:r>
              <a:rPr lang="en-US" sz="2000" b="1" dirty="0">
                <a:latin typeface="Arial" panose="020B0604020202020204" pitchFamily="34" charset="0"/>
                <a:cs typeface="Arial" panose="020B0604020202020204" pitchFamily="34" charset="0"/>
              </a:rPr>
              <a:t>Properties</a:t>
            </a:r>
          </a:p>
          <a:p>
            <a:pPr marL="0" indent="0">
              <a:lnSpc>
                <a:spcPct val="120000"/>
              </a:lnSpc>
              <a:spcBef>
                <a:spcPts val="600"/>
              </a:spcBef>
              <a:spcAft>
                <a:spcPts val="600"/>
              </a:spcAft>
              <a:buNone/>
            </a:pPr>
            <a:r>
              <a:rPr lang="en-US" sz="2000" dirty="0">
                <a:latin typeface="Arial" panose="020B0604020202020204" pitchFamily="34" charset="0"/>
                <a:cs typeface="Arial" panose="020B0604020202020204" pitchFamily="34" charset="0"/>
              </a:rPr>
              <a:t>Property is a key-value pair to describe Graph Nodes and Relationships</a:t>
            </a:r>
            <a:r>
              <a:rPr lang="en-US" sz="2000" dirty="0" smtClean="0">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	</a:t>
            </a:r>
          </a:p>
          <a:p>
            <a:pPr marL="0" indent="0">
              <a:lnSpc>
                <a:spcPct val="120000"/>
              </a:lnSpc>
              <a:spcBef>
                <a:spcPts val="600"/>
              </a:spcBef>
              <a:spcAft>
                <a:spcPts val="600"/>
              </a:spcAft>
              <a:buNone/>
            </a:pPr>
            <a:r>
              <a:rPr lang="en-US" sz="2000" dirty="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Key </a:t>
            </a:r>
            <a:r>
              <a:rPr lang="en-US" sz="2000" dirty="0">
                <a:latin typeface="Arial" panose="020B0604020202020204" pitchFamily="34" charset="0"/>
                <a:cs typeface="Arial" panose="020B0604020202020204" pitchFamily="34" charset="0"/>
              </a:rPr>
              <a:t>= Value </a:t>
            </a:r>
          </a:p>
          <a:p>
            <a:pPr marL="0" indent="0">
              <a:lnSpc>
                <a:spcPct val="120000"/>
              </a:lnSpc>
              <a:spcBef>
                <a:spcPts val="600"/>
              </a:spcBef>
              <a:spcAft>
                <a:spcPts val="600"/>
              </a:spcAft>
              <a:buNone/>
            </a:pPr>
            <a:r>
              <a:rPr lang="en-US" sz="2000" dirty="0">
                <a:latin typeface="Arial" panose="020B0604020202020204" pitchFamily="34" charset="0"/>
                <a:cs typeface="Arial" panose="020B0604020202020204" pitchFamily="34" charset="0"/>
              </a:rPr>
              <a:t>Where Key is a String and Value may be represented using any Neo4j Data types.</a:t>
            </a:r>
          </a:p>
          <a:p>
            <a:pPr marL="0" indent="0">
              <a:lnSpc>
                <a:spcPct val="120000"/>
              </a:lnSpc>
              <a:spcBef>
                <a:spcPts val="600"/>
              </a:spcBef>
              <a:spcAft>
                <a:spcPts val="600"/>
              </a:spcAft>
              <a:buNone/>
            </a:pPr>
            <a:endParaRPr lang="en-US" sz="20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05-05-2020</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smtClean="0">
                <a:latin typeface="Arial" panose="020B0604020202020204" pitchFamily="34" charset="0"/>
                <a:cs typeface="Arial" panose="020B0604020202020204" pitchFamily="34" charset="0"/>
              </a:rPr>
              <a:t>Dr.</a:t>
            </a:r>
            <a:r>
              <a:rPr lang="en-IN" dirty="0" smtClean="0">
                <a:latin typeface="Arial" panose="020B0604020202020204" pitchFamily="34" charset="0"/>
                <a:cs typeface="Arial" panose="020B0604020202020204" pitchFamily="34" charset="0"/>
              </a:rPr>
              <a:t> S. </a:t>
            </a:r>
            <a:r>
              <a:rPr lang="en-IN" dirty="0" err="1" smtClean="0">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4</a:t>
            </a:fld>
            <a:endParaRPr lang="en-IN" dirty="0">
              <a:latin typeface="Arial" panose="020B0604020202020204" pitchFamily="34" charset="0"/>
              <a:cs typeface="Arial" panose="020B0604020202020204" pitchFamily="34" charset="0"/>
            </a:endParaRPr>
          </a:p>
        </p:txBody>
      </p:sp>
      <p:pic>
        <p:nvPicPr>
          <p:cNvPr id="1026" name="Picture 2" descr="Nod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29072" y="2502154"/>
            <a:ext cx="2624728" cy="28633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67708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smtClean="0">
                <a:solidFill>
                  <a:srgbClr val="0070C0"/>
                </a:solidFill>
                <a:latin typeface="Arial" panose="020B0604020202020204" pitchFamily="34" charset="0"/>
                <a:cs typeface="Arial" panose="020B0604020202020204" pitchFamily="34" charset="0"/>
              </a:rPr>
              <a:t>Node</a:t>
            </a:r>
            <a:endParaRPr lang="en-IN" sz="3200" b="1" u="sng" dirty="0">
              <a:solidFill>
                <a:srgbClr val="0070C0"/>
              </a:solidFill>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05-05-2020</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smtClean="0">
                <a:latin typeface="Arial" panose="020B0604020202020204" pitchFamily="34" charset="0"/>
                <a:cs typeface="Arial" panose="020B0604020202020204" pitchFamily="34" charset="0"/>
              </a:rPr>
              <a:t>Dr.</a:t>
            </a:r>
            <a:r>
              <a:rPr lang="en-IN" dirty="0" smtClean="0">
                <a:latin typeface="Arial" panose="020B0604020202020204" pitchFamily="34" charset="0"/>
                <a:cs typeface="Arial" panose="020B0604020202020204" pitchFamily="34" charset="0"/>
              </a:rPr>
              <a:t> S. </a:t>
            </a:r>
            <a:r>
              <a:rPr lang="en-IN" dirty="0" err="1" smtClean="0">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5</a:t>
            </a:fld>
            <a:endParaRPr lang="en-IN" dirty="0">
              <a:latin typeface="Arial" panose="020B0604020202020204" pitchFamily="34" charset="0"/>
              <a:cs typeface="Arial" panose="020B0604020202020204" pitchFamily="34" charset="0"/>
            </a:endParaRPr>
          </a:p>
        </p:txBody>
      </p:sp>
      <p:pic>
        <p:nvPicPr>
          <p:cNvPr id="6" name="Picture 5"/>
          <p:cNvPicPr>
            <a:picLocks noChangeAspect="1"/>
          </p:cNvPicPr>
          <p:nvPr/>
        </p:nvPicPr>
        <p:blipFill>
          <a:blip r:embed="rId3"/>
          <a:stretch>
            <a:fillRect/>
          </a:stretch>
        </p:blipFill>
        <p:spPr>
          <a:xfrm>
            <a:off x="3462953" y="1690688"/>
            <a:ext cx="5266093" cy="4270213"/>
          </a:xfrm>
          <a:prstGeom prst="rect">
            <a:avLst/>
          </a:prstGeom>
        </p:spPr>
      </p:pic>
    </p:spTree>
    <p:extLst>
      <p:ext uri="{BB962C8B-B14F-4D97-AF65-F5344CB8AC3E}">
        <p14:creationId xmlns:p14="http://schemas.microsoft.com/office/powerpoint/2010/main" val="394209166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smtClean="0">
                <a:solidFill>
                  <a:srgbClr val="0070C0"/>
                </a:solidFill>
                <a:latin typeface="Arial" panose="020B0604020202020204" pitchFamily="34" charset="0"/>
                <a:cs typeface="Arial" panose="020B0604020202020204" pitchFamily="34" charset="0"/>
              </a:rPr>
              <a:t>Relationships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20000"/>
              </a:lnSpc>
              <a:spcBef>
                <a:spcPts val="0"/>
              </a:spcBef>
              <a:spcAft>
                <a:spcPts val="600"/>
              </a:spcAft>
              <a:buNone/>
            </a:pPr>
            <a:r>
              <a:rPr lang="en-US" sz="2000" dirty="0" smtClean="0">
                <a:latin typeface="Arial" panose="020B0604020202020204" pitchFamily="34" charset="0"/>
                <a:cs typeface="Arial" panose="020B0604020202020204" pitchFamily="34" charset="0"/>
              </a:rPr>
              <a:t>Relationships </a:t>
            </a:r>
            <a:r>
              <a:rPr lang="en-US" sz="2000" dirty="0">
                <a:latin typeface="Arial" panose="020B0604020202020204" pitchFamily="34" charset="0"/>
                <a:cs typeface="Arial" panose="020B0604020202020204" pitchFamily="34" charset="0"/>
              </a:rPr>
              <a:t>are another major building block of a Graph Database. It connects two nodes as depicted in the following figure</a:t>
            </a:r>
            <a:r>
              <a:rPr lang="en-US" sz="2000" dirty="0" smtClean="0">
                <a:latin typeface="Arial" panose="020B0604020202020204" pitchFamily="34" charset="0"/>
                <a:cs typeface="Arial" panose="020B0604020202020204" pitchFamily="34" charset="0"/>
              </a:rPr>
              <a:t>.</a:t>
            </a:r>
          </a:p>
          <a:p>
            <a:pPr marL="0" indent="0">
              <a:lnSpc>
                <a:spcPct val="120000"/>
              </a:lnSpc>
              <a:spcBef>
                <a:spcPts val="0"/>
              </a:spcBef>
              <a:spcAft>
                <a:spcPts val="600"/>
              </a:spcAft>
              <a:buNone/>
            </a:pPr>
            <a:endParaRPr lang="en-US" sz="2000" dirty="0">
              <a:latin typeface="Arial" panose="020B0604020202020204" pitchFamily="34" charset="0"/>
              <a:cs typeface="Arial" panose="020B0604020202020204" pitchFamily="34" charset="0"/>
            </a:endParaRPr>
          </a:p>
          <a:p>
            <a:pPr marL="0" indent="0">
              <a:lnSpc>
                <a:spcPct val="120000"/>
              </a:lnSpc>
              <a:spcBef>
                <a:spcPts val="0"/>
              </a:spcBef>
              <a:spcAft>
                <a:spcPts val="600"/>
              </a:spcAft>
              <a:buNone/>
            </a:pPr>
            <a:endParaRPr lang="en-US" sz="2000" dirty="0" smtClean="0">
              <a:latin typeface="Arial" panose="020B0604020202020204" pitchFamily="34" charset="0"/>
              <a:cs typeface="Arial" panose="020B0604020202020204" pitchFamily="34" charset="0"/>
            </a:endParaRPr>
          </a:p>
          <a:p>
            <a:pPr marL="0" indent="0">
              <a:lnSpc>
                <a:spcPct val="120000"/>
              </a:lnSpc>
              <a:spcBef>
                <a:spcPts val="0"/>
              </a:spcBef>
              <a:spcAft>
                <a:spcPts val="600"/>
              </a:spcAft>
              <a:buNone/>
            </a:pPr>
            <a:endParaRPr lang="en-US" sz="2000" dirty="0" smtClean="0">
              <a:latin typeface="Arial" panose="020B0604020202020204" pitchFamily="34" charset="0"/>
              <a:cs typeface="Arial" panose="020B0604020202020204" pitchFamily="34" charset="0"/>
            </a:endParaRPr>
          </a:p>
          <a:p>
            <a:pPr marL="0" indent="0">
              <a:lnSpc>
                <a:spcPct val="120000"/>
              </a:lnSpc>
              <a:spcBef>
                <a:spcPts val="0"/>
              </a:spcBef>
              <a:spcAft>
                <a:spcPts val="600"/>
              </a:spcAft>
              <a:buNone/>
            </a:pPr>
            <a:r>
              <a:rPr lang="en-US" sz="2000" dirty="0" smtClean="0">
                <a:latin typeface="Arial" panose="020B0604020202020204" pitchFamily="34" charset="0"/>
                <a:cs typeface="Arial" panose="020B0604020202020204" pitchFamily="34" charset="0"/>
              </a:rPr>
              <a:t>Here</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Emp</a:t>
            </a:r>
            <a:r>
              <a:rPr lang="en-US" sz="2000" dirty="0">
                <a:latin typeface="Arial" panose="020B0604020202020204" pitchFamily="34" charset="0"/>
                <a:cs typeface="Arial" panose="020B0604020202020204" pitchFamily="34" charset="0"/>
              </a:rPr>
              <a:t> and </a:t>
            </a:r>
            <a:r>
              <a:rPr lang="en-US" sz="2000" dirty="0" err="1">
                <a:latin typeface="Arial" panose="020B0604020202020204" pitchFamily="34" charset="0"/>
                <a:cs typeface="Arial" panose="020B0604020202020204" pitchFamily="34" charset="0"/>
              </a:rPr>
              <a:t>Dept</a:t>
            </a:r>
            <a:r>
              <a:rPr lang="en-US" sz="2000" dirty="0">
                <a:latin typeface="Arial" panose="020B0604020202020204" pitchFamily="34" charset="0"/>
                <a:cs typeface="Arial" panose="020B0604020202020204" pitchFamily="34" charset="0"/>
              </a:rPr>
              <a:t> are two different nodes. "WORKS_FOR" is a relationship between </a:t>
            </a:r>
            <a:r>
              <a:rPr lang="en-US" sz="2000" dirty="0" err="1">
                <a:latin typeface="Arial" panose="020B0604020202020204" pitchFamily="34" charset="0"/>
                <a:cs typeface="Arial" panose="020B0604020202020204" pitchFamily="34" charset="0"/>
              </a:rPr>
              <a:t>Emp</a:t>
            </a:r>
            <a:r>
              <a:rPr lang="en-US" sz="2000" dirty="0">
                <a:latin typeface="Arial" panose="020B0604020202020204" pitchFamily="34" charset="0"/>
                <a:cs typeface="Arial" panose="020B0604020202020204" pitchFamily="34" charset="0"/>
              </a:rPr>
              <a:t> and </a:t>
            </a:r>
            <a:r>
              <a:rPr lang="en-US" sz="2000" dirty="0" err="1">
                <a:latin typeface="Arial" panose="020B0604020202020204" pitchFamily="34" charset="0"/>
                <a:cs typeface="Arial" panose="020B0604020202020204" pitchFamily="34" charset="0"/>
              </a:rPr>
              <a:t>Dept</a:t>
            </a:r>
            <a:r>
              <a:rPr lang="en-US" sz="2000" dirty="0">
                <a:latin typeface="Arial" panose="020B0604020202020204" pitchFamily="34" charset="0"/>
                <a:cs typeface="Arial" panose="020B0604020202020204" pitchFamily="34" charset="0"/>
              </a:rPr>
              <a:t> nodes</a:t>
            </a:r>
            <a:r>
              <a:rPr lang="en-US" sz="2000" dirty="0" smtClean="0">
                <a:latin typeface="Arial" panose="020B0604020202020204" pitchFamily="34" charset="0"/>
                <a:cs typeface="Arial" panose="020B0604020202020204" pitchFamily="34" charset="0"/>
              </a:rPr>
              <a:t>. As </a:t>
            </a:r>
            <a:r>
              <a:rPr lang="en-US" sz="2000" dirty="0">
                <a:latin typeface="Arial" panose="020B0604020202020204" pitchFamily="34" charset="0"/>
                <a:cs typeface="Arial" panose="020B0604020202020204" pitchFamily="34" charset="0"/>
              </a:rPr>
              <a:t>it denotes, the arrow mark from </a:t>
            </a:r>
            <a:r>
              <a:rPr lang="en-US" sz="2000" dirty="0" err="1">
                <a:latin typeface="Arial" panose="020B0604020202020204" pitchFamily="34" charset="0"/>
                <a:cs typeface="Arial" panose="020B0604020202020204" pitchFamily="34" charset="0"/>
              </a:rPr>
              <a:t>Emp</a:t>
            </a:r>
            <a:r>
              <a:rPr lang="en-US" sz="2000" dirty="0">
                <a:latin typeface="Arial" panose="020B0604020202020204" pitchFamily="34" charset="0"/>
                <a:cs typeface="Arial" panose="020B0604020202020204" pitchFamily="34" charset="0"/>
              </a:rPr>
              <a:t> to </a:t>
            </a:r>
            <a:r>
              <a:rPr lang="en-US" sz="2000" dirty="0" err="1">
                <a:latin typeface="Arial" panose="020B0604020202020204" pitchFamily="34" charset="0"/>
                <a:cs typeface="Arial" panose="020B0604020202020204" pitchFamily="34" charset="0"/>
              </a:rPr>
              <a:t>Dept</a:t>
            </a:r>
            <a:r>
              <a:rPr lang="en-US" sz="2000" dirty="0">
                <a:latin typeface="Arial" panose="020B0604020202020204" pitchFamily="34" charset="0"/>
                <a:cs typeface="Arial" panose="020B0604020202020204" pitchFamily="34" charset="0"/>
              </a:rPr>
              <a:t>, this relationship describes −</a:t>
            </a:r>
          </a:p>
          <a:p>
            <a:pPr marL="0" indent="0">
              <a:lnSpc>
                <a:spcPct val="120000"/>
              </a:lnSpc>
              <a:spcBef>
                <a:spcPts val="0"/>
              </a:spcBef>
              <a:spcAft>
                <a:spcPts val="600"/>
              </a:spcAft>
              <a:buNone/>
            </a:pP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Emp</a:t>
            </a:r>
            <a:r>
              <a:rPr lang="en-US" sz="2000" dirty="0" smtClean="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WORKS_FOR </a:t>
            </a:r>
            <a:r>
              <a:rPr lang="en-US" sz="2000" dirty="0" err="1">
                <a:latin typeface="Arial" panose="020B0604020202020204" pitchFamily="34" charset="0"/>
                <a:cs typeface="Arial" panose="020B0604020202020204" pitchFamily="34" charset="0"/>
              </a:rPr>
              <a:t>Dept</a:t>
            </a:r>
            <a:r>
              <a:rPr lang="en-US" sz="2000" dirty="0">
                <a:latin typeface="Arial" panose="020B0604020202020204" pitchFamily="34" charset="0"/>
                <a:cs typeface="Arial" panose="020B0604020202020204" pitchFamily="34" charset="0"/>
              </a:rPr>
              <a:t> </a:t>
            </a:r>
          </a:p>
          <a:p>
            <a:pPr marL="0" indent="0">
              <a:lnSpc>
                <a:spcPct val="120000"/>
              </a:lnSpc>
              <a:spcBef>
                <a:spcPts val="0"/>
              </a:spcBef>
              <a:spcAft>
                <a:spcPts val="600"/>
              </a:spcAft>
              <a:buNone/>
            </a:pPr>
            <a:r>
              <a:rPr lang="en-US" sz="2000" dirty="0">
                <a:latin typeface="Arial" panose="020B0604020202020204" pitchFamily="34" charset="0"/>
                <a:cs typeface="Arial" panose="020B0604020202020204" pitchFamily="34" charset="0"/>
              </a:rPr>
              <a:t>Each relationship contains one start node and one end </a:t>
            </a:r>
            <a:r>
              <a:rPr lang="en-US" sz="2000" dirty="0" smtClean="0">
                <a:latin typeface="Arial" panose="020B0604020202020204" pitchFamily="34" charset="0"/>
                <a:cs typeface="Arial" panose="020B0604020202020204" pitchFamily="34" charset="0"/>
              </a:rPr>
              <a:t>node. Here</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Emp</a:t>
            </a:r>
            <a:r>
              <a:rPr lang="en-US" sz="2000" dirty="0">
                <a:latin typeface="Arial" panose="020B0604020202020204" pitchFamily="34" charset="0"/>
                <a:cs typeface="Arial" panose="020B0604020202020204" pitchFamily="34" charset="0"/>
              </a:rPr>
              <a:t>" is a start node, and "</a:t>
            </a:r>
            <a:r>
              <a:rPr lang="en-US" sz="2000" dirty="0" err="1">
                <a:latin typeface="Arial" panose="020B0604020202020204" pitchFamily="34" charset="0"/>
                <a:cs typeface="Arial" panose="020B0604020202020204" pitchFamily="34" charset="0"/>
              </a:rPr>
              <a:t>Dept</a:t>
            </a:r>
            <a:r>
              <a:rPr lang="en-US" sz="2000" dirty="0">
                <a:latin typeface="Arial" panose="020B0604020202020204" pitchFamily="34" charset="0"/>
                <a:cs typeface="Arial" panose="020B0604020202020204" pitchFamily="34" charset="0"/>
              </a:rPr>
              <a:t>" is an end node.</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05-05-2020</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smtClean="0">
                <a:latin typeface="Arial" panose="020B0604020202020204" pitchFamily="34" charset="0"/>
                <a:cs typeface="Arial" panose="020B0604020202020204" pitchFamily="34" charset="0"/>
              </a:rPr>
              <a:t>Dr.</a:t>
            </a:r>
            <a:r>
              <a:rPr lang="en-IN" dirty="0" smtClean="0">
                <a:latin typeface="Arial" panose="020B0604020202020204" pitchFamily="34" charset="0"/>
                <a:cs typeface="Arial" panose="020B0604020202020204" pitchFamily="34" charset="0"/>
              </a:rPr>
              <a:t> S. </a:t>
            </a:r>
            <a:r>
              <a:rPr lang="en-IN" dirty="0" err="1" smtClean="0">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6</a:t>
            </a:fld>
            <a:endParaRPr lang="en-IN" dirty="0">
              <a:latin typeface="Arial" panose="020B0604020202020204" pitchFamily="34" charset="0"/>
              <a:cs typeface="Arial" panose="020B0604020202020204" pitchFamily="34" charset="0"/>
            </a:endParaRPr>
          </a:p>
        </p:txBody>
      </p:sp>
      <p:pic>
        <p:nvPicPr>
          <p:cNvPr id="2050" name="Picture 2" descr="Relationshi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732" y="2495654"/>
            <a:ext cx="4280535" cy="12856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55883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smtClean="0">
                <a:solidFill>
                  <a:srgbClr val="0070C0"/>
                </a:solidFill>
                <a:latin typeface="Arial" panose="020B0604020202020204" pitchFamily="34" charset="0"/>
                <a:cs typeface="Arial" panose="020B0604020202020204" pitchFamily="34" charset="0"/>
              </a:rPr>
              <a:t>Relationships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10000"/>
              </a:lnSpc>
              <a:spcBef>
                <a:spcPts val="0"/>
              </a:spcBef>
              <a:spcAft>
                <a:spcPts val="600"/>
              </a:spcAft>
              <a:buNone/>
            </a:pPr>
            <a:r>
              <a:rPr lang="en-US" sz="2050" dirty="0">
                <a:latin typeface="Arial" panose="020B0604020202020204" pitchFamily="34" charset="0"/>
                <a:cs typeface="Arial" panose="020B0604020202020204" pitchFamily="34" charset="0"/>
              </a:rPr>
              <a:t>As this relationship arrow mark represents a relationship from "</a:t>
            </a:r>
            <a:r>
              <a:rPr lang="en-US" sz="2050" dirty="0" err="1">
                <a:latin typeface="Arial" panose="020B0604020202020204" pitchFamily="34" charset="0"/>
                <a:cs typeface="Arial" panose="020B0604020202020204" pitchFamily="34" charset="0"/>
              </a:rPr>
              <a:t>Emp</a:t>
            </a:r>
            <a:r>
              <a:rPr lang="en-US" sz="2050" dirty="0">
                <a:latin typeface="Arial" panose="020B0604020202020204" pitchFamily="34" charset="0"/>
                <a:cs typeface="Arial" panose="020B0604020202020204" pitchFamily="34" charset="0"/>
              </a:rPr>
              <a:t>" node to "</a:t>
            </a:r>
            <a:r>
              <a:rPr lang="en-US" sz="2050" dirty="0" err="1">
                <a:latin typeface="Arial" panose="020B0604020202020204" pitchFamily="34" charset="0"/>
                <a:cs typeface="Arial" panose="020B0604020202020204" pitchFamily="34" charset="0"/>
              </a:rPr>
              <a:t>Dept</a:t>
            </a:r>
            <a:r>
              <a:rPr lang="en-US" sz="2050" dirty="0">
                <a:latin typeface="Arial" panose="020B0604020202020204" pitchFamily="34" charset="0"/>
                <a:cs typeface="Arial" panose="020B0604020202020204" pitchFamily="34" charset="0"/>
              </a:rPr>
              <a:t>" node, this relationship is known as an "Incoming Relationship" to "</a:t>
            </a:r>
            <a:r>
              <a:rPr lang="en-US" sz="2050" dirty="0" err="1">
                <a:latin typeface="Arial" panose="020B0604020202020204" pitchFamily="34" charset="0"/>
                <a:cs typeface="Arial" panose="020B0604020202020204" pitchFamily="34" charset="0"/>
              </a:rPr>
              <a:t>Dept</a:t>
            </a:r>
            <a:r>
              <a:rPr lang="en-US" sz="2050" dirty="0">
                <a:latin typeface="Arial" panose="020B0604020202020204" pitchFamily="34" charset="0"/>
                <a:cs typeface="Arial" panose="020B0604020202020204" pitchFamily="34" charset="0"/>
              </a:rPr>
              <a:t>" Node and "Outgoing Relationship" to "</a:t>
            </a:r>
            <a:r>
              <a:rPr lang="en-US" sz="2050" dirty="0" err="1">
                <a:latin typeface="Arial" panose="020B0604020202020204" pitchFamily="34" charset="0"/>
                <a:cs typeface="Arial" panose="020B0604020202020204" pitchFamily="34" charset="0"/>
              </a:rPr>
              <a:t>Emp</a:t>
            </a:r>
            <a:r>
              <a:rPr lang="en-US" sz="2050" dirty="0">
                <a:latin typeface="Arial" panose="020B0604020202020204" pitchFamily="34" charset="0"/>
                <a:cs typeface="Arial" panose="020B0604020202020204" pitchFamily="34" charset="0"/>
              </a:rPr>
              <a:t>" node.</a:t>
            </a:r>
          </a:p>
          <a:p>
            <a:pPr marL="0" indent="0">
              <a:lnSpc>
                <a:spcPct val="110000"/>
              </a:lnSpc>
              <a:spcBef>
                <a:spcPts val="0"/>
              </a:spcBef>
              <a:spcAft>
                <a:spcPts val="600"/>
              </a:spcAft>
              <a:buNone/>
            </a:pPr>
            <a:endParaRPr lang="en-US" sz="2050" dirty="0" smtClean="0">
              <a:latin typeface="Arial" panose="020B0604020202020204" pitchFamily="34" charset="0"/>
              <a:cs typeface="Arial" panose="020B0604020202020204" pitchFamily="34" charset="0"/>
            </a:endParaRPr>
          </a:p>
          <a:p>
            <a:pPr marL="0" indent="0">
              <a:lnSpc>
                <a:spcPct val="110000"/>
              </a:lnSpc>
              <a:spcBef>
                <a:spcPts val="0"/>
              </a:spcBef>
              <a:spcAft>
                <a:spcPts val="600"/>
              </a:spcAft>
              <a:buNone/>
            </a:pPr>
            <a:endParaRPr lang="en-US" sz="2050" dirty="0" smtClean="0">
              <a:latin typeface="Arial" panose="020B0604020202020204" pitchFamily="34" charset="0"/>
              <a:cs typeface="Arial" panose="020B0604020202020204" pitchFamily="34" charset="0"/>
            </a:endParaRPr>
          </a:p>
          <a:p>
            <a:pPr marL="0" indent="0">
              <a:lnSpc>
                <a:spcPct val="110000"/>
              </a:lnSpc>
              <a:spcBef>
                <a:spcPts val="0"/>
              </a:spcBef>
              <a:spcAft>
                <a:spcPts val="600"/>
              </a:spcAft>
              <a:buNone/>
            </a:pPr>
            <a:endParaRPr lang="en-US" sz="2050" dirty="0">
              <a:latin typeface="Arial" panose="020B0604020202020204" pitchFamily="34" charset="0"/>
              <a:cs typeface="Arial" panose="020B0604020202020204" pitchFamily="34" charset="0"/>
            </a:endParaRPr>
          </a:p>
          <a:p>
            <a:pPr marL="0" indent="0">
              <a:lnSpc>
                <a:spcPct val="110000"/>
              </a:lnSpc>
              <a:spcBef>
                <a:spcPts val="0"/>
              </a:spcBef>
              <a:spcAft>
                <a:spcPts val="600"/>
              </a:spcAft>
              <a:buNone/>
            </a:pPr>
            <a:endParaRPr lang="en-US" sz="2050" dirty="0">
              <a:latin typeface="Arial" panose="020B0604020202020204" pitchFamily="34" charset="0"/>
              <a:cs typeface="Arial" panose="020B0604020202020204" pitchFamily="34" charset="0"/>
            </a:endParaRPr>
          </a:p>
          <a:p>
            <a:pPr marL="0" indent="0">
              <a:lnSpc>
                <a:spcPct val="110000"/>
              </a:lnSpc>
              <a:spcBef>
                <a:spcPts val="0"/>
              </a:spcBef>
              <a:spcAft>
                <a:spcPts val="600"/>
              </a:spcAft>
              <a:buNone/>
            </a:pPr>
            <a:r>
              <a:rPr lang="en-US" sz="2050" dirty="0">
                <a:latin typeface="Arial" panose="020B0604020202020204" pitchFamily="34" charset="0"/>
                <a:cs typeface="Arial" panose="020B0604020202020204" pitchFamily="34" charset="0"/>
              </a:rPr>
              <a:t>Like nodes, relationships also can contain properties as key-value </a:t>
            </a:r>
            <a:r>
              <a:rPr lang="en-US" sz="2050" dirty="0" smtClean="0">
                <a:latin typeface="Arial" panose="020B0604020202020204" pitchFamily="34" charset="0"/>
                <a:cs typeface="Arial" panose="020B0604020202020204" pitchFamily="34" charset="0"/>
              </a:rPr>
              <a:t>pairs. </a:t>
            </a:r>
            <a:endParaRPr lang="en-US" sz="2050" dirty="0">
              <a:latin typeface="Arial" panose="020B0604020202020204" pitchFamily="34" charset="0"/>
              <a:cs typeface="Arial" panose="020B0604020202020204" pitchFamily="34" charset="0"/>
            </a:endParaRPr>
          </a:p>
          <a:p>
            <a:pPr marL="0" indent="0">
              <a:lnSpc>
                <a:spcPct val="110000"/>
              </a:lnSpc>
              <a:spcBef>
                <a:spcPts val="0"/>
              </a:spcBef>
              <a:spcAft>
                <a:spcPts val="600"/>
              </a:spcAft>
              <a:buNone/>
            </a:pPr>
            <a:r>
              <a:rPr lang="en-US" sz="2050" dirty="0">
                <a:latin typeface="Arial" panose="020B0604020202020204" pitchFamily="34" charset="0"/>
                <a:cs typeface="Arial" panose="020B0604020202020204" pitchFamily="34" charset="0"/>
              </a:rPr>
              <a:t>Here, "WORKS_FOR" relationship has one property as key-value pair.</a:t>
            </a:r>
          </a:p>
          <a:p>
            <a:pPr marL="0" indent="0">
              <a:lnSpc>
                <a:spcPct val="110000"/>
              </a:lnSpc>
              <a:spcBef>
                <a:spcPts val="0"/>
              </a:spcBef>
              <a:spcAft>
                <a:spcPts val="600"/>
              </a:spcAft>
              <a:buNone/>
            </a:pPr>
            <a:r>
              <a:rPr lang="en-US" sz="2050" dirty="0" smtClean="0">
                <a:latin typeface="Arial" panose="020B0604020202020204" pitchFamily="34" charset="0"/>
                <a:cs typeface="Arial" panose="020B0604020202020204" pitchFamily="34" charset="0"/>
              </a:rPr>
              <a:t>	Id </a:t>
            </a:r>
            <a:r>
              <a:rPr lang="en-US" sz="2050" dirty="0">
                <a:latin typeface="Arial" panose="020B0604020202020204" pitchFamily="34" charset="0"/>
                <a:cs typeface="Arial" panose="020B0604020202020204" pitchFamily="34" charset="0"/>
              </a:rPr>
              <a:t>= 123 </a:t>
            </a:r>
          </a:p>
          <a:p>
            <a:pPr marL="0" indent="0">
              <a:lnSpc>
                <a:spcPct val="110000"/>
              </a:lnSpc>
              <a:spcBef>
                <a:spcPts val="0"/>
              </a:spcBef>
              <a:spcAft>
                <a:spcPts val="600"/>
              </a:spcAft>
              <a:buNone/>
            </a:pPr>
            <a:r>
              <a:rPr lang="en-US" sz="2050" dirty="0">
                <a:latin typeface="Arial" panose="020B0604020202020204" pitchFamily="34" charset="0"/>
                <a:cs typeface="Arial" panose="020B0604020202020204" pitchFamily="34" charset="0"/>
              </a:rPr>
              <a:t>It represents an Id of this relationship.</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05-05-2020</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smtClean="0">
                <a:latin typeface="Arial" panose="020B0604020202020204" pitchFamily="34" charset="0"/>
                <a:cs typeface="Arial" panose="020B0604020202020204" pitchFamily="34" charset="0"/>
              </a:rPr>
              <a:t>Dr.</a:t>
            </a:r>
            <a:r>
              <a:rPr lang="en-IN" dirty="0" smtClean="0">
                <a:latin typeface="Arial" panose="020B0604020202020204" pitchFamily="34" charset="0"/>
                <a:cs typeface="Arial" panose="020B0604020202020204" pitchFamily="34" charset="0"/>
              </a:rPr>
              <a:t> S. </a:t>
            </a:r>
            <a:r>
              <a:rPr lang="en-IN" dirty="0" err="1" smtClean="0">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7</a:t>
            </a:fld>
            <a:endParaRPr lang="en-IN" dirty="0">
              <a:latin typeface="Arial" panose="020B0604020202020204" pitchFamily="34" charset="0"/>
              <a:cs typeface="Arial" panose="020B0604020202020204" pitchFamily="34" charset="0"/>
            </a:endParaRPr>
          </a:p>
        </p:txBody>
      </p:sp>
      <p:pic>
        <p:nvPicPr>
          <p:cNvPr id="3074" name="Picture 2" descr="Properti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8688" y="2933474"/>
            <a:ext cx="4174624" cy="14527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55513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smtClean="0">
                <a:solidFill>
                  <a:srgbClr val="0070C0"/>
                </a:solidFill>
                <a:latin typeface="Arial" panose="020B0604020202020204" pitchFamily="34" charset="0"/>
                <a:cs typeface="Arial" panose="020B0604020202020204" pitchFamily="34" charset="0"/>
              </a:rPr>
              <a:t>Relationships</a:t>
            </a:r>
            <a:endParaRPr lang="en-IN" sz="3200" b="1" u="sng" dirty="0">
              <a:solidFill>
                <a:srgbClr val="0070C0"/>
              </a:solidFill>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05-05-2020</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smtClean="0">
                <a:latin typeface="Arial" panose="020B0604020202020204" pitchFamily="34" charset="0"/>
                <a:cs typeface="Arial" panose="020B0604020202020204" pitchFamily="34" charset="0"/>
              </a:rPr>
              <a:t>Dr.</a:t>
            </a:r>
            <a:r>
              <a:rPr lang="en-IN" dirty="0" smtClean="0">
                <a:latin typeface="Arial" panose="020B0604020202020204" pitchFamily="34" charset="0"/>
                <a:cs typeface="Arial" panose="020B0604020202020204" pitchFamily="34" charset="0"/>
              </a:rPr>
              <a:t> S. </a:t>
            </a:r>
            <a:r>
              <a:rPr lang="en-IN" dirty="0" err="1" smtClean="0">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8</a:t>
            </a:fld>
            <a:endParaRPr lang="en-IN" dirty="0">
              <a:latin typeface="Arial" panose="020B0604020202020204" pitchFamily="34" charset="0"/>
              <a:cs typeface="Arial" panose="020B0604020202020204" pitchFamily="34" charset="0"/>
            </a:endParaRPr>
          </a:p>
        </p:txBody>
      </p:sp>
      <p:pic>
        <p:nvPicPr>
          <p:cNvPr id="10" name="Picture 9"/>
          <p:cNvPicPr>
            <a:picLocks noChangeAspect="1"/>
          </p:cNvPicPr>
          <p:nvPr/>
        </p:nvPicPr>
        <p:blipFill>
          <a:blip r:embed="rId3"/>
          <a:stretch>
            <a:fillRect/>
          </a:stretch>
        </p:blipFill>
        <p:spPr>
          <a:xfrm>
            <a:off x="838201" y="1690688"/>
            <a:ext cx="5321967" cy="3343325"/>
          </a:xfrm>
          <a:prstGeom prst="rect">
            <a:avLst/>
          </a:prstGeom>
        </p:spPr>
      </p:pic>
      <p:pic>
        <p:nvPicPr>
          <p:cNvPr id="12" name="Picture 11"/>
          <p:cNvPicPr>
            <a:picLocks noChangeAspect="1"/>
          </p:cNvPicPr>
          <p:nvPr/>
        </p:nvPicPr>
        <p:blipFill>
          <a:blip r:embed="rId4"/>
          <a:stretch>
            <a:fillRect/>
          </a:stretch>
        </p:blipFill>
        <p:spPr>
          <a:xfrm>
            <a:off x="5701113" y="1690688"/>
            <a:ext cx="3571095" cy="744504"/>
          </a:xfrm>
          <a:prstGeom prst="rect">
            <a:avLst/>
          </a:prstGeom>
        </p:spPr>
      </p:pic>
      <p:pic>
        <p:nvPicPr>
          <p:cNvPr id="14" name="Picture 13"/>
          <p:cNvPicPr>
            <a:picLocks noChangeAspect="1"/>
          </p:cNvPicPr>
          <p:nvPr/>
        </p:nvPicPr>
        <p:blipFill>
          <a:blip r:embed="rId5"/>
          <a:stretch>
            <a:fillRect/>
          </a:stretch>
        </p:blipFill>
        <p:spPr>
          <a:xfrm>
            <a:off x="838200" y="5262320"/>
            <a:ext cx="7189882" cy="753469"/>
          </a:xfrm>
          <a:prstGeom prst="rect">
            <a:avLst/>
          </a:prstGeom>
        </p:spPr>
      </p:pic>
      <p:pic>
        <p:nvPicPr>
          <p:cNvPr id="16" name="Picture 15"/>
          <p:cNvPicPr>
            <a:picLocks noChangeAspect="1"/>
          </p:cNvPicPr>
          <p:nvPr/>
        </p:nvPicPr>
        <p:blipFill>
          <a:blip r:embed="rId6"/>
          <a:stretch>
            <a:fillRect/>
          </a:stretch>
        </p:blipFill>
        <p:spPr>
          <a:xfrm>
            <a:off x="8512743" y="2601085"/>
            <a:ext cx="2841057" cy="3589371"/>
          </a:xfrm>
          <a:prstGeom prst="rect">
            <a:avLst/>
          </a:prstGeom>
        </p:spPr>
      </p:pic>
      <p:pic>
        <p:nvPicPr>
          <p:cNvPr id="18" name="Picture 17"/>
          <p:cNvPicPr>
            <a:picLocks noChangeAspect="1"/>
          </p:cNvPicPr>
          <p:nvPr/>
        </p:nvPicPr>
        <p:blipFill>
          <a:blip r:embed="rId7"/>
          <a:stretch>
            <a:fillRect/>
          </a:stretch>
        </p:blipFill>
        <p:spPr>
          <a:xfrm>
            <a:off x="6044393" y="3908408"/>
            <a:ext cx="2109007" cy="846472"/>
          </a:xfrm>
          <a:prstGeom prst="rect">
            <a:avLst/>
          </a:prstGeom>
        </p:spPr>
      </p:pic>
    </p:spTree>
    <p:extLst>
      <p:ext uri="{BB962C8B-B14F-4D97-AF65-F5344CB8AC3E}">
        <p14:creationId xmlns:p14="http://schemas.microsoft.com/office/powerpoint/2010/main" val="55579448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Labels</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20000"/>
              </a:lnSpc>
              <a:spcBef>
                <a:spcPts val="600"/>
              </a:spcBef>
              <a:spcAft>
                <a:spcPts val="600"/>
              </a:spcAft>
              <a:buNone/>
            </a:pPr>
            <a:r>
              <a:rPr lang="en-US" sz="2050" dirty="0">
                <a:latin typeface="Arial" panose="020B0604020202020204" pitchFamily="34" charset="0"/>
                <a:cs typeface="Arial" panose="020B0604020202020204" pitchFamily="34" charset="0"/>
              </a:rPr>
              <a:t>Label associates a common name to a set of nodes or relationships. A node or relationship can contain one or more labels. We can create new labels to existing nodes or relationships. We can remove the existing labels from the existing nodes or relationships.</a:t>
            </a:r>
          </a:p>
          <a:p>
            <a:pPr marL="539750" indent="-357188">
              <a:lnSpc>
                <a:spcPct val="120000"/>
              </a:lnSpc>
              <a:spcBef>
                <a:spcPts val="1800"/>
              </a:spcBef>
              <a:spcAft>
                <a:spcPts val="600"/>
              </a:spcAft>
            </a:pPr>
            <a:r>
              <a:rPr lang="en-US" sz="2050" dirty="0" smtClean="0">
                <a:latin typeface="Arial" panose="020B0604020202020204" pitchFamily="34" charset="0"/>
                <a:cs typeface="Arial" panose="020B0604020202020204" pitchFamily="34" charset="0"/>
              </a:rPr>
              <a:t>From </a:t>
            </a:r>
            <a:r>
              <a:rPr lang="en-US" sz="2050" dirty="0">
                <a:latin typeface="Arial" panose="020B0604020202020204" pitchFamily="34" charset="0"/>
                <a:cs typeface="Arial" panose="020B0604020202020204" pitchFamily="34" charset="0"/>
              </a:rPr>
              <a:t>the previous diagram, we can observe that there are two nodes.</a:t>
            </a:r>
          </a:p>
          <a:p>
            <a:pPr marL="539750" indent="-357188">
              <a:lnSpc>
                <a:spcPct val="120000"/>
              </a:lnSpc>
              <a:spcBef>
                <a:spcPts val="600"/>
              </a:spcBef>
              <a:spcAft>
                <a:spcPts val="600"/>
              </a:spcAft>
            </a:pPr>
            <a:r>
              <a:rPr lang="en-US" sz="2050" dirty="0" smtClean="0">
                <a:latin typeface="Arial" panose="020B0604020202020204" pitchFamily="34" charset="0"/>
                <a:cs typeface="Arial" panose="020B0604020202020204" pitchFamily="34" charset="0"/>
              </a:rPr>
              <a:t>Left </a:t>
            </a:r>
            <a:r>
              <a:rPr lang="en-US" sz="2050" dirty="0">
                <a:latin typeface="Arial" panose="020B0604020202020204" pitchFamily="34" charset="0"/>
                <a:cs typeface="Arial" panose="020B0604020202020204" pitchFamily="34" charset="0"/>
              </a:rPr>
              <a:t>side node has a Label: "</a:t>
            </a:r>
            <a:r>
              <a:rPr lang="en-US" sz="2050" dirty="0" err="1">
                <a:latin typeface="Arial" panose="020B0604020202020204" pitchFamily="34" charset="0"/>
                <a:cs typeface="Arial" panose="020B0604020202020204" pitchFamily="34" charset="0"/>
              </a:rPr>
              <a:t>Emp</a:t>
            </a:r>
            <a:r>
              <a:rPr lang="en-US" sz="2050" dirty="0">
                <a:latin typeface="Arial" panose="020B0604020202020204" pitchFamily="34" charset="0"/>
                <a:cs typeface="Arial" panose="020B0604020202020204" pitchFamily="34" charset="0"/>
              </a:rPr>
              <a:t>" and the right side node has a Label: "</a:t>
            </a:r>
            <a:r>
              <a:rPr lang="en-US" sz="2050" dirty="0" err="1">
                <a:latin typeface="Arial" panose="020B0604020202020204" pitchFamily="34" charset="0"/>
                <a:cs typeface="Arial" panose="020B0604020202020204" pitchFamily="34" charset="0"/>
              </a:rPr>
              <a:t>Dept</a:t>
            </a:r>
            <a:r>
              <a:rPr lang="en-US" sz="2050" dirty="0">
                <a:latin typeface="Arial" panose="020B0604020202020204" pitchFamily="34" charset="0"/>
                <a:cs typeface="Arial" panose="020B0604020202020204" pitchFamily="34" charset="0"/>
              </a:rPr>
              <a:t>".</a:t>
            </a:r>
          </a:p>
          <a:p>
            <a:pPr marL="539750" indent="-357188">
              <a:lnSpc>
                <a:spcPct val="120000"/>
              </a:lnSpc>
              <a:spcBef>
                <a:spcPts val="600"/>
              </a:spcBef>
              <a:spcAft>
                <a:spcPts val="600"/>
              </a:spcAft>
            </a:pPr>
            <a:r>
              <a:rPr lang="en-US" sz="2050" dirty="0" smtClean="0">
                <a:latin typeface="Arial" panose="020B0604020202020204" pitchFamily="34" charset="0"/>
                <a:cs typeface="Arial" panose="020B0604020202020204" pitchFamily="34" charset="0"/>
              </a:rPr>
              <a:t>Relationship </a:t>
            </a:r>
            <a:r>
              <a:rPr lang="en-US" sz="2050" dirty="0">
                <a:latin typeface="Arial" panose="020B0604020202020204" pitchFamily="34" charset="0"/>
                <a:cs typeface="Arial" panose="020B0604020202020204" pitchFamily="34" charset="0"/>
              </a:rPr>
              <a:t>between those two nodes also has a Label: "WORKS_FOR".</a:t>
            </a:r>
          </a:p>
          <a:p>
            <a:pPr marL="539750" indent="-357188">
              <a:lnSpc>
                <a:spcPct val="120000"/>
              </a:lnSpc>
              <a:spcBef>
                <a:spcPts val="600"/>
              </a:spcBef>
              <a:spcAft>
                <a:spcPts val="600"/>
              </a:spcAft>
            </a:pPr>
            <a:r>
              <a:rPr lang="en-US" sz="2050" dirty="0" smtClean="0">
                <a:latin typeface="Arial" panose="020B0604020202020204" pitchFamily="34" charset="0"/>
                <a:cs typeface="Arial" panose="020B0604020202020204" pitchFamily="34" charset="0"/>
              </a:rPr>
              <a:t>Note </a:t>
            </a:r>
            <a:r>
              <a:rPr lang="en-US" sz="2050" dirty="0">
                <a:latin typeface="Arial" panose="020B0604020202020204" pitchFamily="34" charset="0"/>
                <a:cs typeface="Arial" panose="020B0604020202020204" pitchFamily="34" charset="0"/>
              </a:rPr>
              <a:t>− Neo4j stores data in Properties of Nodes or Relationships.</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05-05-2020</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smtClean="0">
                <a:latin typeface="Arial" panose="020B0604020202020204" pitchFamily="34" charset="0"/>
                <a:cs typeface="Arial" panose="020B0604020202020204" pitchFamily="34" charset="0"/>
              </a:rPr>
              <a:t>Dr.</a:t>
            </a:r>
            <a:r>
              <a:rPr lang="en-IN" dirty="0" smtClean="0">
                <a:latin typeface="Arial" panose="020B0604020202020204" pitchFamily="34" charset="0"/>
                <a:cs typeface="Arial" panose="020B0604020202020204" pitchFamily="34" charset="0"/>
              </a:rPr>
              <a:t> S. </a:t>
            </a:r>
            <a:r>
              <a:rPr lang="en-IN" dirty="0" err="1" smtClean="0">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9</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4692288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smtClean="0">
                <a:solidFill>
                  <a:srgbClr val="0070C0"/>
                </a:solidFill>
                <a:latin typeface="Arial" panose="020B0604020202020204" pitchFamily="34" charset="0"/>
                <a:cs typeface="Arial" panose="020B0604020202020204" pitchFamily="34" charset="0"/>
              </a:rPr>
              <a:t>Properties</a:t>
            </a:r>
            <a:r>
              <a:rPr lang="en-IN" sz="3200" b="1" dirty="0" smtClean="0">
                <a:solidFill>
                  <a:srgbClr val="0070C0"/>
                </a:solidFill>
                <a:latin typeface="Arial" panose="020B0604020202020204" pitchFamily="34" charset="0"/>
                <a:cs typeface="Arial" panose="020B0604020202020204" pitchFamily="34" charset="0"/>
              </a:rPr>
              <a:t>					</a:t>
            </a:r>
            <a:r>
              <a:rPr lang="en-IN" sz="3200" b="1" u="sng" dirty="0" smtClean="0">
                <a:solidFill>
                  <a:srgbClr val="0070C0"/>
                </a:solidFill>
                <a:latin typeface="Arial" panose="020B0604020202020204" pitchFamily="34" charset="0"/>
                <a:cs typeface="Arial" panose="020B0604020202020204" pitchFamily="34" charset="0"/>
              </a:rPr>
              <a:t>Label</a:t>
            </a:r>
            <a:endParaRPr lang="en-IN" sz="3200" b="1" u="sng" dirty="0">
              <a:solidFill>
                <a:srgbClr val="0070C0"/>
              </a:solidFill>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05-05-2020</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smtClean="0">
                <a:latin typeface="Arial" panose="020B0604020202020204" pitchFamily="34" charset="0"/>
                <a:cs typeface="Arial" panose="020B0604020202020204" pitchFamily="34" charset="0"/>
              </a:rPr>
              <a:t>Dr.</a:t>
            </a:r>
            <a:r>
              <a:rPr lang="en-IN" dirty="0" smtClean="0">
                <a:latin typeface="Arial" panose="020B0604020202020204" pitchFamily="34" charset="0"/>
                <a:cs typeface="Arial" panose="020B0604020202020204" pitchFamily="34" charset="0"/>
              </a:rPr>
              <a:t> S. </a:t>
            </a:r>
            <a:r>
              <a:rPr lang="en-IN" dirty="0" err="1" smtClean="0">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10</a:t>
            </a:fld>
            <a:endParaRPr lang="en-IN" dirty="0">
              <a:latin typeface="Arial" panose="020B0604020202020204" pitchFamily="34" charset="0"/>
              <a:cs typeface="Arial" panose="020B0604020202020204" pitchFamily="34" charset="0"/>
            </a:endParaRPr>
          </a:p>
        </p:txBody>
      </p:sp>
      <p:pic>
        <p:nvPicPr>
          <p:cNvPr id="6" name="Picture 5"/>
          <p:cNvPicPr>
            <a:picLocks noChangeAspect="1"/>
          </p:cNvPicPr>
          <p:nvPr/>
        </p:nvPicPr>
        <p:blipFill>
          <a:blip r:embed="rId3"/>
          <a:stretch>
            <a:fillRect/>
          </a:stretch>
        </p:blipFill>
        <p:spPr>
          <a:xfrm>
            <a:off x="1261712" y="1584810"/>
            <a:ext cx="2662588" cy="4492512"/>
          </a:xfrm>
          <a:prstGeom prst="rect">
            <a:avLst/>
          </a:prstGeom>
        </p:spPr>
      </p:pic>
      <p:pic>
        <p:nvPicPr>
          <p:cNvPr id="12" name="Picture 11"/>
          <p:cNvPicPr>
            <a:picLocks noChangeAspect="1"/>
          </p:cNvPicPr>
          <p:nvPr/>
        </p:nvPicPr>
        <p:blipFill>
          <a:blip r:embed="rId4"/>
          <a:stretch>
            <a:fillRect/>
          </a:stretch>
        </p:blipFill>
        <p:spPr>
          <a:xfrm>
            <a:off x="6926179" y="2385116"/>
            <a:ext cx="2853088" cy="2527865"/>
          </a:xfrm>
          <a:prstGeom prst="rect">
            <a:avLst/>
          </a:prstGeom>
        </p:spPr>
      </p:pic>
    </p:spTree>
    <p:extLst>
      <p:ext uri="{BB962C8B-B14F-4D97-AF65-F5344CB8AC3E}">
        <p14:creationId xmlns:p14="http://schemas.microsoft.com/office/powerpoint/2010/main" val="267048352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smtClean="0">
                <a:solidFill>
                  <a:srgbClr val="0070C0"/>
                </a:solidFill>
                <a:latin typeface="Arial" panose="020B0604020202020204" pitchFamily="34" charset="0"/>
                <a:cs typeface="Arial" panose="020B0604020202020204" pitchFamily="34" charset="0"/>
              </a:rPr>
              <a:t>Paths</a:t>
            </a:r>
            <a:endParaRPr lang="en-IN" sz="3200" b="1" u="sng" dirty="0">
              <a:solidFill>
                <a:srgbClr val="0070C0"/>
              </a:solidFill>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05-05-2020</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smtClean="0">
                <a:latin typeface="Arial" panose="020B0604020202020204" pitchFamily="34" charset="0"/>
                <a:cs typeface="Arial" panose="020B0604020202020204" pitchFamily="34" charset="0"/>
              </a:rPr>
              <a:t>Dr.</a:t>
            </a:r>
            <a:r>
              <a:rPr lang="en-IN" dirty="0" smtClean="0">
                <a:latin typeface="Arial" panose="020B0604020202020204" pitchFamily="34" charset="0"/>
                <a:cs typeface="Arial" panose="020B0604020202020204" pitchFamily="34" charset="0"/>
              </a:rPr>
              <a:t> S. </a:t>
            </a:r>
            <a:r>
              <a:rPr lang="en-IN" dirty="0" err="1" smtClean="0">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11</a:t>
            </a:fld>
            <a:endParaRPr lang="en-IN"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3"/>
          <a:stretch>
            <a:fillRect/>
          </a:stretch>
        </p:blipFill>
        <p:spPr>
          <a:xfrm>
            <a:off x="838200" y="1780510"/>
            <a:ext cx="5142378" cy="3901590"/>
          </a:xfrm>
          <a:prstGeom prst="rect">
            <a:avLst/>
          </a:prstGeom>
        </p:spPr>
      </p:pic>
      <p:pic>
        <p:nvPicPr>
          <p:cNvPr id="11" name="Picture 10"/>
          <p:cNvPicPr>
            <a:picLocks noChangeAspect="1"/>
          </p:cNvPicPr>
          <p:nvPr/>
        </p:nvPicPr>
        <p:blipFill>
          <a:blip r:embed="rId4"/>
          <a:stretch>
            <a:fillRect/>
          </a:stretch>
        </p:blipFill>
        <p:spPr>
          <a:xfrm>
            <a:off x="7705825" y="1780510"/>
            <a:ext cx="1809549" cy="2417444"/>
          </a:xfrm>
          <a:prstGeom prst="rect">
            <a:avLst/>
          </a:prstGeom>
        </p:spPr>
      </p:pic>
      <p:pic>
        <p:nvPicPr>
          <p:cNvPr id="14" name="Picture 13"/>
          <p:cNvPicPr>
            <a:picLocks noChangeAspect="1"/>
          </p:cNvPicPr>
          <p:nvPr/>
        </p:nvPicPr>
        <p:blipFill>
          <a:blip r:embed="rId5"/>
          <a:stretch>
            <a:fillRect/>
          </a:stretch>
        </p:blipFill>
        <p:spPr>
          <a:xfrm>
            <a:off x="7055028" y="4777876"/>
            <a:ext cx="3111144" cy="904224"/>
          </a:xfrm>
          <a:prstGeom prst="rect">
            <a:avLst/>
          </a:prstGeom>
        </p:spPr>
      </p:pic>
    </p:spTree>
    <p:extLst>
      <p:ext uri="{BB962C8B-B14F-4D97-AF65-F5344CB8AC3E}">
        <p14:creationId xmlns:p14="http://schemas.microsoft.com/office/powerpoint/2010/main" val="271832077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Neo4j Data Browser</a:t>
            </a:r>
          </a:p>
        </p:txBody>
      </p:sp>
      <p:sp>
        <p:nvSpPr>
          <p:cNvPr id="3" name="Content Placeholder 2"/>
          <p:cNvSpPr>
            <a:spLocks noGrp="1"/>
          </p:cNvSpPr>
          <p:nvPr>
            <p:ph idx="1"/>
          </p:nvPr>
        </p:nvSpPr>
        <p:spPr>
          <a:xfrm>
            <a:off x="838200" y="1690688"/>
            <a:ext cx="4263189"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Once we install Neo4j, we can access Neo4j Data Browser using the following </a:t>
            </a:r>
            <a:r>
              <a:rPr lang="en-US" sz="2400" dirty="0" smtClean="0">
                <a:latin typeface="Arial" panose="020B0604020202020204" pitchFamily="34" charset="0"/>
                <a:cs typeface="Arial" panose="020B0604020202020204" pitchFamily="34" charset="0"/>
              </a:rPr>
              <a:t>URL:	</a:t>
            </a:r>
          </a:p>
          <a:p>
            <a:pPr marL="0" indent="0">
              <a:lnSpc>
                <a:spcPct val="120000"/>
              </a:lnSpc>
              <a:spcBef>
                <a:spcPts val="1800"/>
              </a:spcBef>
              <a:spcAft>
                <a:spcPts val="600"/>
              </a:spcAft>
              <a:buNone/>
            </a:pPr>
            <a:r>
              <a:rPr lang="en-US" sz="2400" dirty="0" smtClean="0">
                <a:latin typeface="Arial" panose="020B0604020202020204" pitchFamily="34" charset="0"/>
                <a:cs typeface="Arial" panose="020B0604020202020204" pitchFamily="34" charset="0"/>
              </a:rPr>
              <a:t>http</a:t>
            </a:r>
            <a:r>
              <a:rPr lang="en-US" sz="2400" dirty="0">
                <a:latin typeface="Arial" panose="020B0604020202020204" pitchFamily="34" charset="0"/>
                <a:cs typeface="Arial" panose="020B0604020202020204" pitchFamily="34" charset="0"/>
              </a:rPr>
              <a:t>://localhost:7474/browser/</a:t>
            </a:r>
            <a:endParaRPr lang="en-US" sz="2400" dirty="0" smtClean="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05-05-2020</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smtClean="0">
                <a:latin typeface="Arial" panose="020B0604020202020204" pitchFamily="34" charset="0"/>
                <a:cs typeface="Arial" panose="020B0604020202020204" pitchFamily="34" charset="0"/>
              </a:rPr>
              <a:t>Dr.</a:t>
            </a:r>
            <a:r>
              <a:rPr lang="en-IN" dirty="0" smtClean="0">
                <a:latin typeface="Arial" panose="020B0604020202020204" pitchFamily="34" charset="0"/>
                <a:cs typeface="Arial" panose="020B0604020202020204" pitchFamily="34" charset="0"/>
              </a:rPr>
              <a:t> S. </a:t>
            </a:r>
            <a:r>
              <a:rPr lang="en-IN" dirty="0" err="1" smtClean="0">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12</a:t>
            </a:fld>
            <a:endParaRPr lang="en-IN" dirty="0">
              <a:latin typeface="Arial" panose="020B0604020202020204" pitchFamily="34" charset="0"/>
              <a:cs typeface="Arial" panose="020B0604020202020204" pitchFamily="34" charset="0"/>
            </a:endParaRPr>
          </a:p>
        </p:txBody>
      </p:sp>
      <p:pic>
        <p:nvPicPr>
          <p:cNvPr id="4098" name="Picture 2" descr="Data Brows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1252" y="1675349"/>
            <a:ext cx="6152548" cy="45016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24827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Neo4j Data Browser</a:t>
            </a:r>
          </a:p>
        </p:txBody>
      </p:sp>
      <p:sp>
        <p:nvSpPr>
          <p:cNvPr id="3" name="Content Placeholder 2"/>
          <p:cNvSpPr>
            <a:spLocks noGrp="1"/>
          </p:cNvSpPr>
          <p:nvPr>
            <p:ph idx="1"/>
          </p:nvPr>
        </p:nvSpPr>
        <p:spPr>
          <a:xfrm>
            <a:off x="838200" y="1690688"/>
            <a:ext cx="10515600" cy="4486275"/>
          </a:xfrm>
        </p:spPr>
        <p:txBody>
          <a:bodyPr>
            <a:normAutofit fontScale="77500" lnSpcReduction="20000"/>
          </a:bodyPr>
          <a:lstStyle/>
          <a:p>
            <a:pPr marL="539750" indent="-357188">
              <a:lnSpc>
                <a:spcPct val="140000"/>
              </a:lnSpc>
              <a:spcBef>
                <a:spcPts val="600"/>
              </a:spcBef>
              <a:spcAft>
                <a:spcPts val="600"/>
              </a:spcAft>
            </a:pPr>
            <a:r>
              <a:rPr lang="en-US" sz="2400" dirty="0">
                <a:latin typeface="Arial" panose="020B0604020202020204" pitchFamily="34" charset="0"/>
                <a:cs typeface="Arial" panose="020B0604020202020204" pitchFamily="34" charset="0"/>
              </a:rPr>
              <a:t>Neo4j Data Browser is used to execute CQL commands and view the output.</a:t>
            </a:r>
          </a:p>
          <a:p>
            <a:pPr marL="539750" indent="-357188">
              <a:lnSpc>
                <a:spcPct val="140000"/>
              </a:lnSpc>
              <a:spcBef>
                <a:spcPts val="600"/>
              </a:spcBef>
              <a:spcAft>
                <a:spcPts val="600"/>
              </a:spcAft>
            </a:pPr>
            <a:r>
              <a:rPr lang="en-US" sz="2400" dirty="0" smtClean="0">
                <a:latin typeface="Arial" panose="020B0604020202020204" pitchFamily="34" charset="0"/>
                <a:cs typeface="Arial" panose="020B0604020202020204" pitchFamily="34" charset="0"/>
              </a:rPr>
              <a:t>Here</a:t>
            </a:r>
            <a:r>
              <a:rPr lang="en-US" sz="2400" dirty="0">
                <a:latin typeface="Arial" panose="020B0604020202020204" pitchFamily="34" charset="0"/>
                <a:cs typeface="Arial" panose="020B0604020202020204" pitchFamily="34" charset="0"/>
              </a:rPr>
              <a:t>, we need to execute all CQL commands at dollar prompt: "$"</a:t>
            </a:r>
          </a:p>
          <a:p>
            <a:pPr marL="539750" indent="-357188">
              <a:lnSpc>
                <a:spcPct val="140000"/>
              </a:lnSpc>
              <a:spcBef>
                <a:spcPts val="600"/>
              </a:spcBef>
              <a:spcAft>
                <a:spcPts val="600"/>
              </a:spcAft>
            </a:pPr>
            <a:r>
              <a:rPr lang="en-US" sz="2400" dirty="0" smtClean="0">
                <a:latin typeface="Arial" panose="020B0604020202020204" pitchFamily="34" charset="0"/>
                <a:cs typeface="Arial" panose="020B0604020202020204" pitchFamily="34" charset="0"/>
              </a:rPr>
              <a:t>Type </a:t>
            </a:r>
            <a:r>
              <a:rPr lang="en-US" sz="2400" dirty="0">
                <a:latin typeface="Arial" panose="020B0604020202020204" pitchFamily="34" charset="0"/>
                <a:cs typeface="Arial" panose="020B0604020202020204" pitchFamily="34" charset="0"/>
              </a:rPr>
              <a:t>commands after the dollar symbol and click the "Execute" button to run your commands.</a:t>
            </a:r>
          </a:p>
          <a:p>
            <a:pPr marL="539750" indent="-357188">
              <a:lnSpc>
                <a:spcPct val="140000"/>
              </a:lnSpc>
              <a:spcBef>
                <a:spcPts val="600"/>
              </a:spcBef>
              <a:spcAft>
                <a:spcPts val="600"/>
              </a:spcAft>
            </a:pPr>
            <a:r>
              <a:rPr lang="en-US" sz="2400" dirty="0" smtClean="0">
                <a:latin typeface="Arial" panose="020B0604020202020204" pitchFamily="34" charset="0"/>
                <a:cs typeface="Arial" panose="020B0604020202020204" pitchFamily="34" charset="0"/>
              </a:rPr>
              <a:t>It </a:t>
            </a:r>
            <a:r>
              <a:rPr lang="en-US" sz="2400" dirty="0">
                <a:latin typeface="Arial" panose="020B0604020202020204" pitchFamily="34" charset="0"/>
                <a:cs typeface="Arial" panose="020B0604020202020204" pitchFamily="34" charset="0"/>
              </a:rPr>
              <a:t>interacts with Neo4j Database Server, retrieves and displays the results just below the dollar prompt.</a:t>
            </a:r>
          </a:p>
          <a:p>
            <a:pPr marL="539750" indent="-357188">
              <a:lnSpc>
                <a:spcPct val="140000"/>
              </a:lnSpc>
              <a:spcBef>
                <a:spcPts val="600"/>
              </a:spcBef>
              <a:spcAft>
                <a:spcPts val="600"/>
              </a:spcAft>
            </a:pPr>
            <a:r>
              <a:rPr lang="en-US" sz="2400" dirty="0" smtClean="0">
                <a:latin typeface="Arial" panose="020B0604020202020204" pitchFamily="34" charset="0"/>
                <a:cs typeface="Arial" panose="020B0604020202020204" pitchFamily="34" charset="0"/>
              </a:rPr>
              <a:t>Use </a:t>
            </a:r>
            <a:r>
              <a:rPr lang="en-US" sz="2400" dirty="0">
                <a:latin typeface="Arial" panose="020B0604020202020204" pitchFamily="34" charset="0"/>
                <a:cs typeface="Arial" panose="020B0604020202020204" pitchFamily="34" charset="0"/>
              </a:rPr>
              <a:t>"VI View" button to view the results in diagrams format. The above diagram shows results in "UI View" </a:t>
            </a:r>
            <a:r>
              <a:rPr lang="en-US" sz="2400" dirty="0" smtClean="0">
                <a:latin typeface="Arial" panose="020B0604020202020204" pitchFamily="34" charset="0"/>
                <a:cs typeface="Arial" panose="020B0604020202020204" pitchFamily="34" charset="0"/>
              </a:rPr>
              <a:t>format</a:t>
            </a:r>
            <a:r>
              <a:rPr lang="en-US" sz="2400" dirty="0">
                <a:latin typeface="Arial" panose="020B0604020202020204" pitchFamily="34" charset="0"/>
                <a:cs typeface="Arial" panose="020B0604020202020204" pitchFamily="34" charset="0"/>
              </a:rPr>
              <a:t>.</a:t>
            </a:r>
          </a:p>
          <a:p>
            <a:pPr marL="539750" indent="-357188">
              <a:lnSpc>
                <a:spcPct val="140000"/>
              </a:lnSpc>
              <a:spcBef>
                <a:spcPts val="600"/>
              </a:spcBef>
              <a:spcAft>
                <a:spcPts val="600"/>
              </a:spcAft>
            </a:pPr>
            <a:r>
              <a:rPr lang="en-US" sz="2400" dirty="0" smtClean="0">
                <a:latin typeface="Arial" panose="020B0604020202020204" pitchFamily="34" charset="0"/>
                <a:cs typeface="Arial" panose="020B0604020202020204" pitchFamily="34" charset="0"/>
              </a:rPr>
              <a:t>Use </a:t>
            </a:r>
            <a:r>
              <a:rPr lang="en-US" sz="2400" dirty="0">
                <a:latin typeface="Arial" panose="020B0604020202020204" pitchFamily="34" charset="0"/>
                <a:cs typeface="Arial" panose="020B0604020202020204" pitchFamily="34" charset="0"/>
              </a:rPr>
              <a:t>"Grid View" button to view the results in Grid View. The following diagram shows the same results in "Grid View" format.</a:t>
            </a:r>
            <a:endParaRPr lang="en-US" sz="2400" dirty="0" smtClean="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05-05-2020</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smtClean="0">
                <a:latin typeface="Arial" panose="020B0604020202020204" pitchFamily="34" charset="0"/>
                <a:cs typeface="Arial" panose="020B0604020202020204" pitchFamily="34" charset="0"/>
              </a:rPr>
              <a:t>Dr.</a:t>
            </a:r>
            <a:r>
              <a:rPr lang="en-IN" dirty="0" smtClean="0">
                <a:latin typeface="Arial" panose="020B0604020202020204" pitchFamily="34" charset="0"/>
                <a:cs typeface="Arial" panose="020B0604020202020204" pitchFamily="34" charset="0"/>
              </a:rPr>
              <a:t> S. </a:t>
            </a:r>
            <a:r>
              <a:rPr lang="en-IN" dirty="0" err="1" smtClean="0">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6693184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Neo4j Data Browser</a:t>
            </a:r>
          </a:p>
        </p:txBody>
      </p:sp>
      <p:sp>
        <p:nvSpPr>
          <p:cNvPr id="3" name="Content Placeholder 2"/>
          <p:cNvSpPr>
            <a:spLocks noGrp="1"/>
          </p:cNvSpPr>
          <p:nvPr>
            <p:ph idx="1"/>
          </p:nvPr>
        </p:nvSpPr>
        <p:spPr>
          <a:xfrm>
            <a:off x="838201" y="1690688"/>
            <a:ext cx="32004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When we use "Grid View" to view our Query results, we can export them into a file in two different formats.</a:t>
            </a:r>
            <a:endParaRPr lang="en-US" sz="2400" dirty="0" smtClean="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05-05-2020</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smtClean="0">
                <a:latin typeface="Arial" panose="020B0604020202020204" pitchFamily="34" charset="0"/>
                <a:cs typeface="Arial" panose="020B0604020202020204" pitchFamily="34" charset="0"/>
              </a:rPr>
              <a:t>Dr.</a:t>
            </a:r>
            <a:r>
              <a:rPr lang="en-IN" dirty="0" smtClean="0">
                <a:latin typeface="Arial" panose="020B0604020202020204" pitchFamily="34" charset="0"/>
                <a:cs typeface="Arial" panose="020B0604020202020204" pitchFamily="34" charset="0"/>
              </a:rPr>
              <a:t> S. </a:t>
            </a:r>
            <a:r>
              <a:rPr lang="en-IN" dirty="0" err="1" smtClean="0">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14</a:t>
            </a:fld>
            <a:endParaRPr lang="en-IN" dirty="0">
              <a:latin typeface="Arial" panose="020B0604020202020204" pitchFamily="34" charset="0"/>
              <a:cs typeface="Arial" panose="020B0604020202020204" pitchFamily="34" charset="0"/>
            </a:endParaRPr>
          </a:p>
        </p:txBody>
      </p:sp>
      <p:pic>
        <p:nvPicPr>
          <p:cNvPr id="5122" name="Picture 2" descr="Grid View"/>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3842" y="1690688"/>
            <a:ext cx="7139958" cy="4486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515461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Neo4j </a:t>
            </a:r>
            <a:r>
              <a:rPr lang="en-IN" sz="3200" b="1" u="sng" dirty="0" smtClean="0">
                <a:solidFill>
                  <a:srgbClr val="0070C0"/>
                </a:solidFill>
                <a:latin typeface="Arial" panose="020B0604020202020204" pitchFamily="34" charset="0"/>
                <a:cs typeface="Arial" panose="020B0604020202020204" pitchFamily="34" charset="0"/>
              </a:rPr>
              <a:t>export CSV</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1" y="1690688"/>
            <a:ext cx="4898456" cy="4486275"/>
          </a:xfrm>
        </p:spPr>
        <p:txBody>
          <a:bodyPr>
            <a:normAutofit/>
          </a:bodyPr>
          <a:lstStyle/>
          <a:p>
            <a:pPr marL="0" indent="0">
              <a:lnSpc>
                <a:spcPct val="120000"/>
              </a:lnSpc>
              <a:spcBef>
                <a:spcPts val="1800"/>
              </a:spcBef>
              <a:spcAft>
                <a:spcPts val="600"/>
              </a:spcAft>
              <a:buNone/>
            </a:pPr>
            <a:r>
              <a:rPr lang="en-US" sz="2400" dirty="0" smtClean="0">
                <a:latin typeface="Arial" panose="020B0604020202020204" pitchFamily="34" charset="0"/>
                <a:cs typeface="Arial" panose="020B0604020202020204" pitchFamily="34" charset="0"/>
              </a:rPr>
              <a:t>Click </a:t>
            </a:r>
            <a:r>
              <a:rPr lang="en-US" sz="2400" dirty="0">
                <a:latin typeface="Arial" panose="020B0604020202020204" pitchFamily="34" charset="0"/>
                <a:cs typeface="Arial" panose="020B0604020202020204" pitchFamily="34" charset="0"/>
              </a:rPr>
              <a:t>the "Export CSV" button to export the results in csv file format.</a:t>
            </a:r>
            <a:endParaRPr lang="en-US" sz="2400" dirty="0" smtClean="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05-05-2020</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smtClean="0">
                <a:latin typeface="Arial" panose="020B0604020202020204" pitchFamily="34" charset="0"/>
                <a:cs typeface="Arial" panose="020B0604020202020204" pitchFamily="34" charset="0"/>
              </a:rPr>
              <a:t>Dr.</a:t>
            </a:r>
            <a:r>
              <a:rPr lang="en-IN" dirty="0" smtClean="0">
                <a:latin typeface="Arial" panose="020B0604020202020204" pitchFamily="34" charset="0"/>
                <a:cs typeface="Arial" panose="020B0604020202020204" pitchFamily="34" charset="0"/>
              </a:rPr>
              <a:t> S. </a:t>
            </a:r>
            <a:r>
              <a:rPr lang="en-IN" dirty="0" err="1" smtClean="0">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15</a:t>
            </a:fld>
            <a:endParaRPr lang="en-IN" dirty="0">
              <a:latin typeface="Arial" panose="020B0604020202020204" pitchFamily="34" charset="0"/>
              <a:cs typeface="Arial" panose="020B0604020202020204" pitchFamily="34" charset="0"/>
            </a:endParaRPr>
          </a:p>
        </p:txBody>
      </p:sp>
      <p:pic>
        <p:nvPicPr>
          <p:cNvPr id="7170" name="Picture 2" descr="CSV"/>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8185" y="1690688"/>
            <a:ext cx="5484830" cy="42644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347675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Neo4j </a:t>
            </a:r>
            <a:r>
              <a:rPr lang="en-IN" sz="3200" b="1" u="sng" dirty="0" smtClean="0">
                <a:solidFill>
                  <a:srgbClr val="0070C0"/>
                </a:solidFill>
                <a:latin typeface="Arial" panose="020B0604020202020204" pitchFamily="34" charset="0"/>
                <a:cs typeface="Arial" panose="020B0604020202020204" pitchFamily="34" charset="0"/>
              </a:rPr>
              <a:t>export JSON</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1" y="1690688"/>
            <a:ext cx="4216453"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Click the "Export JSON" button to export the results in JSON file format</a:t>
            </a:r>
            <a:r>
              <a:rPr lang="en-US" sz="2400" dirty="0" smtClean="0">
                <a:latin typeface="Arial" panose="020B0604020202020204" pitchFamily="34" charset="0"/>
                <a:cs typeface="Arial" panose="020B0604020202020204" pitchFamily="34" charset="0"/>
              </a:rPr>
              <a:t>.</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However, if we use "UI View" to see our Query results, we can export them into a file in only one format: JSON</a:t>
            </a:r>
            <a:endParaRPr lang="en-US" sz="2400" dirty="0" smtClean="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05-05-2020</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smtClean="0">
                <a:latin typeface="Arial" panose="020B0604020202020204" pitchFamily="34" charset="0"/>
                <a:cs typeface="Arial" panose="020B0604020202020204" pitchFamily="34" charset="0"/>
              </a:rPr>
              <a:t>Dr.</a:t>
            </a:r>
            <a:r>
              <a:rPr lang="en-IN" dirty="0" smtClean="0">
                <a:latin typeface="Arial" panose="020B0604020202020204" pitchFamily="34" charset="0"/>
                <a:cs typeface="Arial" panose="020B0604020202020204" pitchFamily="34" charset="0"/>
              </a:rPr>
              <a:t> S. </a:t>
            </a:r>
            <a:r>
              <a:rPr lang="en-IN" dirty="0" err="1" smtClean="0">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16</a:t>
            </a:fld>
            <a:endParaRPr lang="en-IN" dirty="0">
              <a:latin typeface="Arial" panose="020B0604020202020204" pitchFamily="34" charset="0"/>
              <a:cs typeface="Arial" panose="020B0604020202020204" pitchFamily="34" charset="0"/>
            </a:endParaRPr>
          </a:p>
        </p:txBody>
      </p:sp>
      <p:pic>
        <p:nvPicPr>
          <p:cNvPr id="8194" name="Picture 2" descr="Js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4654" y="2110708"/>
            <a:ext cx="6299146" cy="3643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598836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it-IT" sz="3200" b="1" dirty="0">
                <a:solidFill>
                  <a:srgbClr val="0070C0"/>
                </a:solidFill>
                <a:latin typeface="Arial" panose="020B0604020202020204" pitchFamily="34" charset="0"/>
                <a:cs typeface="Arial" panose="020B0604020202020204" pitchFamily="34" charset="0"/>
              </a:rPr>
              <a:t>Neo4j - </a:t>
            </a:r>
            <a:r>
              <a:rPr lang="it-IT" sz="3200" b="1" dirty="0" smtClean="0">
                <a:solidFill>
                  <a:srgbClr val="0070C0"/>
                </a:solidFill>
                <a:latin typeface="Arial" panose="020B0604020202020204" pitchFamily="34" charset="0"/>
                <a:cs typeface="Arial" panose="020B0604020202020204" pitchFamily="34" charset="0"/>
              </a:rPr>
              <a:t>CQL</a:t>
            </a:r>
            <a:endParaRPr lang="en-IN" sz="3200" b="1"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CQL stands for Cypher Query Language. Like Oracle Database has query language SQL, Neo4j has CQL as query language.</a:t>
            </a:r>
          </a:p>
          <a:p>
            <a:pPr marL="0" indent="0">
              <a:lnSpc>
                <a:spcPct val="120000"/>
              </a:lnSpc>
              <a:spcBef>
                <a:spcPts val="1800"/>
              </a:spcBef>
              <a:spcAft>
                <a:spcPts val="600"/>
              </a:spcAft>
              <a:buNone/>
            </a:pPr>
            <a:r>
              <a:rPr lang="en-US" sz="2400" dirty="0" smtClean="0">
                <a:latin typeface="Arial" panose="020B0604020202020204" pitchFamily="34" charset="0"/>
                <a:cs typeface="Arial" panose="020B0604020202020204" pitchFamily="34" charset="0"/>
              </a:rPr>
              <a:t>Neo4j </a:t>
            </a:r>
            <a:r>
              <a:rPr lang="en-US" sz="2400" dirty="0">
                <a:latin typeface="Arial" panose="020B0604020202020204" pitchFamily="34" charset="0"/>
                <a:cs typeface="Arial" panose="020B0604020202020204" pitchFamily="34" charset="0"/>
              </a:rPr>
              <a:t>CQL</a:t>
            </a:r>
          </a:p>
          <a:p>
            <a:pPr marL="539750" indent="-357188">
              <a:lnSpc>
                <a:spcPct val="120000"/>
              </a:lnSpc>
              <a:spcBef>
                <a:spcPts val="600"/>
              </a:spcBef>
              <a:spcAft>
                <a:spcPts val="600"/>
              </a:spcAft>
            </a:pPr>
            <a:r>
              <a:rPr lang="en-US" sz="2400" dirty="0">
                <a:latin typeface="Arial" panose="020B0604020202020204" pitchFamily="34" charset="0"/>
                <a:cs typeface="Arial" panose="020B0604020202020204" pitchFamily="34" charset="0"/>
              </a:rPr>
              <a:t>Is a query language for Neo4j Graph Database.</a:t>
            </a:r>
          </a:p>
          <a:p>
            <a:pPr marL="539750" indent="-357188">
              <a:lnSpc>
                <a:spcPct val="120000"/>
              </a:lnSpc>
              <a:spcBef>
                <a:spcPts val="600"/>
              </a:spcBef>
              <a:spcAft>
                <a:spcPts val="600"/>
              </a:spcAft>
            </a:pPr>
            <a:r>
              <a:rPr lang="en-US" sz="2400" dirty="0">
                <a:latin typeface="Arial" panose="020B0604020202020204" pitchFamily="34" charset="0"/>
                <a:cs typeface="Arial" panose="020B0604020202020204" pitchFamily="34" charset="0"/>
              </a:rPr>
              <a:t>Is a declarative pattern-matching language.</a:t>
            </a:r>
          </a:p>
          <a:p>
            <a:pPr marL="539750" indent="-357188">
              <a:lnSpc>
                <a:spcPct val="120000"/>
              </a:lnSpc>
              <a:spcBef>
                <a:spcPts val="600"/>
              </a:spcBef>
              <a:spcAft>
                <a:spcPts val="600"/>
              </a:spcAft>
            </a:pPr>
            <a:r>
              <a:rPr lang="en-US" sz="2400" dirty="0">
                <a:latin typeface="Arial" panose="020B0604020202020204" pitchFamily="34" charset="0"/>
                <a:cs typeface="Arial" panose="020B0604020202020204" pitchFamily="34" charset="0"/>
              </a:rPr>
              <a:t>Follows SQL like syntax.</a:t>
            </a:r>
          </a:p>
          <a:p>
            <a:pPr marL="539750" indent="-357188">
              <a:lnSpc>
                <a:spcPct val="120000"/>
              </a:lnSpc>
              <a:spcBef>
                <a:spcPts val="600"/>
              </a:spcBef>
              <a:spcAft>
                <a:spcPts val="600"/>
              </a:spcAft>
            </a:pPr>
            <a:r>
              <a:rPr lang="en-US" sz="2400" dirty="0">
                <a:latin typeface="Arial" panose="020B0604020202020204" pitchFamily="34" charset="0"/>
                <a:cs typeface="Arial" panose="020B0604020202020204" pitchFamily="34" charset="0"/>
              </a:rPr>
              <a:t>Syntax is very simple and in human readable format.</a:t>
            </a:r>
            <a:endParaRPr lang="en-US" sz="2400" dirty="0" smtClean="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05-05-2020</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smtClean="0">
                <a:latin typeface="Arial" panose="020B0604020202020204" pitchFamily="34" charset="0"/>
                <a:cs typeface="Arial" panose="020B0604020202020204" pitchFamily="34" charset="0"/>
              </a:rPr>
              <a:t>Dr.</a:t>
            </a:r>
            <a:r>
              <a:rPr lang="en-IN" dirty="0" smtClean="0">
                <a:latin typeface="Arial" panose="020B0604020202020204" pitchFamily="34" charset="0"/>
                <a:cs typeface="Arial" panose="020B0604020202020204" pitchFamily="34" charset="0"/>
              </a:rPr>
              <a:t> S. </a:t>
            </a:r>
            <a:r>
              <a:rPr lang="en-IN" dirty="0" err="1" smtClean="0">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17</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2806080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it-IT" sz="3200" b="1" dirty="0">
                <a:solidFill>
                  <a:srgbClr val="0070C0"/>
                </a:solidFill>
                <a:latin typeface="Arial" panose="020B0604020202020204" pitchFamily="34" charset="0"/>
                <a:cs typeface="Arial" panose="020B0604020202020204" pitchFamily="34" charset="0"/>
              </a:rPr>
              <a:t>Oracle </a:t>
            </a:r>
            <a:r>
              <a:rPr lang="it-IT" sz="3200" b="1" dirty="0" smtClean="0">
                <a:solidFill>
                  <a:srgbClr val="0070C0"/>
                </a:solidFill>
                <a:latin typeface="Arial" panose="020B0604020202020204" pitchFamily="34" charset="0"/>
                <a:cs typeface="Arial" panose="020B0604020202020204" pitchFamily="34" charset="0"/>
              </a:rPr>
              <a:t>SQL VS CQL</a:t>
            </a:r>
            <a:endParaRPr lang="en-IN" sz="3200" b="1"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539750" indent="-357188">
              <a:lnSpc>
                <a:spcPct val="120000"/>
              </a:lnSpc>
              <a:spcBef>
                <a:spcPts val="1800"/>
              </a:spcBef>
              <a:spcAft>
                <a:spcPts val="600"/>
              </a:spcAft>
            </a:pPr>
            <a:r>
              <a:rPr lang="en-US" sz="2400" dirty="0">
                <a:latin typeface="Arial" panose="020B0604020202020204" pitchFamily="34" charset="0"/>
                <a:cs typeface="Arial" panose="020B0604020202020204" pitchFamily="34" charset="0"/>
              </a:rPr>
              <a:t>Neo4j CQL has commands to perform Database operations.</a:t>
            </a:r>
          </a:p>
          <a:p>
            <a:pPr marL="539750" indent="-357188">
              <a:lnSpc>
                <a:spcPct val="120000"/>
              </a:lnSpc>
              <a:spcBef>
                <a:spcPts val="1800"/>
              </a:spcBef>
              <a:spcAft>
                <a:spcPts val="600"/>
              </a:spcAft>
            </a:pPr>
            <a:r>
              <a:rPr lang="en-US" sz="2400" dirty="0" smtClean="0">
                <a:latin typeface="Arial" panose="020B0604020202020204" pitchFamily="34" charset="0"/>
                <a:cs typeface="Arial" panose="020B0604020202020204" pitchFamily="34" charset="0"/>
              </a:rPr>
              <a:t>Neo4j </a:t>
            </a:r>
            <a:r>
              <a:rPr lang="en-US" sz="2400" dirty="0">
                <a:latin typeface="Arial" panose="020B0604020202020204" pitchFamily="34" charset="0"/>
                <a:cs typeface="Arial" panose="020B0604020202020204" pitchFamily="34" charset="0"/>
              </a:rPr>
              <a:t>CQL supports many clauses such as WHERE, ORDER BY, etc., to write very complex queries in an easy manner.</a:t>
            </a:r>
          </a:p>
          <a:p>
            <a:pPr marL="539750" indent="-357188">
              <a:lnSpc>
                <a:spcPct val="120000"/>
              </a:lnSpc>
              <a:spcBef>
                <a:spcPts val="1800"/>
              </a:spcBef>
              <a:spcAft>
                <a:spcPts val="600"/>
              </a:spcAft>
            </a:pPr>
            <a:r>
              <a:rPr lang="en-US" sz="2400" dirty="0" smtClean="0">
                <a:latin typeface="Arial" panose="020B0604020202020204" pitchFamily="34" charset="0"/>
                <a:cs typeface="Arial" panose="020B0604020202020204" pitchFamily="34" charset="0"/>
              </a:rPr>
              <a:t>Neo4j </a:t>
            </a:r>
            <a:r>
              <a:rPr lang="en-US" sz="2400" dirty="0">
                <a:latin typeface="Arial" panose="020B0604020202020204" pitchFamily="34" charset="0"/>
                <a:cs typeface="Arial" panose="020B0604020202020204" pitchFamily="34" charset="0"/>
              </a:rPr>
              <a:t>CQL supports some functions such as String, Aggregation. In addition to them, it also supports some Relationship Functions.</a:t>
            </a:r>
            <a:endParaRPr lang="en-US" sz="2400" dirty="0" smtClean="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05-05-2020</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smtClean="0">
                <a:latin typeface="Arial" panose="020B0604020202020204" pitchFamily="34" charset="0"/>
                <a:cs typeface="Arial" panose="020B0604020202020204" pitchFamily="34" charset="0"/>
              </a:rPr>
              <a:t>Dr.</a:t>
            </a:r>
            <a:r>
              <a:rPr lang="en-IN" dirty="0" smtClean="0">
                <a:latin typeface="Arial" panose="020B0604020202020204" pitchFamily="34" charset="0"/>
                <a:cs typeface="Arial" panose="020B0604020202020204" pitchFamily="34" charset="0"/>
              </a:rPr>
              <a:t> S. </a:t>
            </a:r>
            <a:r>
              <a:rPr lang="en-IN" dirty="0" err="1" smtClean="0">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18</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0031610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it-IT" sz="3200" b="1" dirty="0">
                <a:solidFill>
                  <a:srgbClr val="0070C0"/>
                </a:solidFill>
                <a:latin typeface="Arial" panose="020B0604020202020204" pitchFamily="34" charset="0"/>
                <a:cs typeface="Arial" panose="020B0604020202020204" pitchFamily="34" charset="0"/>
              </a:rPr>
              <a:t>Neo4j </a:t>
            </a:r>
            <a:r>
              <a:rPr lang="it-IT" sz="3200" b="1" dirty="0" smtClean="0">
                <a:solidFill>
                  <a:srgbClr val="0070C0"/>
                </a:solidFill>
                <a:latin typeface="Arial" panose="020B0604020202020204" pitchFamily="34" charset="0"/>
                <a:cs typeface="Arial" panose="020B0604020202020204" pitchFamily="34" charset="0"/>
              </a:rPr>
              <a:t>CQL: Write </a:t>
            </a:r>
            <a:r>
              <a:rPr lang="it-IT" sz="3200" b="1" dirty="0">
                <a:solidFill>
                  <a:srgbClr val="0070C0"/>
                </a:solidFill>
                <a:latin typeface="Arial" panose="020B0604020202020204" pitchFamily="34" charset="0"/>
                <a:cs typeface="Arial" panose="020B0604020202020204" pitchFamily="34" charset="0"/>
              </a:rPr>
              <a:t>Clauses</a:t>
            </a:r>
            <a:endParaRPr lang="en-IN" sz="3200" b="1"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539750" indent="-357188">
              <a:lnSpc>
                <a:spcPct val="120000"/>
              </a:lnSpc>
              <a:spcBef>
                <a:spcPts val="1800"/>
              </a:spcBef>
              <a:spcAft>
                <a:spcPts val="600"/>
              </a:spcAft>
            </a:pPr>
            <a:r>
              <a:rPr lang="en-US" sz="2400" dirty="0">
                <a:latin typeface="Arial" panose="020B0604020202020204" pitchFamily="34" charset="0"/>
                <a:cs typeface="Arial" panose="020B0604020202020204" pitchFamily="34" charset="0"/>
              </a:rPr>
              <a:t>Following are the write clauses of Neo4j Cypher Query Language</a:t>
            </a:r>
            <a:endParaRPr lang="en-US" sz="2400" dirty="0" smtClean="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05-05-2020</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smtClean="0">
                <a:latin typeface="Arial" panose="020B0604020202020204" pitchFamily="34" charset="0"/>
                <a:cs typeface="Arial" panose="020B0604020202020204" pitchFamily="34" charset="0"/>
              </a:rPr>
              <a:t>Dr.</a:t>
            </a:r>
            <a:r>
              <a:rPr lang="en-IN" dirty="0" smtClean="0">
                <a:latin typeface="Arial" panose="020B0604020202020204" pitchFamily="34" charset="0"/>
                <a:cs typeface="Arial" panose="020B0604020202020204" pitchFamily="34" charset="0"/>
              </a:rPr>
              <a:t> S. </a:t>
            </a:r>
            <a:r>
              <a:rPr lang="en-IN" dirty="0" err="1" smtClean="0">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19</a:t>
            </a:fld>
            <a:endParaRPr lang="en-IN" dirty="0">
              <a:latin typeface="Arial" panose="020B0604020202020204" pitchFamily="34" charset="0"/>
              <a:cs typeface="Arial" panose="020B0604020202020204" pitchFamily="34" charset="0"/>
            </a:endParaRPr>
          </a:p>
        </p:txBody>
      </p:sp>
      <p:graphicFrame>
        <p:nvGraphicFramePr>
          <p:cNvPr id="6" name="Table 5"/>
          <p:cNvGraphicFramePr>
            <a:graphicFrameLocks noGrp="1"/>
          </p:cNvGraphicFramePr>
          <p:nvPr>
            <p:extLst>
              <p:ext uri="{D42A27DB-BD31-4B8C-83A1-F6EECF244321}">
                <p14:modId xmlns:p14="http://schemas.microsoft.com/office/powerpoint/2010/main" val="594680177"/>
              </p:ext>
            </p:extLst>
          </p:nvPr>
        </p:nvGraphicFramePr>
        <p:xfrm>
          <a:off x="1097279" y="2415941"/>
          <a:ext cx="9991023" cy="3777994"/>
        </p:xfrm>
        <a:graphic>
          <a:graphicData uri="http://schemas.openxmlformats.org/drawingml/2006/table">
            <a:tbl>
              <a:tblPr/>
              <a:tblGrid>
                <a:gridCol w="866275">
                  <a:extLst>
                    <a:ext uri="{9D8B030D-6E8A-4147-A177-3AD203B41FA5}">
                      <a16:colId xmlns:a16="http://schemas.microsoft.com/office/drawing/2014/main" val="840322163"/>
                    </a:ext>
                  </a:extLst>
                </a:gridCol>
                <a:gridCol w="1953928">
                  <a:extLst>
                    <a:ext uri="{9D8B030D-6E8A-4147-A177-3AD203B41FA5}">
                      <a16:colId xmlns:a16="http://schemas.microsoft.com/office/drawing/2014/main" val="442620320"/>
                    </a:ext>
                  </a:extLst>
                </a:gridCol>
                <a:gridCol w="7170820">
                  <a:extLst>
                    <a:ext uri="{9D8B030D-6E8A-4147-A177-3AD203B41FA5}">
                      <a16:colId xmlns:a16="http://schemas.microsoft.com/office/drawing/2014/main" val="464386016"/>
                    </a:ext>
                  </a:extLst>
                </a:gridCol>
              </a:tblGrid>
              <a:tr h="155718">
                <a:tc>
                  <a:txBody>
                    <a:bodyPr/>
                    <a:lstStyle/>
                    <a:p>
                      <a:pPr algn="ctr" fontAlgn="t">
                        <a:lnSpc>
                          <a:spcPct val="120000"/>
                        </a:lnSpc>
                      </a:pPr>
                      <a:r>
                        <a:rPr lang="en-IN" sz="2200" dirty="0" err="1">
                          <a:effectLst/>
                          <a:latin typeface="Arial" panose="020B0604020202020204" pitchFamily="34" charset="0"/>
                          <a:cs typeface="Arial" panose="020B0604020202020204" pitchFamily="34" charset="0"/>
                        </a:rPr>
                        <a:t>Sr.No</a:t>
                      </a:r>
                      <a:endParaRPr lang="en-IN" sz="2200" dirty="0">
                        <a:effectLst/>
                        <a:latin typeface="Arial" panose="020B0604020202020204" pitchFamily="34" charset="0"/>
                        <a:cs typeface="Arial" panose="020B0604020202020204" pitchFamily="34" charset="0"/>
                      </a:endParaRPr>
                    </a:p>
                  </a:txBody>
                  <a:tcPr marL="15697" marR="15697" marT="15697" marB="15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fontAlgn="t">
                        <a:lnSpc>
                          <a:spcPct val="120000"/>
                        </a:lnSpc>
                      </a:pPr>
                      <a:r>
                        <a:rPr lang="en-IN" sz="2200">
                          <a:effectLst/>
                          <a:latin typeface="Arial" panose="020B0604020202020204" pitchFamily="34" charset="0"/>
                          <a:cs typeface="Arial" panose="020B0604020202020204" pitchFamily="34" charset="0"/>
                        </a:rPr>
                        <a:t>Write Clause</a:t>
                      </a:r>
                    </a:p>
                  </a:txBody>
                  <a:tcPr marL="15697" marR="15697" marT="15697" marB="15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fontAlgn="t">
                        <a:lnSpc>
                          <a:spcPct val="120000"/>
                        </a:lnSpc>
                      </a:pPr>
                      <a:r>
                        <a:rPr lang="en-IN" sz="2200">
                          <a:effectLst/>
                          <a:latin typeface="Arial" panose="020B0604020202020204" pitchFamily="34" charset="0"/>
                          <a:cs typeface="Arial" panose="020B0604020202020204" pitchFamily="34" charset="0"/>
                        </a:rPr>
                        <a:t>Usage</a:t>
                      </a:r>
                    </a:p>
                  </a:txBody>
                  <a:tcPr marL="15697" marR="15697" marT="15697" marB="15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extLst>
                  <a:ext uri="{0D108BD9-81ED-4DB2-BD59-A6C34878D82A}">
                    <a16:rowId xmlns:a16="http://schemas.microsoft.com/office/drawing/2014/main" val="1666754676"/>
                  </a:ext>
                </a:extLst>
              </a:tr>
              <a:tr h="352798">
                <a:tc>
                  <a:txBody>
                    <a:bodyPr/>
                    <a:lstStyle/>
                    <a:p>
                      <a:pPr algn="ctr" fontAlgn="t">
                        <a:lnSpc>
                          <a:spcPct val="120000"/>
                        </a:lnSpc>
                      </a:pPr>
                      <a:r>
                        <a:rPr lang="en-IN" sz="2200" dirty="0">
                          <a:effectLst/>
                          <a:latin typeface="Arial" panose="020B0604020202020204" pitchFamily="34" charset="0"/>
                          <a:cs typeface="Arial" panose="020B0604020202020204" pitchFamily="34" charset="0"/>
                        </a:rPr>
                        <a:t>1</a:t>
                      </a:r>
                    </a:p>
                  </a:txBody>
                  <a:tcPr marL="15697" marR="15697" marT="15697" marB="15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IN" sz="2200" dirty="0">
                          <a:effectLst/>
                          <a:latin typeface="Arial" panose="020B0604020202020204" pitchFamily="34" charset="0"/>
                          <a:cs typeface="Arial" panose="020B0604020202020204" pitchFamily="34" charset="0"/>
                        </a:rPr>
                        <a:t>CREATE</a:t>
                      </a:r>
                    </a:p>
                  </a:txBody>
                  <a:tcPr marL="15697" marR="15697" marT="15697" marB="15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US" sz="2200" dirty="0">
                          <a:effectLst/>
                          <a:latin typeface="Arial" panose="020B0604020202020204" pitchFamily="34" charset="0"/>
                          <a:cs typeface="Arial" panose="020B0604020202020204" pitchFamily="34" charset="0"/>
                        </a:rPr>
                        <a:t>This clause is used to create nodes, relationships, and properties.</a:t>
                      </a:r>
                    </a:p>
                  </a:txBody>
                  <a:tcPr marL="15697" marR="15697" marT="15697" marB="15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6190896"/>
                  </a:ext>
                </a:extLst>
              </a:tr>
              <a:tr h="484184">
                <a:tc>
                  <a:txBody>
                    <a:bodyPr/>
                    <a:lstStyle/>
                    <a:p>
                      <a:pPr algn="ctr" fontAlgn="t">
                        <a:lnSpc>
                          <a:spcPct val="120000"/>
                        </a:lnSpc>
                      </a:pPr>
                      <a:r>
                        <a:rPr lang="en-IN" sz="2200" dirty="0">
                          <a:effectLst/>
                          <a:latin typeface="Arial" panose="020B0604020202020204" pitchFamily="34" charset="0"/>
                          <a:cs typeface="Arial" panose="020B0604020202020204" pitchFamily="34" charset="0"/>
                        </a:rPr>
                        <a:t>2</a:t>
                      </a:r>
                    </a:p>
                  </a:txBody>
                  <a:tcPr marL="15697" marR="15697" marT="15697" marB="15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IN" sz="2200">
                          <a:effectLst/>
                          <a:latin typeface="Arial" panose="020B0604020202020204" pitchFamily="34" charset="0"/>
                          <a:cs typeface="Arial" panose="020B0604020202020204" pitchFamily="34" charset="0"/>
                        </a:rPr>
                        <a:t>MERGE</a:t>
                      </a:r>
                    </a:p>
                  </a:txBody>
                  <a:tcPr marL="15697" marR="15697" marT="15697" marB="15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US" sz="2200" dirty="0">
                          <a:effectLst/>
                          <a:latin typeface="Arial" panose="020B0604020202020204" pitchFamily="34" charset="0"/>
                          <a:cs typeface="Arial" panose="020B0604020202020204" pitchFamily="34" charset="0"/>
                        </a:rPr>
                        <a:t>This clause verifies whether the specified pattern exists in the graph. If not, it creates the pattern.</a:t>
                      </a:r>
                    </a:p>
                  </a:txBody>
                  <a:tcPr marL="15697" marR="15697" marT="15697" marB="15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9000244"/>
                  </a:ext>
                </a:extLst>
              </a:tr>
              <a:tr h="418491">
                <a:tc>
                  <a:txBody>
                    <a:bodyPr/>
                    <a:lstStyle/>
                    <a:p>
                      <a:pPr algn="ctr" fontAlgn="t">
                        <a:lnSpc>
                          <a:spcPct val="120000"/>
                        </a:lnSpc>
                      </a:pPr>
                      <a:r>
                        <a:rPr lang="en-IN" sz="2200">
                          <a:effectLst/>
                          <a:latin typeface="Arial" panose="020B0604020202020204" pitchFamily="34" charset="0"/>
                          <a:cs typeface="Arial" panose="020B0604020202020204" pitchFamily="34" charset="0"/>
                        </a:rPr>
                        <a:t>3</a:t>
                      </a:r>
                    </a:p>
                  </a:txBody>
                  <a:tcPr marL="15697" marR="15697" marT="15697" marB="15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IN" sz="2200">
                          <a:effectLst/>
                          <a:latin typeface="Arial" panose="020B0604020202020204" pitchFamily="34" charset="0"/>
                          <a:cs typeface="Arial" panose="020B0604020202020204" pitchFamily="34" charset="0"/>
                        </a:rPr>
                        <a:t>SET</a:t>
                      </a:r>
                    </a:p>
                  </a:txBody>
                  <a:tcPr marL="15697" marR="15697" marT="15697" marB="15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US" sz="2200" dirty="0">
                          <a:effectLst/>
                          <a:latin typeface="Arial" panose="020B0604020202020204" pitchFamily="34" charset="0"/>
                          <a:cs typeface="Arial" panose="020B0604020202020204" pitchFamily="34" charset="0"/>
                        </a:rPr>
                        <a:t>This clause is used to update labels on nodes, properties on nodes and relationships.</a:t>
                      </a:r>
                    </a:p>
                  </a:txBody>
                  <a:tcPr marL="15697" marR="15697" marT="15697" marB="15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9326514"/>
                  </a:ext>
                </a:extLst>
              </a:tr>
              <a:tr h="418491">
                <a:tc>
                  <a:txBody>
                    <a:bodyPr/>
                    <a:lstStyle/>
                    <a:p>
                      <a:pPr algn="ctr" fontAlgn="t">
                        <a:lnSpc>
                          <a:spcPct val="120000"/>
                        </a:lnSpc>
                      </a:pPr>
                      <a:r>
                        <a:rPr lang="en-IN" sz="2200">
                          <a:effectLst/>
                          <a:latin typeface="Arial" panose="020B0604020202020204" pitchFamily="34" charset="0"/>
                          <a:cs typeface="Arial" panose="020B0604020202020204" pitchFamily="34" charset="0"/>
                        </a:rPr>
                        <a:t>4</a:t>
                      </a:r>
                    </a:p>
                  </a:txBody>
                  <a:tcPr marL="15697" marR="15697" marT="15697" marB="15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IN" sz="2200" dirty="0">
                          <a:effectLst/>
                          <a:latin typeface="Arial" panose="020B0604020202020204" pitchFamily="34" charset="0"/>
                          <a:cs typeface="Arial" panose="020B0604020202020204" pitchFamily="34" charset="0"/>
                        </a:rPr>
                        <a:t>DELETE</a:t>
                      </a:r>
                    </a:p>
                  </a:txBody>
                  <a:tcPr marL="15697" marR="15697" marT="15697" marB="15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US" sz="2200" dirty="0">
                          <a:effectLst/>
                          <a:latin typeface="Arial" panose="020B0604020202020204" pitchFamily="34" charset="0"/>
                          <a:cs typeface="Arial" panose="020B0604020202020204" pitchFamily="34" charset="0"/>
                        </a:rPr>
                        <a:t>This clause is used to delete nodes and relationships or paths etc. from the graph.</a:t>
                      </a:r>
                    </a:p>
                  </a:txBody>
                  <a:tcPr marL="15697" marR="15697" marT="15697" marB="15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60961944"/>
                  </a:ext>
                </a:extLst>
              </a:tr>
            </a:tbl>
          </a:graphicData>
        </a:graphic>
      </p:graphicFrame>
    </p:spTree>
    <p:extLst>
      <p:ext uri="{BB962C8B-B14F-4D97-AF65-F5344CB8AC3E}">
        <p14:creationId xmlns:p14="http://schemas.microsoft.com/office/powerpoint/2010/main" val="105032431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it-IT" sz="3200" b="1" dirty="0">
                <a:solidFill>
                  <a:srgbClr val="0070C0"/>
                </a:solidFill>
                <a:latin typeface="Arial" panose="020B0604020202020204" pitchFamily="34" charset="0"/>
                <a:cs typeface="Arial" panose="020B0604020202020204" pitchFamily="34" charset="0"/>
              </a:rPr>
              <a:t>Neo4j </a:t>
            </a:r>
            <a:r>
              <a:rPr lang="it-IT" sz="3200" b="1" dirty="0" smtClean="0">
                <a:solidFill>
                  <a:srgbClr val="0070C0"/>
                </a:solidFill>
                <a:latin typeface="Arial" panose="020B0604020202020204" pitchFamily="34" charset="0"/>
                <a:cs typeface="Arial" panose="020B0604020202020204" pitchFamily="34" charset="0"/>
              </a:rPr>
              <a:t>CQL</a:t>
            </a:r>
            <a:r>
              <a:rPr lang="it-IT" sz="3200" b="1" dirty="0">
                <a:solidFill>
                  <a:srgbClr val="0070C0"/>
                </a:solidFill>
                <a:latin typeface="Arial" panose="020B0604020202020204" pitchFamily="34" charset="0"/>
                <a:cs typeface="Arial" panose="020B0604020202020204" pitchFamily="34" charset="0"/>
              </a:rPr>
              <a:t> : Write</a:t>
            </a:r>
            <a:r>
              <a:rPr lang="it-IT" sz="3200" b="1" dirty="0" smtClean="0">
                <a:solidFill>
                  <a:srgbClr val="0070C0"/>
                </a:solidFill>
                <a:latin typeface="Arial" panose="020B0604020202020204" pitchFamily="34" charset="0"/>
                <a:cs typeface="Arial" panose="020B0604020202020204" pitchFamily="34" charset="0"/>
              </a:rPr>
              <a:t> </a:t>
            </a:r>
            <a:r>
              <a:rPr lang="it-IT" sz="3200" b="1" dirty="0">
                <a:solidFill>
                  <a:srgbClr val="0070C0"/>
                </a:solidFill>
                <a:latin typeface="Arial" panose="020B0604020202020204" pitchFamily="34" charset="0"/>
                <a:cs typeface="Arial" panose="020B0604020202020204" pitchFamily="34" charset="0"/>
              </a:rPr>
              <a:t>Clauses</a:t>
            </a:r>
            <a:endParaRPr lang="en-IN" sz="3200" b="1" dirty="0">
              <a:solidFill>
                <a:srgbClr val="0070C0"/>
              </a:solidFill>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05-05-2020</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smtClean="0">
                <a:latin typeface="Arial" panose="020B0604020202020204" pitchFamily="34" charset="0"/>
                <a:cs typeface="Arial" panose="020B0604020202020204" pitchFamily="34" charset="0"/>
              </a:rPr>
              <a:t>Dr.</a:t>
            </a:r>
            <a:r>
              <a:rPr lang="en-IN" dirty="0" smtClean="0">
                <a:latin typeface="Arial" panose="020B0604020202020204" pitchFamily="34" charset="0"/>
                <a:cs typeface="Arial" panose="020B0604020202020204" pitchFamily="34" charset="0"/>
              </a:rPr>
              <a:t> S. </a:t>
            </a:r>
            <a:r>
              <a:rPr lang="en-IN" dirty="0" err="1" smtClean="0">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20</a:t>
            </a:fld>
            <a:endParaRPr lang="en-IN" dirty="0">
              <a:latin typeface="Arial" panose="020B0604020202020204" pitchFamily="34" charset="0"/>
              <a:cs typeface="Arial" panose="020B0604020202020204" pitchFamily="34" charset="0"/>
            </a:endParaRPr>
          </a:p>
        </p:txBody>
      </p:sp>
      <p:graphicFrame>
        <p:nvGraphicFramePr>
          <p:cNvPr id="6" name="Table 5"/>
          <p:cNvGraphicFramePr>
            <a:graphicFrameLocks noGrp="1"/>
          </p:cNvGraphicFramePr>
          <p:nvPr>
            <p:extLst>
              <p:ext uri="{D42A27DB-BD31-4B8C-83A1-F6EECF244321}">
                <p14:modId xmlns:p14="http://schemas.microsoft.com/office/powerpoint/2010/main" val="3042384276"/>
              </p:ext>
            </p:extLst>
          </p:nvPr>
        </p:nvGraphicFramePr>
        <p:xfrm>
          <a:off x="1100488" y="1690688"/>
          <a:ext cx="9991023" cy="3777994"/>
        </p:xfrm>
        <a:graphic>
          <a:graphicData uri="http://schemas.openxmlformats.org/drawingml/2006/table">
            <a:tbl>
              <a:tblPr/>
              <a:tblGrid>
                <a:gridCol w="866275">
                  <a:extLst>
                    <a:ext uri="{9D8B030D-6E8A-4147-A177-3AD203B41FA5}">
                      <a16:colId xmlns:a16="http://schemas.microsoft.com/office/drawing/2014/main" val="840322163"/>
                    </a:ext>
                  </a:extLst>
                </a:gridCol>
                <a:gridCol w="2855494">
                  <a:extLst>
                    <a:ext uri="{9D8B030D-6E8A-4147-A177-3AD203B41FA5}">
                      <a16:colId xmlns:a16="http://schemas.microsoft.com/office/drawing/2014/main" val="442620320"/>
                    </a:ext>
                  </a:extLst>
                </a:gridCol>
                <a:gridCol w="6269254">
                  <a:extLst>
                    <a:ext uri="{9D8B030D-6E8A-4147-A177-3AD203B41FA5}">
                      <a16:colId xmlns:a16="http://schemas.microsoft.com/office/drawing/2014/main" val="464386016"/>
                    </a:ext>
                  </a:extLst>
                </a:gridCol>
              </a:tblGrid>
              <a:tr h="155718">
                <a:tc>
                  <a:txBody>
                    <a:bodyPr/>
                    <a:lstStyle/>
                    <a:p>
                      <a:pPr algn="ctr" fontAlgn="t">
                        <a:lnSpc>
                          <a:spcPct val="120000"/>
                        </a:lnSpc>
                      </a:pPr>
                      <a:r>
                        <a:rPr lang="en-IN" sz="2200" dirty="0" err="1">
                          <a:effectLst/>
                          <a:latin typeface="Arial" panose="020B0604020202020204" pitchFamily="34" charset="0"/>
                          <a:cs typeface="Arial" panose="020B0604020202020204" pitchFamily="34" charset="0"/>
                        </a:rPr>
                        <a:t>Sr.No</a:t>
                      </a:r>
                      <a:endParaRPr lang="en-IN" sz="2200" dirty="0">
                        <a:effectLst/>
                        <a:latin typeface="Arial" panose="020B0604020202020204" pitchFamily="34" charset="0"/>
                        <a:cs typeface="Arial" panose="020B0604020202020204" pitchFamily="34" charset="0"/>
                      </a:endParaRPr>
                    </a:p>
                  </a:txBody>
                  <a:tcPr marL="15697" marR="15697" marT="15697" marB="15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fontAlgn="t">
                        <a:lnSpc>
                          <a:spcPct val="120000"/>
                        </a:lnSpc>
                      </a:pPr>
                      <a:r>
                        <a:rPr lang="en-IN" sz="2200">
                          <a:effectLst/>
                          <a:latin typeface="Arial" panose="020B0604020202020204" pitchFamily="34" charset="0"/>
                          <a:cs typeface="Arial" panose="020B0604020202020204" pitchFamily="34" charset="0"/>
                        </a:rPr>
                        <a:t>Write Clause</a:t>
                      </a:r>
                    </a:p>
                  </a:txBody>
                  <a:tcPr marL="15697" marR="15697" marT="15697" marB="15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fontAlgn="t">
                        <a:lnSpc>
                          <a:spcPct val="120000"/>
                        </a:lnSpc>
                      </a:pPr>
                      <a:r>
                        <a:rPr lang="en-IN" sz="2200">
                          <a:effectLst/>
                          <a:latin typeface="Arial" panose="020B0604020202020204" pitchFamily="34" charset="0"/>
                          <a:cs typeface="Arial" panose="020B0604020202020204" pitchFamily="34" charset="0"/>
                        </a:rPr>
                        <a:t>Usage</a:t>
                      </a:r>
                    </a:p>
                  </a:txBody>
                  <a:tcPr marL="15697" marR="15697" marT="15697" marB="15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extLst>
                  <a:ext uri="{0D108BD9-81ED-4DB2-BD59-A6C34878D82A}">
                    <a16:rowId xmlns:a16="http://schemas.microsoft.com/office/drawing/2014/main" val="1666754676"/>
                  </a:ext>
                </a:extLst>
              </a:tr>
              <a:tr h="418491">
                <a:tc>
                  <a:txBody>
                    <a:bodyPr/>
                    <a:lstStyle/>
                    <a:p>
                      <a:pPr algn="ctr" fontAlgn="t">
                        <a:lnSpc>
                          <a:spcPct val="120000"/>
                        </a:lnSpc>
                      </a:pPr>
                      <a:r>
                        <a:rPr lang="en-IN" sz="2200" dirty="0">
                          <a:effectLst/>
                          <a:latin typeface="Arial" panose="020B0604020202020204" pitchFamily="34" charset="0"/>
                          <a:cs typeface="Arial" panose="020B0604020202020204" pitchFamily="34" charset="0"/>
                        </a:rPr>
                        <a:t>5</a:t>
                      </a:r>
                    </a:p>
                  </a:txBody>
                  <a:tcPr marL="15697" marR="15697" marT="15697" marB="15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IN" sz="2200" dirty="0">
                          <a:effectLst/>
                          <a:latin typeface="Arial" panose="020B0604020202020204" pitchFamily="34" charset="0"/>
                          <a:cs typeface="Arial" panose="020B0604020202020204" pitchFamily="34" charset="0"/>
                        </a:rPr>
                        <a:t>REMOVE</a:t>
                      </a:r>
                    </a:p>
                  </a:txBody>
                  <a:tcPr marL="15697" marR="15697" marT="15697" marB="15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US" sz="2200" dirty="0">
                          <a:effectLst/>
                          <a:latin typeface="Arial" panose="020B0604020202020204" pitchFamily="34" charset="0"/>
                          <a:cs typeface="Arial" panose="020B0604020202020204" pitchFamily="34" charset="0"/>
                        </a:rPr>
                        <a:t>This clause is used to remove properties and elements from nodes and relationships.</a:t>
                      </a:r>
                    </a:p>
                  </a:txBody>
                  <a:tcPr marL="15697" marR="15697" marT="15697" marB="15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6400191"/>
                  </a:ext>
                </a:extLst>
              </a:tr>
              <a:tr h="221411">
                <a:tc>
                  <a:txBody>
                    <a:bodyPr/>
                    <a:lstStyle/>
                    <a:p>
                      <a:pPr algn="ctr" fontAlgn="t">
                        <a:lnSpc>
                          <a:spcPct val="120000"/>
                        </a:lnSpc>
                      </a:pPr>
                      <a:r>
                        <a:rPr lang="en-IN" sz="2200" dirty="0">
                          <a:effectLst/>
                          <a:latin typeface="Arial" panose="020B0604020202020204" pitchFamily="34" charset="0"/>
                          <a:cs typeface="Arial" panose="020B0604020202020204" pitchFamily="34" charset="0"/>
                        </a:rPr>
                        <a:t>6</a:t>
                      </a:r>
                    </a:p>
                  </a:txBody>
                  <a:tcPr marL="15697" marR="15697" marT="15697" marB="15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IN" sz="2200">
                          <a:effectLst/>
                          <a:latin typeface="Arial" panose="020B0604020202020204" pitchFamily="34" charset="0"/>
                          <a:cs typeface="Arial" panose="020B0604020202020204" pitchFamily="34" charset="0"/>
                        </a:rPr>
                        <a:t>FOREACH</a:t>
                      </a:r>
                    </a:p>
                  </a:txBody>
                  <a:tcPr marL="15697" marR="15697" marT="15697" marB="15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US" sz="2200">
                          <a:effectLst/>
                          <a:latin typeface="Arial" panose="020B0604020202020204" pitchFamily="34" charset="0"/>
                          <a:cs typeface="Arial" panose="020B0604020202020204" pitchFamily="34" charset="0"/>
                        </a:rPr>
                        <a:t>This class is used to update the data within a list.</a:t>
                      </a:r>
                    </a:p>
                  </a:txBody>
                  <a:tcPr marL="15697" marR="15697" marT="15697" marB="15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8578391"/>
                  </a:ext>
                </a:extLst>
              </a:tr>
              <a:tr h="615571">
                <a:tc>
                  <a:txBody>
                    <a:bodyPr/>
                    <a:lstStyle/>
                    <a:p>
                      <a:pPr algn="ctr" fontAlgn="t">
                        <a:lnSpc>
                          <a:spcPct val="120000"/>
                        </a:lnSpc>
                      </a:pPr>
                      <a:r>
                        <a:rPr lang="en-IN" sz="2200" dirty="0">
                          <a:effectLst/>
                          <a:latin typeface="Arial" panose="020B0604020202020204" pitchFamily="34" charset="0"/>
                          <a:cs typeface="Arial" panose="020B0604020202020204" pitchFamily="34" charset="0"/>
                        </a:rPr>
                        <a:t>7</a:t>
                      </a:r>
                    </a:p>
                  </a:txBody>
                  <a:tcPr marL="15697" marR="15697" marT="15697" marB="15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IN" sz="2200">
                          <a:effectLst/>
                          <a:latin typeface="Arial" panose="020B0604020202020204" pitchFamily="34" charset="0"/>
                          <a:cs typeface="Arial" panose="020B0604020202020204" pitchFamily="34" charset="0"/>
                        </a:rPr>
                        <a:t>CREATE UNIQUE</a:t>
                      </a:r>
                    </a:p>
                  </a:txBody>
                  <a:tcPr marL="15697" marR="15697" marT="15697" marB="15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US" sz="2200">
                          <a:effectLst/>
                          <a:latin typeface="Arial" panose="020B0604020202020204" pitchFamily="34" charset="0"/>
                          <a:cs typeface="Arial" panose="020B0604020202020204" pitchFamily="34" charset="0"/>
                        </a:rPr>
                        <a:t>Using the clauses CREATE and MATCH, you can get a unique pattern by matching the existing pattern and creating the missing one.</a:t>
                      </a:r>
                    </a:p>
                  </a:txBody>
                  <a:tcPr marL="15697" marR="15697" marT="15697" marB="15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9812562"/>
                  </a:ext>
                </a:extLst>
              </a:tr>
              <a:tr h="287104">
                <a:tc>
                  <a:txBody>
                    <a:bodyPr/>
                    <a:lstStyle/>
                    <a:p>
                      <a:pPr algn="ctr" fontAlgn="t">
                        <a:lnSpc>
                          <a:spcPct val="120000"/>
                        </a:lnSpc>
                      </a:pPr>
                      <a:r>
                        <a:rPr lang="en-IN" sz="2200" dirty="0">
                          <a:effectLst/>
                          <a:latin typeface="Arial" panose="020B0604020202020204" pitchFamily="34" charset="0"/>
                          <a:cs typeface="Arial" panose="020B0604020202020204" pitchFamily="34" charset="0"/>
                        </a:rPr>
                        <a:t>8</a:t>
                      </a:r>
                    </a:p>
                  </a:txBody>
                  <a:tcPr marL="15697" marR="15697" marT="15697" marB="15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US" sz="2200">
                          <a:effectLst/>
                          <a:latin typeface="Arial" panose="020B0604020202020204" pitchFamily="34" charset="0"/>
                          <a:cs typeface="Arial" panose="020B0604020202020204" pitchFamily="34" charset="0"/>
                        </a:rPr>
                        <a:t>Importing CSV files with Cypher</a:t>
                      </a:r>
                    </a:p>
                  </a:txBody>
                  <a:tcPr marL="15697" marR="15697" marT="15697" marB="15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US" sz="2200" dirty="0">
                          <a:effectLst/>
                          <a:latin typeface="Arial" panose="020B0604020202020204" pitchFamily="34" charset="0"/>
                          <a:cs typeface="Arial" panose="020B0604020202020204" pitchFamily="34" charset="0"/>
                        </a:rPr>
                        <a:t>Using Load CSV you can import data from .csv files.</a:t>
                      </a:r>
                    </a:p>
                  </a:txBody>
                  <a:tcPr marL="15697" marR="15697" marT="15697" marB="15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5457057"/>
                  </a:ext>
                </a:extLst>
              </a:tr>
            </a:tbl>
          </a:graphicData>
        </a:graphic>
      </p:graphicFrame>
    </p:spTree>
    <p:extLst>
      <p:ext uri="{BB962C8B-B14F-4D97-AF65-F5344CB8AC3E}">
        <p14:creationId xmlns:p14="http://schemas.microsoft.com/office/powerpoint/2010/main" val="242550426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it-IT" sz="3200" b="1" dirty="0">
                <a:solidFill>
                  <a:srgbClr val="0070C0"/>
                </a:solidFill>
                <a:latin typeface="Arial" panose="020B0604020202020204" pitchFamily="34" charset="0"/>
                <a:cs typeface="Arial" panose="020B0604020202020204" pitchFamily="34" charset="0"/>
              </a:rPr>
              <a:t>Neo4j CQL </a:t>
            </a:r>
            <a:r>
              <a:rPr lang="it-IT" sz="3200" b="1" dirty="0" smtClean="0">
                <a:solidFill>
                  <a:srgbClr val="0070C0"/>
                </a:solidFill>
                <a:latin typeface="Arial" panose="020B0604020202020204" pitchFamily="34" charset="0"/>
                <a:cs typeface="Arial" panose="020B0604020202020204" pitchFamily="34" charset="0"/>
              </a:rPr>
              <a:t>: Read Clauses</a:t>
            </a:r>
            <a:endParaRPr lang="en-IN" sz="3200" b="1"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539750" indent="-357188">
              <a:lnSpc>
                <a:spcPct val="120000"/>
              </a:lnSpc>
              <a:spcBef>
                <a:spcPts val="1800"/>
              </a:spcBef>
              <a:spcAft>
                <a:spcPts val="600"/>
              </a:spcAft>
            </a:pPr>
            <a:r>
              <a:rPr lang="en-US" sz="2400" dirty="0">
                <a:latin typeface="Arial" panose="020B0604020202020204" pitchFamily="34" charset="0"/>
                <a:cs typeface="Arial" panose="020B0604020202020204" pitchFamily="34" charset="0"/>
              </a:rPr>
              <a:t>Following are the read clauses of Neo4j Cypher Query Language</a:t>
            </a:r>
            <a:endParaRPr lang="en-US" sz="2400" dirty="0" smtClean="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05-05-2020</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smtClean="0">
                <a:latin typeface="Arial" panose="020B0604020202020204" pitchFamily="34" charset="0"/>
                <a:cs typeface="Arial" panose="020B0604020202020204" pitchFamily="34" charset="0"/>
              </a:rPr>
              <a:t>Dr.</a:t>
            </a:r>
            <a:r>
              <a:rPr lang="en-IN" dirty="0" smtClean="0">
                <a:latin typeface="Arial" panose="020B0604020202020204" pitchFamily="34" charset="0"/>
                <a:cs typeface="Arial" panose="020B0604020202020204" pitchFamily="34" charset="0"/>
              </a:rPr>
              <a:t> S. </a:t>
            </a:r>
            <a:r>
              <a:rPr lang="en-IN" dirty="0" err="1" smtClean="0">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21</a:t>
            </a:fld>
            <a:endParaRPr lang="en-IN" dirty="0">
              <a:latin typeface="Arial" panose="020B0604020202020204" pitchFamily="34" charset="0"/>
              <a:cs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2236663097"/>
              </p:ext>
            </p:extLst>
          </p:nvPr>
        </p:nvGraphicFramePr>
        <p:xfrm>
          <a:off x="838200" y="2367814"/>
          <a:ext cx="10515599" cy="3566631"/>
        </p:xfrm>
        <a:graphic>
          <a:graphicData uri="http://schemas.openxmlformats.org/drawingml/2006/table">
            <a:tbl>
              <a:tblPr/>
              <a:tblGrid>
                <a:gridCol w="923223">
                  <a:extLst>
                    <a:ext uri="{9D8B030D-6E8A-4147-A177-3AD203B41FA5}">
                      <a16:colId xmlns:a16="http://schemas.microsoft.com/office/drawing/2014/main" val="2671862556"/>
                    </a:ext>
                  </a:extLst>
                </a:gridCol>
                <a:gridCol w="2213811">
                  <a:extLst>
                    <a:ext uri="{9D8B030D-6E8A-4147-A177-3AD203B41FA5}">
                      <a16:colId xmlns:a16="http://schemas.microsoft.com/office/drawing/2014/main" val="660822357"/>
                    </a:ext>
                  </a:extLst>
                </a:gridCol>
                <a:gridCol w="7378565">
                  <a:extLst>
                    <a:ext uri="{9D8B030D-6E8A-4147-A177-3AD203B41FA5}">
                      <a16:colId xmlns:a16="http://schemas.microsoft.com/office/drawing/2014/main" val="4250880823"/>
                    </a:ext>
                  </a:extLst>
                </a:gridCol>
              </a:tblGrid>
              <a:tr h="312231">
                <a:tc>
                  <a:txBody>
                    <a:bodyPr/>
                    <a:lstStyle/>
                    <a:p>
                      <a:pPr algn="ctr" fontAlgn="t"/>
                      <a:r>
                        <a:rPr lang="en-IN" sz="2000" dirty="0" err="1">
                          <a:effectLst/>
                          <a:latin typeface="Arial" panose="020B0604020202020204" pitchFamily="34" charset="0"/>
                          <a:cs typeface="Arial" panose="020B0604020202020204" pitchFamily="34" charset="0"/>
                        </a:rPr>
                        <a:t>Sr.No</a:t>
                      </a:r>
                      <a:endParaRPr lang="en-IN" sz="2000" dirty="0">
                        <a:effectLst/>
                        <a:latin typeface="Arial" panose="020B0604020202020204" pitchFamily="34" charset="0"/>
                        <a:cs typeface="Arial" panose="020B0604020202020204" pitchFamily="34" charset="0"/>
                      </a:endParaRPr>
                    </a:p>
                  </a:txBody>
                  <a:tcPr marL="27575" marR="27575" marT="27575" marB="27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fontAlgn="t"/>
                      <a:r>
                        <a:rPr lang="en-IN" sz="2000">
                          <a:effectLst/>
                          <a:latin typeface="Arial" panose="020B0604020202020204" pitchFamily="34" charset="0"/>
                          <a:cs typeface="Arial" panose="020B0604020202020204" pitchFamily="34" charset="0"/>
                        </a:rPr>
                        <a:t>Read Clauses</a:t>
                      </a:r>
                    </a:p>
                  </a:txBody>
                  <a:tcPr marL="27575" marR="27575" marT="27575" marB="27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fontAlgn="t"/>
                      <a:r>
                        <a:rPr lang="en-IN" sz="2000">
                          <a:effectLst/>
                          <a:latin typeface="Arial" panose="020B0604020202020204" pitchFamily="34" charset="0"/>
                          <a:cs typeface="Arial" panose="020B0604020202020204" pitchFamily="34" charset="0"/>
                        </a:rPr>
                        <a:t>Usage</a:t>
                      </a:r>
                    </a:p>
                  </a:txBody>
                  <a:tcPr marL="27575" marR="27575" marT="27575" marB="27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extLst>
                  <a:ext uri="{0D108BD9-81ED-4DB2-BD59-A6C34878D82A}">
                    <a16:rowId xmlns:a16="http://schemas.microsoft.com/office/drawing/2014/main" val="2359720815"/>
                  </a:ext>
                </a:extLst>
              </a:tr>
              <a:tr h="708820">
                <a:tc>
                  <a:txBody>
                    <a:bodyPr/>
                    <a:lstStyle/>
                    <a:p>
                      <a:pPr algn="ctr" fontAlgn="t"/>
                      <a:r>
                        <a:rPr lang="en-IN" sz="2000" dirty="0">
                          <a:effectLst/>
                          <a:latin typeface="Arial" panose="020B0604020202020204" pitchFamily="34" charset="0"/>
                          <a:cs typeface="Arial" panose="020B0604020202020204" pitchFamily="34" charset="0"/>
                        </a:rPr>
                        <a:t>1</a:t>
                      </a:r>
                    </a:p>
                  </a:txBody>
                  <a:tcPr marL="27575" marR="27575" marT="27575" marB="27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2000">
                          <a:effectLst/>
                          <a:latin typeface="Arial" panose="020B0604020202020204" pitchFamily="34" charset="0"/>
                          <a:cs typeface="Arial" panose="020B0604020202020204" pitchFamily="34" charset="0"/>
                        </a:rPr>
                        <a:t>MATCH</a:t>
                      </a:r>
                    </a:p>
                  </a:txBody>
                  <a:tcPr marL="27575" marR="27575" marT="27575" marB="27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2000">
                          <a:effectLst/>
                          <a:latin typeface="Arial" panose="020B0604020202020204" pitchFamily="34" charset="0"/>
                          <a:cs typeface="Arial" panose="020B0604020202020204" pitchFamily="34" charset="0"/>
                        </a:rPr>
                        <a:t>This clause is used to search the data with a specified pattern.</a:t>
                      </a:r>
                    </a:p>
                  </a:txBody>
                  <a:tcPr marL="27575" marR="27575" marT="27575" marB="27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6283116"/>
                  </a:ext>
                </a:extLst>
              </a:tr>
              <a:tr h="779281">
                <a:tc>
                  <a:txBody>
                    <a:bodyPr/>
                    <a:lstStyle/>
                    <a:p>
                      <a:pPr algn="ctr" fontAlgn="t"/>
                      <a:r>
                        <a:rPr lang="en-IN" sz="2000" dirty="0">
                          <a:effectLst/>
                          <a:latin typeface="Arial" panose="020B0604020202020204" pitchFamily="34" charset="0"/>
                          <a:cs typeface="Arial" panose="020B0604020202020204" pitchFamily="34" charset="0"/>
                        </a:rPr>
                        <a:t>2</a:t>
                      </a:r>
                    </a:p>
                  </a:txBody>
                  <a:tcPr marL="27575" marR="27575" marT="27575" marB="27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2000" dirty="0">
                          <a:effectLst/>
                          <a:latin typeface="Arial" panose="020B0604020202020204" pitchFamily="34" charset="0"/>
                          <a:cs typeface="Arial" panose="020B0604020202020204" pitchFamily="34" charset="0"/>
                        </a:rPr>
                        <a:t>OPTIONAL MATCH</a:t>
                      </a:r>
                    </a:p>
                  </a:txBody>
                  <a:tcPr marL="27575" marR="27575" marT="27575" marB="27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2000">
                          <a:effectLst/>
                          <a:latin typeface="Arial" panose="020B0604020202020204" pitchFamily="34" charset="0"/>
                          <a:cs typeface="Arial" panose="020B0604020202020204" pitchFamily="34" charset="0"/>
                        </a:rPr>
                        <a:t>This is the same as match, the only difference being it can use nulls in case of missing parts of the pattern.</a:t>
                      </a:r>
                    </a:p>
                  </a:txBody>
                  <a:tcPr marL="27575" marR="27575" marT="27575" marB="27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9304693"/>
                  </a:ext>
                </a:extLst>
              </a:tr>
              <a:tr h="433137">
                <a:tc>
                  <a:txBody>
                    <a:bodyPr/>
                    <a:lstStyle/>
                    <a:p>
                      <a:pPr algn="ctr" fontAlgn="t"/>
                      <a:r>
                        <a:rPr lang="en-IN" sz="2000">
                          <a:effectLst/>
                          <a:latin typeface="Arial" panose="020B0604020202020204" pitchFamily="34" charset="0"/>
                          <a:cs typeface="Arial" panose="020B0604020202020204" pitchFamily="34" charset="0"/>
                        </a:rPr>
                        <a:t>3</a:t>
                      </a:r>
                    </a:p>
                  </a:txBody>
                  <a:tcPr marL="27575" marR="27575" marT="27575" marB="27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2000" dirty="0">
                          <a:effectLst/>
                          <a:latin typeface="Arial" panose="020B0604020202020204" pitchFamily="34" charset="0"/>
                          <a:cs typeface="Arial" panose="020B0604020202020204" pitchFamily="34" charset="0"/>
                        </a:rPr>
                        <a:t>WHERE</a:t>
                      </a:r>
                    </a:p>
                  </a:txBody>
                  <a:tcPr marL="27575" marR="27575" marT="27575" marB="27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2000" dirty="0">
                          <a:effectLst/>
                          <a:latin typeface="Arial" panose="020B0604020202020204" pitchFamily="34" charset="0"/>
                          <a:cs typeface="Arial" panose="020B0604020202020204" pitchFamily="34" charset="0"/>
                        </a:rPr>
                        <a:t>This clause id is used to add contents to the CQL queries.</a:t>
                      </a:r>
                    </a:p>
                  </a:txBody>
                  <a:tcPr marL="27575" marR="27575" marT="27575" marB="27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1346750"/>
                  </a:ext>
                </a:extLst>
              </a:tr>
              <a:tr h="708820">
                <a:tc>
                  <a:txBody>
                    <a:bodyPr/>
                    <a:lstStyle/>
                    <a:p>
                      <a:pPr algn="ctr" fontAlgn="t"/>
                      <a:r>
                        <a:rPr lang="en-IN" sz="2000">
                          <a:effectLst/>
                          <a:latin typeface="Arial" panose="020B0604020202020204" pitchFamily="34" charset="0"/>
                          <a:cs typeface="Arial" panose="020B0604020202020204" pitchFamily="34" charset="0"/>
                        </a:rPr>
                        <a:t>4</a:t>
                      </a:r>
                    </a:p>
                  </a:txBody>
                  <a:tcPr marL="27575" marR="27575" marT="27575" marB="27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2000" dirty="0">
                          <a:effectLst/>
                          <a:latin typeface="Arial" panose="020B0604020202020204" pitchFamily="34" charset="0"/>
                          <a:cs typeface="Arial" panose="020B0604020202020204" pitchFamily="34" charset="0"/>
                        </a:rPr>
                        <a:t>START</a:t>
                      </a:r>
                    </a:p>
                  </a:txBody>
                  <a:tcPr marL="27575" marR="27575" marT="27575" marB="27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2000">
                          <a:effectLst/>
                          <a:latin typeface="Arial" panose="020B0604020202020204" pitchFamily="34" charset="0"/>
                          <a:cs typeface="Arial" panose="020B0604020202020204" pitchFamily="34" charset="0"/>
                        </a:rPr>
                        <a:t>This clause is used to find the starting points through the legacy indexes.</a:t>
                      </a:r>
                    </a:p>
                  </a:txBody>
                  <a:tcPr marL="27575" marR="27575" marT="27575" marB="27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5858740"/>
                  </a:ext>
                </a:extLst>
              </a:tr>
              <a:tr h="576623">
                <a:tc>
                  <a:txBody>
                    <a:bodyPr/>
                    <a:lstStyle/>
                    <a:p>
                      <a:pPr algn="ctr" fontAlgn="t"/>
                      <a:r>
                        <a:rPr lang="en-IN" sz="2000">
                          <a:effectLst/>
                          <a:latin typeface="Arial" panose="020B0604020202020204" pitchFamily="34" charset="0"/>
                          <a:cs typeface="Arial" panose="020B0604020202020204" pitchFamily="34" charset="0"/>
                        </a:rPr>
                        <a:t>5</a:t>
                      </a:r>
                    </a:p>
                  </a:txBody>
                  <a:tcPr marL="27575" marR="27575" marT="27575" marB="27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2000" dirty="0">
                          <a:effectLst/>
                          <a:latin typeface="Arial" panose="020B0604020202020204" pitchFamily="34" charset="0"/>
                          <a:cs typeface="Arial" panose="020B0604020202020204" pitchFamily="34" charset="0"/>
                        </a:rPr>
                        <a:t>LOAD CSV</a:t>
                      </a:r>
                    </a:p>
                  </a:txBody>
                  <a:tcPr marL="27575" marR="27575" marT="27575" marB="27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2000" dirty="0">
                          <a:effectLst/>
                          <a:latin typeface="Arial" panose="020B0604020202020204" pitchFamily="34" charset="0"/>
                          <a:cs typeface="Arial" panose="020B0604020202020204" pitchFamily="34" charset="0"/>
                        </a:rPr>
                        <a:t>This clause is used to import data from CSV files.</a:t>
                      </a:r>
                    </a:p>
                  </a:txBody>
                  <a:tcPr marL="27575" marR="27575" marT="27575" marB="27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1130569"/>
                  </a:ext>
                </a:extLst>
              </a:tr>
            </a:tbl>
          </a:graphicData>
        </a:graphic>
      </p:graphicFrame>
    </p:spTree>
    <p:extLst>
      <p:ext uri="{BB962C8B-B14F-4D97-AF65-F5344CB8AC3E}">
        <p14:creationId xmlns:p14="http://schemas.microsoft.com/office/powerpoint/2010/main" val="422790283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it-IT" sz="3200" b="1" dirty="0">
                <a:solidFill>
                  <a:srgbClr val="0070C0"/>
                </a:solidFill>
                <a:latin typeface="Arial" panose="020B0604020202020204" pitchFamily="34" charset="0"/>
                <a:cs typeface="Arial" panose="020B0604020202020204" pitchFamily="34" charset="0"/>
              </a:rPr>
              <a:t>Neo4j </a:t>
            </a:r>
            <a:r>
              <a:rPr lang="it-IT" sz="3200" b="1" dirty="0" smtClean="0">
                <a:solidFill>
                  <a:srgbClr val="0070C0"/>
                </a:solidFill>
                <a:latin typeface="Arial" panose="020B0604020202020204" pitchFamily="34" charset="0"/>
                <a:cs typeface="Arial" panose="020B0604020202020204" pitchFamily="34" charset="0"/>
              </a:rPr>
              <a:t>CQL: General </a:t>
            </a:r>
            <a:r>
              <a:rPr lang="it-IT" sz="3200" b="1" dirty="0">
                <a:solidFill>
                  <a:srgbClr val="0070C0"/>
                </a:solidFill>
                <a:latin typeface="Arial" panose="020B0604020202020204" pitchFamily="34" charset="0"/>
                <a:cs typeface="Arial" panose="020B0604020202020204" pitchFamily="34" charset="0"/>
              </a:rPr>
              <a:t>Clauses</a:t>
            </a:r>
            <a:endParaRPr lang="en-IN" sz="3200" b="1"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539750" indent="-357188">
              <a:lnSpc>
                <a:spcPct val="120000"/>
              </a:lnSpc>
              <a:spcBef>
                <a:spcPts val="1800"/>
              </a:spcBef>
              <a:spcAft>
                <a:spcPts val="600"/>
              </a:spcAft>
            </a:pPr>
            <a:r>
              <a:rPr lang="en-US" sz="2400" dirty="0">
                <a:latin typeface="Arial" panose="020B0604020202020204" pitchFamily="34" charset="0"/>
                <a:cs typeface="Arial" panose="020B0604020202020204" pitchFamily="34" charset="0"/>
              </a:rPr>
              <a:t>Following are the general clauses of Neo4j Cypher Query Language</a:t>
            </a:r>
            <a:endParaRPr lang="en-US" sz="2400" dirty="0" smtClean="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05-05-2020</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smtClean="0">
                <a:latin typeface="Arial" panose="020B0604020202020204" pitchFamily="34" charset="0"/>
                <a:cs typeface="Arial" panose="020B0604020202020204" pitchFamily="34" charset="0"/>
              </a:rPr>
              <a:t>Dr.</a:t>
            </a:r>
            <a:r>
              <a:rPr lang="en-IN" dirty="0" smtClean="0">
                <a:latin typeface="Arial" panose="020B0604020202020204" pitchFamily="34" charset="0"/>
                <a:cs typeface="Arial" panose="020B0604020202020204" pitchFamily="34" charset="0"/>
              </a:rPr>
              <a:t> S. </a:t>
            </a:r>
            <a:r>
              <a:rPr lang="en-IN" dirty="0" err="1" smtClean="0">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22</a:t>
            </a:fld>
            <a:endParaRPr lang="en-IN" dirty="0">
              <a:latin typeface="Arial" panose="020B0604020202020204" pitchFamily="34" charset="0"/>
              <a:cs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4008841931"/>
              </p:ext>
            </p:extLst>
          </p:nvPr>
        </p:nvGraphicFramePr>
        <p:xfrm>
          <a:off x="1135781" y="2425566"/>
          <a:ext cx="10010273" cy="3354880"/>
        </p:xfrm>
        <a:graphic>
          <a:graphicData uri="http://schemas.openxmlformats.org/drawingml/2006/table">
            <a:tbl>
              <a:tblPr/>
              <a:tblGrid>
                <a:gridCol w="1010653">
                  <a:extLst>
                    <a:ext uri="{9D8B030D-6E8A-4147-A177-3AD203B41FA5}">
                      <a16:colId xmlns:a16="http://schemas.microsoft.com/office/drawing/2014/main" val="1554216731"/>
                    </a:ext>
                  </a:extLst>
                </a:gridCol>
                <a:gridCol w="2425566">
                  <a:extLst>
                    <a:ext uri="{9D8B030D-6E8A-4147-A177-3AD203B41FA5}">
                      <a16:colId xmlns:a16="http://schemas.microsoft.com/office/drawing/2014/main" val="1970790910"/>
                    </a:ext>
                  </a:extLst>
                </a:gridCol>
                <a:gridCol w="6574054">
                  <a:extLst>
                    <a:ext uri="{9D8B030D-6E8A-4147-A177-3AD203B41FA5}">
                      <a16:colId xmlns:a16="http://schemas.microsoft.com/office/drawing/2014/main" val="2384308039"/>
                    </a:ext>
                  </a:extLst>
                </a:gridCol>
              </a:tblGrid>
              <a:tr h="187863">
                <a:tc>
                  <a:txBody>
                    <a:bodyPr/>
                    <a:lstStyle/>
                    <a:p>
                      <a:pPr algn="ctr" fontAlgn="t">
                        <a:lnSpc>
                          <a:spcPct val="120000"/>
                        </a:lnSpc>
                      </a:pPr>
                      <a:r>
                        <a:rPr lang="en-IN" sz="2200" dirty="0" err="1">
                          <a:effectLst/>
                          <a:latin typeface="Arial" panose="020B0604020202020204" pitchFamily="34" charset="0"/>
                          <a:cs typeface="Arial" panose="020B0604020202020204" pitchFamily="34" charset="0"/>
                        </a:rPr>
                        <a:t>Sr.No</a:t>
                      </a:r>
                      <a:endParaRPr lang="en-IN" sz="2200" dirty="0">
                        <a:effectLst/>
                        <a:latin typeface="Arial" panose="020B0604020202020204" pitchFamily="34" charset="0"/>
                        <a:cs typeface="Arial" panose="020B0604020202020204" pitchFamily="34" charset="0"/>
                      </a:endParaRPr>
                    </a:p>
                  </a:txBody>
                  <a:tcPr marL="17024" marR="17024" marT="17024" marB="170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fontAlgn="t">
                        <a:lnSpc>
                          <a:spcPct val="120000"/>
                        </a:lnSpc>
                      </a:pPr>
                      <a:r>
                        <a:rPr lang="en-IN" sz="2200">
                          <a:effectLst/>
                          <a:latin typeface="Arial" panose="020B0604020202020204" pitchFamily="34" charset="0"/>
                          <a:cs typeface="Arial" panose="020B0604020202020204" pitchFamily="34" charset="0"/>
                        </a:rPr>
                        <a:t>General Clauses</a:t>
                      </a:r>
                    </a:p>
                  </a:txBody>
                  <a:tcPr marL="17024" marR="17024" marT="17024" marB="170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fontAlgn="t">
                        <a:lnSpc>
                          <a:spcPct val="120000"/>
                        </a:lnSpc>
                      </a:pPr>
                      <a:r>
                        <a:rPr lang="en-IN" sz="2200">
                          <a:effectLst/>
                          <a:latin typeface="Arial" panose="020B0604020202020204" pitchFamily="34" charset="0"/>
                          <a:cs typeface="Arial" panose="020B0604020202020204" pitchFamily="34" charset="0"/>
                        </a:rPr>
                        <a:t>Usage</a:t>
                      </a:r>
                    </a:p>
                  </a:txBody>
                  <a:tcPr marL="17024" marR="17024" marT="17024" marB="170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extLst>
                  <a:ext uri="{0D108BD9-81ED-4DB2-BD59-A6C34878D82A}">
                    <a16:rowId xmlns:a16="http://schemas.microsoft.com/office/drawing/2014/main" val="277216688"/>
                  </a:ext>
                </a:extLst>
              </a:tr>
              <a:tr h="425628">
                <a:tc>
                  <a:txBody>
                    <a:bodyPr/>
                    <a:lstStyle/>
                    <a:p>
                      <a:pPr algn="ctr" fontAlgn="t">
                        <a:lnSpc>
                          <a:spcPct val="120000"/>
                        </a:lnSpc>
                      </a:pPr>
                      <a:r>
                        <a:rPr lang="en-IN" sz="2200" dirty="0">
                          <a:effectLst/>
                          <a:latin typeface="Arial" panose="020B0604020202020204" pitchFamily="34" charset="0"/>
                          <a:cs typeface="Arial" panose="020B0604020202020204" pitchFamily="34" charset="0"/>
                        </a:rPr>
                        <a:t>1</a:t>
                      </a:r>
                    </a:p>
                  </a:txBody>
                  <a:tcPr marL="17024" marR="17024" marT="17024" marB="170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IN" sz="2200" dirty="0">
                          <a:effectLst/>
                          <a:latin typeface="Arial" panose="020B0604020202020204" pitchFamily="34" charset="0"/>
                          <a:cs typeface="Arial" panose="020B0604020202020204" pitchFamily="34" charset="0"/>
                        </a:rPr>
                        <a:t>RETURN</a:t>
                      </a:r>
                    </a:p>
                  </a:txBody>
                  <a:tcPr marL="17024" marR="17024" marT="17024" marB="170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US" sz="2200">
                          <a:effectLst/>
                          <a:latin typeface="Arial" panose="020B0604020202020204" pitchFamily="34" charset="0"/>
                          <a:cs typeface="Arial" panose="020B0604020202020204" pitchFamily="34" charset="0"/>
                        </a:rPr>
                        <a:t>This clause is used to define what to include in the query result set.</a:t>
                      </a:r>
                    </a:p>
                  </a:txBody>
                  <a:tcPr marL="17024" marR="17024" marT="17024" marB="170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9217996"/>
                  </a:ext>
                </a:extLst>
              </a:tr>
              <a:tr h="663392">
                <a:tc>
                  <a:txBody>
                    <a:bodyPr/>
                    <a:lstStyle/>
                    <a:p>
                      <a:pPr algn="ctr" fontAlgn="t">
                        <a:lnSpc>
                          <a:spcPct val="120000"/>
                        </a:lnSpc>
                      </a:pPr>
                      <a:r>
                        <a:rPr lang="en-IN" sz="2200" dirty="0">
                          <a:effectLst/>
                          <a:latin typeface="Arial" panose="020B0604020202020204" pitchFamily="34" charset="0"/>
                          <a:cs typeface="Arial" panose="020B0604020202020204" pitchFamily="34" charset="0"/>
                        </a:rPr>
                        <a:t>2</a:t>
                      </a:r>
                    </a:p>
                  </a:txBody>
                  <a:tcPr marL="17024" marR="17024" marT="17024" marB="170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IN" sz="2200">
                          <a:effectLst/>
                          <a:latin typeface="Arial" panose="020B0604020202020204" pitchFamily="34" charset="0"/>
                          <a:cs typeface="Arial" panose="020B0604020202020204" pitchFamily="34" charset="0"/>
                        </a:rPr>
                        <a:t>ORDER BY</a:t>
                      </a:r>
                    </a:p>
                  </a:txBody>
                  <a:tcPr marL="17024" marR="17024" marT="17024" marB="170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US" sz="2200" dirty="0">
                          <a:effectLst/>
                          <a:latin typeface="Arial" panose="020B0604020202020204" pitchFamily="34" charset="0"/>
                          <a:cs typeface="Arial" panose="020B0604020202020204" pitchFamily="34" charset="0"/>
                        </a:rPr>
                        <a:t>This clause is used to arrange the output of a query in order. It is used along with the clauses </a:t>
                      </a:r>
                      <a:r>
                        <a:rPr lang="en-US" sz="2200" b="1" dirty="0">
                          <a:effectLst/>
                          <a:latin typeface="Arial" panose="020B0604020202020204" pitchFamily="34" charset="0"/>
                          <a:cs typeface="Arial" panose="020B0604020202020204" pitchFamily="34" charset="0"/>
                        </a:rPr>
                        <a:t>RETURN</a:t>
                      </a:r>
                      <a:r>
                        <a:rPr lang="en-US" sz="2200" dirty="0">
                          <a:effectLst/>
                          <a:latin typeface="Arial" panose="020B0604020202020204" pitchFamily="34" charset="0"/>
                          <a:cs typeface="Arial" panose="020B0604020202020204" pitchFamily="34" charset="0"/>
                        </a:rPr>
                        <a:t> or </a:t>
                      </a:r>
                      <a:r>
                        <a:rPr lang="en-US" sz="2200" b="1" dirty="0">
                          <a:effectLst/>
                          <a:latin typeface="Arial" panose="020B0604020202020204" pitchFamily="34" charset="0"/>
                          <a:cs typeface="Arial" panose="020B0604020202020204" pitchFamily="34" charset="0"/>
                        </a:rPr>
                        <a:t>WITH</a:t>
                      </a:r>
                      <a:r>
                        <a:rPr lang="en-US" sz="2200" dirty="0">
                          <a:effectLst/>
                          <a:latin typeface="Arial" panose="020B0604020202020204" pitchFamily="34" charset="0"/>
                          <a:cs typeface="Arial" panose="020B0604020202020204" pitchFamily="34" charset="0"/>
                        </a:rPr>
                        <a:t>.</a:t>
                      </a:r>
                    </a:p>
                  </a:txBody>
                  <a:tcPr marL="17024" marR="17024" marT="17024" marB="170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2751646"/>
                  </a:ext>
                </a:extLst>
              </a:tr>
              <a:tr h="425628">
                <a:tc>
                  <a:txBody>
                    <a:bodyPr/>
                    <a:lstStyle/>
                    <a:p>
                      <a:pPr algn="ctr" fontAlgn="t">
                        <a:lnSpc>
                          <a:spcPct val="120000"/>
                        </a:lnSpc>
                      </a:pPr>
                      <a:r>
                        <a:rPr lang="en-IN" sz="2200">
                          <a:effectLst/>
                          <a:latin typeface="Arial" panose="020B0604020202020204" pitchFamily="34" charset="0"/>
                          <a:cs typeface="Arial" panose="020B0604020202020204" pitchFamily="34" charset="0"/>
                        </a:rPr>
                        <a:t>3</a:t>
                      </a:r>
                    </a:p>
                  </a:txBody>
                  <a:tcPr marL="17024" marR="17024" marT="17024" marB="170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IN" sz="2200" dirty="0">
                          <a:effectLst/>
                          <a:latin typeface="Arial" panose="020B0604020202020204" pitchFamily="34" charset="0"/>
                          <a:cs typeface="Arial" panose="020B0604020202020204" pitchFamily="34" charset="0"/>
                        </a:rPr>
                        <a:t>LIMIT</a:t>
                      </a:r>
                    </a:p>
                  </a:txBody>
                  <a:tcPr marL="17024" marR="17024" marT="17024" marB="170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US" sz="2200" dirty="0">
                          <a:effectLst/>
                          <a:latin typeface="Arial" panose="020B0604020202020204" pitchFamily="34" charset="0"/>
                          <a:cs typeface="Arial" panose="020B0604020202020204" pitchFamily="34" charset="0"/>
                        </a:rPr>
                        <a:t>This clause is used to limit the rows in the result to a specific value.</a:t>
                      </a:r>
                    </a:p>
                  </a:txBody>
                  <a:tcPr marL="17024" marR="17024" marT="17024" marB="170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6968937"/>
                  </a:ext>
                </a:extLst>
              </a:tr>
            </a:tbl>
          </a:graphicData>
        </a:graphic>
      </p:graphicFrame>
    </p:spTree>
    <p:extLst>
      <p:ext uri="{BB962C8B-B14F-4D97-AF65-F5344CB8AC3E}">
        <p14:creationId xmlns:p14="http://schemas.microsoft.com/office/powerpoint/2010/main" val="15888489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it-IT" sz="3200" b="1" dirty="0">
                <a:solidFill>
                  <a:srgbClr val="0070C0"/>
                </a:solidFill>
                <a:latin typeface="Arial" panose="020B0604020202020204" pitchFamily="34" charset="0"/>
                <a:cs typeface="Arial" panose="020B0604020202020204" pitchFamily="34" charset="0"/>
              </a:rPr>
              <a:t>Neo4j </a:t>
            </a:r>
            <a:r>
              <a:rPr lang="it-IT" sz="3200" b="1" dirty="0" smtClean="0">
                <a:solidFill>
                  <a:srgbClr val="0070C0"/>
                </a:solidFill>
                <a:latin typeface="Arial" panose="020B0604020202020204" pitchFamily="34" charset="0"/>
                <a:cs typeface="Arial" panose="020B0604020202020204" pitchFamily="34" charset="0"/>
              </a:rPr>
              <a:t>CQL: General </a:t>
            </a:r>
            <a:r>
              <a:rPr lang="it-IT" sz="3200" b="1" dirty="0">
                <a:solidFill>
                  <a:srgbClr val="0070C0"/>
                </a:solidFill>
                <a:latin typeface="Arial" panose="020B0604020202020204" pitchFamily="34" charset="0"/>
                <a:cs typeface="Arial" panose="020B0604020202020204" pitchFamily="34" charset="0"/>
              </a:rPr>
              <a:t>Clauses</a:t>
            </a:r>
            <a:endParaRPr lang="en-IN" sz="3200" b="1" dirty="0">
              <a:solidFill>
                <a:srgbClr val="0070C0"/>
              </a:solidFill>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05-05-2020</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smtClean="0">
                <a:latin typeface="Arial" panose="020B0604020202020204" pitchFamily="34" charset="0"/>
                <a:cs typeface="Arial" panose="020B0604020202020204" pitchFamily="34" charset="0"/>
              </a:rPr>
              <a:t>Dr.</a:t>
            </a:r>
            <a:r>
              <a:rPr lang="en-IN" dirty="0" smtClean="0">
                <a:latin typeface="Arial" panose="020B0604020202020204" pitchFamily="34" charset="0"/>
                <a:cs typeface="Arial" panose="020B0604020202020204" pitchFamily="34" charset="0"/>
              </a:rPr>
              <a:t> S. </a:t>
            </a:r>
            <a:r>
              <a:rPr lang="en-IN" dirty="0" err="1" smtClean="0">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23</a:t>
            </a:fld>
            <a:endParaRPr lang="en-IN" dirty="0">
              <a:latin typeface="Arial" panose="020B0604020202020204" pitchFamily="34" charset="0"/>
              <a:cs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311030571"/>
              </p:ext>
            </p:extLst>
          </p:nvPr>
        </p:nvGraphicFramePr>
        <p:xfrm>
          <a:off x="1090863" y="1636673"/>
          <a:ext cx="10010273" cy="4629984"/>
        </p:xfrm>
        <a:graphic>
          <a:graphicData uri="http://schemas.openxmlformats.org/drawingml/2006/table">
            <a:tbl>
              <a:tblPr/>
              <a:tblGrid>
                <a:gridCol w="1010653">
                  <a:extLst>
                    <a:ext uri="{9D8B030D-6E8A-4147-A177-3AD203B41FA5}">
                      <a16:colId xmlns:a16="http://schemas.microsoft.com/office/drawing/2014/main" val="1554216731"/>
                    </a:ext>
                  </a:extLst>
                </a:gridCol>
                <a:gridCol w="2598821">
                  <a:extLst>
                    <a:ext uri="{9D8B030D-6E8A-4147-A177-3AD203B41FA5}">
                      <a16:colId xmlns:a16="http://schemas.microsoft.com/office/drawing/2014/main" val="1970790910"/>
                    </a:ext>
                  </a:extLst>
                </a:gridCol>
                <a:gridCol w="6400799">
                  <a:extLst>
                    <a:ext uri="{9D8B030D-6E8A-4147-A177-3AD203B41FA5}">
                      <a16:colId xmlns:a16="http://schemas.microsoft.com/office/drawing/2014/main" val="2384308039"/>
                    </a:ext>
                  </a:extLst>
                </a:gridCol>
              </a:tblGrid>
              <a:tr h="187863">
                <a:tc>
                  <a:txBody>
                    <a:bodyPr/>
                    <a:lstStyle/>
                    <a:p>
                      <a:pPr algn="ctr" fontAlgn="t">
                        <a:lnSpc>
                          <a:spcPct val="120000"/>
                        </a:lnSpc>
                      </a:pPr>
                      <a:r>
                        <a:rPr lang="en-IN" sz="2200" dirty="0" err="1">
                          <a:effectLst/>
                          <a:latin typeface="Arial" panose="020B0604020202020204" pitchFamily="34" charset="0"/>
                          <a:cs typeface="Arial" panose="020B0604020202020204" pitchFamily="34" charset="0"/>
                        </a:rPr>
                        <a:t>Sr.No</a:t>
                      </a:r>
                      <a:endParaRPr lang="en-IN" sz="2200" dirty="0">
                        <a:effectLst/>
                        <a:latin typeface="Arial" panose="020B0604020202020204" pitchFamily="34" charset="0"/>
                        <a:cs typeface="Arial" panose="020B0604020202020204" pitchFamily="34" charset="0"/>
                      </a:endParaRPr>
                    </a:p>
                  </a:txBody>
                  <a:tcPr marL="17024" marR="17024" marT="17024" marB="170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fontAlgn="t">
                        <a:lnSpc>
                          <a:spcPct val="120000"/>
                        </a:lnSpc>
                      </a:pPr>
                      <a:r>
                        <a:rPr lang="en-IN" sz="2200">
                          <a:effectLst/>
                          <a:latin typeface="Arial" panose="020B0604020202020204" pitchFamily="34" charset="0"/>
                          <a:cs typeface="Arial" panose="020B0604020202020204" pitchFamily="34" charset="0"/>
                        </a:rPr>
                        <a:t>General Clauses</a:t>
                      </a:r>
                    </a:p>
                  </a:txBody>
                  <a:tcPr marL="17024" marR="17024" marT="17024" marB="170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fontAlgn="t">
                        <a:lnSpc>
                          <a:spcPct val="120000"/>
                        </a:lnSpc>
                      </a:pPr>
                      <a:r>
                        <a:rPr lang="en-IN" sz="2200">
                          <a:effectLst/>
                          <a:latin typeface="Arial" panose="020B0604020202020204" pitchFamily="34" charset="0"/>
                          <a:cs typeface="Arial" panose="020B0604020202020204" pitchFamily="34" charset="0"/>
                        </a:rPr>
                        <a:t>Usage</a:t>
                      </a:r>
                    </a:p>
                  </a:txBody>
                  <a:tcPr marL="17024" marR="17024" marT="17024" marB="170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extLst>
                  <a:ext uri="{0D108BD9-81ED-4DB2-BD59-A6C34878D82A}">
                    <a16:rowId xmlns:a16="http://schemas.microsoft.com/office/drawing/2014/main" val="277216688"/>
                  </a:ext>
                </a:extLst>
              </a:tr>
              <a:tr h="504883">
                <a:tc>
                  <a:txBody>
                    <a:bodyPr/>
                    <a:lstStyle/>
                    <a:p>
                      <a:pPr algn="ctr" fontAlgn="t">
                        <a:lnSpc>
                          <a:spcPct val="120000"/>
                        </a:lnSpc>
                      </a:pPr>
                      <a:r>
                        <a:rPr lang="en-IN" sz="2200" dirty="0">
                          <a:effectLst/>
                          <a:latin typeface="Arial" panose="020B0604020202020204" pitchFamily="34" charset="0"/>
                          <a:cs typeface="Arial" panose="020B0604020202020204" pitchFamily="34" charset="0"/>
                        </a:rPr>
                        <a:t>4</a:t>
                      </a:r>
                    </a:p>
                  </a:txBody>
                  <a:tcPr marL="17024" marR="17024" marT="17024" marB="170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IN" sz="2200" dirty="0">
                          <a:effectLst/>
                          <a:latin typeface="Arial" panose="020B0604020202020204" pitchFamily="34" charset="0"/>
                          <a:cs typeface="Arial" panose="020B0604020202020204" pitchFamily="34" charset="0"/>
                        </a:rPr>
                        <a:t>SKIP</a:t>
                      </a:r>
                    </a:p>
                  </a:txBody>
                  <a:tcPr marL="17024" marR="17024" marT="17024" marB="170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US" sz="2200" dirty="0">
                          <a:effectLst/>
                          <a:latin typeface="Arial" panose="020B0604020202020204" pitchFamily="34" charset="0"/>
                          <a:cs typeface="Arial" panose="020B0604020202020204" pitchFamily="34" charset="0"/>
                        </a:rPr>
                        <a:t>This clause is used to define from which row to start including the rows in the output.</a:t>
                      </a:r>
                    </a:p>
                  </a:txBody>
                  <a:tcPr marL="17024" marR="17024" marT="17024" marB="170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5650213"/>
                  </a:ext>
                </a:extLst>
              </a:tr>
              <a:tr h="346373">
                <a:tc>
                  <a:txBody>
                    <a:bodyPr/>
                    <a:lstStyle/>
                    <a:p>
                      <a:pPr algn="ctr" fontAlgn="t">
                        <a:lnSpc>
                          <a:spcPct val="120000"/>
                        </a:lnSpc>
                      </a:pPr>
                      <a:r>
                        <a:rPr lang="en-IN" sz="2200" dirty="0">
                          <a:effectLst/>
                          <a:latin typeface="Arial" panose="020B0604020202020204" pitchFamily="34" charset="0"/>
                          <a:cs typeface="Arial" panose="020B0604020202020204" pitchFamily="34" charset="0"/>
                        </a:rPr>
                        <a:t>5</a:t>
                      </a:r>
                    </a:p>
                  </a:txBody>
                  <a:tcPr marL="17024" marR="17024" marT="17024" marB="170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IN" sz="2200">
                          <a:effectLst/>
                          <a:latin typeface="Arial" panose="020B0604020202020204" pitchFamily="34" charset="0"/>
                          <a:cs typeface="Arial" panose="020B0604020202020204" pitchFamily="34" charset="0"/>
                        </a:rPr>
                        <a:t>WITH</a:t>
                      </a:r>
                    </a:p>
                  </a:txBody>
                  <a:tcPr marL="17024" marR="17024" marT="17024" marB="170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US" sz="2200">
                          <a:effectLst/>
                          <a:latin typeface="Arial" panose="020B0604020202020204" pitchFamily="34" charset="0"/>
                          <a:cs typeface="Arial" panose="020B0604020202020204" pitchFamily="34" charset="0"/>
                        </a:rPr>
                        <a:t>This clause is used to chain the query parts together.</a:t>
                      </a:r>
                    </a:p>
                  </a:txBody>
                  <a:tcPr marL="17024" marR="17024" marT="17024" marB="170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4069906"/>
                  </a:ext>
                </a:extLst>
              </a:tr>
              <a:tr h="425628">
                <a:tc>
                  <a:txBody>
                    <a:bodyPr/>
                    <a:lstStyle/>
                    <a:p>
                      <a:pPr algn="ctr" fontAlgn="t">
                        <a:lnSpc>
                          <a:spcPct val="120000"/>
                        </a:lnSpc>
                      </a:pPr>
                      <a:r>
                        <a:rPr lang="en-IN" sz="2200">
                          <a:effectLst/>
                          <a:latin typeface="Arial" panose="020B0604020202020204" pitchFamily="34" charset="0"/>
                          <a:cs typeface="Arial" panose="020B0604020202020204" pitchFamily="34" charset="0"/>
                        </a:rPr>
                        <a:t>6</a:t>
                      </a:r>
                    </a:p>
                  </a:txBody>
                  <a:tcPr marL="17024" marR="17024" marT="17024" marB="170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IN" sz="2200">
                          <a:effectLst/>
                          <a:latin typeface="Arial" panose="020B0604020202020204" pitchFamily="34" charset="0"/>
                          <a:cs typeface="Arial" panose="020B0604020202020204" pitchFamily="34" charset="0"/>
                        </a:rPr>
                        <a:t>UNWIND</a:t>
                      </a:r>
                    </a:p>
                  </a:txBody>
                  <a:tcPr marL="17024" marR="17024" marT="17024" marB="170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US" sz="2200" dirty="0">
                          <a:effectLst/>
                          <a:latin typeface="Arial" panose="020B0604020202020204" pitchFamily="34" charset="0"/>
                          <a:cs typeface="Arial" panose="020B0604020202020204" pitchFamily="34" charset="0"/>
                        </a:rPr>
                        <a:t>This clause is used to expand a list into a sequence of rows.</a:t>
                      </a:r>
                    </a:p>
                  </a:txBody>
                  <a:tcPr marL="17024" marR="17024" marT="17024" marB="170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1139252"/>
                  </a:ext>
                </a:extLst>
              </a:tr>
              <a:tr h="346373">
                <a:tc>
                  <a:txBody>
                    <a:bodyPr/>
                    <a:lstStyle/>
                    <a:p>
                      <a:pPr algn="ctr" fontAlgn="t">
                        <a:lnSpc>
                          <a:spcPct val="120000"/>
                        </a:lnSpc>
                      </a:pPr>
                      <a:r>
                        <a:rPr lang="en-IN" sz="2200" dirty="0">
                          <a:effectLst/>
                          <a:latin typeface="Arial" panose="020B0604020202020204" pitchFamily="34" charset="0"/>
                          <a:cs typeface="Arial" panose="020B0604020202020204" pitchFamily="34" charset="0"/>
                        </a:rPr>
                        <a:t>7</a:t>
                      </a:r>
                    </a:p>
                  </a:txBody>
                  <a:tcPr marL="17024" marR="17024" marT="17024" marB="170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IN" sz="2200">
                          <a:effectLst/>
                          <a:latin typeface="Arial" panose="020B0604020202020204" pitchFamily="34" charset="0"/>
                          <a:cs typeface="Arial" panose="020B0604020202020204" pitchFamily="34" charset="0"/>
                        </a:rPr>
                        <a:t>UNION</a:t>
                      </a:r>
                    </a:p>
                  </a:txBody>
                  <a:tcPr marL="17024" marR="17024" marT="17024" marB="170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US" sz="2200">
                          <a:effectLst/>
                          <a:latin typeface="Arial" panose="020B0604020202020204" pitchFamily="34" charset="0"/>
                          <a:cs typeface="Arial" panose="020B0604020202020204" pitchFamily="34" charset="0"/>
                        </a:rPr>
                        <a:t>This clause is used to combine the result of multiple queries.</a:t>
                      </a:r>
                    </a:p>
                  </a:txBody>
                  <a:tcPr marL="17024" marR="17024" marT="17024" marB="170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0537201"/>
                  </a:ext>
                </a:extLst>
              </a:tr>
              <a:tr h="425628">
                <a:tc>
                  <a:txBody>
                    <a:bodyPr/>
                    <a:lstStyle/>
                    <a:p>
                      <a:pPr algn="ctr" fontAlgn="t">
                        <a:lnSpc>
                          <a:spcPct val="120000"/>
                        </a:lnSpc>
                      </a:pPr>
                      <a:r>
                        <a:rPr lang="en-IN" sz="2200" dirty="0">
                          <a:effectLst/>
                          <a:latin typeface="Arial" panose="020B0604020202020204" pitchFamily="34" charset="0"/>
                          <a:cs typeface="Arial" panose="020B0604020202020204" pitchFamily="34" charset="0"/>
                        </a:rPr>
                        <a:t>8</a:t>
                      </a:r>
                    </a:p>
                  </a:txBody>
                  <a:tcPr marL="17024" marR="17024" marT="17024" marB="170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IN" sz="2200">
                          <a:effectLst/>
                          <a:latin typeface="Arial" panose="020B0604020202020204" pitchFamily="34" charset="0"/>
                          <a:cs typeface="Arial" panose="020B0604020202020204" pitchFamily="34" charset="0"/>
                        </a:rPr>
                        <a:t>CALL</a:t>
                      </a:r>
                    </a:p>
                  </a:txBody>
                  <a:tcPr marL="17024" marR="17024" marT="17024" marB="170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US" sz="2200" dirty="0">
                          <a:effectLst/>
                          <a:latin typeface="Arial" panose="020B0604020202020204" pitchFamily="34" charset="0"/>
                          <a:cs typeface="Arial" panose="020B0604020202020204" pitchFamily="34" charset="0"/>
                        </a:rPr>
                        <a:t>This clause is used to invoke a procedure deployed in the database.</a:t>
                      </a:r>
                    </a:p>
                  </a:txBody>
                  <a:tcPr marL="17024" marR="17024" marT="17024" marB="170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58124910"/>
                  </a:ext>
                </a:extLst>
              </a:tr>
            </a:tbl>
          </a:graphicData>
        </a:graphic>
      </p:graphicFrame>
    </p:spTree>
    <p:extLst>
      <p:ext uri="{BB962C8B-B14F-4D97-AF65-F5344CB8AC3E}">
        <p14:creationId xmlns:p14="http://schemas.microsoft.com/office/powerpoint/2010/main" val="298008149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it-IT" sz="3200" b="1" dirty="0">
                <a:solidFill>
                  <a:srgbClr val="0070C0"/>
                </a:solidFill>
                <a:latin typeface="Arial" panose="020B0604020202020204" pitchFamily="34" charset="0"/>
                <a:cs typeface="Arial" panose="020B0604020202020204" pitchFamily="34" charset="0"/>
              </a:rPr>
              <a:t>Neo4j CQL Functions</a:t>
            </a:r>
            <a:endParaRPr lang="en-IN" sz="3200" b="1"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539750" indent="-357188">
              <a:lnSpc>
                <a:spcPct val="120000"/>
              </a:lnSpc>
              <a:spcBef>
                <a:spcPts val="1800"/>
              </a:spcBef>
              <a:spcAft>
                <a:spcPts val="600"/>
              </a:spcAft>
            </a:pPr>
            <a:r>
              <a:rPr lang="en-US" sz="2400" dirty="0">
                <a:latin typeface="Arial" panose="020B0604020202020204" pitchFamily="34" charset="0"/>
                <a:cs typeface="Arial" panose="020B0604020202020204" pitchFamily="34" charset="0"/>
              </a:rPr>
              <a:t>Following are the frequently used Neo4j CQL Functions</a:t>
            </a:r>
            <a:endParaRPr lang="en-US" sz="2400" dirty="0" smtClean="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05-05-2020</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smtClean="0">
                <a:latin typeface="Arial" panose="020B0604020202020204" pitchFamily="34" charset="0"/>
                <a:cs typeface="Arial" panose="020B0604020202020204" pitchFamily="34" charset="0"/>
              </a:rPr>
              <a:t>Dr.</a:t>
            </a:r>
            <a:r>
              <a:rPr lang="en-IN" dirty="0" smtClean="0">
                <a:latin typeface="Arial" panose="020B0604020202020204" pitchFamily="34" charset="0"/>
                <a:cs typeface="Arial" panose="020B0604020202020204" pitchFamily="34" charset="0"/>
              </a:rPr>
              <a:t> S. </a:t>
            </a:r>
            <a:r>
              <a:rPr lang="en-IN" dirty="0" err="1" smtClean="0">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24</a:t>
            </a:fld>
            <a:endParaRPr lang="en-IN" dirty="0">
              <a:latin typeface="Arial" panose="020B0604020202020204" pitchFamily="34" charset="0"/>
              <a:cs typeface="Arial" panose="020B0604020202020204" pitchFamily="34" charset="0"/>
            </a:endParaRPr>
          </a:p>
        </p:txBody>
      </p:sp>
      <p:graphicFrame>
        <p:nvGraphicFramePr>
          <p:cNvPr id="6" name="Table 5"/>
          <p:cNvGraphicFramePr>
            <a:graphicFrameLocks noGrp="1"/>
          </p:cNvGraphicFramePr>
          <p:nvPr>
            <p:extLst>
              <p:ext uri="{D42A27DB-BD31-4B8C-83A1-F6EECF244321}">
                <p14:modId xmlns:p14="http://schemas.microsoft.com/office/powerpoint/2010/main" val="1155696416"/>
              </p:ext>
            </p:extLst>
          </p:nvPr>
        </p:nvGraphicFramePr>
        <p:xfrm>
          <a:off x="838200" y="2377440"/>
          <a:ext cx="10515599" cy="3517814"/>
        </p:xfrm>
        <a:graphic>
          <a:graphicData uri="http://schemas.openxmlformats.org/drawingml/2006/table">
            <a:tbl>
              <a:tblPr/>
              <a:tblGrid>
                <a:gridCol w="1183105">
                  <a:extLst>
                    <a:ext uri="{9D8B030D-6E8A-4147-A177-3AD203B41FA5}">
                      <a16:colId xmlns:a16="http://schemas.microsoft.com/office/drawing/2014/main" val="1695958874"/>
                    </a:ext>
                  </a:extLst>
                </a:gridCol>
                <a:gridCol w="2348564">
                  <a:extLst>
                    <a:ext uri="{9D8B030D-6E8A-4147-A177-3AD203B41FA5}">
                      <a16:colId xmlns:a16="http://schemas.microsoft.com/office/drawing/2014/main" val="3695087303"/>
                    </a:ext>
                  </a:extLst>
                </a:gridCol>
                <a:gridCol w="6983930">
                  <a:extLst>
                    <a:ext uri="{9D8B030D-6E8A-4147-A177-3AD203B41FA5}">
                      <a16:colId xmlns:a16="http://schemas.microsoft.com/office/drawing/2014/main" val="1565770003"/>
                    </a:ext>
                  </a:extLst>
                </a:gridCol>
              </a:tblGrid>
              <a:tr h="649169">
                <a:tc>
                  <a:txBody>
                    <a:bodyPr/>
                    <a:lstStyle/>
                    <a:p>
                      <a:pPr algn="ctr" fontAlgn="t">
                        <a:lnSpc>
                          <a:spcPct val="120000"/>
                        </a:lnSpc>
                      </a:pPr>
                      <a:r>
                        <a:rPr lang="en-IN" sz="2300" dirty="0" err="1">
                          <a:effectLst/>
                          <a:latin typeface="Arial" panose="020B0604020202020204" pitchFamily="34" charset="0"/>
                          <a:cs typeface="Arial" panose="020B0604020202020204" pitchFamily="34" charset="0"/>
                        </a:rPr>
                        <a:t>Sr.No</a:t>
                      </a:r>
                      <a:endParaRPr lang="en-IN" sz="2300" dirty="0">
                        <a:effectLst/>
                        <a:latin typeface="Arial" panose="020B0604020202020204" pitchFamily="34" charset="0"/>
                        <a:cs typeface="Arial" panose="020B0604020202020204" pitchFamily="34" charset="0"/>
                      </a:endParaRPr>
                    </a:p>
                  </a:txBody>
                  <a:tcPr marL="41363" marR="41363" marT="41363" marB="4136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fontAlgn="t">
                        <a:lnSpc>
                          <a:spcPct val="120000"/>
                        </a:lnSpc>
                      </a:pPr>
                      <a:r>
                        <a:rPr lang="en-IN" sz="2300">
                          <a:effectLst/>
                          <a:latin typeface="Arial" panose="020B0604020202020204" pitchFamily="34" charset="0"/>
                          <a:cs typeface="Arial" panose="020B0604020202020204" pitchFamily="34" charset="0"/>
                        </a:rPr>
                        <a:t>CQL Functions</a:t>
                      </a:r>
                    </a:p>
                  </a:txBody>
                  <a:tcPr marL="41363" marR="41363" marT="41363" marB="4136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fontAlgn="t">
                        <a:lnSpc>
                          <a:spcPct val="120000"/>
                        </a:lnSpc>
                      </a:pPr>
                      <a:r>
                        <a:rPr lang="en-IN" sz="2300">
                          <a:effectLst/>
                          <a:latin typeface="Arial" panose="020B0604020202020204" pitchFamily="34" charset="0"/>
                          <a:cs typeface="Arial" panose="020B0604020202020204" pitchFamily="34" charset="0"/>
                        </a:rPr>
                        <a:t>Usage</a:t>
                      </a:r>
                    </a:p>
                  </a:txBody>
                  <a:tcPr marL="41363" marR="41363" marT="41363" marB="4136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extLst>
                  <a:ext uri="{0D108BD9-81ED-4DB2-BD59-A6C34878D82A}">
                    <a16:rowId xmlns:a16="http://schemas.microsoft.com/office/drawing/2014/main" val="968127887"/>
                  </a:ext>
                </a:extLst>
              </a:tr>
              <a:tr h="649169">
                <a:tc>
                  <a:txBody>
                    <a:bodyPr/>
                    <a:lstStyle/>
                    <a:p>
                      <a:pPr algn="ctr" fontAlgn="t">
                        <a:lnSpc>
                          <a:spcPct val="120000"/>
                        </a:lnSpc>
                      </a:pPr>
                      <a:r>
                        <a:rPr lang="en-IN" sz="2300" dirty="0">
                          <a:effectLst/>
                          <a:latin typeface="Arial" panose="020B0604020202020204" pitchFamily="34" charset="0"/>
                          <a:cs typeface="Arial" panose="020B0604020202020204" pitchFamily="34" charset="0"/>
                        </a:rPr>
                        <a:t>1</a:t>
                      </a:r>
                    </a:p>
                  </a:txBody>
                  <a:tcPr marL="41363" marR="41363" marT="41363" marB="4136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IN" sz="2300">
                          <a:effectLst/>
                          <a:latin typeface="Arial" panose="020B0604020202020204" pitchFamily="34" charset="0"/>
                          <a:cs typeface="Arial" panose="020B0604020202020204" pitchFamily="34" charset="0"/>
                        </a:rPr>
                        <a:t>String</a:t>
                      </a:r>
                    </a:p>
                  </a:txBody>
                  <a:tcPr marL="41363" marR="41363" marT="41363" marB="4136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US" sz="2300">
                          <a:effectLst/>
                          <a:latin typeface="Arial" panose="020B0604020202020204" pitchFamily="34" charset="0"/>
                          <a:cs typeface="Arial" panose="020B0604020202020204" pitchFamily="34" charset="0"/>
                        </a:rPr>
                        <a:t>They are used to work with String literals.</a:t>
                      </a:r>
                    </a:p>
                  </a:txBody>
                  <a:tcPr marL="41363" marR="41363" marT="41363" marB="4136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0099038"/>
                  </a:ext>
                </a:extLst>
              </a:tr>
              <a:tr h="992475">
                <a:tc>
                  <a:txBody>
                    <a:bodyPr/>
                    <a:lstStyle/>
                    <a:p>
                      <a:pPr algn="ctr" fontAlgn="t">
                        <a:lnSpc>
                          <a:spcPct val="120000"/>
                        </a:lnSpc>
                      </a:pPr>
                      <a:r>
                        <a:rPr lang="en-IN" sz="2300" dirty="0">
                          <a:effectLst/>
                          <a:latin typeface="Arial" panose="020B0604020202020204" pitchFamily="34" charset="0"/>
                          <a:cs typeface="Arial" panose="020B0604020202020204" pitchFamily="34" charset="0"/>
                        </a:rPr>
                        <a:t>2</a:t>
                      </a:r>
                    </a:p>
                  </a:txBody>
                  <a:tcPr marL="41363" marR="41363" marT="41363" marB="4136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IN" sz="2300">
                          <a:effectLst/>
                          <a:latin typeface="Arial" panose="020B0604020202020204" pitchFamily="34" charset="0"/>
                          <a:cs typeface="Arial" panose="020B0604020202020204" pitchFamily="34" charset="0"/>
                        </a:rPr>
                        <a:t>Aggregation</a:t>
                      </a:r>
                    </a:p>
                  </a:txBody>
                  <a:tcPr marL="41363" marR="41363" marT="41363" marB="4136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US" sz="2300" dirty="0">
                          <a:effectLst/>
                          <a:latin typeface="Arial" panose="020B0604020202020204" pitchFamily="34" charset="0"/>
                          <a:cs typeface="Arial" panose="020B0604020202020204" pitchFamily="34" charset="0"/>
                        </a:rPr>
                        <a:t>They are used to perform some aggregation operations on CQL Query results.</a:t>
                      </a:r>
                    </a:p>
                  </a:txBody>
                  <a:tcPr marL="41363" marR="41363" marT="41363" marB="4136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0503720"/>
                  </a:ext>
                </a:extLst>
              </a:tr>
              <a:tr h="1227001">
                <a:tc>
                  <a:txBody>
                    <a:bodyPr/>
                    <a:lstStyle/>
                    <a:p>
                      <a:pPr algn="ctr" fontAlgn="t">
                        <a:lnSpc>
                          <a:spcPct val="120000"/>
                        </a:lnSpc>
                      </a:pPr>
                      <a:r>
                        <a:rPr lang="en-IN" sz="2300" dirty="0">
                          <a:effectLst/>
                          <a:latin typeface="Arial" panose="020B0604020202020204" pitchFamily="34" charset="0"/>
                          <a:cs typeface="Arial" panose="020B0604020202020204" pitchFamily="34" charset="0"/>
                        </a:rPr>
                        <a:t>3</a:t>
                      </a:r>
                    </a:p>
                  </a:txBody>
                  <a:tcPr marL="41363" marR="41363" marT="41363" marB="4136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IN" sz="2300">
                          <a:effectLst/>
                          <a:latin typeface="Arial" panose="020B0604020202020204" pitchFamily="34" charset="0"/>
                          <a:cs typeface="Arial" panose="020B0604020202020204" pitchFamily="34" charset="0"/>
                        </a:rPr>
                        <a:t>Relationship</a:t>
                      </a:r>
                    </a:p>
                  </a:txBody>
                  <a:tcPr marL="41363" marR="41363" marT="41363" marB="4136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US" sz="2300" dirty="0">
                          <a:effectLst/>
                          <a:latin typeface="Arial" panose="020B0604020202020204" pitchFamily="34" charset="0"/>
                          <a:cs typeface="Arial" panose="020B0604020202020204" pitchFamily="34" charset="0"/>
                        </a:rPr>
                        <a:t>They are used to get details of relationships such as </a:t>
                      </a:r>
                      <a:r>
                        <a:rPr lang="en-US" sz="2300" dirty="0" err="1">
                          <a:effectLst/>
                          <a:latin typeface="Arial" panose="020B0604020202020204" pitchFamily="34" charset="0"/>
                          <a:cs typeface="Arial" panose="020B0604020202020204" pitchFamily="34" charset="0"/>
                        </a:rPr>
                        <a:t>startnode</a:t>
                      </a:r>
                      <a:r>
                        <a:rPr lang="en-US" sz="2300" dirty="0">
                          <a:effectLst/>
                          <a:latin typeface="Arial" panose="020B0604020202020204" pitchFamily="34" charset="0"/>
                          <a:cs typeface="Arial" panose="020B0604020202020204" pitchFamily="34" charset="0"/>
                        </a:rPr>
                        <a:t>, </a:t>
                      </a:r>
                      <a:r>
                        <a:rPr lang="en-US" sz="2300" dirty="0" err="1">
                          <a:effectLst/>
                          <a:latin typeface="Arial" panose="020B0604020202020204" pitchFamily="34" charset="0"/>
                          <a:cs typeface="Arial" panose="020B0604020202020204" pitchFamily="34" charset="0"/>
                        </a:rPr>
                        <a:t>endnode</a:t>
                      </a:r>
                      <a:r>
                        <a:rPr lang="en-US" sz="2300" dirty="0">
                          <a:effectLst/>
                          <a:latin typeface="Arial" panose="020B0604020202020204" pitchFamily="34" charset="0"/>
                          <a:cs typeface="Arial" panose="020B0604020202020204" pitchFamily="34" charset="0"/>
                        </a:rPr>
                        <a:t>, etc.</a:t>
                      </a:r>
                    </a:p>
                  </a:txBody>
                  <a:tcPr marL="41363" marR="41363" marT="41363" marB="4136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8853399"/>
                  </a:ext>
                </a:extLst>
              </a:tr>
            </a:tbl>
          </a:graphicData>
        </a:graphic>
      </p:graphicFrame>
    </p:spTree>
    <p:extLst>
      <p:ext uri="{BB962C8B-B14F-4D97-AF65-F5344CB8AC3E}">
        <p14:creationId xmlns:p14="http://schemas.microsoft.com/office/powerpoint/2010/main" val="49228792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it-IT" sz="3200" b="1" dirty="0">
                <a:solidFill>
                  <a:srgbClr val="0070C0"/>
                </a:solidFill>
                <a:latin typeface="Arial" panose="020B0604020202020204" pitchFamily="34" charset="0"/>
                <a:cs typeface="Arial" panose="020B0604020202020204" pitchFamily="34" charset="0"/>
              </a:rPr>
              <a:t>Neo4j CQL Data Types</a:t>
            </a:r>
            <a:endParaRPr lang="en-IN" sz="3200" b="1" dirty="0">
              <a:solidFill>
                <a:srgbClr val="0070C0"/>
              </a:solidFill>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05-05-2020</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smtClean="0">
                <a:latin typeface="Arial" panose="020B0604020202020204" pitchFamily="34" charset="0"/>
                <a:cs typeface="Arial" panose="020B0604020202020204" pitchFamily="34" charset="0"/>
              </a:rPr>
              <a:t>Dr.</a:t>
            </a:r>
            <a:r>
              <a:rPr lang="en-IN" dirty="0" smtClean="0">
                <a:latin typeface="Arial" panose="020B0604020202020204" pitchFamily="34" charset="0"/>
                <a:cs typeface="Arial" panose="020B0604020202020204" pitchFamily="34" charset="0"/>
              </a:rPr>
              <a:t> S. </a:t>
            </a:r>
            <a:r>
              <a:rPr lang="en-IN" dirty="0" err="1" smtClean="0">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25</a:t>
            </a:fld>
            <a:endParaRPr lang="en-IN" dirty="0">
              <a:latin typeface="Arial" panose="020B0604020202020204" pitchFamily="34" charset="0"/>
              <a:cs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1782954294"/>
              </p:ext>
            </p:extLst>
          </p:nvPr>
        </p:nvGraphicFramePr>
        <p:xfrm>
          <a:off x="1233437" y="1690688"/>
          <a:ext cx="9725126" cy="4504707"/>
        </p:xfrm>
        <a:graphic>
          <a:graphicData uri="http://schemas.openxmlformats.org/drawingml/2006/table">
            <a:tbl>
              <a:tblPr/>
              <a:tblGrid>
                <a:gridCol w="1100891">
                  <a:extLst>
                    <a:ext uri="{9D8B030D-6E8A-4147-A177-3AD203B41FA5}">
                      <a16:colId xmlns:a16="http://schemas.microsoft.com/office/drawing/2014/main" val="4160252135"/>
                    </a:ext>
                  </a:extLst>
                </a:gridCol>
                <a:gridCol w="2184934">
                  <a:extLst>
                    <a:ext uri="{9D8B030D-6E8A-4147-A177-3AD203B41FA5}">
                      <a16:colId xmlns:a16="http://schemas.microsoft.com/office/drawing/2014/main" val="4271428411"/>
                    </a:ext>
                  </a:extLst>
                </a:gridCol>
                <a:gridCol w="6439301">
                  <a:extLst>
                    <a:ext uri="{9D8B030D-6E8A-4147-A177-3AD203B41FA5}">
                      <a16:colId xmlns:a16="http://schemas.microsoft.com/office/drawing/2014/main" val="1508639498"/>
                    </a:ext>
                  </a:extLst>
                </a:gridCol>
              </a:tblGrid>
              <a:tr h="123022">
                <a:tc>
                  <a:txBody>
                    <a:bodyPr/>
                    <a:lstStyle/>
                    <a:p>
                      <a:pPr algn="ctr" fontAlgn="t">
                        <a:lnSpc>
                          <a:spcPct val="120000"/>
                        </a:lnSpc>
                      </a:pPr>
                      <a:r>
                        <a:rPr lang="en-IN" sz="2200">
                          <a:effectLst/>
                          <a:latin typeface="Arial" panose="020B0604020202020204" pitchFamily="34" charset="0"/>
                          <a:cs typeface="Arial" panose="020B0604020202020204" pitchFamily="34" charset="0"/>
                        </a:rPr>
                        <a:t>Sr.No</a:t>
                      </a:r>
                    </a:p>
                  </a:txBody>
                  <a:tcPr marL="21372" marR="21372" marT="21372" marB="213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fontAlgn="t">
                        <a:lnSpc>
                          <a:spcPct val="120000"/>
                        </a:lnSpc>
                      </a:pPr>
                      <a:r>
                        <a:rPr lang="en-IN" sz="2200">
                          <a:effectLst/>
                          <a:latin typeface="Arial" panose="020B0604020202020204" pitchFamily="34" charset="0"/>
                          <a:cs typeface="Arial" panose="020B0604020202020204" pitchFamily="34" charset="0"/>
                        </a:rPr>
                        <a:t>CQL Data Type</a:t>
                      </a:r>
                    </a:p>
                  </a:txBody>
                  <a:tcPr marL="21372" marR="21372" marT="21372" marB="213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fontAlgn="t">
                        <a:lnSpc>
                          <a:spcPct val="120000"/>
                        </a:lnSpc>
                      </a:pPr>
                      <a:r>
                        <a:rPr lang="en-IN" sz="2200">
                          <a:effectLst/>
                          <a:latin typeface="Arial" panose="020B0604020202020204" pitchFamily="34" charset="0"/>
                          <a:cs typeface="Arial" panose="020B0604020202020204" pitchFamily="34" charset="0"/>
                        </a:rPr>
                        <a:t>Usage</a:t>
                      </a:r>
                    </a:p>
                  </a:txBody>
                  <a:tcPr marL="21372" marR="21372" marT="21372" marB="213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extLst>
                  <a:ext uri="{0D108BD9-81ED-4DB2-BD59-A6C34878D82A}">
                    <a16:rowId xmlns:a16="http://schemas.microsoft.com/office/drawing/2014/main" val="1990086617"/>
                  </a:ext>
                </a:extLst>
              </a:tr>
              <a:tr h="463049">
                <a:tc>
                  <a:txBody>
                    <a:bodyPr/>
                    <a:lstStyle/>
                    <a:p>
                      <a:pPr algn="ctr" fontAlgn="t">
                        <a:lnSpc>
                          <a:spcPct val="120000"/>
                        </a:lnSpc>
                      </a:pPr>
                      <a:r>
                        <a:rPr lang="en-IN" sz="2200">
                          <a:effectLst/>
                          <a:latin typeface="Arial" panose="020B0604020202020204" pitchFamily="34" charset="0"/>
                          <a:cs typeface="Arial" panose="020B0604020202020204" pitchFamily="34" charset="0"/>
                        </a:rPr>
                        <a:t>1</a:t>
                      </a:r>
                    </a:p>
                  </a:txBody>
                  <a:tcPr marL="21372" marR="21372" marT="21372" marB="213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pPr>
                      <a:r>
                        <a:rPr lang="en-IN" sz="2200">
                          <a:effectLst/>
                          <a:latin typeface="Arial" panose="020B0604020202020204" pitchFamily="34" charset="0"/>
                          <a:cs typeface="Arial" panose="020B0604020202020204" pitchFamily="34" charset="0"/>
                        </a:rPr>
                        <a:t>Boolean</a:t>
                      </a:r>
                    </a:p>
                  </a:txBody>
                  <a:tcPr marL="21372" marR="21372" marT="21372" marB="213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US" sz="2200" dirty="0">
                          <a:effectLst/>
                          <a:latin typeface="Arial" panose="020B0604020202020204" pitchFamily="34" charset="0"/>
                          <a:cs typeface="Arial" panose="020B0604020202020204" pitchFamily="34" charset="0"/>
                        </a:rPr>
                        <a:t>It is used to represent Boolean literals: true, false.</a:t>
                      </a:r>
                    </a:p>
                  </a:txBody>
                  <a:tcPr marL="21372" marR="21372" marT="21372" marB="213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1723387"/>
                  </a:ext>
                </a:extLst>
              </a:tr>
              <a:tr h="290603">
                <a:tc>
                  <a:txBody>
                    <a:bodyPr/>
                    <a:lstStyle/>
                    <a:p>
                      <a:pPr algn="ctr" fontAlgn="t">
                        <a:lnSpc>
                          <a:spcPct val="120000"/>
                        </a:lnSpc>
                      </a:pPr>
                      <a:r>
                        <a:rPr lang="en-IN" sz="2200">
                          <a:effectLst/>
                          <a:latin typeface="Arial" panose="020B0604020202020204" pitchFamily="34" charset="0"/>
                          <a:cs typeface="Arial" panose="020B0604020202020204" pitchFamily="34" charset="0"/>
                        </a:rPr>
                        <a:t>2</a:t>
                      </a:r>
                    </a:p>
                  </a:txBody>
                  <a:tcPr marL="21372" marR="21372" marT="21372" marB="213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pPr>
                      <a:r>
                        <a:rPr lang="en-IN" sz="2200" dirty="0">
                          <a:effectLst/>
                          <a:latin typeface="Arial" panose="020B0604020202020204" pitchFamily="34" charset="0"/>
                          <a:cs typeface="Arial" panose="020B0604020202020204" pitchFamily="34" charset="0"/>
                        </a:rPr>
                        <a:t>byte</a:t>
                      </a:r>
                    </a:p>
                  </a:txBody>
                  <a:tcPr marL="21372" marR="21372" marT="21372" marB="213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US" sz="2200" dirty="0">
                          <a:effectLst/>
                          <a:latin typeface="Arial" panose="020B0604020202020204" pitchFamily="34" charset="0"/>
                          <a:cs typeface="Arial" panose="020B0604020202020204" pitchFamily="34" charset="0"/>
                        </a:rPr>
                        <a:t>It is used to represent 8-bit integers.</a:t>
                      </a:r>
                    </a:p>
                  </a:txBody>
                  <a:tcPr marL="21372" marR="21372" marT="21372" marB="213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0275717"/>
                  </a:ext>
                </a:extLst>
              </a:tr>
              <a:tr h="290603">
                <a:tc>
                  <a:txBody>
                    <a:bodyPr/>
                    <a:lstStyle/>
                    <a:p>
                      <a:pPr algn="ctr" fontAlgn="t">
                        <a:lnSpc>
                          <a:spcPct val="120000"/>
                        </a:lnSpc>
                      </a:pPr>
                      <a:r>
                        <a:rPr lang="en-IN" sz="2200">
                          <a:effectLst/>
                          <a:latin typeface="Arial" panose="020B0604020202020204" pitchFamily="34" charset="0"/>
                          <a:cs typeface="Arial" panose="020B0604020202020204" pitchFamily="34" charset="0"/>
                        </a:rPr>
                        <a:t>3</a:t>
                      </a:r>
                    </a:p>
                  </a:txBody>
                  <a:tcPr marL="21372" marR="21372" marT="21372" marB="213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pPr>
                      <a:r>
                        <a:rPr lang="en-IN" sz="2200">
                          <a:effectLst/>
                          <a:latin typeface="Arial" panose="020B0604020202020204" pitchFamily="34" charset="0"/>
                          <a:cs typeface="Arial" panose="020B0604020202020204" pitchFamily="34" charset="0"/>
                        </a:rPr>
                        <a:t>short</a:t>
                      </a:r>
                    </a:p>
                  </a:txBody>
                  <a:tcPr marL="21372" marR="21372" marT="21372" marB="213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US" sz="2200" dirty="0">
                          <a:effectLst/>
                          <a:latin typeface="Arial" panose="020B0604020202020204" pitchFamily="34" charset="0"/>
                          <a:cs typeface="Arial" panose="020B0604020202020204" pitchFamily="34" charset="0"/>
                        </a:rPr>
                        <a:t>It is used to represent 16-bit integers.</a:t>
                      </a:r>
                    </a:p>
                  </a:txBody>
                  <a:tcPr marL="21372" marR="21372" marT="21372" marB="213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7487157"/>
                  </a:ext>
                </a:extLst>
              </a:tr>
              <a:tr h="290603">
                <a:tc>
                  <a:txBody>
                    <a:bodyPr/>
                    <a:lstStyle/>
                    <a:p>
                      <a:pPr algn="ctr" fontAlgn="t">
                        <a:lnSpc>
                          <a:spcPct val="120000"/>
                        </a:lnSpc>
                      </a:pPr>
                      <a:r>
                        <a:rPr lang="en-IN" sz="2200">
                          <a:effectLst/>
                          <a:latin typeface="Arial" panose="020B0604020202020204" pitchFamily="34" charset="0"/>
                          <a:cs typeface="Arial" panose="020B0604020202020204" pitchFamily="34" charset="0"/>
                        </a:rPr>
                        <a:t>4</a:t>
                      </a:r>
                    </a:p>
                  </a:txBody>
                  <a:tcPr marL="21372" marR="21372" marT="21372" marB="213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pPr>
                      <a:r>
                        <a:rPr lang="en-IN" sz="2200">
                          <a:effectLst/>
                          <a:latin typeface="Arial" panose="020B0604020202020204" pitchFamily="34" charset="0"/>
                          <a:cs typeface="Arial" panose="020B0604020202020204" pitchFamily="34" charset="0"/>
                        </a:rPr>
                        <a:t>int</a:t>
                      </a:r>
                    </a:p>
                  </a:txBody>
                  <a:tcPr marL="21372" marR="21372" marT="21372" marB="213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US" sz="2200" dirty="0">
                          <a:effectLst/>
                          <a:latin typeface="Arial" panose="020B0604020202020204" pitchFamily="34" charset="0"/>
                          <a:cs typeface="Arial" panose="020B0604020202020204" pitchFamily="34" charset="0"/>
                        </a:rPr>
                        <a:t>It is used to represent 32-bit integers.</a:t>
                      </a:r>
                    </a:p>
                  </a:txBody>
                  <a:tcPr marL="21372" marR="21372" marT="21372" marB="213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9637254"/>
                  </a:ext>
                </a:extLst>
              </a:tr>
              <a:tr h="290603">
                <a:tc>
                  <a:txBody>
                    <a:bodyPr/>
                    <a:lstStyle/>
                    <a:p>
                      <a:pPr algn="ctr" fontAlgn="t">
                        <a:lnSpc>
                          <a:spcPct val="120000"/>
                        </a:lnSpc>
                      </a:pPr>
                      <a:r>
                        <a:rPr lang="en-IN" sz="2200">
                          <a:effectLst/>
                          <a:latin typeface="Arial" panose="020B0604020202020204" pitchFamily="34" charset="0"/>
                          <a:cs typeface="Arial" panose="020B0604020202020204" pitchFamily="34" charset="0"/>
                        </a:rPr>
                        <a:t>5</a:t>
                      </a:r>
                    </a:p>
                  </a:txBody>
                  <a:tcPr marL="21372" marR="21372" marT="21372" marB="213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pPr>
                      <a:r>
                        <a:rPr lang="en-IN" sz="2200">
                          <a:effectLst/>
                          <a:latin typeface="Arial" panose="020B0604020202020204" pitchFamily="34" charset="0"/>
                          <a:cs typeface="Arial" panose="020B0604020202020204" pitchFamily="34" charset="0"/>
                        </a:rPr>
                        <a:t>long</a:t>
                      </a:r>
                    </a:p>
                  </a:txBody>
                  <a:tcPr marL="21372" marR="21372" marT="21372" marB="213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US" sz="2200" dirty="0">
                          <a:effectLst/>
                          <a:latin typeface="Arial" panose="020B0604020202020204" pitchFamily="34" charset="0"/>
                          <a:cs typeface="Arial" panose="020B0604020202020204" pitchFamily="34" charset="0"/>
                        </a:rPr>
                        <a:t>It is used to represent 64-bit integers.</a:t>
                      </a:r>
                    </a:p>
                  </a:txBody>
                  <a:tcPr marL="21372" marR="21372" marT="21372" marB="213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4628572"/>
                  </a:ext>
                </a:extLst>
              </a:tr>
              <a:tr h="463049">
                <a:tc>
                  <a:txBody>
                    <a:bodyPr/>
                    <a:lstStyle/>
                    <a:p>
                      <a:pPr algn="ctr" fontAlgn="t">
                        <a:lnSpc>
                          <a:spcPct val="120000"/>
                        </a:lnSpc>
                      </a:pPr>
                      <a:r>
                        <a:rPr lang="en-IN" sz="2200">
                          <a:effectLst/>
                          <a:latin typeface="Arial" panose="020B0604020202020204" pitchFamily="34" charset="0"/>
                          <a:cs typeface="Arial" panose="020B0604020202020204" pitchFamily="34" charset="0"/>
                        </a:rPr>
                        <a:t>6</a:t>
                      </a:r>
                    </a:p>
                  </a:txBody>
                  <a:tcPr marL="21372" marR="21372" marT="21372" marB="213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pPr>
                      <a:r>
                        <a:rPr lang="en-IN" sz="2200">
                          <a:effectLst/>
                          <a:latin typeface="Arial" panose="020B0604020202020204" pitchFamily="34" charset="0"/>
                          <a:cs typeface="Arial" panose="020B0604020202020204" pitchFamily="34" charset="0"/>
                        </a:rPr>
                        <a:t>float</a:t>
                      </a:r>
                    </a:p>
                  </a:txBody>
                  <a:tcPr marL="21372" marR="21372" marT="21372" marB="213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US" sz="2200">
                          <a:effectLst/>
                          <a:latin typeface="Arial" panose="020B0604020202020204" pitchFamily="34" charset="0"/>
                          <a:cs typeface="Arial" panose="020B0604020202020204" pitchFamily="34" charset="0"/>
                        </a:rPr>
                        <a:t>It is used to represent 32-bit floating-point numbers.</a:t>
                      </a:r>
                    </a:p>
                  </a:txBody>
                  <a:tcPr marL="21372" marR="21372" marT="21372" marB="213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2565640"/>
                  </a:ext>
                </a:extLst>
              </a:tr>
              <a:tr h="463049">
                <a:tc>
                  <a:txBody>
                    <a:bodyPr/>
                    <a:lstStyle/>
                    <a:p>
                      <a:pPr algn="ctr" fontAlgn="t">
                        <a:lnSpc>
                          <a:spcPct val="120000"/>
                        </a:lnSpc>
                      </a:pPr>
                      <a:r>
                        <a:rPr lang="en-IN" sz="2200">
                          <a:effectLst/>
                          <a:latin typeface="Arial" panose="020B0604020202020204" pitchFamily="34" charset="0"/>
                          <a:cs typeface="Arial" panose="020B0604020202020204" pitchFamily="34" charset="0"/>
                        </a:rPr>
                        <a:t>7</a:t>
                      </a:r>
                    </a:p>
                  </a:txBody>
                  <a:tcPr marL="21372" marR="21372" marT="21372" marB="213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pPr>
                      <a:r>
                        <a:rPr lang="en-IN" sz="2200">
                          <a:effectLst/>
                          <a:latin typeface="Arial" panose="020B0604020202020204" pitchFamily="34" charset="0"/>
                          <a:cs typeface="Arial" panose="020B0604020202020204" pitchFamily="34" charset="0"/>
                        </a:rPr>
                        <a:t>double</a:t>
                      </a:r>
                    </a:p>
                  </a:txBody>
                  <a:tcPr marL="21372" marR="21372" marT="21372" marB="213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US" sz="2200">
                          <a:effectLst/>
                          <a:latin typeface="Arial" panose="020B0604020202020204" pitchFamily="34" charset="0"/>
                          <a:cs typeface="Arial" panose="020B0604020202020204" pitchFamily="34" charset="0"/>
                        </a:rPr>
                        <a:t>It is used to represent 64-bit floating-point numbers.</a:t>
                      </a:r>
                    </a:p>
                  </a:txBody>
                  <a:tcPr marL="21372" marR="21372" marT="21372" marB="213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605196"/>
                  </a:ext>
                </a:extLst>
              </a:tr>
              <a:tr h="290603">
                <a:tc>
                  <a:txBody>
                    <a:bodyPr/>
                    <a:lstStyle/>
                    <a:p>
                      <a:pPr algn="ctr" fontAlgn="t">
                        <a:lnSpc>
                          <a:spcPct val="120000"/>
                        </a:lnSpc>
                      </a:pPr>
                      <a:r>
                        <a:rPr lang="en-IN" sz="2200">
                          <a:effectLst/>
                          <a:latin typeface="Arial" panose="020B0604020202020204" pitchFamily="34" charset="0"/>
                          <a:cs typeface="Arial" panose="020B0604020202020204" pitchFamily="34" charset="0"/>
                        </a:rPr>
                        <a:t>8</a:t>
                      </a:r>
                    </a:p>
                  </a:txBody>
                  <a:tcPr marL="21372" marR="21372" marT="21372" marB="213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pPr>
                      <a:r>
                        <a:rPr lang="en-IN" sz="2200">
                          <a:effectLst/>
                          <a:latin typeface="Arial" panose="020B0604020202020204" pitchFamily="34" charset="0"/>
                          <a:cs typeface="Arial" panose="020B0604020202020204" pitchFamily="34" charset="0"/>
                        </a:rPr>
                        <a:t>char</a:t>
                      </a:r>
                    </a:p>
                  </a:txBody>
                  <a:tcPr marL="21372" marR="21372" marT="21372" marB="213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US" sz="2200">
                          <a:effectLst/>
                          <a:latin typeface="Arial" panose="020B0604020202020204" pitchFamily="34" charset="0"/>
                          <a:cs typeface="Arial" panose="020B0604020202020204" pitchFamily="34" charset="0"/>
                        </a:rPr>
                        <a:t>It is used to represent 16-bit characters.</a:t>
                      </a:r>
                    </a:p>
                  </a:txBody>
                  <a:tcPr marL="21372" marR="21372" marT="21372" marB="213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6086599"/>
                  </a:ext>
                </a:extLst>
              </a:tr>
              <a:tr h="290603">
                <a:tc>
                  <a:txBody>
                    <a:bodyPr/>
                    <a:lstStyle/>
                    <a:p>
                      <a:pPr algn="ctr" fontAlgn="t">
                        <a:lnSpc>
                          <a:spcPct val="120000"/>
                        </a:lnSpc>
                      </a:pPr>
                      <a:r>
                        <a:rPr lang="en-IN" sz="2200">
                          <a:effectLst/>
                          <a:latin typeface="Arial" panose="020B0604020202020204" pitchFamily="34" charset="0"/>
                          <a:cs typeface="Arial" panose="020B0604020202020204" pitchFamily="34" charset="0"/>
                        </a:rPr>
                        <a:t>9</a:t>
                      </a:r>
                    </a:p>
                  </a:txBody>
                  <a:tcPr marL="21372" marR="21372" marT="21372" marB="213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pPr>
                      <a:r>
                        <a:rPr lang="en-IN" sz="2200">
                          <a:effectLst/>
                          <a:latin typeface="Arial" panose="020B0604020202020204" pitchFamily="34" charset="0"/>
                          <a:cs typeface="Arial" panose="020B0604020202020204" pitchFamily="34" charset="0"/>
                        </a:rPr>
                        <a:t>String</a:t>
                      </a:r>
                    </a:p>
                  </a:txBody>
                  <a:tcPr marL="21372" marR="21372" marT="21372" marB="213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US" sz="2200" dirty="0">
                          <a:effectLst/>
                          <a:latin typeface="Arial" panose="020B0604020202020204" pitchFamily="34" charset="0"/>
                          <a:cs typeface="Arial" panose="020B0604020202020204" pitchFamily="34" charset="0"/>
                        </a:rPr>
                        <a:t>It is used to represent Strings.</a:t>
                      </a:r>
                    </a:p>
                  </a:txBody>
                  <a:tcPr marL="21372" marR="21372" marT="21372" marB="213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7521872"/>
                  </a:ext>
                </a:extLst>
              </a:tr>
            </a:tbl>
          </a:graphicData>
        </a:graphic>
      </p:graphicFrame>
    </p:spTree>
    <p:extLst>
      <p:ext uri="{BB962C8B-B14F-4D97-AF65-F5344CB8AC3E}">
        <p14:creationId xmlns:p14="http://schemas.microsoft.com/office/powerpoint/2010/main" val="205252626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it-IT" sz="3200" b="1" dirty="0">
                <a:solidFill>
                  <a:srgbClr val="0070C0"/>
                </a:solidFill>
                <a:latin typeface="Arial" panose="020B0604020202020204" pitchFamily="34" charset="0"/>
                <a:cs typeface="Arial" panose="020B0604020202020204" pitchFamily="34" charset="0"/>
              </a:rPr>
              <a:t>Neo4j CQL Operators</a:t>
            </a:r>
            <a:endParaRPr lang="en-IN" sz="3200" b="1" dirty="0">
              <a:solidFill>
                <a:srgbClr val="0070C0"/>
              </a:solidFill>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05-05-2020</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smtClean="0">
                <a:latin typeface="Arial" panose="020B0604020202020204" pitchFamily="34" charset="0"/>
                <a:cs typeface="Arial" panose="020B0604020202020204" pitchFamily="34" charset="0"/>
              </a:rPr>
              <a:t>Dr.</a:t>
            </a:r>
            <a:r>
              <a:rPr lang="en-IN" dirty="0" smtClean="0">
                <a:latin typeface="Arial" panose="020B0604020202020204" pitchFamily="34" charset="0"/>
                <a:cs typeface="Arial" panose="020B0604020202020204" pitchFamily="34" charset="0"/>
              </a:rPr>
              <a:t> S. </a:t>
            </a:r>
            <a:r>
              <a:rPr lang="en-IN" dirty="0" err="1" smtClean="0">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26</a:t>
            </a:fld>
            <a:endParaRPr lang="en-IN" dirty="0">
              <a:latin typeface="Arial" panose="020B0604020202020204" pitchFamily="34" charset="0"/>
              <a:cs typeface="Arial" panose="020B0604020202020204" pitchFamily="34" charset="0"/>
            </a:endParaRPr>
          </a:p>
        </p:txBody>
      </p:sp>
      <p:graphicFrame>
        <p:nvGraphicFramePr>
          <p:cNvPr id="3" name="Table 2"/>
          <p:cNvGraphicFramePr>
            <a:graphicFrameLocks noGrp="1"/>
          </p:cNvGraphicFramePr>
          <p:nvPr>
            <p:extLst>
              <p:ext uri="{D42A27DB-BD31-4B8C-83A1-F6EECF244321}">
                <p14:modId xmlns:p14="http://schemas.microsoft.com/office/powerpoint/2010/main" val="695019199"/>
              </p:ext>
            </p:extLst>
          </p:nvPr>
        </p:nvGraphicFramePr>
        <p:xfrm>
          <a:off x="981776" y="1807703"/>
          <a:ext cx="10241280" cy="4324321"/>
        </p:xfrm>
        <a:graphic>
          <a:graphicData uri="http://schemas.openxmlformats.org/drawingml/2006/table">
            <a:tbl>
              <a:tblPr/>
              <a:tblGrid>
                <a:gridCol w="1193533">
                  <a:extLst>
                    <a:ext uri="{9D8B030D-6E8A-4147-A177-3AD203B41FA5}">
                      <a16:colId xmlns:a16="http://schemas.microsoft.com/office/drawing/2014/main" val="3214405752"/>
                    </a:ext>
                  </a:extLst>
                </a:gridCol>
                <a:gridCol w="2945331">
                  <a:extLst>
                    <a:ext uri="{9D8B030D-6E8A-4147-A177-3AD203B41FA5}">
                      <a16:colId xmlns:a16="http://schemas.microsoft.com/office/drawing/2014/main" val="2923901157"/>
                    </a:ext>
                  </a:extLst>
                </a:gridCol>
                <a:gridCol w="6102416">
                  <a:extLst>
                    <a:ext uri="{9D8B030D-6E8A-4147-A177-3AD203B41FA5}">
                      <a16:colId xmlns:a16="http://schemas.microsoft.com/office/drawing/2014/main" val="3532373622"/>
                    </a:ext>
                  </a:extLst>
                </a:gridCol>
              </a:tblGrid>
              <a:tr h="484266">
                <a:tc>
                  <a:txBody>
                    <a:bodyPr/>
                    <a:lstStyle/>
                    <a:p>
                      <a:pPr algn="ctr" fontAlgn="t">
                        <a:lnSpc>
                          <a:spcPct val="120000"/>
                        </a:lnSpc>
                      </a:pPr>
                      <a:r>
                        <a:rPr lang="en-IN" sz="2200">
                          <a:effectLst/>
                          <a:latin typeface="Arial" panose="020B0604020202020204" pitchFamily="34" charset="0"/>
                          <a:cs typeface="Arial" panose="020B0604020202020204" pitchFamily="34" charset="0"/>
                        </a:rPr>
                        <a:t>Sr.No</a:t>
                      </a:r>
                    </a:p>
                  </a:txBody>
                  <a:tcPr marL="47504" marR="47504" marT="47504" marB="475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pPr algn="ctr" fontAlgn="t">
                        <a:lnSpc>
                          <a:spcPct val="120000"/>
                        </a:lnSpc>
                      </a:pPr>
                      <a:r>
                        <a:rPr lang="en-IN" sz="2200">
                          <a:effectLst/>
                          <a:latin typeface="Arial" panose="020B0604020202020204" pitchFamily="34" charset="0"/>
                          <a:cs typeface="Arial" panose="020B0604020202020204" pitchFamily="34" charset="0"/>
                        </a:rPr>
                        <a:t>Type</a:t>
                      </a:r>
                    </a:p>
                  </a:txBody>
                  <a:tcPr marL="47504" marR="47504" marT="47504" marB="475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pPr algn="ctr" fontAlgn="t">
                        <a:lnSpc>
                          <a:spcPct val="120000"/>
                        </a:lnSpc>
                      </a:pPr>
                      <a:r>
                        <a:rPr lang="en-IN" sz="2200">
                          <a:effectLst/>
                          <a:latin typeface="Arial" panose="020B0604020202020204" pitchFamily="34" charset="0"/>
                          <a:cs typeface="Arial" panose="020B0604020202020204" pitchFamily="34" charset="0"/>
                        </a:rPr>
                        <a:t>Operators</a:t>
                      </a:r>
                    </a:p>
                  </a:txBody>
                  <a:tcPr marL="47504" marR="47504" marT="47504" marB="475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EEE"/>
                    </a:solidFill>
                  </a:tcPr>
                </a:tc>
                <a:extLst>
                  <a:ext uri="{0D108BD9-81ED-4DB2-BD59-A6C34878D82A}">
                    <a16:rowId xmlns:a16="http://schemas.microsoft.com/office/drawing/2014/main" val="1943082826"/>
                  </a:ext>
                </a:extLst>
              </a:tr>
              <a:tr h="484266">
                <a:tc>
                  <a:txBody>
                    <a:bodyPr/>
                    <a:lstStyle/>
                    <a:p>
                      <a:pPr algn="ctr" fontAlgn="t">
                        <a:lnSpc>
                          <a:spcPct val="120000"/>
                        </a:lnSpc>
                      </a:pPr>
                      <a:r>
                        <a:rPr lang="en-IN" sz="2200">
                          <a:effectLst/>
                          <a:latin typeface="Arial" panose="020B0604020202020204" pitchFamily="34" charset="0"/>
                          <a:cs typeface="Arial" panose="020B0604020202020204" pitchFamily="34" charset="0"/>
                        </a:rPr>
                        <a:t>1</a:t>
                      </a:r>
                    </a:p>
                  </a:txBody>
                  <a:tcPr marL="47504" marR="47504" marT="47504" marB="475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lnSpc>
                          <a:spcPct val="120000"/>
                        </a:lnSpc>
                      </a:pPr>
                      <a:r>
                        <a:rPr lang="en-IN" sz="2200">
                          <a:effectLst/>
                          <a:latin typeface="Arial" panose="020B0604020202020204" pitchFamily="34" charset="0"/>
                          <a:cs typeface="Arial" panose="020B0604020202020204" pitchFamily="34" charset="0"/>
                        </a:rPr>
                        <a:t>Mathematical</a:t>
                      </a:r>
                    </a:p>
                  </a:txBody>
                  <a:tcPr marL="47504" marR="47504" marT="47504" marB="475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fontAlgn="t">
                        <a:lnSpc>
                          <a:spcPct val="120000"/>
                        </a:lnSpc>
                      </a:pPr>
                      <a:r>
                        <a:rPr lang="en-IN" sz="2200" dirty="0">
                          <a:effectLst/>
                          <a:latin typeface="Arial" panose="020B0604020202020204" pitchFamily="34" charset="0"/>
                          <a:cs typeface="Arial" panose="020B0604020202020204" pitchFamily="34" charset="0"/>
                        </a:rPr>
                        <a:t>+, -, *, /, %, ^</a:t>
                      </a:r>
                    </a:p>
                  </a:txBody>
                  <a:tcPr marL="47504" marR="47504" marT="47504" marB="475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40261535"/>
                  </a:ext>
                </a:extLst>
              </a:tr>
              <a:tr h="522382">
                <a:tc>
                  <a:txBody>
                    <a:bodyPr/>
                    <a:lstStyle/>
                    <a:p>
                      <a:pPr algn="ctr" fontAlgn="t">
                        <a:lnSpc>
                          <a:spcPct val="120000"/>
                        </a:lnSpc>
                      </a:pPr>
                      <a:r>
                        <a:rPr lang="en-IN" sz="2200">
                          <a:effectLst/>
                          <a:latin typeface="Arial" panose="020B0604020202020204" pitchFamily="34" charset="0"/>
                          <a:cs typeface="Arial" panose="020B0604020202020204" pitchFamily="34" charset="0"/>
                        </a:rPr>
                        <a:t>2</a:t>
                      </a:r>
                    </a:p>
                  </a:txBody>
                  <a:tcPr marL="47504" marR="47504" marT="47504" marB="475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lnSpc>
                          <a:spcPct val="120000"/>
                        </a:lnSpc>
                      </a:pPr>
                      <a:r>
                        <a:rPr lang="en-IN" sz="2200">
                          <a:effectLst/>
                          <a:latin typeface="Arial" panose="020B0604020202020204" pitchFamily="34" charset="0"/>
                          <a:cs typeface="Arial" panose="020B0604020202020204" pitchFamily="34" charset="0"/>
                        </a:rPr>
                        <a:t>Comparison</a:t>
                      </a:r>
                    </a:p>
                  </a:txBody>
                  <a:tcPr marL="47504" marR="47504" marT="47504" marB="475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fontAlgn="t">
                        <a:lnSpc>
                          <a:spcPct val="120000"/>
                        </a:lnSpc>
                      </a:pPr>
                      <a:r>
                        <a:rPr lang="en-IN" sz="2200">
                          <a:effectLst/>
                          <a:latin typeface="Arial" panose="020B0604020202020204" pitchFamily="34" charset="0"/>
                          <a:cs typeface="Arial" panose="020B0604020202020204" pitchFamily="34" charset="0"/>
                        </a:rPr>
                        <a:t>+, &lt;&gt;, &lt;, &gt;, &lt;=, &gt;=</a:t>
                      </a:r>
                    </a:p>
                  </a:txBody>
                  <a:tcPr marL="47504" marR="47504" marT="47504" marB="475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557894"/>
                  </a:ext>
                </a:extLst>
              </a:tr>
              <a:tr h="522382">
                <a:tc>
                  <a:txBody>
                    <a:bodyPr/>
                    <a:lstStyle/>
                    <a:p>
                      <a:pPr algn="ctr" fontAlgn="t">
                        <a:lnSpc>
                          <a:spcPct val="120000"/>
                        </a:lnSpc>
                      </a:pPr>
                      <a:r>
                        <a:rPr lang="en-IN" sz="2200">
                          <a:effectLst/>
                          <a:latin typeface="Arial" panose="020B0604020202020204" pitchFamily="34" charset="0"/>
                          <a:cs typeface="Arial" panose="020B0604020202020204" pitchFamily="34" charset="0"/>
                        </a:rPr>
                        <a:t>3</a:t>
                      </a:r>
                    </a:p>
                  </a:txBody>
                  <a:tcPr marL="47504" marR="47504" marT="47504" marB="475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lnSpc>
                          <a:spcPct val="120000"/>
                        </a:lnSpc>
                      </a:pPr>
                      <a:r>
                        <a:rPr lang="en-IN" sz="2200" dirty="0" smtClean="0">
                          <a:effectLst/>
                          <a:latin typeface="Arial" panose="020B0604020202020204" pitchFamily="34" charset="0"/>
                          <a:cs typeface="Arial" panose="020B0604020202020204" pitchFamily="34" charset="0"/>
                        </a:rPr>
                        <a:t>Boolean</a:t>
                      </a:r>
                      <a:endParaRPr lang="en-IN" sz="2200" dirty="0">
                        <a:effectLst/>
                        <a:latin typeface="Arial" panose="020B0604020202020204" pitchFamily="34" charset="0"/>
                        <a:cs typeface="Arial" panose="020B0604020202020204" pitchFamily="34" charset="0"/>
                      </a:endParaRPr>
                    </a:p>
                  </a:txBody>
                  <a:tcPr marL="47504" marR="47504" marT="47504" marB="475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fontAlgn="t">
                        <a:lnSpc>
                          <a:spcPct val="120000"/>
                        </a:lnSpc>
                      </a:pPr>
                      <a:r>
                        <a:rPr lang="en-IN" sz="2200">
                          <a:effectLst/>
                          <a:latin typeface="Arial" panose="020B0604020202020204" pitchFamily="34" charset="0"/>
                          <a:cs typeface="Arial" panose="020B0604020202020204" pitchFamily="34" charset="0"/>
                        </a:rPr>
                        <a:t>AND, OR, XOR, NOT</a:t>
                      </a:r>
                    </a:p>
                  </a:txBody>
                  <a:tcPr marL="47504" marR="47504" marT="47504" marB="475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10544779"/>
                  </a:ext>
                </a:extLst>
              </a:tr>
              <a:tr h="484266">
                <a:tc>
                  <a:txBody>
                    <a:bodyPr/>
                    <a:lstStyle/>
                    <a:p>
                      <a:pPr algn="ctr" fontAlgn="t">
                        <a:lnSpc>
                          <a:spcPct val="120000"/>
                        </a:lnSpc>
                      </a:pPr>
                      <a:r>
                        <a:rPr lang="en-IN" sz="2200">
                          <a:effectLst/>
                          <a:latin typeface="Arial" panose="020B0604020202020204" pitchFamily="34" charset="0"/>
                          <a:cs typeface="Arial" panose="020B0604020202020204" pitchFamily="34" charset="0"/>
                        </a:rPr>
                        <a:t>4</a:t>
                      </a:r>
                    </a:p>
                  </a:txBody>
                  <a:tcPr marL="47504" marR="47504" marT="47504" marB="475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lnSpc>
                          <a:spcPct val="120000"/>
                        </a:lnSpc>
                      </a:pPr>
                      <a:r>
                        <a:rPr lang="en-IN" sz="2200">
                          <a:effectLst/>
                          <a:latin typeface="Arial" panose="020B0604020202020204" pitchFamily="34" charset="0"/>
                          <a:cs typeface="Arial" panose="020B0604020202020204" pitchFamily="34" charset="0"/>
                        </a:rPr>
                        <a:t>String</a:t>
                      </a:r>
                    </a:p>
                  </a:txBody>
                  <a:tcPr marL="47504" marR="47504" marT="47504" marB="475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fontAlgn="t">
                        <a:lnSpc>
                          <a:spcPct val="120000"/>
                        </a:lnSpc>
                      </a:pPr>
                      <a:r>
                        <a:rPr lang="en-IN" sz="2200">
                          <a:effectLst/>
                          <a:latin typeface="Arial" panose="020B0604020202020204" pitchFamily="34" charset="0"/>
                          <a:cs typeface="Arial" panose="020B0604020202020204" pitchFamily="34" charset="0"/>
                        </a:rPr>
                        <a:t>+</a:t>
                      </a:r>
                    </a:p>
                  </a:txBody>
                  <a:tcPr marL="47504" marR="47504" marT="47504" marB="475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3312327"/>
                  </a:ext>
                </a:extLst>
              </a:tr>
              <a:tr h="522382">
                <a:tc>
                  <a:txBody>
                    <a:bodyPr/>
                    <a:lstStyle/>
                    <a:p>
                      <a:pPr algn="ctr" fontAlgn="t">
                        <a:lnSpc>
                          <a:spcPct val="120000"/>
                        </a:lnSpc>
                      </a:pPr>
                      <a:r>
                        <a:rPr lang="en-IN" sz="2200">
                          <a:effectLst/>
                          <a:latin typeface="Arial" panose="020B0604020202020204" pitchFamily="34" charset="0"/>
                          <a:cs typeface="Arial" panose="020B0604020202020204" pitchFamily="34" charset="0"/>
                        </a:rPr>
                        <a:t>5</a:t>
                      </a:r>
                    </a:p>
                  </a:txBody>
                  <a:tcPr marL="47504" marR="47504" marT="47504" marB="475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lnSpc>
                          <a:spcPct val="120000"/>
                        </a:lnSpc>
                      </a:pPr>
                      <a:r>
                        <a:rPr lang="en-IN" sz="2200">
                          <a:effectLst/>
                          <a:latin typeface="Arial" panose="020B0604020202020204" pitchFamily="34" charset="0"/>
                          <a:cs typeface="Arial" panose="020B0604020202020204" pitchFamily="34" charset="0"/>
                        </a:rPr>
                        <a:t>List</a:t>
                      </a:r>
                    </a:p>
                  </a:txBody>
                  <a:tcPr marL="47504" marR="47504" marT="47504" marB="475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fontAlgn="t">
                        <a:lnSpc>
                          <a:spcPct val="120000"/>
                        </a:lnSpc>
                      </a:pPr>
                      <a:r>
                        <a:rPr lang="en-IN" sz="2200">
                          <a:effectLst/>
                          <a:latin typeface="Arial" panose="020B0604020202020204" pitchFamily="34" charset="0"/>
                          <a:cs typeface="Arial" panose="020B0604020202020204" pitchFamily="34" charset="0"/>
                        </a:rPr>
                        <a:t>+, IN, [X], [X…..Y]</a:t>
                      </a:r>
                    </a:p>
                  </a:txBody>
                  <a:tcPr marL="47504" marR="47504" marT="47504" marB="475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79170150"/>
                  </a:ext>
                </a:extLst>
              </a:tr>
              <a:tr h="522382">
                <a:tc>
                  <a:txBody>
                    <a:bodyPr/>
                    <a:lstStyle/>
                    <a:p>
                      <a:pPr algn="ctr" fontAlgn="t">
                        <a:lnSpc>
                          <a:spcPct val="120000"/>
                        </a:lnSpc>
                      </a:pPr>
                      <a:r>
                        <a:rPr lang="en-IN" sz="2200">
                          <a:effectLst/>
                          <a:latin typeface="Arial" panose="020B0604020202020204" pitchFamily="34" charset="0"/>
                          <a:cs typeface="Arial" panose="020B0604020202020204" pitchFamily="34" charset="0"/>
                        </a:rPr>
                        <a:t>6</a:t>
                      </a:r>
                    </a:p>
                  </a:txBody>
                  <a:tcPr marL="47504" marR="47504" marT="47504" marB="475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lnSpc>
                          <a:spcPct val="120000"/>
                        </a:lnSpc>
                      </a:pPr>
                      <a:r>
                        <a:rPr lang="en-IN" sz="2200">
                          <a:effectLst/>
                          <a:latin typeface="Arial" panose="020B0604020202020204" pitchFamily="34" charset="0"/>
                          <a:cs typeface="Arial" panose="020B0604020202020204" pitchFamily="34" charset="0"/>
                        </a:rPr>
                        <a:t>Regular Expression</a:t>
                      </a:r>
                    </a:p>
                  </a:txBody>
                  <a:tcPr marL="47504" marR="47504" marT="47504" marB="475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fontAlgn="t">
                        <a:lnSpc>
                          <a:spcPct val="120000"/>
                        </a:lnSpc>
                      </a:pPr>
                      <a:r>
                        <a:rPr lang="en-IN" sz="2200">
                          <a:effectLst/>
                          <a:latin typeface="Arial" panose="020B0604020202020204" pitchFamily="34" charset="0"/>
                          <a:cs typeface="Arial" panose="020B0604020202020204" pitchFamily="34" charset="0"/>
                        </a:rPr>
                        <a:t>=-</a:t>
                      </a:r>
                    </a:p>
                  </a:txBody>
                  <a:tcPr marL="47504" marR="47504" marT="47504" marB="475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40548127"/>
                  </a:ext>
                </a:extLst>
              </a:tr>
              <a:tr h="742761">
                <a:tc>
                  <a:txBody>
                    <a:bodyPr/>
                    <a:lstStyle/>
                    <a:p>
                      <a:pPr algn="ctr" fontAlgn="t">
                        <a:lnSpc>
                          <a:spcPct val="120000"/>
                        </a:lnSpc>
                      </a:pPr>
                      <a:r>
                        <a:rPr lang="en-IN" sz="2200" dirty="0">
                          <a:effectLst/>
                          <a:latin typeface="Arial" panose="020B0604020202020204" pitchFamily="34" charset="0"/>
                          <a:cs typeface="Arial" panose="020B0604020202020204" pitchFamily="34" charset="0"/>
                        </a:rPr>
                        <a:t>7</a:t>
                      </a:r>
                    </a:p>
                  </a:txBody>
                  <a:tcPr marL="47504" marR="47504" marT="47504" marB="475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lnSpc>
                          <a:spcPct val="120000"/>
                        </a:lnSpc>
                      </a:pPr>
                      <a:r>
                        <a:rPr lang="en-IN" sz="2200" dirty="0">
                          <a:effectLst/>
                          <a:latin typeface="Arial" panose="020B0604020202020204" pitchFamily="34" charset="0"/>
                          <a:cs typeface="Arial" panose="020B0604020202020204" pitchFamily="34" charset="0"/>
                        </a:rPr>
                        <a:t>String matching</a:t>
                      </a:r>
                    </a:p>
                  </a:txBody>
                  <a:tcPr marL="47504" marR="47504" marT="47504" marB="475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fontAlgn="t">
                        <a:lnSpc>
                          <a:spcPct val="120000"/>
                        </a:lnSpc>
                      </a:pPr>
                      <a:r>
                        <a:rPr lang="en-US" sz="2200" dirty="0">
                          <a:effectLst/>
                          <a:latin typeface="Arial" panose="020B0604020202020204" pitchFamily="34" charset="0"/>
                          <a:cs typeface="Arial" panose="020B0604020202020204" pitchFamily="34" charset="0"/>
                        </a:rPr>
                        <a:t>STARTS WITH, ENDS WITH, CONSTRAINTS</a:t>
                      </a:r>
                    </a:p>
                  </a:txBody>
                  <a:tcPr marL="47504" marR="47504" marT="47504" marB="475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80362652"/>
                  </a:ext>
                </a:extLst>
              </a:tr>
            </a:tbl>
          </a:graphicData>
        </a:graphic>
      </p:graphicFrame>
    </p:spTree>
    <p:extLst>
      <p:ext uri="{BB962C8B-B14F-4D97-AF65-F5344CB8AC3E}">
        <p14:creationId xmlns:p14="http://schemas.microsoft.com/office/powerpoint/2010/main" val="347203164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it-IT" sz="3200" b="1" dirty="0">
                <a:solidFill>
                  <a:srgbClr val="0070C0"/>
                </a:solidFill>
                <a:latin typeface="Arial" panose="020B0604020202020204" pitchFamily="34" charset="0"/>
                <a:cs typeface="Arial" panose="020B0604020202020204" pitchFamily="34" charset="0"/>
              </a:rPr>
              <a:t>Neo4j CQL Boolean Operators</a:t>
            </a:r>
            <a:endParaRPr lang="en-IN" sz="3200" b="1" dirty="0">
              <a:solidFill>
                <a:srgbClr val="0070C0"/>
              </a:solidFill>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05-05-2020</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smtClean="0">
                <a:latin typeface="Arial" panose="020B0604020202020204" pitchFamily="34" charset="0"/>
                <a:cs typeface="Arial" panose="020B0604020202020204" pitchFamily="34" charset="0"/>
              </a:rPr>
              <a:t>Dr.</a:t>
            </a:r>
            <a:r>
              <a:rPr lang="en-IN" dirty="0" smtClean="0">
                <a:latin typeface="Arial" panose="020B0604020202020204" pitchFamily="34" charset="0"/>
                <a:cs typeface="Arial" panose="020B0604020202020204" pitchFamily="34" charset="0"/>
              </a:rPr>
              <a:t> S. </a:t>
            </a:r>
            <a:r>
              <a:rPr lang="en-IN" dirty="0" err="1" smtClean="0">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27</a:t>
            </a:fld>
            <a:endParaRPr lang="en-IN" dirty="0">
              <a:latin typeface="Arial" panose="020B0604020202020204" pitchFamily="34" charset="0"/>
              <a:cs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172251631"/>
              </p:ext>
            </p:extLst>
          </p:nvPr>
        </p:nvGraphicFramePr>
        <p:xfrm>
          <a:off x="838199" y="1825625"/>
          <a:ext cx="10515600" cy="4247903"/>
        </p:xfrm>
        <a:graphic>
          <a:graphicData uri="http://schemas.openxmlformats.org/drawingml/2006/table">
            <a:tbl>
              <a:tblPr/>
              <a:tblGrid>
                <a:gridCol w="1144605">
                  <a:extLst>
                    <a:ext uri="{9D8B030D-6E8A-4147-A177-3AD203B41FA5}">
                      <a16:colId xmlns:a16="http://schemas.microsoft.com/office/drawing/2014/main" val="1005815158"/>
                    </a:ext>
                  </a:extLst>
                </a:gridCol>
                <a:gridCol w="2723950">
                  <a:extLst>
                    <a:ext uri="{9D8B030D-6E8A-4147-A177-3AD203B41FA5}">
                      <a16:colId xmlns:a16="http://schemas.microsoft.com/office/drawing/2014/main" val="2707401595"/>
                    </a:ext>
                  </a:extLst>
                </a:gridCol>
                <a:gridCol w="6647045">
                  <a:extLst>
                    <a:ext uri="{9D8B030D-6E8A-4147-A177-3AD203B41FA5}">
                      <a16:colId xmlns:a16="http://schemas.microsoft.com/office/drawing/2014/main" val="926594466"/>
                    </a:ext>
                  </a:extLst>
                </a:gridCol>
              </a:tblGrid>
              <a:tr h="334316">
                <a:tc>
                  <a:txBody>
                    <a:bodyPr/>
                    <a:lstStyle/>
                    <a:p>
                      <a:pPr algn="ctr" fontAlgn="t">
                        <a:lnSpc>
                          <a:spcPct val="120000"/>
                        </a:lnSpc>
                      </a:pPr>
                      <a:r>
                        <a:rPr lang="en-IN" sz="2200">
                          <a:effectLst/>
                          <a:latin typeface="Arial" panose="020B0604020202020204" pitchFamily="34" charset="0"/>
                          <a:cs typeface="Arial" panose="020B0604020202020204" pitchFamily="34" charset="0"/>
                        </a:rPr>
                        <a:t>Sr.No</a:t>
                      </a:r>
                    </a:p>
                  </a:txBody>
                  <a:tcPr marL="26118" marR="26118" marT="26118" marB="261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fontAlgn="t">
                        <a:lnSpc>
                          <a:spcPct val="120000"/>
                        </a:lnSpc>
                      </a:pPr>
                      <a:r>
                        <a:rPr lang="en-IN" sz="2200">
                          <a:effectLst/>
                          <a:latin typeface="Arial" panose="020B0604020202020204" pitchFamily="34" charset="0"/>
                          <a:cs typeface="Arial" panose="020B0604020202020204" pitchFamily="34" charset="0"/>
                        </a:rPr>
                        <a:t>Boolean Operators</a:t>
                      </a:r>
                    </a:p>
                  </a:txBody>
                  <a:tcPr marL="26118" marR="26118" marT="26118" marB="261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fontAlgn="t">
                        <a:lnSpc>
                          <a:spcPct val="120000"/>
                        </a:lnSpc>
                      </a:pPr>
                      <a:r>
                        <a:rPr lang="en-IN" sz="2200">
                          <a:effectLst/>
                          <a:latin typeface="Arial" panose="020B0604020202020204" pitchFamily="34" charset="0"/>
                          <a:cs typeface="Arial" panose="020B0604020202020204" pitchFamily="34" charset="0"/>
                        </a:rPr>
                        <a:t>Description</a:t>
                      </a:r>
                    </a:p>
                  </a:txBody>
                  <a:tcPr marL="26118" marR="26118" marT="26118" marB="261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extLst>
                  <a:ext uri="{0D108BD9-81ED-4DB2-BD59-A6C34878D82A}">
                    <a16:rowId xmlns:a16="http://schemas.microsoft.com/office/drawing/2014/main" val="2345871177"/>
                  </a:ext>
                </a:extLst>
              </a:tr>
              <a:tr h="905765">
                <a:tc>
                  <a:txBody>
                    <a:bodyPr/>
                    <a:lstStyle/>
                    <a:p>
                      <a:pPr algn="ctr" fontAlgn="t">
                        <a:lnSpc>
                          <a:spcPct val="120000"/>
                        </a:lnSpc>
                      </a:pPr>
                      <a:r>
                        <a:rPr lang="en-IN" sz="2200">
                          <a:effectLst/>
                          <a:latin typeface="Arial" panose="020B0604020202020204" pitchFamily="34" charset="0"/>
                          <a:cs typeface="Arial" panose="020B0604020202020204" pitchFamily="34" charset="0"/>
                        </a:rPr>
                        <a:t>1</a:t>
                      </a:r>
                    </a:p>
                  </a:txBody>
                  <a:tcPr marL="26118" marR="26118" marT="26118" marB="261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pPr>
                      <a:r>
                        <a:rPr lang="en-IN" sz="2200">
                          <a:effectLst/>
                          <a:latin typeface="Arial" panose="020B0604020202020204" pitchFamily="34" charset="0"/>
                          <a:cs typeface="Arial" panose="020B0604020202020204" pitchFamily="34" charset="0"/>
                        </a:rPr>
                        <a:t>AND</a:t>
                      </a:r>
                    </a:p>
                  </a:txBody>
                  <a:tcPr marL="26118" marR="26118" marT="26118" marB="261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US" sz="2200">
                          <a:effectLst/>
                          <a:latin typeface="Arial" panose="020B0604020202020204" pitchFamily="34" charset="0"/>
                          <a:cs typeface="Arial" panose="020B0604020202020204" pitchFamily="34" charset="0"/>
                        </a:rPr>
                        <a:t>It is a Neo4j CQL keyword to support AND operation. It is like SQL AND operator.</a:t>
                      </a:r>
                    </a:p>
                  </a:txBody>
                  <a:tcPr marL="26118" marR="26118" marT="26118" marB="261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4528289"/>
                  </a:ext>
                </a:extLst>
              </a:tr>
              <a:tr h="898476">
                <a:tc>
                  <a:txBody>
                    <a:bodyPr/>
                    <a:lstStyle/>
                    <a:p>
                      <a:pPr algn="ctr" fontAlgn="t">
                        <a:lnSpc>
                          <a:spcPct val="120000"/>
                        </a:lnSpc>
                      </a:pPr>
                      <a:r>
                        <a:rPr lang="en-IN" sz="2200" dirty="0">
                          <a:effectLst/>
                          <a:latin typeface="Arial" panose="020B0604020202020204" pitchFamily="34" charset="0"/>
                          <a:cs typeface="Arial" panose="020B0604020202020204" pitchFamily="34" charset="0"/>
                        </a:rPr>
                        <a:t>2</a:t>
                      </a:r>
                    </a:p>
                  </a:txBody>
                  <a:tcPr marL="26118" marR="26118" marT="26118" marB="261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pPr>
                      <a:r>
                        <a:rPr lang="en-IN" sz="2200" dirty="0">
                          <a:effectLst/>
                          <a:latin typeface="Arial" panose="020B0604020202020204" pitchFamily="34" charset="0"/>
                          <a:cs typeface="Arial" panose="020B0604020202020204" pitchFamily="34" charset="0"/>
                        </a:rPr>
                        <a:t>OR</a:t>
                      </a:r>
                    </a:p>
                  </a:txBody>
                  <a:tcPr marL="26118" marR="26118" marT="26118" marB="261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US" sz="2200">
                          <a:effectLst/>
                          <a:latin typeface="Arial" panose="020B0604020202020204" pitchFamily="34" charset="0"/>
                          <a:cs typeface="Arial" panose="020B0604020202020204" pitchFamily="34" charset="0"/>
                        </a:rPr>
                        <a:t>It is a Neo4j CQL keyword to support OR operation. It is like SQL AND operator.</a:t>
                      </a:r>
                    </a:p>
                  </a:txBody>
                  <a:tcPr marL="26118" marR="26118" marT="26118" marB="261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1823221"/>
                  </a:ext>
                </a:extLst>
              </a:tr>
              <a:tr h="949575">
                <a:tc>
                  <a:txBody>
                    <a:bodyPr/>
                    <a:lstStyle/>
                    <a:p>
                      <a:pPr algn="ctr" fontAlgn="t">
                        <a:lnSpc>
                          <a:spcPct val="120000"/>
                        </a:lnSpc>
                      </a:pPr>
                      <a:r>
                        <a:rPr lang="en-IN" sz="2200">
                          <a:effectLst/>
                          <a:latin typeface="Arial" panose="020B0604020202020204" pitchFamily="34" charset="0"/>
                          <a:cs typeface="Arial" panose="020B0604020202020204" pitchFamily="34" charset="0"/>
                        </a:rPr>
                        <a:t>3</a:t>
                      </a:r>
                    </a:p>
                  </a:txBody>
                  <a:tcPr marL="26118" marR="26118" marT="26118" marB="261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pPr>
                      <a:r>
                        <a:rPr lang="en-IN" sz="2200" dirty="0">
                          <a:effectLst/>
                          <a:latin typeface="Arial" panose="020B0604020202020204" pitchFamily="34" charset="0"/>
                          <a:cs typeface="Arial" panose="020B0604020202020204" pitchFamily="34" charset="0"/>
                        </a:rPr>
                        <a:t>NOT</a:t>
                      </a:r>
                    </a:p>
                  </a:txBody>
                  <a:tcPr marL="26118" marR="26118" marT="26118" marB="261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US" sz="2200">
                          <a:effectLst/>
                          <a:latin typeface="Arial" panose="020B0604020202020204" pitchFamily="34" charset="0"/>
                          <a:cs typeface="Arial" panose="020B0604020202020204" pitchFamily="34" charset="0"/>
                        </a:rPr>
                        <a:t>It is a Neo4j CQL keyword to support NOT operation. It is like SQL AND operator.</a:t>
                      </a:r>
                    </a:p>
                  </a:txBody>
                  <a:tcPr marL="26118" marR="26118" marT="26118" marB="261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2719631"/>
                  </a:ext>
                </a:extLst>
              </a:tr>
              <a:tr h="1039515">
                <a:tc>
                  <a:txBody>
                    <a:bodyPr/>
                    <a:lstStyle/>
                    <a:p>
                      <a:pPr algn="ctr" fontAlgn="t">
                        <a:lnSpc>
                          <a:spcPct val="120000"/>
                        </a:lnSpc>
                      </a:pPr>
                      <a:r>
                        <a:rPr lang="en-IN" sz="2200">
                          <a:effectLst/>
                          <a:latin typeface="Arial" panose="020B0604020202020204" pitchFamily="34" charset="0"/>
                          <a:cs typeface="Arial" panose="020B0604020202020204" pitchFamily="34" charset="0"/>
                        </a:rPr>
                        <a:t>4</a:t>
                      </a:r>
                    </a:p>
                  </a:txBody>
                  <a:tcPr marL="26118" marR="26118" marT="26118" marB="261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pPr>
                      <a:r>
                        <a:rPr lang="en-IN" sz="2200" dirty="0">
                          <a:effectLst/>
                          <a:latin typeface="Arial" panose="020B0604020202020204" pitchFamily="34" charset="0"/>
                          <a:cs typeface="Arial" panose="020B0604020202020204" pitchFamily="34" charset="0"/>
                        </a:rPr>
                        <a:t>XOR</a:t>
                      </a:r>
                    </a:p>
                  </a:txBody>
                  <a:tcPr marL="26118" marR="26118" marT="26118" marB="261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US" sz="2200" dirty="0">
                          <a:effectLst/>
                          <a:latin typeface="Arial" panose="020B0604020202020204" pitchFamily="34" charset="0"/>
                          <a:cs typeface="Arial" panose="020B0604020202020204" pitchFamily="34" charset="0"/>
                        </a:rPr>
                        <a:t>It is a Neo4j CQL keyword to support XOR operation. It is like SQL AND operator.</a:t>
                      </a:r>
                    </a:p>
                  </a:txBody>
                  <a:tcPr marL="26118" marR="26118" marT="26118" marB="261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9717642"/>
                  </a:ext>
                </a:extLst>
              </a:tr>
            </a:tbl>
          </a:graphicData>
        </a:graphic>
      </p:graphicFrame>
    </p:spTree>
    <p:extLst>
      <p:ext uri="{BB962C8B-B14F-4D97-AF65-F5344CB8AC3E}">
        <p14:creationId xmlns:p14="http://schemas.microsoft.com/office/powerpoint/2010/main" val="382912184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it-IT" sz="3200" b="1" dirty="0" smtClean="0">
                <a:solidFill>
                  <a:srgbClr val="0070C0"/>
                </a:solidFill>
                <a:latin typeface="Arial" panose="020B0604020202020204" pitchFamily="34" charset="0"/>
                <a:cs typeface="Arial" panose="020B0604020202020204" pitchFamily="34" charset="0"/>
              </a:rPr>
              <a:t>Neo4j </a:t>
            </a:r>
            <a:r>
              <a:rPr lang="it-IT" sz="3200" b="1" dirty="0">
                <a:solidFill>
                  <a:srgbClr val="0070C0"/>
                </a:solidFill>
                <a:latin typeface="Arial" panose="020B0604020202020204" pitchFamily="34" charset="0"/>
                <a:cs typeface="Arial" panose="020B0604020202020204" pitchFamily="34" charset="0"/>
              </a:rPr>
              <a:t>CQL Comparison Operators</a:t>
            </a:r>
            <a:endParaRPr lang="en-IN" sz="3200" b="1" dirty="0">
              <a:solidFill>
                <a:srgbClr val="0070C0"/>
              </a:solidFill>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05-05-2020</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smtClean="0">
                <a:latin typeface="Arial" panose="020B0604020202020204" pitchFamily="34" charset="0"/>
                <a:cs typeface="Arial" panose="020B0604020202020204" pitchFamily="34" charset="0"/>
              </a:rPr>
              <a:t>Dr.</a:t>
            </a:r>
            <a:r>
              <a:rPr lang="en-IN" dirty="0" smtClean="0">
                <a:latin typeface="Arial" panose="020B0604020202020204" pitchFamily="34" charset="0"/>
                <a:cs typeface="Arial" panose="020B0604020202020204" pitchFamily="34" charset="0"/>
              </a:rPr>
              <a:t> S. </a:t>
            </a:r>
            <a:r>
              <a:rPr lang="en-IN" dirty="0" err="1" smtClean="0">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28</a:t>
            </a:fld>
            <a:endParaRPr lang="en-IN" dirty="0">
              <a:latin typeface="Arial" panose="020B0604020202020204" pitchFamily="34" charset="0"/>
              <a:cs typeface="Arial" panose="020B0604020202020204" pitchFamily="34" charset="0"/>
            </a:endParaRPr>
          </a:p>
        </p:txBody>
      </p:sp>
      <p:graphicFrame>
        <p:nvGraphicFramePr>
          <p:cNvPr id="3" name="Table 2"/>
          <p:cNvGraphicFramePr>
            <a:graphicFrameLocks noGrp="1"/>
          </p:cNvGraphicFramePr>
          <p:nvPr>
            <p:extLst>
              <p:ext uri="{D42A27DB-BD31-4B8C-83A1-F6EECF244321}">
                <p14:modId xmlns:p14="http://schemas.microsoft.com/office/powerpoint/2010/main" val="1519488648"/>
              </p:ext>
            </p:extLst>
          </p:nvPr>
        </p:nvGraphicFramePr>
        <p:xfrm>
          <a:off x="838200" y="1825625"/>
          <a:ext cx="10515600" cy="4081093"/>
        </p:xfrm>
        <a:graphic>
          <a:graphicData uri="http://schemas.openxmlformats.org/drawingml/2006/table">
            <a:tbl>
              <a:tblPr/>
              <a:tblGrid>
                <a:gridCol w="1221606">
                  <a:extLst>
                    <a:ext uri="{9D8B030D-6E8A-4147-A177-3AD203B41FA5}">
                      <a16:colId xmlns:a16="http://schemas.microsoft.com/office/drawing/2014/main" val="3974596969"/>
                    </a:ext>
                  </a:extLst>
                </a:gridCol>
                <a:gridCol w="2743200">
                  <a:extLst>
                    <a:ext uri="{9D8B030D-6E8A-4147-A177-3AD203B41FA5}">
                      <a16:colId xmlns:a16="http://schemas.microsoft.com/office/drawing/2014/main" val="3781891143"/>
                    </a:ext>
                  </a:extLst>
                </a:gridCol>
                <a:gridCol w="6550794">
                  <a:extLst>
                    <a:ext uri="{9D8B030D-6E8A-4147-A177-3AD203B41FA5}">
                      <a16:colId xmlns:a16="http://schemas.microsoft.com/office/drawing/2014/main" val="3861229545"/>
                    </a:ext>
                  </a:extLst>
                </a:gridCol>
              </a:tblGrid>
              <a:tr h="373806">
                <a:tc>
                  <a:txBody>
                    <a:bodyPr/>
                    <a:lstStyle/>
                    <a:p>
                      <a:pPr algn="ctr" fontAlgn="t">
                        <a:lnSpc>
                          <a:spcPct val="120000"/>
                        </a:lnSpc>
                      </a:pPr>
                      <a:r>
                        <a:rPr lang="en-IN" sz="2200">
                          <a:effectLst/>
                          <a:latin typeface="Arial" panose="020B0604020202020204" pitchFamily="34" charset="0"/>
                          <a:cs typeface="Arial" panose="020B0604020202020204" pitchFamily="34" charset="0"/>
                        </a:rPr>
                        <a:t>Sr.No</a:t>
                      </a:r>
                    </a:p>
                  </a:txBody>
                  <a:tcPr marL="29204" marR="29204" marT="29204" marB="292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fontAlgn="t">
                        <a:lnSpc>
                          <a:spcPct val="120000"/>
                        </a:lnSpc>
                      </a:pPr>
                      <a:r>
                        <a:rPr lang="en-IN" sz="2200">
                          <a:effectLst/>
                          <a:latin typeface="Arial" panose="020B0604020202020204" pitchFamily="34" charset="0"/>
                          <a:cs typeface="Arial" panose="020B0604020202020204" pitchFamily="34" charset="0"/>
                        </a:rPr>
                        <a:t>Boolean Operators</a:t>
                      </a:r>
                    </a:p>
                  </a:txBody>
                  <a:tcPr marL="29204" marR="29204" marT="29204" marB="292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fontAlgn="t">
                        <a:lnSpc>
                          <a:spcPct val="120000"/>
                        </a:lnSpc>
                      </a:pPr>
                      <a:r>
                        <a:rPr lang="en-IN" sz="2200">
                          <a:effectLst/>
                          <a:latin typeface="Arial" panose="020B0604020202020204" pitchFamily="34" charset="0"/>
                          <a:cs typeface="Arial" panose="020B0604020202020204" pitchFamily="34" charset="0"/>
                        </a:rPr>
                        <a:t>Description</a:t>
                      </a:r>
                    </a:p>
                  </a:txBody>
                  <a:tcPr marL="29204" marR="29204" marT="29204" marB="292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extLst>
                  <a:ext uri="{0D108BD9-81ED-4DB2-BD59-A6C34878D82A}">
                    <a16:rowId xmlns:a16="http://schemas.microsoft.com/office/drawing/2014/main" val="1813822832"/>
                  </a:ext>
                </a:extLst>
              </a:tr>
              <a:tr h="531506">
                <a:tc>
                  <a:txBody>
                    <a:bodyPr/>
                    <a:lstStyle/>
                    <a:p>
                      <a:pPr algn="ctr" fontAlgn="t">
                        <a:lnSpc>
                          <a:spcPct val="120000"/>
                        </a:lnSpc>
                      </a:pPr>
                      <a:r>
                        <a:rPr lang="en-IN" sz="2200">
                          <a:effectLst/>
                          <a:latin typeface="Arial" panose="020B0604020202020204" pitchFamily="34" charset="0"/>
                          <a:cs typeface="Arial" panose="020B0604020202020204" pitchFamily="34" charset="0"/>
                        </a:rPr>
                        <a:t>1</a:t>
                      </a:r>
                    </a:p>
                  </a:txBody>
                  <a:tcPr marL="29204" marR="29204" marT="29204" marB="292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pPr>
                      <a:r>
                        <a:rPr lang="en-IN" sz="2200">
                          <a:effectLst/>
                          <a:latin typeface="Arial" panose="020B0604020202020204" pitchFamily="34" charset="0"/>
                          <a:cs typeface="Arial" panose="020B0604020202020204" pitchFamily="34" charset="0"/>
                        </a:rPr>
                        <a:t>=</a:t>
                      </a:r>
                    </a:p>
                  </a:txBody>
                  <a:tcPr marL="29204" marR="29204" marT="29204" marB="292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US" sz="2200">
                          <a:effectLst/>
                          <a:latin typeface="Arial" panose="020B0604020202020204" pitchFamily="34" charset="0"/>
                          <a:cs typeface="Arial" panose="020B0604020202020204" pitchFamily="34" charset="0"/>
                        </a:rPr>
                        <a:t>It is a Neo4j CQL "Equal To" operator.</a:t>
                      </a:r>
                    </a:p>
                  </a:txBody>
                  <a:tcPr marL="29204" marR="29204" marT="29204" marB="292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04580362"/>
                  </a:ext>
                </a:extLst>
              </a:tr>
              <a:tr h="541342">
                <a:tc>
                  <a:txBody>
                    <a:bodyPr/>
                    <a:lstStyle/>
                    <a:p>
                      <a:pPr algn="ctr" fontAlgn="t">
                        <a:lnSpc>
                          <a:spcPct val="120000"/>
                        </a:lnSpc>
                      </a:pPr>
                      <a:r>
                        <a:rPr lang="en-IN" sz="2200">
                          <a:effectLst/>
                          <a:latin typeface="Arial" panose="020B0604020202020204" pitchFamily="34" charset="0"/>
                          <a:cs typeface="Arial" panose="020B0604020202020204" pitchFamily="34" charset="0"/>
                        </a:rPr>
                        <a:t>2</a:t>
                      </a:r>
                    </a:p>
                  </a:txBody>
                  <a:tcPr marL="29204" marR="29204" marT="29204" marB="292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pPr>
                      <a:r>
                        <a:rPr lang="en-IN" sz="2200">
                          <a:effectLst/>
                          <a:latin typeface="Arial" panose="020B0604020202020204" pitchFamily="34" charset="0"/>
                          <a:cs typeface="Arial" panose="020B0604020202020204" pitchFamily="34" charset="0"/>
                        </a:rPr>
                        <a:t>&lt; &gt;</a:t>
                      </a:r>
                    </a:p>
                  </a:txBody>
                  <a:tcPr marL="29204" marR="29204" marT="29204" marB="292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US" sz="2200">
                          <a:effectLst/>
                          <a:latin typeface="Arial" panose="020B0604020202020204" pitchFamily="34" charset="0"/>
                          <a:cs typeface="Arial" panose="020B0604020202020204" pitchFamily="34" charset="0"/>
                        </a:rPr>
                        <a:t>It is a Neo4j CQL "Not Equal To" operator.</a:t>
                      </a:r>
                    </a:p>
                  </a:txBody>
                  <a:tcPr marL="29204" marR="29204" marT="29204" marB="292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570562"/>
                  </a:ext>
                </a:extLst>
              </a:tr>
              <a:tr h="529389">
                <a:tc>
                  <a:txBody>
                    <a:bodyPr/>
                    <a:lstStyle/>
                    <a:p>
                      <a:pPr algn="ctr" fontAlgn="t">
                        <a:lnSpc>
                          <a:spcPct val="120000"/>
                        </a:lnSpc>
                      </a:pPr>
                      <a:r>
                        <a:rPr lang="en-IN" sz="2200" dirty="0">
                          <a:effectLst/>
                          <a:latin typeface="Arial" panose="020B0604020202020204" pitchFamily="34" charset="0"/>
                          <a:cs typeface="Arial" panose="020B0604020202020204" pitchFamily="34" charset="0"/>
                        </a:rPr>
                        <a:t>3</a:t>
                      </a:r>
                    </a:p>
                  </a:txBody>
                  <a:tcPr marL="29204" marR="29204" marT="29204" marB="292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pPr>
                      <a:r>
                        <a:rPr lang="en-IN" sz="2200" dirty="0">
                          <a:effectLst/>
                          <a:latin typeface="Arial" panose="020B0604020202020204" pitchFamily="34" charset="0"/>
                          <a:cs typeface="Arial" panose="020B0604020202020204" pitchFamily="34" charset="0"/>
                        </a:rPr>
                        <a:t>&lt;</a:t>
                      </a:r>
                    </a:p>
                  </a:txBody>
                  <a:tcPr marL="29204" marR="29204" marT="29204" marB="292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US" sz="2200" dirty="0">
                          <a:effectLst/>
                          <a:latin typeface="Arial" panose="020B0604020202020204" pitchFamily="34" charset="0"/>
                          <a:cs typeface="Arial" panose="020B0604020202020204" pitchFamily="34" charset="0"/>
                        </a:rPr>
                        <a:t>It is a Neo4j CQL "Less Than" operator.</a:t>
                      </a:r>
                    </a:p>
                  </a:txBody>
                  <a:tcPr marL="29204" marR="29204" marT="29204" marB="292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7081864"/>
                  </a:ext>
                </a:extLst>
              </a:tr>
              <a:tr h="577516">
                <a:tc>
                  <a:txBody>
                    <a:bodyPr/>
                    <a:lstStyle/>
                    <a:p>
                      <a:pPr algn="ctr" fontAlgn="t">
                        <a:lnSpc>
                          <a:spcPct val="120000"/>
                        </a:lnSpc>
                      </a:pPr>
                      <a:r>
                        <a:rPr lang="en-IN" sz="2200">
                          <a:effectLst/>
                          <a:latin typeface="Arial" panose="020B0604020202020204" pitchFamily="34" charset="0"/>
                          <a:cs typeface="Arial" panose="020B0604020202020204" pitchFamily="34" charset="0"/>
                        </a:rPr>
                        <a:t>4</a:t>
                      </a:r>
                    </a:p>
                  </a:txBody>
                  <a:tcPr marL="29204" marR="29204" marT="29204" marB="292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pPr>
                      <a:r>
                        <a:rPr lang="en-IN" sz="2200">
                          <a:effectLst/>
                          <a:latin typeface="Arial" panose="020B0604020202020204" pitchFamily="34" charset="0"/>
                          <a:cs typeface="Arial" panose="020B0604020202020204" pitchFamily="34" charset="0"/>
                        </a:rPr>
                        <a:t>&gt;</a:t>
                      </a:r>
                    </a:p>
                  </a:txBody>
                  <a:tcPr marL="29204" marR="29204" marT="29204" marB="292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US" sz="2200">
                          <a:effectLst/>
                          <a:latin typeface="Arial" panose="020B0604020202020204" pitchFamily="34" charset="0"/>
                          <a:cs typeface="Arial" panose="020B0604020202020204" pitchFamily="34" charset="0"/>
                        </a:rPr>
                        <a:t>It is a Neo4j CQL "Greater Than" operator.</a:t>
                      </a:r>
                    </a:p>
                  </a:txBody>
                  <a:tcPr marL="29204" marR="29204" marT="29204" marB="292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9821537"/>
                  </a:ext>
                </a:extLst>
              </a:tr>
              <a:tr h="577516">
                <a:tc>
                  <a:txBody>
                    <a:bodyPr/>
                    <a:lstStyle/>
                    <a:p>
                      <a:pPr algn="ctr" fontAlgn="t">
                        <a:lnSpc>
                          <a:spcPct val="120000"/>
                        </a:lnSpc>
                      </a:pPr>
                      <a:r>
                        <a:rPr lang="en-IN" sz="2200">
                          <a:effectLst/>
                          <a:latin typeface="Arial" panose="020B0604020202020204" pitchFamily="34" charset="0"/>
                          <a:cs typeface="Arial" panose="020B0604020202020204" pitchFamily="34" charset="0"/>
                        </a:rPr>
                        <a:t>5</a:t>
                      </a:r>
                    </a:p>
                  </a:txBody>
                  <a:tcPr marL="29204" marR="29204" marT="29204" marB="292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pPr>
                      <a:r>
                        <a:rPr lang="en-IN" sz="2200">
                          <a:effectLst/>
                          <a:latin typeface="Arial" panose="020B0604020202020204" pitchFamily="34" charset="0"/>
                          <a:cs typeface="Arial" panose="020B0604020202020204" pitchFamily="34" charset="0"/>
                        </a:rPr>
                        <a:t>&lt;=</a:t>
                      </a:r>
                    </a:p>
                  </a:txBody>
                  <a:tcPr marL="29204" marR="29204" marT="29204" marB="292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US" sz="2200" dirty="0">
                          <a:effectLst/>
                          <a:latin typeface="Arial" panose="020B0604020202020204" pitchFamily="34" charset="0"/>
                          <a:cs typeface="Arial" panose="020B0604020202020204" pitchFamily="34" charset="0"/>
                        </a:rPr>
                        <a:t>It is a Neo4j CQL "Less Than Or Equal To" operator.</a:t>
                      </a:r>
                    </a:p>
                  </a:txBody>
                  <a:tcPr marL="29204" marR="29204" marT="29204" marB="292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2262132"/>
                  </a:ext>
                </a:extLst>
              </a:tr>
              <a:tr h="689205">
                <a:tc>
                  <a:txBody>
                    <a:bodyPr/>
                    <a:lstStyle/>
                    <a:p>
                      <a:pPr algn="ctr" fontAlgn="t">
                        <a:lnSpc>
                          <a:spcPct val="120000"/>
                        </a:lnSpc>
                      </a:pPr>
                      <a:r>
                        <a:rPr lang="en-IN" sz="2200">
                          <a:effectLst/>
                          <a:latin typeface="Arial" panose="020B0604020202020204" pitchFamily="34" charset="0"/>
                          <a:cs typeface="Arial" panose="020B0604020202020204" pitchFamily="34" charset="0"/>
                        </a:rPr>
                        <a:t>6</a:t>
                      </a:r>
                    </a:p>
                  </a:txBody>
                  <a:tcPr marL="29204" marR="29204" marT="29204" marB="292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pPr>
                      <a:r>
                        <a:rPr lang="en-IN" sz="2200">
                          <a:effectLst/>
                          <a:latin typeface="Arial" panose="020B0604020202020204" pitchFamily="34" charset="0"/>
                          <a:cs typeface="Arial" panose="020B0604020202020204" pitchFamily="34" charset="0"/>
                        </a:rPr>
                        <a:t>&gt; =</a:t>
                      </a:r>
                    </a:p>
                  </a:txBody>
                  <a:tcPr marL="29204" marR="29204" marT="29204" marB="292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lnSpc>
                          <a:spcPct val="120000"/>
                        </a:lnSpc>
                      </a:pPr>
                      <a:r>
                        <a:rPr lang="en-US" sz="2200" dirty="0">
                          <a:effectLst/>
                          <a:latin typeface="Arial" panose="020B0604020202020204" pitchFamily="34" charset="0"/>
                          <a:cs typeface="Arial" panose="020B0604020202020204" pitchFamily="34" charset="0"/>
                        </a:rPr>
                        <a:t>It is a Neo4j CQL "Greater Than Or Equal To" operator.</a:t>
                      </a:r>
                    </a:p>
                  </a:txBody>
                  <a:tcPr marL="29204" marR="29204" marT="29204" marB="292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0375267"/>
                  </a:ext>
                </a:extLst>
              </a:tr>
            </a:tbl>
          </a:graphicData>
        </a:graphic>
      </p:graphicFrame>
    </p:spTree>
    <p:extLst>
      <p:ext uri="{BB962C8B-B14F-4D97-AF65-F5344CB8AC3E}">
        <p14:creationId xmlns:p14="http://schemas.microsoft.com/office/powerpoint/2010/main" val="198312662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smtClean="0">
                <a:solidFill>
                  <a:srgbClr val="0070C0"/>
                </a:solidFill>
                <a:latin typeface="Arial" panose="020B0604020202020204" pitchFamily="34" charset="0"/>
                <a:cs typeface="Arial" panose="020B0604020202020204" pitchFamily="34" charset="0"/>
              </a:rPr>
              <a:t>Summary</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600"/>
              </a:spcBef>
              <a:spcAft>
                <a:spcPts val="600"/>
              </a:spcAft>
              <a:buNone/>
            </a:pPr>
            <a:r>
              <a:rPr lang="en-IN" sz="2400" dirty="0" smtClean="0">
                <a:latin typeface="Arial" panose="020B0604020202020204" pitchFamily="34" charset="0"/>
                <a:cs typeface="Arial" panose="020B0604020202020204" pitchFamily="34" charset="0"/>
              </a:rPr>
              <a:t>This session will give the knowledge about</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Neo4j Building Blocks</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Cypher Query Language (CQL) Introduction</a:t>
            </a:r>
          </a:p>
          <a:p>
            <a:pPr marL="996950" lvl="1" indent="-539750">
              <a:lnSpc>
                <a:spcPct val="120000"/>
              </a:lnSpc>
              <a:spcBef>
                <a:spcPts val="600"/>
              </a:spcBef>
              <a:spcAft>
                <a:spcPts val="600"/>
              </a:spcAft>
            </a:pPr>
            <a:endParaRPr lang="en-IN" dirty="0">
              <a:latin typeface="Arial" panose="020B0604020202020204" pitchFamily="34" charset="0"/>
              <a:cs typeface="Arial" panose="020B0604020202020204" pitchFamily="34" charset="0"/>
            </a:endParaRPr>
          </a:p>
          <a:p>
            <a:pPr marL="0" indent="0">
              <a:lnSpc>
                <a:spcPct val="120000"/>
              </a:lnSpc>
              <a:spcBef>
                <a:spcPts val="600"/>
              </a:spcBef>
              <a:spcAft>
                <a:spcPts val="600"/>
              </a:spcAft>
              <a:buNone/>
            </a:pPr>
            <a:endParaRPr lang="en-IN" sz="24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1E4FA2B1-6748-41D8-AB75-02C9BD84395F}" type="datetime1">
              <a:rPr lang="en-IN" smtClean="0">
                <a:latin typeface="Arial" panose="020B0604020202020204" pitchFamily="34" charset="0"/>
                <a:cs typeface="Arial" panose="020B0604020202020204" pitchFamily="34" charset="0"/>
              </a:rPr>
              <a:t>05-05-2020</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smtClean="0">
                <a:latin typeface="Arial" panose="020B0604020202020204" pitchFamily="34" charset="0"/>
                <a:cs typeface="Arial" panose="020B0604020202020204" pitchFamily="34" charset="0"/>
              </a:rPr>
              <a:t>Dr.</a:t>
            </a:r>
            <a:r>
              <a:rPr lang="en-IN" dirty="0" smtClean="0">
                <a:latin typeface="Arial" panose="020B0604020202020204" pitchFamily="34" charset="0"/>
                <a:cs typeface="Arial" panose="020B0604020202020204" pitchFamily="34" charset="0"/>
              </a:rPr>
              <a:t> S. </a:t>
            </a:r>
            <a:r>
              <a:rPr lang="en-IN" dirty="0" err="1" smtClean="0">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29</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057809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IT PPT Template.pptx" id="{54091FC3-898D-497D-92ED-2AD4019B5909}" vid="{614E3B1B-8E84-45D1-BB2E-2BDD1EEBD4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VIT PPT Template</Template>
  <TotalTime>3312</TotalTime>
  <Words>1770</Words>
  <Application>Microsoft Office PowerPoint</Application>
  <PresentationFormat>Widescreen</PresentationFormat>
  <Paragraphs>361</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Calibri (Body)</vt:lpstr>
      <vt:lpstr>Calibri Light</vt:lpstr>
      <vt:lpstr>Office Theme</vt:lpstr>
      <vt:lpstr>Course code : CSE3009 Course title  : No SQL Data Bases Module  : 6     Topic   : 3</vt:lpstr>
      <vt:lpstr>Objectives</vt:lpstr>
      <vt:lpstr>Neo4j - Building Blocks</vt:lpstr>
      <vt:lpstr>Node</vt:lpstr>
      <vt:lpstr>Node</vt:lpstr>
      <vt:lpstr>Relationships</vt:lpstr>
      <vt:lpstr>Relationships</vt:lpstr>
      <vt:lpstr>Relationships</vt:lpstr>
      <vt:lpstr>Labels</vt:lpstr>
      <vt:lpstr>Properties     Label</vt:lpstr>
      <vt:lpstr>Paths</vt:lpstr>
      <vt:lpstr>Neo4j Data Browser</vt:lpstr>
      <vt:lpstr>Neo4j Data Browser</vt:lpstr>
      <vt:lpstr>Neo4j Data Browser</vt:lpstr>
      <vt:lpstr>Neo4j export CSV</vt:lpstr>
      <vt:lpstr>Neo4j export JSON</vt:lpstr>
      <vt:lpstr>Neo4j - CQL</vt:lpstr>
      <vt:lpstr>Oracle SQL VS CQL</vt:lpstr>
      <vt:lpstr>Neo4j CQL: Write Clauses</vt:lpstr>
      <vt:lpstr>Neo4j CQL : Write Clauses</vt:lpstr>
      <vt:lpstr>Neo4j CQL : Read Clauses</vt:lpstr>
      <vt:lpstr>Neo4j CQL: General Clauses</vt:lpstr>
      <vt:lpstr>Neo4j CQL: General Clauses</vt:lpstr>
      <vt:lpstr>Neo4j CQL Functions</vt:lpstr>
      <vt:lpstr>Neo4j CQL Data Types</vt:lpstr>
      <vt:lpstr>Neo4j CQL Operators</vt:lpstr>
      <vt:lpstr>Neo4j CQL Boolean Operators</vt:lpstr>
      <vt:lpstr>Neo4j CQL Comparison Operators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code : CSE1004 Course title  : Database Management System</dc:title>
  <dc:creator>gopikrishnan sundaram</dc:creator>
  <cp:lastModifiedBy>gopikrishnan sundaram</cp:lastModifiedBy>
  <cp:revision>142</cp:revision>
  <dcterms:created xsi:type="dcterms:W3CDTF">2019-11-30T05:18:24Z</dcterms:created>
  <dcterms:modified xsi:type="dcterms:W3CDTF">2020-05-05T05:39:57Z</dcterms:modified>
</cp:coreProperties>
</file>