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58" r:id="rId3"/>
    <p:sldId id="368" r:id="rId4"/>
    <p:sldId id="398" r:id="rId5"/>
    <p:sldId id="399" r:id="rId6"/>
    <p:sldId id="400" r:id="rId7"/>
    <p:sldId id="369" r:id="rId8"/>
    <p:sldId id="401" r:id="rId9"/>
    <p:sldId id="402" r:id="rId10"/>
    <p:sldId id="403" r:id="rId11"/>
    <p:sldId id="404" r:id="rId12"/>
    <p:sldId id="370" r:id="rId13"/>
    <p:sldId id="405" r:id="rId14"/>
    <p:sldId id="424" r:id="rId15"/>
    <p:sldId id="397" r:id="rId16"/>
    <p:sldId id="425" r:id="rId17"/>
    <p:sldId id="426" r:id="rId18"/>
    <p:sldId id="406" r:id="rId19"/>
    <p:sldId id="415" r:id="rId20"/>
    <p:sldId id="423" r:id="rId21"/>
    <p:sldId id="416" r:id="rId22"/>
    <p:sldId id="414" r:id="rId23"/>
    <p:sldId id="407" r:id="rId24"/>
    <p:sldId id="408" r:id="rId25"/>
    <p:sldId id="409" r:id="rId26"/>
    <p:sldId id="411" r:id="rId27"/>
    <p:sldId id="412" r:id="rId28"/>
    <p:sldId id="413" r:id="rId29"/>
    <p:sldId id="417" r:id="rId30"/>
    <p:sldId id="418" r:id="rId31"/>
    <p:sldId id="419" r:id="rId32"/>
    <p:sldId id="420" r:id="rId33"/>
    <p:sldId id="421" r:id="rId34"/>
    <p:sldId id="422" r:id="rId35"/>
    <p:sldId id="259"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CC00"/>
    <a:srgbClr val="2102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100" d="100"/>
          <a:sy n="100" d="100"/>
        </p:scale>
        <p:origin x="58" y="-2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F716F9-1CCB-412E-807B-54E78A47C39C}" type="datetimeFigureOut">
              <a:rPr lang="en-IN" smtClean="0"/>
              <a:t>06-05-2023</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070DDA-CF3D-48BA-A0B0-D24E17EB7419}" type="slidenum">
              <a:rPr lang="en-IN" smtClean="0"/>
              <a:t>‹#›</a:t>
            </a:fld>
            <a:endParaRPr lang="en-IN"/>
          </a:p>
        </p:txBody>
      </p:sp>
    </p:spTree>
    <p:extLst>
      <p:ext uri="{BB962C8B-B14F-4D97-AF65-F5344CB8AC3E}">
        <p14:creationId xmlns:p14="http://schemas.microsoft.com/office/powerpoint/2010/main" val="25428697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D18207AF-BBE6-41CB-838F-3B91C45E6842}" type="datetime1">
              <a:rPr lang="en-IN" smtClean="0"/>
              <a:t>06-05-2023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41205776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2001CB-2F0D-4565-974A-BB3B4237F7A0}" type="datetime1">
              <a:rPr lang="en-IN" smtClean="0"/>
              <a:t>06-05-2023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28863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25E08F-6321-4732-8935-8B18B4878320}" type="datetime1">
              <a:rPr lang="en-IN" smtClean="0"/>
              <a:t>06-05-2023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708958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FAE6CD2-53BA-43CE-85B2-BECBEC79BED8}" type="datetime1">
              <a:rPr lang="en-IN" smtClean="0"/>
              <a:t>06-05-2023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132958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010AD05-A4E4-4CA4-974B-F265446B2FC3}" type="datetime1">
              <a:rPr lang="en-IN" smtClean="0"/>
              <a:t>06-05-2023</a:t>
            </a:fld>
            <a:endParaRPr lang="en-IN"/>
          </a:p>
        </p:txBody>
      </p:sp>
      <p:sp>
        <p:nvSpPr>
          <p:cNvPr id="8" name="Footer Placeholder 7"/>
          <p:cNvSpPr>
            <a:spLocks noGrp="1"/>
          </p:cNvSpPr>
          <p:nvPr>
            <p:ph type="ftr" sz="quarter" idx="11"/>
          </p:nvPr>
        </p:nvSpPr>
        <p:spPr/>
        <p:txBody>
          <a:bodyPr/>
          <a:lstStyle/>
          <a:p>
            <a:r>
              <a:rPr lang="en-IN"/>
              <a:t>Dr. S. Gopikrishnan</a:t>
            </a:r>
          </a:p>
        </p:txBody>
      </p:sp>
      <p:sp>
        <p:nvSpPr>
          <p:cNvPr id="9" name="Slide Number Placeholder 8"/>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8554184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28D32E8-1E32-4E2A-B217-B612998A856C}" type="datetime1">
              <a:rPr lang="en-IN" smtClean="0"/>
              <a:t>06-05-2023</a:t>
            </a:fld>
            <a:endParaRPr lang="en-IN"/>
          </a:p>
        </p:txBody>
      </p:sp>
      <p:sp>
        <p:nvSpPr>
          <p:cNvPr id="4" name="Footer Placeholder 3"/>
          <p:cNvSpPr>
            <a:spLocks noGrp="1"/>
          </p:cNvSpPr>
          <p:nvPr>
            <p:ph type="ftr" sz="quarter" idx="11"/>
          </p:nvPr>
        </p:nvSpPr>
        <p:spPr/>
        <p:txBody>
          <a:bodyPr/>
          <a:lstStyle/>
          <a:p>
            <a:r>
              <a:rPr lang="en-IN"/>
              <a:t>Dr. S. Gopikrishnan</a:t>
            </a:r>
          </a:p>
        </p:txBody>
      </p:sp>
      <p:sp>
        <p:nvSpPr>
          <p:cNvPr id="5" name="Slide Number Placeholder 4"/>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777863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CE7F75-E219-4A7A-86AA-8B901170D2FE}" type="datetime1">
              <a:rPr lang="en-IN" smtClean="0"/>
              <a:t>06-05-2023</a:t>
            </a:fld>
            <a:endParaRPr lang="en-IN"/>
          </a:p>
        </p:txBody>
      </p:sp>
      <p:sp>
        <p:nvSpPr>
          <p:cNvPr id="3" name="Footer Placeholder 2"/>
          <p:cNvSpPr>
            <a:spLocks noGrp="1"/>
          </p:cNvSpPr>
          <p:nvPr>
            <p:ph type="ftr" sz="quarter" idx="11"/>
          </p:nvPr>
        </p:nvSpPr>
        <p:spPr/>
        <p:txBody>
          <a:bodyPr/>
          <a:lstStyle/>
          <a:p>
            <a:r>
              <a:rPr lang="en-IN"/>
              <a:t>Dr. S. Gopikrishnan</a:t>
            </a:r>
          </a:p>
        </p:txBody>
      </p:sp>
      <p:sp>
        <p:nvSpPr>
          <p:cNvPr id="4" name="Slide Number Placeholder 3"/>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2624135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6F16AFA-FDBE-49F0-A857-020340421B04}" type="datetime1">
              <a:rPr lang="en-IN" smtClean="0"/>
              <a:t>06-05-2023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14413558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F176920-F609-41C5-957C-A5E46109118D}" type="datetime1">
              <a:rPr lang="en-IN" smtClean="0"/>
              <a:t>06-05-2023</a:t>
            </a:fld>
            <a:endParaRPr lang="en-IN"/>
          </a:p>
        </p:txBody>
      </p:sp>
      <p:sp>
        <p:nvSpPr>
          <p:cNvPr id="6" name="Footer Placeholder 5"/>
          <p:cNvSpPr>
            <a:spLocks noGrp="1"/>
          </p:cNvSpPr>
          <p:nvPr>
            <p:ph type="ftr" sz="quarter" idx="11"/>
          </p:nvPr>
        </p:nvSpPr>
        <p:spPr/>
        <p:txBody>
          <a:bodyPr/>
          <a:lstStyle/>
          <a:p>
            <a:r>
              <a:rPr lang="en-IN"/>
              <a:t>Dr. S. Gopikrishnan</a:t>
            </a:r>
          </a:p>
        </p:txBody>
      </p:sp>
      <p:sp>
        <p:nvSpPr>
          <p:cNvPr id="7" name="Slide Number Placeholder 6"/>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397715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18908AA1-2BEE-4CB8-A992-73CF63948E2E}" type="datetime1">
              <a:rPr lang="en-IN" smtClean="0"/>
              <a:t>06-05-2023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24868929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57EAF6-71C1-4CCC-BB0E-BC6703073DD8}" type="datetime1">
              <a:rPr lang="en-IN" smtClean="0"/>
              <a:t>06-05-2023</a:t>
            </a:fld>
            <a:endParaRPr lang="en-IN"/>
          </a:p>
        </p:txBody>
      </p:sp>
      <p:sp>
        <p:nvSpPr>
          <p:cNvPr id="5" name="Footer Placeholder 4"/>
          <p:cNvSpPr>
            <a:spLocks noGrp="1"/>
          </p:cNvSpPr>
          <p:nvPr>
            <p:ph type="ftr" sz="quarter" idx="11"/>
          </p:nvPr>
        </p:nvSpPr>
        <p:spPr/>
        <p:txBody>
          <a:bodyPr/>
          <a:lstStyle/>
          <a:p>
            <a:r>
              <a:rPr lang="en-IN"/>
              <a:t>Dr. S. Gopikrishnan</a:t>
            </a:r>
          </a:p>
        </p:txBody>
      </p:sp>
      <p:sp>
        <p:nvSpPr>
          <p:cNvPr id="6" name="Slide Number Placeholder 5"/>
          <p:cNvSpPr>
            <a:spLocks noGrp="1"/>
          </p:cNvSpPr>
          <p:nvPr>
            <p:ph type="sldNum" sz="quarter" idx="12"/>
          </p:nvPr>
        </p:nvSpPr>
        <p:spPr/>
        <p:txBody>
          <a:bodyPr/>
          <a:lstStyle/>
          <a:p>
            <a:fld id="{E02F8B39-E037-49D7-848F-F055834E3AA1}" type="slidenum">
              <a:rPr lang="en-IN" smtClean="0"/>
              <a:t>‹#›</a:t>
            </a:fld>
            <a:endParaRPr lang="en-IN"/>
          </a:p>
        </p:txBody>
      </p:sp>
    </p:spTree>
    <p:extLst>
      <p:ext uri="{BB962C8B-B14F-4D97-AF65-F5344CB8AC3E}">
        <p14:creationId xmlns:p14="http://schemas.microsoft.com/office/powerpoint/2010/main" val="98657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A101D-20D2-4D81-A838-9588DFC7E809}" type="datetime1">
              <a:rPr lang="en-IN" smtClean="0"/>
              <a:t>06-05-2023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Dr. S. Gopikrishnan</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02F8B39-E037-49D7-848F-F055834E3AA1}" type="slidenum">
              <a:rPr lang="en-IN" smtClean="0"/>
              <a:t>‹#›</a:t>
            </a:fld>
            <a:endParaRPr lang="en-IN"/>
          </a:p>
        </p:txBody>
      </p:sp>
    </p:spTree>
    <p:extLst>
      <p:ext uri="{BB962C8B-B14F-4D97-AF65-F5344CB8AC3E}">
        <p14:creationId xmlns:p14="http://schemas.microsoft.com/office/powerpoint/2010/main" val="3742791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ctrTitle"/>
          </p:nvPr>
        </p:nvSpPr>
        <p:spPr>
          <a:xfrm>
            <a:off x="1524000" y="2178260"/>
            <a:ext cx="9144000" cy="953575"/>
          </a:xfrm>
        </p:spPr>
        <p:txBody>
          <a:bodyPr>
            <a:noAutofit/>
          </a:bodyPr>
          <a:lstStyle/>
          <a:p>
            <a:pPr algn="l">
              <a:lnSpc>
                <a:spcPct val="100000"/>
              </a:lnSpc>
            </a:pPr>
            <a:r>
              <a:rPr lang="en-IN" sz="2800" dirty="0">
                <a:solidFill>
                  <a:srgbClr val="00B050"/>
                </a:solidFill>
                <a:latin typeface="Arial" panose="020B0604020202020204" pitchFamily="34" charset="0"/>
                <a:cs typeface="Arial" panose="020B0604020202020204" pitchFamily="34" charset="0"/>
              </a:rPr>
              <a:t>Course code	: </a:t>
            </a:r>
            <a:r>
              <a:rPr lang="en-IN" sz="2800" b="1" dirty="0">
                <a:solidFill>
                  <a:srgbClr val="00B050"/>
                </a:solidFill>
                <a:latin typeface="Arial" panose="020B0604020202020204" pitchFamily="34" charset="0"/>
                <a:cs typeface="Arial" panose="020B0604020202020204" pitchFamily="34" charset="0"/>
              </a:rPr>
              <a:t>CSE3009</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Course title		: </a:t>
            </a:r>
            <a:r>
              <a:rPr lang="en-IN" sz="2800" b="1" dirty="0">
                <a:solidFill>
                  <a:srgbClr val="00B050"/>
                </a:solidFill>
                <a:latin typeface="Arial" panose="020B0604020202020204" pitchFamily="34" charset="0"/>
                <a:cs typeface="Arial" panose="020B0604020202020204" pitchFamily="34" charset="0"/>
              </a:rPr>
              <a:t>No SQL Data Bases</a:t>
            </a:r>
            <a:br>
              <a:rPr lang="en-IN" sz="2800" b="1"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Module		: </a:t>
            </a:r>
            <a:r>
              <a:rPr lang="en-IN" sz="2800" b="1" dirty="0">
                <a:solidFill>
                  <a:srgbClr val="00B050"/>
                </a:solidFill>
                <a:latin typeface="Arial" panose="020B0604020202020204" pitchFamily="34" charset="0"/>
                <a:cs typeface="Arial" panose="020B0604020202020204" pitchFamily="34" charset="0"/>
              </a:rPr>
              <a:t>6</a:t>
            </a:r>
            <a:r>
              <a:rPr lang="en-IN" sz="2800" dirty="0">
                <a:solidFill>
                  <a:srgbClr val="00B050"/>
                </a:solidFill>
                <a:latin typeface="Arial" panose="020B0604020202020204" pitchFamily="34" charset="0"/>
                <a:cs typeface="Arial" panose="020B0604020202020204" pitchFamily="34" charset="0"/>
              </a:rPr>
              <a:t> 			</a:t>
            </a:r>
            <a:br>
              <a:rPr lang="en-IN" sz="2800" dirty="0">
                <a:solidFill>
                  <a:srgbClr val="00B050"/>
                </a:solidFill>
                <a:latin typeface="Arial" panose="020B0604020202020204" pitchFamily="34" charset="0"/>
                <a:cs typeface="Arial" panose="020B0604020202020204" pitchFamily="34" charset="0"/>
              </a:rPr>
            </a:br>
            <a:r>
              <a:rPr lang="en-IN" sz="2800" dirty="0">
                <a:solidFill>
                  <a:srgbClr val="00B050"/>
                </a:solidFill>
                <a:latin typeface="Arial" panose="020B0604020202020204" pitchFamily="34" charset="0"/>
                <a:cs typeface="Arial" panose="020B0604020202020204" pitchFamily="34" charset="0"/>
              </a:rPr>
              <a:t>Topic			: </a:t>
            </a:r>
            <a:r>
              <a:rPr lang="en-IN" sz="2800" b="1" dirty="0">
                <a:solidFill>
                  <a:srgbClr val="00B050"/>
                </a:solidFill>
                <a:latin typeface="Arial" panose="020B0604020202020204" pitchFamily="34" charset="0"/>
                <a:cs typeface="Arial" panose="020B0604020202020204" pitchFamily="34" charset="0"/>
              </a:rPr>
              <a:t>5</a:t>
            </a:r>
          </a:p>
        </p:txBody>
      </p:sp>
      <p:sp>
        <p:nvSpPr>
          <p:cNvPr id="6" name="Subtitle 2"/>
          <p:cNvSpPr>
            <a:spLocks noGrp="1"/>
          </p:cNvSpPr>
          <p:nvPr>
            <p:ph type="subTitle" idx="1"/>
          </p:nvPr>
        </p:nvSpPr>
        <p:spPr>
          <a:xfrm>
            <a:off x="1402183" y="3677818"/>
            <a:ext cx="9144000" cy="1655762"/>
          </a:xfrm>
        </p:spPr>
        <p:txBody>
          <a:bodyPr>
            <a:normAutofit/>
          </a:bodyPr>
          <a:lstStyle/>
          <a:p>
            <a:r>
              <a:rPr lang="it-IT" sz="4000" b="1" dirty="0">
                <a:solidFill>
                  <a:srgbClr val="0070C0"/>
                </a:solidFill>
                <a:latin typeface="Arial" panose="020B0604020202020204" pitchFamily="34" charset="0"/>
                <a:cs typeface="Arial" panose="020B0604020202020204" pitchFamily="34" charset="0"/>
              </a:rPr>
              <a:t>Neo4j CQL</a:t>
            </a:r>
            <a:endParaRPr lang="en-IN" sz="4000" b="1" dirty="0">
              <a:solidFill>
                <a:srgbClr val="0070C0"/>
              </a:solidFill>
              <a:latin typeface="Arial" panose="020B0604020202020204" pitchFamily="34" charset="0"/>
              <a:cs typeface="Arial" panose="020B0604020202020204" pitchFamily="34" charset="0"/>
            </a:endParaRPr>
          </a:p>
        </p:txBody>
      </p:sp>
      <p:pic>
        <p:nvPicPr>
          <p:cNvPr id="7"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8" name="Date Placeholder 7"/>
          <p:cNvSpPr>
            <a:spLocks noGrp="1"/>
          </p:cNvSpPr>
          <p:nvPr>
            <p:ph type="dt" sz="half" idx="10"/>
          </p:nvPr>
        </p:nvSpPr>
        <p:spPr/>
        <p:txBody>
          <a:bodyPr/>
          <a:lstStyle/>
          <a:p>
            <a:fld id="{756728E3-B72D-49A5-85A2-5AE45557AE43}" type="datetime1">
              <a:rPr lang="en-IN" smtClean="0">
                <a:latin typeface="Calibri (Body)"/>
              </a:rPr>
              <a:t>06-05-2023</a:t>
            </a:fld>
            <a:endParaRPr lang="en-IN" dirty="0">
              <a:latin typeface="Calibri (Body)"/>
            </a:endParaRPr>
          </a:p>
        </p:txBody>
      </p:sp>
      <p:sp>
        <p:nvSpPr>
          <p:cNvPr id="9" name="Footer Placeholder 8"/>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Gopikrishnan</a:t>
            </a:r>
          </a:p>
        </p:txBody>
      </p:sp>
      <p:sp>
        <p:nvSpPr>
          <p:cNvPr id="10" name="Slide Number Placeholder 9"/>
          <p:cNvSpPr>
            <a:spLocks noGrp="1"/>
          </p:cNvSpPr>
          <p:nvPr>
            <p:ph type="sldNum" sz="quarter" idx="12"/>
          </p:nvPr>
        </p:nvSpPr>
        <p:spPr/>
        <p:txBody>
          <a:bodyPr/>
          <a:lstStyle/>
          <a:p>
            <a:fld id="{E02F8B39-E037-49D7-848F-F055834E3AA1}" type="slidenum">
              <a:rPr lang="en-IN" smtClean="0">
                <a:latin typeface="Arial" panose="020B0604020202020204" pitchFamily="34" charset="0"/>
                <a:cs typeface="Arial" panose="020B0604020202020204" pitchFamily="34" charset="0"/>
              </a:rPr>
              <a:t>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89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Objectives</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Neo4j CQL General Clauses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Neo4j CQL Functions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Neo4j CQL Admin</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06611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Return Clause</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The RETURN clause is used return nodes, relationships, and properties in Neo4j. In this session, we are going to learn how to:</a:t>
            </a:r>
          </a:p>
          <a:p>
            <a:pPr marL="539750" indent="-357188">
              <a:lnSpc>
                <a:spcPct val="120000"/>
              </a:lnSpc>
              <a:spcBef>
                <a:spcPts val="600"/>
              </a:spcBef>
              <a:spcAft>
                <a:spcPts val="600"/>
              </a:spcAft>
            </a:pPr>
            <a:r>
              <a:rPr lang="en-US" sz="2000" dirty="0">
                <a:latin typeface="Arial" panose="020B0604020202020204" pitchFamily="34" charset="0"/>
                <a:cs typeface="Arial" panose="020B0604020202020204" pitchFamily="34" charset="0"/>
              </a:rPr>
              <a:t>Return nodes</a:t>
            </a:r>
          </a:p>
          <a:p>
            <a:pPr marL="539750" indent="-357188">
              <a:lnSpc>
                <a:spcPct val="120000"/>
              </a:lnSpc>
              <a:spcBef>
                <a:spcPts val="600"/>
              </a:spcBef>
              <a:spcAft>
                <a:spcPts val="600"/>
              </a:spcAft>
            </a:pPr>
            <a:r>
              <a:rPr lang="en-US" sz="2000" dirty="0">
                <a:latin typeface="Arial" panose="020B0604020202020204" pitchFamily="34" charset="0"/>
                <a:cs typeface="Arial" panose="020B0604020202020204" pitchFamily="34" charset="0"/>
              </a:rPr>
              <a:t>Return multiple nodes</a:t>
            </a:r>
          </a:p>
          <a:p>
            <a:pPr marL="539750" indent="-357188">
              <a:lnSpc>
                <a:spcPct val="120000"/>
              </a:lnSpc>
              <a:spcBef>
                <a:spcPts val="600"/>
              </a:spcBef>
              <a:spcAft>
                <a:spcPts val="600"/>
              </a:spcAft>
            </a:pPr>
            <a:r>
              <a:rPr lang="en-US" sz="2000" dirty="0">
                <a:latin typeface="Arial" panose="020B0604020202020204" pitchFamily="34" charset="0"/>
                <a:cs typeface="Arial" panose="020B0604020202020204" pitchFamily="34" charset="0"/>
              </a:rPr>
              <a:t>Return relationships</a:t>
            </a:r>
          </a:p>
          <a:p>
            <a:pPr marL="539750" indent="-357188">
              <a:lnSpc>
                <a:spcPct val="120000"/>
              </a:lnSpc>
              <a:spcBef>
                <a:spcPts val="600"/>
              </a:spcBef>
              <a:spcAft>
                <a:spcPts val="600"/>
              </a:spcAft>
            </a:pPr>
            <a:r>
              <a:rPr lang="en-US" sz="2000" dirty="0">
                <a:latin typeface="Arial" panose="020B0604020202020204" pitchFamily="34" charset="0"/>
                <a:cs typeface="Arial" panose="020B0604020202020204" pitchFamily="34" charset="0"/>
              </a:rPr>
              <a:t>Return properties</a:t>
            </a:r>
          </a:p>
          <a:p>
            <a:pPr marL="539750" indent="-357188">
              <a:lnSpc>
                <a:spcPct val="120000"/>
              </a:lnSpc>
              <a:spcBef>
                <a:spcPts val="600"/>
              </a:spcBef>
              <a:spcAft>
                <a:spcPts val="600"/>
              </a:spcAft>
            </a:pPr>
            <a:r>
              <a:rPr lang="en-US" sz="2000" dirty="0">
                <a:latin typeface="Arial" panose="020B0604020202020204" pitchFamily="34" charset="0"/>
                <a:cs typeface="Arial" panose="020B0604020202020204" pitchFamily="34" charset="0"/>
              </a:rPr>
              <a:t>Return all elements</a:t>
            </a:r>
          </a:p>
          <a:p>
            <a:pPr marL="539750" indent="-357188">
              <a:lnSpc>
                <a:spcPct val="120000"/>
              </a:lnSpc>
              <a:spcBef>
                <a:spcPts val="600"/>
              </a:spcBef>
              <a:spcAft>
                <a:spcPts val="600"/>
              </a:spcAft>
            </a:pPr>
            <a:r>
              <a:rPr lang="en-US" sz="2000" dirty="0">
                <a:latin typeface="Arial" panose="020B0604020202020204" pitchFamily="34" charset="0"/>
                <a:cs typeface="Arial" panose="020B0604020202020204" pitchFamily="34" charset="0"/>
              </a:rPr>
              <a:t>Return a variable with column alias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35553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Return Clause</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00000"/>
              </a:lnSpc>
              <a:spcBef>
                <a:spcPts val="0"/>
              </a:spcBef>
              <a:spcAft>
                <a:spcPts val="600"/>
              </a:spcAft>
              <a:buNone/>
            </a:pPr>
            <a:r>
              <a:rPr lang="en-US" sz="2000" dirty="0">
                <a:latin typeface="Arial" panose="020B0604020202020204" pitchFamily="34" charset="0"/>
                <a:cs typeface="Arial" panose="020B0604020202020204" pitchFamily="34" charset="0"/>
              </a:rPr>
              <a:t>Return nodes </a:t>
            </a:r>
          </a:p>
          <a:p>
            <a:pPr marL="452438" indent="0">
              <a:lnSpc>
                <a:spcPct val="100000"/>
              </a:lnSpc>
              <a:spcBef>
                <a:spcPts val="0"/>
              </a:spcBef>
              <a:spcAft>
                <a:spcPts val="600"/>
              </a:spcAft>
              <a:buNone/>
            </a:pPr>
            <a:r>
              <a:rPr lang="en-US" sz="2000" dirty="0">
                <a:latin typeface="Arial" panose="020B0604020202020204" pitchFamily="34" charset="0"/>
                <a:cs typeface="Arial" panose="020B0604020202020204" pitchFamily="34" charset="0"/>
              </a:rPr>
              <a:t>CREATE (</a:t>
            </a:r>
            <a:r>
              <a:rPr lang="en-US" sz="2000" dirty="0" err="1">
                <a:latin typeface="Arial" panose="020B0604020202020204" pitchFamily="34" charset="0"/>
                <a:cs typeface="Arial" panose="020B0604020202020204" pitchFamily="34" charset="0"/>
              </a:rPr>
              <a:t>Guru:student:cse</a:t>
            </a:r>
            <a:r>
              <a:rPr lang="en-US" sz="2000" dirty="0">
                <a:latin typeface="Arial" panose="020B0604020202020204" pitchFamily="34" charset="0"/>
                <a:cs typeface="Arial" panose="020B0604020202020204" pitchFamily="34" charset="0"/>
              </a:rPr>
              <a:t> {name: "Guru </a:t>
            </a:r>
            <a:r>
              <a:rPr lang="en-US" sz="2000" dirty="0" err="1">
                <a:latin typeface="Arial" panose="020B0604020202020204" pitchFamily="34" charset="0"/>
                <a:cs typeface="Arial" panose="020B0604020202020204" pitchFamily="34" charset="0"/>
              </a:rPr>
              <a:t>Nanal</a:t>
            </a:r>
            <a:r>
              <a:rPr lang="en-US" sz="2000" dirty="0">
                <a:latin typeface="Arial" panose="020B0604020202020204" pitchFamily="34" charset="0"/>
                <a:cs typeface="Arial" panose="020B0604020202020204" pitchFamily="34" charset="0"/>
              </a:rPr>
              <a:t>", YOP: 2016, roll: 101}) </a:t>
            </a:r>
          </a:p>
          <a:p>
            <a:pPr marL="452438" indent="0">
              <a:lnSpc>
                <a:spcPct val="100000"/>
              </a:lnSpc>
              <a:spcBef>
                <a:spcPts val="0"/>
              </a:spcBef>
              <a:spcAft>
                <a:spcPts val="600"/>
              </a:spcAft>
              <a:buNone/>
            </a:pPr>
            <a:r>
              <a:rPr lang="en-US" sz="2000" dirty="0">
                <a:latin typeface="Arial" panose="020B0604020202020204" pitchFamily="34" charset="0"/>
                <a:cs typeface="Arial" panose="020B0604020202020204" pitchFamily="34" charset="0"/>
              </a:rPr>
              <a:t>RETURN Guru</a:t>
            </a:r>
          </a:p>
          <a:p>
            <a:pPr marL="0" indent="0">
              <a:lnSpc>
                <a:spcPct val="100000"/>
              </a:lnSpc>
              <a:spcBef>
                <a:spcPts val="1800"/>
              </a:spcBef>
              <a:spcAft>
                <a:spcPts val="600"/>
              </a:spcAft>
              <a:buNone/>
            </a:pPr>
            <a:endParaRPr lang="en-US" sz="2000" dirty="0">
              <a:latin typeface="Arial" panose="020B0604020202020204" pitchFamily="34" charset="0"/>
              <a:cs typeface="Arial" panose="020B0604020202020204" pitchFamily="34" charset="0"/>
            </a:endParaRPr>
          </a:p>
          <a:p>
            <a:pPr marL="0" indent="0">
              <a:lnSpc>
                <a:spcPct val="100000"/>
              </a:lnSpc>
              <a:spcBef>
                <a:spcPts val="1800"/>
              </a:spcBef>
              <a:spcAft>
                <a:spcPts val="600"/>
              </a:spcAft>
              <a:buNone/>
            </a:pPr>
            <a:r>
              <a:rPr lang="en-US" sz="2000" dirty="0">
                <a:latin typeface="Arial" panose="020B0604020202020204" pitchFamily="34" charset="0"/>
                <a:cs typeface="Arial" panose="020B0604020202020204" pitchFamily="34" charset="0"/>
              </a:rPr>
              <a:t>Return multiple nodes </a:t>
            </a:r>
          </a:p>
          <a:p>
            <a:pPr marL="452438" indent="0">
              <a:lnSpc>
                <a:spcPct val="100000"/>
              </a:lnSpc>
              <a:spcBef>
                <a:spcPts val="1800"/>
              </a:spcBef>
              <a:spcAft>
                <a:spcPts val="600"/>
              </a:spcAft>
              <a:buNone/>
            </a:pPr>
            <a:r>
              <a:rPr lang="en-US" sz="2000" dirty="0">
                <a:latin typeface="Arial" panose="020B0604020202020204" pitchFamily="34" charset="0"/>
                <a:cs typeface="Arial" panose="020B0604020202020204" pitchFamily="34" charset="0"/>
              </a:rPr>
              <a:t>CREATE (</a:t>
            </a:r>
            <a:r>
              <a:rPr lang="en-US" sz="2000" dirty="0" err="1">
                <a:latin typeface="Arial" panose="020B0604020202020204" pitchFamily="34" charset="0"/>
                <a:cs typeface="Arial" panose="020B0604020202020204" pitchFamily="34" charset="0"/>
              </a:rPr>
              <a:t>Infy:company</a:t>
            </a:r>
            <a:r>
              <a:rPr lang="en-US" sz="2000" dirty="0">
                <a:latin typeface="Arial" panose="020B0604020202020204" pitchFamily="34" charset="0"/>
                <a:cs typeface="Arial" panose="020B0604020202020204" pitchFamily="34" charset="0"/>
              </a:rPr>
              <a:t> {name: "Infosys"})</a:t>
            </a:r>
          </a:p>
          <a:p>
            <a:pPr marL="452438" indent="0">
              <a:lnSpc>
                <a:spcPct val="100000"/>
              </a:lnSpc>
              <a:spcBef>
                <a:spcPts val="0"/>
              </a:spcBef>
              <a:spcAft>
                <a:spcPts val="600"/>
              </a:spcAft>
              <a:buNone/>
            </a:pPr>
            <a:r>
              <a:rPr lang="en-US" sz="2000" dirty="0">
                <a:latin typeface="Arial" panose="020B0604020202020204" pitchFamily="34" charset="0"/>
                <a:cs typeface="Arial" panose="020B0604020202020204" pitchFamily="34" charset="0"/>
              </a:rPr>
              <a:t>CREATE (</a:t>
            </a:r>
            <a:r>
              <a:rPr lang="en-US" sz="2000" dirty="0" err="1">
                <a:latin typeface="Arial" panose="020B0604020202020204" pitchFamily="34" charset="0"/>
                <a:cs typeface="Arial" panose="020B0604020202020204" pitchFamily="34" charset="0"/>
              </a:rPr>
              <a:t>TCS:company</a:t>
            </a:r>
            <a:r>
              <a:rPr lang="en-US" sz="2000" dirty="0">
                <a:latin typeface="Arial" panose="020B0604020202020204" pitchFamily="34" charset="0"/>
                <a:cs typeface="Arial" panose="020B0604020202020204" pitchFamily="34" charset="0"/>
              </a:rPr>
              <a:t> {name: "Tata"})</a:t>
            </a:r>
          </a:p>
          <a:p>
            <a:pPr marL="452438" indent="0">
              <a:lnSpc>
                <a:spcPct val="100000"/>
              </a:lnSpc>
              <a:spcBef>
                <a:spcPts val="0"/>
              </a:spcBef>
              <a:spcAft>
                <a:spcPts val="600"/>
              </a:spcAft>
              <a:buNone/>
            </a:pPr>
            <a:r>
              <a:rPr lang="en-US" sz="2000" dirty="0">
                <a:latin typeface="Arial" panose="020B0604020202020204" pitchFamily="34" charset="0"/>
                <a:cs typeface="Arial" panose="020B0604020202020204" pitchFamily="34" charset="0"/>
              </a:rPr>
              <a:t>RETURN </a:t>
            </a:r>
            <a:r>
              <a:rPr lang="en-US" sz="2000" dirty="0" err="1">
                <a:latin typeface="Arial" panose="020B0604020202020204" pitchFamily="34" charset="0"/>
                <a:cs typeface="Arial" panose="020B0604020202020204" pitchFamily="34" charset="0"/>
              </a:rPr>
              <a:t>Infy,TCS</a:t>
            </a:r>
            <a:endParaRPr lang="en-US" sz="2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0764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Return Clause</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00000"/>
              </a:lnSpc>
              <a:spcBef>
                <a:spcPts val="1800"/>
              </a:spcBef>
              <a:spcAft>
                <a:spcPts val="600"/>
              </a:spcAft>
              <a:buNone/>
            </a:pPr>
            <a:r>
              <a:rPr lang="en-US" sz="2000" dirty="0">
                <a:latin typeface="Arial" panose="020B0604020202020204" pitchFamily="34" charset="0"/>
                <a:cs typeface="Arial" panose="020B0604020202020204" pitchFamily="34" charset="0"/>
              </a:rPr>
              <a:t>Return relationships </a:t>
            </a:r>
          </a:p>
          <a:p>
            <a:pPr marL="452438" indent="0">
              <a:lnSpc>
                <a:spcPct val="100000"/>
              </a:lnSpc>
              <a:spcBef>
                <a:spcPts val="1800"/>
              </a:spcBef>
              <a:spcAft>
                <a:spcPts val="600"/>
              </a:spcAft>
              <a:buNone/>
            </a:pPr>
            <a:r>
              <a:rPr lang="en-US" sz="2000" dirty="0">
                <a:latin typeface="Arial" panose="020B0604020202020204" pitchFamily="34" charset="0"/>
                <a:cs typeface="Arial" panose="020B0604020202020204" pitchFamily="34" charset="0"/>
              </a:rPr>
              <a:t>MERGE (</a:t>
            </a:r>
            <a:r>
              <a:rPr lang="en-US" sz="2000" dirty="0" err="1">
                <a:latin typeface="Arial" panose="020B0604020202020204" pitchFamily="34" charset="0"/>
                <a:cs typeface="Arial" panose="020B0604020202020204" pitchFamily="34" charset="0"/>
              </a:rPr>
              <a:t>Guru:student:cse</a:t>
            </a: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name:"Guru</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Nanal</a:t>
            </a:r>
            <a:r>
              <a:rPr lang="en-US" sz="2000" dirty="0">
                <a:latin typeface="Arial" panose="020B0604020202020204" pitchFamily="34" charset="0"/>
                <a:cs typeface="Arial" panose="020B0604020202020204" pitchFamily="34" charset="0"/>
              </a:rPr>
              <a:t>"})-[r1:employee_of{exp:4}]-&gt; (</a:t>
            </a:r>
            <a:r>
              <a:rPr lang="en-US" sz="2000" dirty="0" err="1">
                <a:latin typeface="Arial" panose="020B0604020202020204" pitchFamily="34" charset="0"/>
                <a:cs typeface="Arial" panose="020B0604020202020204" pitchFamily="34" charset="0"/>
              </a:rPr>
              <a:t>Infy:company</a:t>
            </a: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name:"Infosys</a:t>
            </a:r>
            <a:r>
              <a:rPr lang="en-US" sz="2000" dirty="0">
                <a:latin typeface="Arial" panose="020B0604020202020204" pitchFamily="34" charset="0"/>
                <a:cs typeface="Arial" panose="020B0604020202020204" pitchFamily="34" charset="0"/>
              </a:rPr>
              <a:t>"}) </a:t>
            </a:r>
          </a:p>
          <a:p>
            <a:pPr marL="452438" indent="0">
              <a:lnSpc>
                <a:spcPct val="100000"/>
              </a:lnSpc>
              <a:spcBef>
                <a:spcPts val="0"/>
              </a:spcBef>
              <a:spcAft>
                <a:spcPts val="600"/>
              </a:spcAft>
              <a:buNone/>
            </a:pPr>
            <a:r>
              <a:rPr lang="en-US" sz="2000" dirty="0">
                <a:latin typeface="Arial" panose="020B0604020202020204" pitchFamily="34" charset="0"/>
                <a:cs typeface="Arial" panose="020B0604020202020204" pitchFamily="34" charset="0"/>
              </a:rPr>
              <a:t>MERGE (</a:t>
            </a:r>
            <a:r>
              <a:rPr lang="en-US" sz="2000" dirty="0" err="1">
                <a:latin typeface="Arial" panose="020B0604020202020204" pitchFamily="34" charset="0"/>
                <a:cs typeface="Arial" panose="020B0604020202020204" pitchFamily="34" charset="0"/>
              </a:rPr>
              <a:t>Sona:student:ece</a:t>
            </a:r>
            <a:r>
              <a:rPr lang="en-US" sz="2000" dirty="0">
                <a:latin typeface="Arial" panose="020B0604020202020204" pitchFamily="34" charset="0"/>
                <a:cs typeface="Arial" panose="020B0604020202020204" pitchFamily="34" charset="0"/>
              </a:rPr>
              <a:t>{name:"</a:t>
            </a:r>
            <a:r>
              <a:rPr lang="en-US" sz="2000" dirty="0" err="1">
                <a:latin typeface="Arial" panose="020B0604020202020204" pitchFamily="34" charset="0"/>
                <a:cs typeface="Arial" panose="020B0604020202020204" pitchFamily="34" charset="0"/>
              </a:rPr>
              <a:t>Sona</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Vihar</a:t>
            </a:r>
            <a:r>
              <a:rPr lang="en-US" sz="2000" dirty="0">
                <a:latin typeface="Arial" panose="020B0604020202020204" pitchFamily="34" charset="0"/>
                <a:cs typeface="Arial" panose="020B0604020202020204" pitchFamily="34" charset="0"/>
              </a:rPr>
              <a:t>"})-[r2:employee_of{exp:3}]-&gt; (</a:t>
            </a:r>
            <a:r>
              <a:rPr lang="en-US" sz="2000" dirty="0" err="1">
                <a:latin typeface="Arial" panose="020B0604020202020204" pitchFamily="34" charset="0"/>
                <a:cs typeface="Arial" panose="020B0604020202020204" pitchFamily="34" charset="0"/>
              </a:rPr>
              <a:t>TCS:company</a:t>
            </a:r>
            <a:r>
              <a:rPr lang="en-US" sz="2000" dirty="0">
                <a:latin typeface="Arial" panose="020B0604020202020204" pitchFamily="34" charset="0"/>
                <a:cs typeface="Arial" panose="020B0604020202020204" pitchFamily="34" charset="0"/>
              </a:rPr>
              <a:t>{</a:t>
            </a:r>
            <a:r>
              <a:rPr lang="en-US" sz="2000" dirty="0" err="1">
                <a:latin typeface="Arial" panose="020B0604020202020204" pitchFamily="34" charset="0"/>
                <a:cs typeface="Arial" panose="020B0604020202020204" pitchFamily="34" charset="0"/>
              </a:rPr>
              <a:t>name:"Tata</a:t>
            </a:r>
            <a:r>
              <a:rPr lang="en-US" sz="2000" dirty="0">
                <a:latin typeface="Arial" panose="020B0604020202020204" pitchFamily="34" charset="0"/>
                <a:cs typeface="Arial" panose="020B0604020202020204" pitchFamily="34" charset="0"/>
              </a:rPr>
              <a:t>"}) </a:t>
            </a:r>
          </a:p>
          <a:p>
            <a:pPr marL="452438" indent="0">
              <a:lnSpc>
                <a:spcPct val="100000"/>
              </a:lnSpc>
              <a:spcBef>
                <a:spcPts val="0"/>
              </a:spcBef>
              <a:spcAft>
                <a:spcPts val="600"/>
              </a:spcAft>
              <a:buNone/>
            </a:pPr>
            <a:r>
              <a:rPr lang="en-US" sz="2000" dirty="0">
                <a:latin typeface="Arial" panose="020B0604020202020204" pitchFamily="34" charset="0"/>
                <a:cs typeface="Arial" panose="020B0604020202020204" pitchFamily="34" charset="0"/>
              </a:rPr>
              <a:t>RETURN r1,r2</a:t>
            </a:r>
          </a:p>
          <a:p>
            <a:pPr marL="0" indent="0">
              <a:lnSpc>
                <a:spcPct val="100000"/>
              </a:lnSpc>
              <a:spcBef>
                <a:spcPts val="0"/>
              </a:spcBef>
              <a:spcAft>
                <a:spcPts val="600"/>
              </a:spcAft>
              <a:buNone/>
            </a:pPr>
            <a:endParaRPr lang="en-US" sz="2000" dirty="0">
              <a:latin typeface="Arial" panose="020B0604020202020204" pitchFamily="34" charset="0"/>
              <a:cs typeface="Arial" panose="020B0604020202020204" pitchFamily="34" charset="0"/>
            </a:endParaRPr>
          </a:p>
          <a:p>
            <a:pPr marL="0" indent="0">
              <a:lnSpc>
                <a:spcPct val="100000"/>
              </a:lnSpc>
              <a:spcBef>
                <a:spcPts val="0"/>
              </a:spcBef>
              <a:spcAft>
                <a:spcPts val="600"/>
              </a:spcAft>
              <a:buNone/>
            </a:pPr>
            <a:r>
              <a:rPr lang="en-US" sz="2000" dirty="0">
                <a:latin typeface="Arial" panose="020B0604020202020204" pitchFamily="34" charset="0"/>
                <a:cs typeface="Arial" panose="020B0604020202020204" pitchFamily="34" charset="0"/>
              </a:rPr>
              <a:t>Return properties</a:t>
            </a:r>
          </a:p>
          <a:p>
            <a:pPr marL="452438" indent="0">
              <a:lnSpc>
                <a:spcPct val="120000"/>
              </a:lnSpc>
              <a:spcBef>
                <a:spcPts val="0"/>
              </a:spcBef>
              <a:buNone/>
            </a:pPr>
            <a:r>
              <a:rPr lang="en-US" sz="2000" dirty="0">
                <a:latin typeface="Arial" panose="020B0604020202020204" pitchFamily="34" charset="0"/>
                <a:cs typeface="Arial" panose="020B0604020202020204" pitchFamily="34" charset="0"/>
              </a:rPr>
              <a:t>MATCH (</a:t>
            </a:r>
            <a:r>
              <a:rPr lang="en-US" sz="2000" dirty="0" err="1">
                <a:latin typeface="Arial" panose="020B0604020202020204" pitchFamily="34" charset="0"/>
                <a:cs typeface="Arial" panose="020B0604020202020204" pitchFamily="34" charset="0"/>
              </a:rPr>
              <a:t>John:student:cse</a:t>
            </a:r>
            <a:r>
              <a:rPr lang="en-US" sz="2000" dirty="0">
                <a:latin typeface="Arial" panose="020B0604020202020204" pitchFamily="34" charset="0"/>
                <a:cs typeface="Arial" panose="020B0604020202020204" pitchFamily="34" charset="0"/>
              </a:rPr>
              <a:t> {name: "John Smith"}) RETURN </a:t>
            </a:r>
            <a:r>
              <a:rPr lang="en-US" sz="2000" dirty="0" err="1">
                <a:latin typeface="Arial" panose="020B0604020202020204" pitchFamily="34" charset="0"/>
                <a:cs typeface="Arial" panose="020B0604020202020204" pitchFamily="34" charset="0"/>
              </a:rPr>
              <a:t>John.roll</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John.YOP</a:t>
            </a:r>
            <a:endParaRPr lang="en-US" sz="2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60874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Return Clause</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0"/>
              </a:spcBef>
              <a:buNone/>
            </a:pPr>
            <a:r>
              <a:rPr lang="en-US" sz="2000" dirty="0">
                <a:latin typeface="Arial" panose="020B0604020202020204" pitchFamily="34" charset="0"/>
                <a:cs typeface="Arial" panose="020B0604020202020204" pitchFamily="34" charset="0"/>
              </a:rPr>
              <a:t>Returning a Variable With a Column Alias</a:t>
            </a:r>
          </a:p>
          <a:p>
            <a:pPr marL="452438" indent="0">
              <a:lnSpc>
                <a:spcPct val="120000"/>
              </a:lnSpc>
              <a:spcBef>
                <a:spcPts val="1200"/>
              </a:spcBef>
              <a:buNone/>
            </a:pPr>
            <a:r>
              <a:rPr lang="en-US" sz="2000" dirty="0">
                <a:latin typeface="Arial" panose="020B0604020202020204" pitchFamily="34" charset="0"/>
                <a:cs typeface="Arial" panose="020B0604020202020204" pitchFamily="34" charset="0"/>
              </a:rPr>
              <a:t>MATCH (</a:t>
            </a:r>
            <a:r>
              <a:rPr lang="en-US" sz="2000" dirty="0" err="1">
                <a:latin typeface="Arial" panose="020B0604020202020204" pitchFamily="34" charset="0"/>
                <a:cs typeface="Arial" panose="020B0604020202020204" pitchFamily="34" charset="0"/>
              </a:rPr>
              <a:t>John:student:cse</a:t>
            </a:r>
            <a:r>
              <a:rPr lang="en-US" sz="2000" dirty="0">
                <a:latin typeface="Arial" panose="020B0604020202020204" pitchFamily="34" charset="0"/>
                <a:cs typeface="Arial" panose="020B0604020202020204" pitchFamily="34" charset="0"/>
              </a:rPr>
              <a:t> {name: "John Smith"}) RETURN </a:t>
            </a:r>
            <a:r>
              <a:rPr lang="en-US" sz="2000" dirty="0" err="1">
                <a:latin typeface="Arial" panose="020B0604020202020204" pitchFamily="34" charset="0"/>
                <a:cs typeface="Arial" panose="020B0604020202020204" pitchFamily="34" charset="0"/>
              </a:rPr>
              <a:t>John.YOP</a:t>
            </a:r>
            <a:r>
              <a:rPr lang="en-US" sz="2000" dirty="0">
                <a:latin typeface="Arial" panose="020B0604020202020204" pitchFamily="34" charset="0"/>
                <a:cs typeface="Arial" panose="020B0604020202020204" pitchFamily="34" charset="0"/>
              </a:rPr>
              <a:t> AS </a:t>
            </a:r>
            <a:r>
              <a:rPr lang="en-US" sz="2000" dirty="0" err="1">
                <a:latin typeface="Arial" panose="020B0604020202020204" pitchFamily="34" charset="0"/>
                <a:cs typeface="Arial" panose="020B0604020202020204" pitchFamily="34" charset="0"/>
              </a:rPr>
              <a:t>Year_of_Passing</a:t>
            </a: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000" dirty="0">
                <a:latin typeface="Arial" panose="020B0604020202020204" pitchFamily="34" charset="0"/>
                <a:cs typeface="Arial" panose="020B0604020202020204" pitchFamily="34" charset="0"/>
              </a:rPr>
              <a:t>Returning All Elements</a:t>
            </a:r>
          </a:p>
          <a:p>
            <a:pPr marL="457200" lvl="1" indent="0">
              <a:lnSpc>
                <a:spcPct val="120000"/>
              </a:lnSpc>
              <a:spcBef>
                <a:spcPts val="1200"/>
              </a:spcBef>
              <a:buNone/>
            </a:pPr>
            <a:r>
              <a:rPr lang="en-US" sz="2000" dirty="0">
                <a:latin typeface="Arial" panose="020B0604020202020204" pitchFamily="34" charset="0"/>
                <a:cs typeface="Arial" panose="020B0604020202020204" pitchFamily="34" charset="0"/>
              </a:rPr>
              <a:t>Match p = (n {name: "VIT-AP"})-[r]-(x)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RETURN *</a:t>
            </a: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497991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Order By Clause</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0"/>
              </a:spcBef>
              <a:buNone/>
            </a:pPr>
            <a:r>
              <a:rPr lang="en-US" sz="2000" dirty="0">
                <a:latin typeface="Arial" panose="020B0604020202020204" pitchFamily="34" charset="0"/>
                <a:cs typeface="Arial" panose="020B0604020202020204" pitchFamily="34" charset="0"/>
              </a:rPr>
              <a:t>Order By Clause</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MATCH (n)  RETURN n.name, </a:t>
            </a:r>
            <a:r>
              <a:rPr lang="en-US" sz="2000" dirty="0" err="1">
                <a:latin typeface="Arial" panose="020B0604020202020204" pitchFamily="34" charset="0"/>
                <a:cs typeface="Arial" panose="020B0604020202020204" pitchFamily="34" charset="0"/>
              </a:rPr>
              <a:t>n.roll</a:t>
            </a:r>
            <a:r>
              <a:rPr lang="en-US" sz="2000" dirty="0">
                <a:latin typeface="Arial" panose="020B0604020202020204" pitchFamily="34" charset="0"/>
                <a:cs typeface="Arial" panose="020B0604020202020204" pitchFamily="34" charset="0"/>
              </a:rPr>
              <a:t>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ORDER BY n.name</a:t>
            </a: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000" dirty="0">
                <a:latin typeface="Arial" panose="020B0604020202020204" pitchFamily="34" charset="0"/>
                <a:cs typeface="Arial" panose="020B0604020202020204" pitchFamily="34" charset="0"/>
              </a:rPr>
              <a:t>Ordering Nodes by Multiple Properties</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MATCH (n)  RETURN n.name, </a:t>
            </a:r>
            <a:r>
              <a:rPr lang="en-US" sz="2000" dirty="0" err="1">
                <a:latin typeface="Arial" panose="020B0604020202020204" pitchFamily="34" charset="0"/>
                <a:cs typeface="Arial" panose="020B0604020202020204" pitchFamily="34" charset="0"/>
              </a:rPr>
              <a:t>n.roll</a:t>
            </a:r>
            <a:r>
              <a:rPr lang="en-US" sz="2000" dirty="0">
                <a:latin typeface="Arial" panose="020B0604020202020204" pitchFamily="34" charset="0"/>
                <a:cs typeface="Arial" panose="020B0604020202020204" pitchFamily="34" charset="0"/>
              </a:rPr>
              <a:t>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ORDER BY </a:t>
            </a:r>
            <a:r>
              <a:rPr lang="en-US" sz="2000" dirty="0" err="1">
                <a:latin typeface="Arial" panose="020B0604020202020204" pitchFamily="34" charset="0"/>
                <a:cs typeface="Arial" panose="020B0604020202020204" pitchFamily="34" charset="0"/>
              </a:rPr>
              <a:t>n.roll</a:t>
            </a:r>
            <a:r>
              <a:rPr lang="en-US" sz="2000" dirty="0">
                <a:latin typeface="Arial" panose="020B0604020202020204" pitchFamily="34" charset="0"/>
                <a:cs typeface="Arial" panose="020B0604020202020204" pitchFamily="34" charset="0"/>
              </a:rPr>
              <a:t>, n.name</a:t>
            </a: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000" dirty="0">
                <a:latin typeface="Arial" panose="020B0604020202020204" pitchFamily="34" charset="0"/>
                <a:cs typeface="Arial" panose="020B0604020202020204" pitchFamily="34" charset="0"/>
              </a:rPr>
              <a:t>Ordering Nodes by Descending Order</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MATCH (n)  RETURN n.name, </a:t>
            </a:r>
            <a:r>
              <a:rPr lang="en-US" sz="2000" dirty="0" err="1">
                <a:latin typeface="Arial" panose="020B0604020202020204" pitchFamily="34" charset="0"/>
                <a:cs typeface="Arial" panose="020B0604020202020204" pitchFamily="34" charset="0"/>
              </a:rPr>
              <a:t>n.roll</a:t>
            </a:r>
            <a:r>
              <a:rPr lang="en-US" sz="2000" dirty="0">
                <a:latin typeface="Arial" panose="020B0604020202020204" pitchFamily="34" charset="0"/>
                <a:cs typeface="Arial" panose="020B0604020202020204" pitchFamily="34" charset="0"/>
              </a:rPr>
              <a:t>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ORDER BY n.name DESC</a:t>
            </a: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29306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Limit Clause</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0"/>
              </a:spcBef>
              <a:buNone/>
            </a:pPr>
            <a:r>
              <a:rPr lang="en-US" sz="2000" dirty="0">
                <a:latin typeface="Arial" panose="020B0604020202020204" pitchFamily="34" charset="0"/>
                <a:cs typeface="Arial" panose="020B0604020202020204" pitchFamily="34" charset="0"/>
              </a:rPr>
              <a:t>Limit Clause</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MATCH (n)  RETURN n.name, </a:t>
            </a:r>
            <a:r>
              <a:rPr lang="en-US" sz="2000" dirty="0" err="1">
                <a:latin typeface="Arial" panose="020B0604020202020204" pitchFamily="34" charset="0"/>
                <a:cs typeface="Arial" panose="020B0604020202020204" pitchFamily="34" charset="0"/>
              </a:rPr>
              <a:t>n.roll</a:t>
            </a:r>
            <a:r>
              <a:rPr lang="en-US" sz="2000" dirty="0">
                <a:latin typeface="Arial" panose="020B0604020202020204" pitchFamily="34" charset="0"/>
                <a:cs typeface="Arial" panose="020B0604020202020204" pitchFamily="34" charset="0"/>
              </a:rPr>
              <a:t>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ORDER BY n.name LIMIT 3</a:t>
            </a: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000" dirty="0">
                <a:latin typeface="Arial" panose="020B0604020202020204" pitchFamily="34" charset="0"/>
                <a:cs typeface="Arial" panose="020B0604020202020204" pitchFamily="34" charset="0"/>
              </a:rPr>
              <a:t>Limit Clause with expression</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MATCH (n)  RETURN n.name, </a:t>
            </a:r>
            <a:r>
              <a:rPr lang="en-US" sz="2000" dirty="0" err="1">
                <a:latin typeface="Arial" panose="020B0604020202020204" pitchFamily="34" charset="0"/>
                <a:cs typeface="Arial" panose="020B0604020202020204" pitchFamily="34" charset="0"/>
              </a:rPr>
              <a:t>n.roll</a:t>
            </a:r>
            <a:r>
              <a:rPr lang="en-US" sz="2000" dirty="0">
                <a:latin typeface="Arial" panose="020B0604020202020204" pitchFamily="34" charset="0"/>
                <a:cs typeface="Arial" panose="020B0604020202020204" pitchFamily="34" charset="0"/>
              </a:rPr>
              <a:t>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ORDER BY n.name LIMIT </a:t>
            </a:r>
            <a:r>
              <a:rPr lang="en-US" sz="2000" dirty="0" err="1">
                <a:latin typeface="Arial" panose="020B0604020202020204" pitchFamily="34" charset="0"/>
                <a:cs typeface="Arial" panose="020B0604020202020204" pitchFamily="34" charset="0"/>
              </a:rPr>
              <a:t>toInteger</a:t>
            </a:r>
            <a:r>
              <a:rPr lang="en-US" sz="2000" dirty="0">
                <a:latin typeface="Arial" panose="020B0604020202020204" pitchFamily="34" charset="0"/>
                <a:cs typeface="Arial" panose="020B0604020202020204" pitchFamily="34" charset="0"/>
              </a:rPr>
              <a:t>(3*rand())+1</a:t>
            </a: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036233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Skip Clause</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0"/>
              </a:spcBef>
              <a:buNone/>
            </a:pPr>
            <a:r>
              <a:rPr lang="en-US" sz="2000" dirty="0">
                <a:latin typeface="Arial" panose="020B0604020202020204" pitchFamily="34" charset="0"/>
                <a:cs typeface="Arial" panose="020B0604020202020204" pitchFamily="34" charset="0"/>
              </a:rPr>
              <a:t>Skip Clause</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MATCH (n)  RETURN n.name, </a:t>
            </a:r>
            <a:r>
              <a:rPr lang="en-US" sz="2000" dirty="0" err="1">
                <a:latin typeface="Arial" panose="020B0604020202020204" pitchFamily="34" charset="0"/>
                <a:cs typeface="Arial" panose="020B0604020202020204" pitchFamily="34" charset="0"/>
              </a:rPr>
              <a:t>n.roll</a:t>
            </a:r>
            <a:r>
              <a:rPr lang="en-US" sz="2000" dirty="0">
                <a:latin typeface="Arial" panose="020B0604020202020204" pitchFamily="34" charset="0"/>
                <a:cs typeface="Arial" panose="020B0604020202020204" pitchFamily="34" charset="0"/>
              </a:rPr>
              <a:t>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ORDER BY n.name SKIP 3</a:t>
            </a: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000" dirty="0">
                <a:latin typeface="Arial" panose="020B0604020202020204" pitchFamily="34" charset="0"/>
                <a:cs typeface="Arial" panose="020B0604020202020204" pitchFamily="34" charset="0"/>
              </a:rPr>
              <a:t>Skip Clause with expression</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MATCH (n)  RETURN n.name, </a:t>
            </a:r>
            <a:r>
              <a:rPr lang="en-US" sz="2000" dirty="0" err="1">
                <a:latin typeface="Arial" panose="020B0604020202020204" pitchFamily="34" charset="0"/>
                <a:cs typeface="Arial" panose="020B0604020202020204" pitchFamily="34" charset="0"/>
              </a:rPr>
              <a:t>n.roll</a:t>
            </a:r>
            <a:r>
              <a:rPr lang="en-US" sz="2000" dirty="0">
                <a:latin typeface="Arial" panose="020B0604020202020204" pitchFamily="34" charset="0"/>
                <a:cs typeface="Arial" panose="020B0604020202020204" pitchFamily="34" charset="0"/>
              </a:rPr>
              <a:t>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ORDER BY n.name SKIP </a:t>
            </a:r>
            <a:r>
              <a:rPr lang="en-US" sz="2000" dirty="0" err="1">
                <a:latin typeface="Arial" panose="020B0604020202020204" pitchFamily="34" charset="0"/>
                <a:cs typeface="Arial" panose="020B0604020202020204" pitchFamily="34" charset="0"/>
              </a:rPr>
              <a:t>toInteger</a:t>
            </a:r>
            <a:r>
              <a:rPr lang="en-US" sz="2000" dirty="0">
                <a:latin typeface="Arial" panose="020B0604020202020204" pitchFamily="34" charset="0"/>
                <a:cs typeface="Arial" panose="020B0604020202020204" pitchFamily="34" charset="0"/>
              </a:rPr>
              <a:t>(2*rand())+1</a:t>
            </a: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079384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With Clause</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0"/>
              </a:spcBef>
              <a:buNone/>
            </a:pPr>
            <a:r>
              <a:rPr lang="en-US" sz="2000" dirty="0">
                <a:latin typeface="Arial" panose="020B0604020202020204" pitchFamily="34" charset="0"/>
                <a:cs typeface="Arial" panose="020B0604020202020204" pitchFamily="34" charset="0"/>
              </a:rPr>
              <a:t>WITH clause is used to chain the queries together. It also can be used with other clauses.</a:t>
            </a:r>
          </a:p>
          <a:p>
            <a:pPr marL="0" indent="0">
              <a:lnSpc>
                <a:spcPct val="120000"/>
              </a:lnSpc>
              <a:spcBef>
                <a:spcPts val="0"/>
              </a:spcBef>
              <a:buNone/>
            </a:pPr>
            <a:r>
              <a:rPr lang="en-US" sz="2000" dirty="0">
                <a:latin typeface="Arial" panose="020B0604020202020204" pitchFamily="34" charset="0"/>
                <a:cs typeface="Arial" panose="020B0604020202020204" pitchFamily="34" charset="0"/>
              </a:rPr>
              <a:t>Syntax</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MATCH (n)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WITH n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ORDER BY </a:t>
            </a:r>
            <a:r>
              <a:rPr lang="en-US" sz="2000" dirty="0" err="1">
                <a:latin typeface="Arial" panose="020B0604020202020204" pitchFamily="34" charset="0"/>
                <a:cs typeface="Arial" panose="020B0604020202020204" pitchFamily="34" charset="0"/>
              </a:rPr>
              <a:t>n.property</a:t>
            </a:r>
            <a:r>
              <a:rPr lang="en-US" sz="2000" dirty="0">
                <a:latin typeface="Arial" panose="020B0604020202020204" pitchFamily="34" charset="0"/>
                <a:cs typeface="Arial" panose="020B0604020202020204" pitchFamily="34" charset="0"/>
              </a:rPr>
              <a:t> RETURN collect(</a:t>
            </a:r>
            <a:r>
              <a:rPr lang="en-US" sz="2000" dirty="0" err="1">
                <a:latin typeface="Arial" panose="020B0604020202020204" pitchFamily="34" charset="0"/>
                <a:cs typeface="Arial" panose="020B0604020202020204" pitchFamily="34" charset="0"/>
              </a:rPr>
              <a:t>n.property</a:t>
            </a:r>
            <a:r>
              <a:rPr lang="en-US" sz="2000" dirty="0">
                <a:latin typeface="Arial" panose="020B0604020202020204" pitchFamily="34" charset="0"/>
                <a:cs typeface="Arial" panose="020B0604020202020204" pitchFamily="34" charset="0"/>
              </a:rPr>
              <a:t>) </a:t>
            </a: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000" dirty="0">
                <a:latin typeface="Arial" panose="020B0604020202020204" pitchFamily="34" charset="0"/>
                <a:cs typeface="Arial" panose="020B0604020202020204" pitchFamily="34" charset="0"/>
              </a:rPr>
              <a:t>Example</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MATCH (n)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WITH n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ORDER BY n.name DESC LIMIT 3 RETURN collect(n.name)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767132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UNWIND Clause</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0"/>
              </a:spcBef>
              <a:buNone/>
            </a:pPr>
            <a:r>
              <a:rPr lang="en-US" sz="2000" dirty="0">
                <a:latin typeface="Arial" panose="020B0604020202020204" pitchFamily="34" charset="0"/>
                <a:cs typeface="Arial" panose="020B0604020202020204" pitchFamily="34" charset="0"/>
              </a:rPr>
              <a:t>With UNWIND, you can transform any list back into individual rows. </a:t>
            </a: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000" dirty="0">
                <a:latin typeface="Arial" panose="020B0604020202020204" pitchFamily="34" charset="0"/>
                <a:cs typeface="Arial" panose="020B0604020202020204" pitchFamily="34" charset="0"/>
              </a:rPr>
              <a:t>Unwinding a list</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UNWIND [1, 2, 3, NULL ] AS x</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RETURN x, '</a:t>
            </a:r>
            <a:r>
              <a:rPr lang="en-US" sz="2000" dirty="0" err="1">
                <a:latin typeface="Arial" panose="020B0604020202020204" pitchFamily="34" charset="0"/>
                <a:cs typeface="Arial" panose="020B0604020202020204" pitchFamily="34" charset="0"/>
              </a:rPr>
              <a:t>val</a:t>
            </a:r>
            <a:r>
              <a:rPr lang="en-US" sz="2000" dirty="0">
                <a:latin typeface="Arial" panose="020B0604020202020204" pitchFamily="34" charset="0"/>
                <a:cs typeface="Arial" panose="020B0604020202020204" pitchFamily="34" charset="0"/>
              </a:rPr>
              <a:t>' AS y</a:t>
            </a: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000" dirty="0">
                <a:latin typeface="Arial" panose="020B0604020202020204" pitchFamily="34" charset="0"/>
                <a:cs typeface="Arial" panose="020B0604020202020204" pitchFamily="34" charset="0"/>
              </a:rPr>
              <a:t>Creating a distinct list</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WITH [1, 1, 2, 2] AS </a:t>
            </a:r>
            <a:r>
              <a:rPr lang="en-US" sz="2000" dirty="0" err="1">
                <a:latin typeface="Arial" panose="020B0604020202020204" pitchFamily="34" charset="0"/>
                <a:cs typeface="Arial" panose="020B0604020202020204" pitchFamily="34" charset="0"/>
              </a:rPr>
              <a:t>coll</a:t>
            </a:r>
            <a:endParaRPr lang="en-US" sz="2000" dirty="0">
              <a:latin typeface="Arial" panose="020B0604020202020204" pitchFamily="34" charset="0"/>
              <a:cs typeface="Arial" panose="020B0604020202020204" pitchFamily="34" charset="0"/>
            </a:endParaRP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UNWIND </a:t>
            </a:r>
            <a:r>
              <a:rPr lang="en-US" sz="2000" dirty="0" err="1">
                <a:latin typeface="Arial" panose="020B0604020202020204" pitchFamily="34" charset="0"/>
                <a:cs typeface="Arial" panose="020B0604020202020204" pitchFamily="34" charset="0"/>
              </a:rPr>
              <a:t>coll</a:t>
            </a:r>
            <a:r>
              <a:rPr lang="en-US" sz="2000" dirty="0">
                <a:latin typeface="Arial" panose="020B0604020202020204" pitchFamily="34" charset="0"/>
                <a:cs typeface="Arial" panose="020B0604020202020204" pitchFamily="34" charset="0"/>
              </a:rPr>
              <a:t> AS x</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WITH DISTINCT x</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RETURN collect(x) AS </a:t>
            </a:r>
            <a:r>
              <a:rPr lang="en-US" sz="2000" dirty="0" err="1">
                <a:latin typeface="Arial" panose="020B0604020202020204" pitchFamily="34" charset="0"/>
                <a:cs typeface="Arial" panose="020B0604020202020204" pitchFamily="34" charset="0"/>
              </a:rPr>
              <a:t>setOfVals</a:t>
            </a:r>
            <a:endParaRPr lang="en-US" sz="2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55364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String Functions</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String Functions List</a:t>
            </a: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UPPER - It is used to change all letters into upper case letters.</a:t>
            </a: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	MATCH (n) RETURN </a:t>
            </a:r>
            <a:r>
              <a:rPr lang="en-IN" sz="2000" dirty="0" err="1">
                <a:latin typeface="Arial" panose="020B0604020202020204" pitchFamily="34" charset="0"/>
                <a:cs typeface="Arial" panose="020B0604020202020204" pitchFamily="34" charset="0"/>
              </a:rPr>
              <a:t>toUpper</a:t>
            </a:r>
            <a:r>
              <a:rPr lang="en-IN" sz="2000" dirty="0">
                <a:latin typeface="Arial" panose="020B0604020202020204" pitchFamily="34" charset="0"/>
                <a:cs typeface="Arial" panose="020B0604020202020204" pitchFamily="34" charset="0"/>
              </a:rPr>
              <a:t>(</a:t>
            </a:r>
            <a:r>
              <a:rPr lang="en-US" sz="2000" dirty="0">
                <a:latin typeface="Arial" panose="020B0604020202020204" pitchFamily="34" charset="0"/>
                <a:cs typeface="Arial" panose="020B0604020202020204" pitchFamily="34" charset="0"/>
              </a:rPr>
              <a:t>n.name)</a:t>
            </a: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LOWER - It is used to change all letters into lower case letters.</a:t>
            </a: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	MATCH (n) RETURN </a:t>
            </a:r>
            <a:r>
              <a:rPr lang="en-US" sz="2000" dirty="0" err="1">
                <a:latin typeface="Arial" panose="020B0604020202020204" pitchFamily="34" charset="0"/>
                <a:cs typeface="Arial" panose="020B0604020202020204" pitchFamily="34" charset="0"/>
              </a:rPr>
              <a:t>toLower</a:t>
            </a:r>
            <a:r>
              <a:rPr lang="en-US" sz="2000" dirty="0">
                <a:latin typeface="Arial" panose="020B0604020202020204" pitchFamily="34" charset="0"/>
                <a:cs typeface="Arial" panose="020B0604020202020204" pitchFamily="34" charset="0"/>
              </a:rPr>
              <a:t>(n.name)</a:t>
            </a: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SUBSTRING - It is used to get substring of a given String.</a:t>
            </a: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	MATCH (n) RETURN substring() (n.name,0,2)</a:t>
            </a: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Replace - It is used to replace a substring with a given substring of a String</a:t>
            </a: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	RETURN replace("hello", "l", "w")</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3234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String Functions</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More Functions:</a:t>
            </a:r>
          </a:p>
          <a:p>
            <a:pPr marL="539750" indent="-357188">
              <a:lnSpc>
                <a:spcPct val="100000"/>
              </a:lnSpc>
              <a:spcBef>
                <a:spcPts val="600"/>
              </a:spcBef>
              <a:spcAft>
                <a:spcPts val="600"/>
              </a:spcAft>
            </a:pPr>
            <a:r>
              <a:rPr lang="en-US" sz="2000" dirty="0">
                <a:latin typeface="Arial" panose="020B0604020202020204" pitchFamily="34" charset="0"/>
                <a:cs typeface="Arial" panose="020B0604020202020204" pitchFamily="34" charset="0"/>
              </a:rPr>
              <a:t>left()</a:t>
            </a:r>
          </a:p>
          <a:p>
            <a:pPr marL="539750" indent="-357188">
              <a:lnSpc>
                <a:spcPct val="100000"/>
              </a:lnSpc>
              <a:spcBef>
                <a:spcPts val="600"/>
              </a:spcBef>
              <a:spcAft>
                <a:spcPts val="600"/>
              </a:spcAft>
            </a:pPr>
            <a:r>
              <a:rPr lang="en-US" sz="2000" dirty="0" err="1">
                <a:latin typeface="Arial" panose="020B0604020202020204" pitchFamily="34" charset="0"/>
                <a:cs typeface="Arial" panose="020B0604020202020204" pitchFamily="34" charset="0"/>
              </a:rPr>
              <a:t>lTrim</a:t>
            </a:r>
            <a:r>
              <a:rPr lang="en-US" sz="2000" dirty="0">
                <a:latin typeface="Arial" panose="020B0604020202020204" pitchFamily="34" charset="0"/>
                <a:cs typeface="Arial" panose="020B0604020202020204" pitchFamily="34" charset="0"/>
              </a:rPr>
              <a:t>()</a:t>
            </a:r>
          </a:p>
          <a:p>
            <a:pPr marL="539750" indent="-357188">
              <a:lnSpc>
                <a:spcPct val="100000"/>
              </a:lnSpc>
              <a:spcBef>
                <a:spcPts val="600"/>
              </a:spcBef>
              <a:spcAft>
                <a:spcPts val="600"/>
              </a:spcAft>
            </a:pPr>
            <a:r>
              <a:rPr lang="en-US" sz="2000" dirty="0">
                <a:latin typeface="Arial" panose="020B0604020202020204" pitchFamily="34" charset="0"/>
                <a:cs typeface="Arial" panose="020B0604020202020204" pitchFamily="34" charset="0"/>
              </a:rPr>
              <a:t>reverse()</a:t>
            </a:r>
          </a:p>
          <a:p>
            <a:pPr marL="539750" indent="-357188">
              <a:lnSpc>
                <a:spcPct val="100000"/>
              </a:lnSpc>
              <a:spcBef>
                <a:spcPts val="600"/>
              </a:spcBef>
              <a:spcAft>
                <a:spcPts val="600"/>
              </a:spcAft>
            </a:pPr>
            <a:r>
              <a:rPr lang="en-US" sz="2000" dirty="0">
                <a:latin typeface="Arial" panose="020B0604020202020204" pitchFamily="34" charset="0"/>
                <a:cs typeface="Arial" panose="020B0604020202020204" pitchFamily="34" charset="0"/>
              </a:rPr>
              <a:t>right()</a:t>
            </a:r>
          </a:p>
          <a:p>
            <a:pPr marL="539750" indent="-357188">
              <a:lnSpc>
                <a:spcPct val="100000"/>
              </a:lnSpc>
              <a:spcBef>
                <a:spcPts val="600"/>
              </a:spcBef>
              <a:spcAft>
                <a:spcPts val="600"/>
              </a:spcAft>
            </a:pPr>
            <a:r>
              <a:rPr lang="en-US" sz="2000" dirty="0" err="1">
                <a:latin typeface="Arial" panose="020B0604020202020204" pitchFamily="34" charset="0"/>
                <a:cs typeface="Arial" panose="020B0604020202020204" pitchFamily="34" charset="0"/>
              </a:rPr>
              <a:t>rTrim</a:t>
            </a:r>
            <a:r>
              <a:rPr lang="en-US" sz="2000" dirty="0">
                <a:latin typeface="Arial" panose="020B0604020202020204" pitchFamily="34" charset="0"/>
                <a:cs typeface="Arial" panose="020B0604020202020204" pitchFamily="34" charset="0"/>
              </a:rPr>
              <a:t>()</a:t>
            </a:r>
          </a:p>
          <a:p>
            <a:pPr marL="539750" indent="-357188">
              <a:lnSpc>
                <a:spcPct val="100000"/>
              </a:lnSpc>
              <a:spcBef>
                <a:spcPts val="600"/>
              </a:spcBef>
              <a:spcAft>
                <a:spcPts val="600"/>
              </a:spcAft>
            </a:pPr>
            <a:r>
              <a:rPr lang="en-US" sz="2000" dirty="0">
                <a:latin typeface="Arial" panose="020B0604020202020204" pitchFamily="34" charset="0"/>
                <a:cs typeface="Arial" panose="020B0604020202020204" pitchFamily="34" charset="0"/>
              </a:rPr>
              <a:t>split()</a:t>
            </a:r>
          </a:p>
          <a:p>
            <a:pPr marL="539750" indent="-357188">
              <a:lnSpc>
                <a:spcPct val="100000"/>
              </a:lnSpc>
              <a:spcBef>
                <a:spcPts val="600"/>
              </a:spcBef>
              <a:spcAft>
                <a:spcPts val="600"/>
              </a:spcAft>
            </a:pPr>
            <a:r>
              <a:rPr lang="en-US" sz="2000" dirty="0" err="1">
                <a:latin typeface="Arial" panose="020B0604020202020204" pitchFamily="34" charset="0"/>
                <a:cs typeface="Arial" panose="020B0604020202020204" pitchFamily="34" charset="0"/>
              </a:rPr>
              <a:t>toString</a:t>
            </a:r>
            <a:r>
              <a:rPr lang="en-US" sz="2000" dirty="0">
                <a:latin typeface="Arial" panose="020B0604020202020204" pitchFamily="34" charset="0"/>
                <a:cs typeface="Arial" panose="020B0604020202020204" pitchFamily="34" charset="0"/>
              </a:rPr>
              <a:t>()</a:t>
            </a:r>
          </a:p>
          <a:p>
            <a:pPr marL="539750" indent="-357188">
              <a:lnSpc>
                <a:spcPct val="100000"/>
              </a:lnSpc>
              <a:spcBef>
                <a:spcPts val="600"/>
              </a:spcBef>
              <a:spcAft>
                <a:spcPts val="600"/>
              </a:spcAft>
            </a:pPr>
            <a:r>
              <a:rPr lang="en-US" sz="2000" dirty="0">
                <a:latin typeface="Arial" panose="020B0604020202020204" pitchFamily="34" charset="0"/>
                <a:cs typeface="Arial" panose="020B0604020202020204" pitchFamily="34" charset="0"/>
              </a:rPr>
              <a:t>trim()</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644027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Aggregate Functions</a:t>
            </a:r>
          </a:p>
        </p:txBody>
      </p:sp>
      <p:sp>
        <p:nvSpPr>
          <p:cNvPr id="3" name="Content Placeholder 2"/>
          <p:cNvSpPr>
            <a:spLocks noGrp="1"/>
          </p:cNvSpPr>
          <p:nvPr>
            <p:ph idx="1"/>
          </p:nvPr>
        </p:nvSpPr>
        <p:spPr>
          <a:xfrm>
            <a:off x="838199" y="1690688"/>
            <a:ext cx="10515601" cy="4486275"/>
          </a:xfrm>
        </p:spPr>
        <p:txBody>
          <a:bodyPr>
            <a:noAutofit/>
          </a:bodyPr>
          <a:lstStyle/>
          <a:p>
            <a:pPr marL="0" indent="0">
              <a:buNone/>
            </a:pPr>
            <a:r>
              <a:rPr lang="en-IN" sz="1600" dirty="0">
                <a:solidFill>
                  <a:srgbClr val="859900"/>
                </a:solidFill>
                <a:effectLst/>
                <a:latin typeface="Arial" panose="020B0604020202020204" pitchFamily="34" charset="0"/>
                <a:cs typeface="Arial" panose="020B0604020202020204" pitchFamily="34" charset="0"/>
              </a:rPr>
              <a:t>CREATE</a:t>
            </a:r>
            <a:endParaRPr lang="en-IN" sz="1600" dirty="0">
              <a:solidFill>
                <a:srgbClr val="000000"/>
              </a:solidFill>
              <a:effectLst/>
              <a:latin typeface="Arial" panose="020B0604020202020204" pitchFamily="34" charset="0"/>
              <a:cs typeface="Arial" panose="020B0604020202020204" pitchFamily="34" charset="0"/>
            </a:endParaRPr>
          </a:p>
          <a:p>
            <a:pPr marL="0" indent="0">
              <a:buNone/>
            </a:pP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keanu</a:t>
            </a:r>
            <a:r>
              <a:rPr lang="en-IN" sz="1600" dirty="0" err="1">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Person</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859900"/>
                </a:solidFill>
                <a:effectLst/>
                <a:latin typeface="Arial" panose="020B0604020202020204" pitchFamily="34" charset="0"/>
                <a:cs typeface="Arial" panose="020B0604020202020204" pitchFamily="34" charset="0"/>
              </a:rPr>
              <a:t>name</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B58900"/>
                </a:solidFill>
                <a:effectLst/>
                <a:latin typeface="Arial" panose="020B0604020202020204" pitchFamily="34" charset="0"/>
                <a:cs typeface="Arial" panose="020B0604020202020204" pitchFamily="34" charset="0"/>
              </a:rPr>
              <a:t>'Keanu Reeves'</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age</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2AA198"/>
                </a:solidFill>
                <a:effectLst/>
                <a:latin typeface="Arial" panose="020B0604020202020204" pitchFamily="34" charset="0"/>
                <a:cs typeface="Arial" panose="020B0604020202020204" pitchFamily="34" charset="0"/>
              </a:rPr>
              <a:t>58</a:t>
            </a:r>
            <a:r>
              <a:rPr lang="en-IN" sz="1600" dirty="0">
                <a:solidFill>
                  <a:srgbClr val="586E75"/>
                </a:solidFill>
                <a:effectLst/>
                <a:latin typeface="Arial" panose="020B0604020202020204" pitchFamily="34" charset="0"/>
                <a:cs typeface="Arial" panose="020B0604020202020204" pitchFamily="34" charset="0"/>
              </a:rPr>
              <a:t>}),</a:t>
            </a:r>
            <a:endParaRPr lang="en-IN" sz="1600" dirty="0">
              <a:solidFill>
                <a:srgbClr val="000000"/>
              </a:solidFill>
              <a:effectLst/>
              <a:latin typeface="Arial" panose="020B0604020202020204" pitchFamily="34" charset="0"/>
              <a:cs typeface="Arial" panose="020B0604020202020204" pitchFamily="34" charset="0"/>
            </a:endParaRPr>
          </a:p>
          <a:p>
            <a:pPr marL="0" indent="0">
              <a:buNone/>
            </a:pP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liam</a:t>
            </a:r>
            <a:r>
              <a:rPr lang="en-IN" sz="1600" dirty="0" err="1">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Person</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859900"/>
                </a:solidFill>
                <a:effectLst/>
                <a:latin typeface="Arial" panose="020B0604020202020204" pitchFamily="34" charset="0"/>
                <a:cs typeface="Arial" panose="020B0604020202020204" pitchFamily="34" charset="0"/>
              </a:rPr>
              <a:t>name</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B58900"/>
                </a:solidFill>
                <a:effectLst/>
                <a:latin typeface="Arial" panose="020B0604020202020204" pitchFamily="34" charset="0"/>
                <a:cs typeface="Arial" panose="020B0604020202020204" pitchFamily="34" charset="0"/>
              </a:rPr>
              <a:t>'Liam </a:t>
            </a:r>
            <a:r>
              <a:rPr lang="en-IN" sz="1600" dirty="0" err="1">
                <a:solidFill>
                  <a:srgbClr val="B58900"/>
                </a:solidFill>
                <a:effectLst/>
                <a:latin typeface="Arial" panose="020B0604020202020204" pitchFamily="34" charset="0"/>
                <a:cs typeface="Arial" panose="020B0604020202020204" pitchFamily="34" charset="0"/>
              </a:rPr>
              <a:t>Neeson</a:t>
            </a:r>
            <a:r>
              <a:rPr lang="en-IN" sz="1600" dirty="0">
                <a:solidFill>
                  <a:srgbClr val="B58900"/>
                </a:solidFill>
                <a:effectLst/>
                <a:latin typeface="Arial" panose="020B0604020202020204" pitchFamily="34" charset="0"/>
                <a:cs typeface="Arial" panose="020B0604020202020204" pitchFamily="34" charset="0"/>
              </a:rPr>
              <a:t>'</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age</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2AA198"/>
                </a:solidFill>
                <a:effectLst/>
                <a:latin typeface="Arial" panose="020B0604020202020204" pitchFamily="34" charset="0"/>
                <a:cs typeface="Arial" panose="020B0604020202020204" pitchFamily="34" charset="0"/>
              </a:rPr>
              <a:t>70</a:t>
            </a:r>
            <a:r>
              <a:rPr lang="en-IN" sz="1600" dirty="0">
                <a:solidFill>
                  <a:srgbClr val="586E75"/>
                </a:solidFill>
                <a:effectLst/>
                <a:latin typeface="Arial" panose="020B0604020202020204" pitchFamily="34" charset="0"/>
                <a:cs typeface="Arial" panose="020B0604020202020204" pitchFamily="34" charset="0"/>
              </a:rPr>
              <a:t>}),</a:t>
            </a:r>
            <a:endParaRPr lang="en-IN" sz="1600" dirty="0">
              <a:solidFill>
                <a:srgbClr val="000000"/>
              </a:solidFill>
              <a:effectLst/>
              <a:latin typeface="Arial" panose="020B0604020202020204" pitchFamily="34" charset="0"/>
              <a:cs typeface="Arial" panose="020B0604020202020204" pitchFamily="34" charset="0"/>
            </a:endParaRPr>
          </a:p>
          <a:p>
            <a:pPr marL="0" indent="0">
              <a:buNone/>
            </a:pP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carrie</a:t>
            </a:r>
            <a:r>
              <a:rPr lang="en-IN" sz="1600" dirty="0" err="1">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Person</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859900"/>
                </a:solidFill>
                <a:effectLst/>
                <a:latin typeface="Arial" panose="020B0604020202020204" pitchFamily="34" charset="0"/>
                <a:cs typeface="Arial" panose="020B0604020202020204" pitchFamily="34" charset="0"/>
              </a:rPr>
              <a:t>name</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B58900"/>
                </a:solidFill>
                <a:effectLst/>
                <a:latin typeface="Arial" panose="020B0604020202020204" pitchFamily="34" charset="0"/>
                <a:cs typeface="Arial" panose="020B0604020202020204" pitchFamily="34" charset="0"/>
              </a:rPr>
              <a:t>'Carrie Anne Moss'</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age</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2AA198"/>
                </a:solidFill>
                <a:effectLst/>
                <a:latin typeface="Arial" panose="020B0604020202020204" pitchFamily="34" charset="0"/>
                <a:cs typeface="Arial" panose="020B0604020202020204" pitchFamily="34" charset="0"/>
              </a:rPr>
              <a:t>55</a:t>
            </a:r>
            <a:r>
              <a:rPr lang="en-IN" sz="1600" dirty="0">
                <a:solidFill>
                  <a:srgbClr val="586E75"/>
                </a:solidFill>
                <a:effectLst/>
                <a:latin typeface="Arial" panose="020B0604020202020204" pitchFamily="34" charset="0"/>
                <a:cs typeface="Arial" panose="020B0604020202020204" pitchFamily="34" charset="0"/>
              </a:rPr>
              <a:t>}),</a:t>
            </a:r>
            <a:endParaRPr lang="en-IN" sz="1600" dirty="0">
              <a:solidFill>
                <a:srgbClr val="000000"/>
              </a:solidFill>
              <a:effectLst/>
              <a:latin typeface="Arial" panose="020B0604020202020204" pitchFamily="34" charset="0"/>
              <a:cs typeface="Arial" panose="020B0604020202020204" pitchFamily="34" charset="0"/>
            </a:endParaRPr>
          </a:p>
          <a:p>
            <a:pPr marL="0" indent="0">
              <a:buNone/>
            </a:pP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guy</a:t>
            </a:r>
            <a:r>
              <a:rPr lang="en-IN" sz="1600" dirty="0" err="1">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Person</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859900"/>
                </a:solidFill>
                <a:effectLst/>
                <a:latin typeface="Arial" panose="020B0604020202020204" pitchFamily="34" charset="0"/>
                <a:cs typeface="Arial" panose="020B0604020202020204" pitchFamily="34" charset="0"/>
              </a:rPr>
              <a:t>name</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B58900"/>
                </a:solidFill>
                <a:effectLst/>
                <a:latin typeface="Arial" panose="020B0604020202020204" pitchFamily="34" charset="0"/>
                <a:cs typeface="Arial" panose="020B0604020202020204" pitchFamily="34" charset="0"/>
              </a:rPr>
              <a:t>'Guy Pearce'</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age</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2AA198"/>
                </a:solidFill>
                <a:effectLst/>
                <a:latin typeface="Arial" panose="020B0604020202020204" pitchFamily="34" charset="0"/>
                <a:cs typeface="Arial" panose="020B0604020202020204" pitchFamily="34" charset="0"/>
              </a:rPr>
              <a:t>55</a:t>
            </a:r>
            <a:r>
              <a:rPr lang="en-IN" sz="1600" dirty="0">
                <a:solidFill>
                  <a:srgbClr val="586E75"/>
                </a:solidFill>
                <a:effectLst/>
                <a:latin typeface="Arial" panose="020B0604020202020204" pitchFamily="34" charset="0"/>
                <a:cs typeface="Arial" panose="020B0604020202020204" pitchFamily="34" charset="0"/>
              </a:rPr>
              <a:t>}),</a:t>
            </a:r>
            <a:endParaRPr lang="en-IN" sz="1600" dirty="0">
              <a:solidFill>
                <a:srgbClr val="000000"/>
              </a:solidFill>
              <a:effectLst/>
              <a:latin typeface="Arial" panose="020B0604020202020204" pitchFamily="34" charset="0"/>
              <a:cs typeface="Arial" panose="020B0604020202020204" pitchFamily="34" charset="0"/>
            </a:endParaRPr>
          </a:p>
          <a:p>
            <a:pPr marL="0" indent="0">
              <a:buNone/>
            </a:pP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kathryn</a:t>
            </a:r>
            <a:r>
              <a:rPr lang="en-IN" sz="1600" dirty="0" err="1">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Person</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859900"/>
                </a:solidFill>
                <a:effectLst/>
                <a:latin typeface="Arial" panose="020B0604020202020204" pitchFamily="34" charset="0"/>
                <a:cs typeface="Arial" panose="020B0604020202020204" pitchFamily="34" charset="0"/>
              </a:rPr>
              <a:t>name</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B58900"/>
                </a:solidFill>
                <a:effectLst/>
                <a:latin typeface="Arial" panose="020B0604020202020204" pitchFamily="34" charset="0"/>
                <a:cs typeface="Arial" panose="020B0604020202020204" pitchFamily="34" charset="0"/>
              </a:rPr>
              <a:t>'Kathryn Bigelow'</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age</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2AA198"/>
                </a:solidFill>
                <a:effectLst/>
                <a:latin typeface="Arial" panose="020B0604020202020204" pitchFamily="34" charset="0"/>
                <a:cs typeface="Arial" panose="020B0604020202020204" pitchFamily="34" charset="0"/>
              </a:rPr>
              <a:t>71</a:t>
            </a:r>
            <a:r>
              <a:rPr lang="en-IN" sz="1600" dirty="0">
                <a:solidFill>
                  <a:srgbClr val="586E75"/>
                </a:solidFill>
                <a:effectLst/>
                <a:latin typeface="Arial" panose="020B0604020202020204" pitchFamily="34" charset="0"/>
                <a:cs typeface="Arial" panose="020B0604020202020204" pitchFamily="34" charset="0"/>
              </a:rPr>
              <a:t>}),</a:t>
            </a:r>
            <a:endParaRPr lang="en-IN" sz="1600" dirty="0">
              <a:solidFill>
                <a:srgbClr val="000000"/>
              </a:solidFill>
              <a:effectLst/>
              <a:latin typeface="Arial" panose="020B0604020202020204" pitchFamily="34" charset="0"/>
              <a:cs typeface="Arial" panose="020B0604020202020204" pitchFamily="34" charset="0"/>
            </a:endParaRPr>
          </a:p>
          <a:p>
            <a:pPr marL="0" indent="0">
              <a:buNone/>
            </a:pP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speed</a:t>
            </a:r>
            <a:r>
              <a:rPr lang="en-IN" sz="1600" dirty="0" err="1">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Movie</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title</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B58900"/>
                </a:solidFill>
                <a:effectLst/>
                <a:latin typeface="Arial" panose="020B0604020202020204" pitchFamily="34" charset="0"/>
                <a:cs typeface="Arial" panose="020B0604020202020204" pitchFamily="34" charset="0"/>
              </a:rPr>
              <a:t>'Speed'</a:t>
            </a:r>
            <a:r>
              <a:rPr lang="en-IN" sz="1600" dirty="0">
                <a:solidFill>
                  <a:srgbClr val="586E75"/>
                </a:solidFill>
                <a:effectLst/>
                <a:latin typeface="Arial" panose="020B0604020202020204" pitchFamily="34" charset="0"/>
                <a:cs typeface="Arial" panose="020B0604020202020204" pitchFamily="34" charset="0"/>
              </a:rPr>
              <a:t>}),</a:t>
            </a:r>
            <a:endParaRPr lang="en-IN" sz="1600" dirty="0">
              <a:solidFill>
                <a:srgbClr val="000000"/>
              </a:solidFill>
              <a:effectLst/>
              <a:latin typeface="Arial" panose="020B0604020202020204" pitchFamily="34" charset="0"/>
              <a:cs typeface="Arial" panose="020B0604020202020204" pitchFamily="34" charset="0"/>
            </a:endParaRPr>
          </a:p>
          <a:p>
            <a:pPr marL="0" indent="0">
              <a:buNone/>
            </a:pP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keanu</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ACTED_IN</a:t>
            </a:r>
            <a:r>
              <a:rPr lang="en-IN" sz="1600" dirty="0">
                <a:solidFill>
                  <a:srgbClr val="586E75"/>
                </a:solidFill>
                <a:effectLst/>
                <a:latin typeface="Arial" panose="020B0604020202020204" pitchFamily="34" charset="0"/>
                <a:cs typeface="Arial" panose="020B0604020202020204" pitchFamily="34" charset="0"/>
              </a:rPr>
              <a:t>]-&gt;(</a:t>
            </a:r>
            <a:r>
              <a:rPr lang="en-IN" sz="1600" dirty="0">
                <a:solidFill>
                  <a:srgbClr val="333333"/>
                </a:solidFill>
                <a:effectLst/>
                <a:latin typeface="Arial" panose="020B0604020202020204" pitchFamily="34" charset="0"/>
                <a:cs typeface="Arial" panose="020B0604020202020204" pitchFamily="34" charset="0"/>
              </a:rPr>
              <a:t>speed</a:t>
            </a:r>
            <a:r>
              <a:rPr lang="en-IN" sz="1600" dirty="0">
                <a:solidFill>
                  <a:srgbClr val="586E75"/>
                </a:solidFill>
                <a:effectLst/>
                <a:latin typeface="Arial" panose="020B0604020202020204" pitchFamily="34" charset="0"/>
                <a:cs typeface="Arial" panose="020B0604020202020204" pitchFamily="34" charset="0"/>
              </a:rPr>
              <a:t>),</a:t>
            </a:r>
            <a:endParaRPr lang="en-IN" sz="1600" dirty="0">
              <a:solidFill>
                <a:srgbClr val="000000"/>
              </a:solidFill>
              <a:effectLst/>
              <a:latin typeface="Arial" panose="020B0604020202020204" pitchFamily="34" charset="0"/>
              <a:cs typeface="Arial" panose="020B0604020202020204" pitchFamily="34" charset="0"/>
            </a:endParaRPr>
          </a:p>
          <a:p>
            <a:pPr marL="0" indent="0">
              <a:buNone/>
            </a:pP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keanu</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KNOWS</a:t>
            </a:r>
            <a:r>
              <a:rPr lang="en-IN" sz="1600" dirty="0">
                <a:solidFill>
                  <a:srgbClr val="586E75"/>
                </a:solidFill>
                <a:effectLst/>
                <a:latin typeface="Arial" panose="020B0604020202020204" pitchFamily="34" charset="0"/>
                <a:cs typeface="Arial" panose="020B0604020202020204" pitchFamily="34" charset="0"/>
              </a:rPr>
              <a:t>]-&gt;(</a:t>
            </a:r>
            <a:r>
              <a:rPr lang="en-IN" sz="1600" dirty="0" err="1">
                <a:solidFill>
                  <a:srgbClr val="333333"/>
                </a:solidFill>
                <a:effectLst/>
                <a:latin typeface="Arial" panose="020B0604020202020204" pitchFamily="34" charset="0"/>
                <a:cs typeface="Arial" panose="020B0604020202020204" pitchFamily="34" charset="0"/>
              </a:rPr>
              <a:t>carrie</a:t>
            </a:r>
            <a:r>
              <a:rPr lang="en-IN" sz="1600" dirty="0">
                <a:solidFill>
                  <a:srgbClr val="586E75"/>
                </a:solidFill>
                <a:effectLst/>
                <a:latin typeface="Arial" panose="020B0604020202020204" pitchFamily="34" charset="0"/>
                <a:cs typeface="Arial" panose="020B0604020202020204" pitchFamily="34" charset="0"/>
              </a:rPr>
              <a:t>),</a:t>
            </a:r>
            <a:endParaRPr lang="en-IN" sz="1600" dirty="0">
              <a:solidFill>
                <a:srgbClr val="000000"/>
              </a:solidFill>
              <a:effectLst/>
              <a:latin typeface="Arial" panose="020B0604020202020204" pitchFamily="34" charset="0"/>
              <a:cs typeface="Arial" panose="020B0604020202020204" pitchFamily="34" charset="0"/>
            </a:endParaRPr>
          </a:p>
          <a:p>
            <a:pPr marL="0" indent="0">
              <a:buNone/>
            </a:pP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keanu</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KNOWS</a:t>
            </a:r>
            <a:r>
              <a:rPr lang="en-IN" sz="1600" dirty="0">
                <a:solidFill>
                  <a:srgbClr val="586E75"/>
                </a:solidFill>
                <a:effectLst/>
                <a:latin typeface="Arial" panose="020B0604020202020204" pitchFamily="34" charset="0"/>
                <a:cs typeface="Arial" panose="020B0604020202020204" pitchFamily="34" charset="0"/>
              </a:rPr>
              <a:t>]-&gt;(</a:t>
            </a:r>
            <a:r>
              <a:rPr lang="en-IN" sz="1600" dirty="0" err="1">
                <a:solidFill>
                  <a:srgbClr val="333333"/>
                </a:solidFill>
                <a:effectLst/>
                <a:latin typeface="Arial" panose="020B0604020202020204" pitchFamily="34" charset="0"/>
                <a:cs typeface="Arial" panose="020B0604020202020204" pitchFamily="34" charset="0"/>
              </a:rPr>
              <a:t>liam</a:t>
            </a:r>
            <a:r>
              <a:rPr lang="en-IN" sz="1600" dirty="0">
                <a:solidFill>
                  <a:srgbClr val="586E75"/>
                </a:solidFill>
                <a:effectLst/>
                <a:latin typeface="Arial" panose="020B0604020202020204" pitchFamily="34" charset="0"/>
                <a:cs typeface="Arial" panose="020B0604020202020204" pitchFamily="34" charset="0"/>
              </a:rPr>
              <a:t>),</a:t>
            </a:r>
            <a:endParaRPr lang="en-IN" sz="1600" dirty="0">
              <a:solidFill>
                <a:srgbClr val="000000"/>
              </a:solidFill>
              <a:effectLst/>
              <a:latin typeface="Arial" panose="020B0604020202020204" pitchFamily="34" charset="0"/>
              <a:cs typeface="Arial" panose="020B0604020202020204" pitchFamily="34" charset="0"/>
            </a:endParaRPr>
          </a:p>
          <a:p>
            <a:pPr marL="0" indent="0">
              <a:buNone/>
            </a:pP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keanu</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KNOWS</a:t>
            </a:r>
            <a:r>
              <a:rPr lang="en-IN" sz="1600" dirty="0">
                <a:solidFill>
                  <a:srgbClr val="586E75"/>
                </a:solidFill>
                <a:effectLst/>
                <a:latin typeface="Arial" panose="020B0604020202020204" pitchFamily="34" charset="0"/>
                <a:cs typeface="Arial" panose="020B0604020202020204" pitchFamily="34" charset="0"/>
              </a:rPr>
              <a:t>]-&gt;(</a:t>
            </a:r>
            <a:r>
              <a:rPr lang="en-IN" sz="1600" dirty="0" err="1">
                <a:solidFill>
                  <a:srgbClr val="333333"/>
                </a:solidFill>
                <a:effectLst/>
                <a:latin typeface="Arial" panose="020B0604020202020204" pitchFamily="34" charset="0"/>
                <a:cs typeface="Arial" panose="020B0604020202020204" pitchFamily="34" charset="0"/>
              </a:rPr>
              <a:t>kathryn</a:t>
            </a:r>
            <a:r>
              <a:rPr lang="en-IN" sz="1600" dirty="0">
                <a:solidFill>
                  <a:srgbClr val="586E75"/>
                </a:solidFill>
                <a:effectLst/>
                <a:latin typeface="Arial" panose="020B0604020202020204" pitchFamily="34" charset="0"/>
                <a:cs typeface="Arial" panose="020B0604020202020204" pitchFamily="34" charset="0"/>
              </a:rPr>
              <a:t>),</a:t>
            </a:r>
            <a:endParaRPr lang="en-IN" sz="1600" dirty="0">
              <a:solidFill>
                <a:srgbClr val="000000"/>
              </a:solidFill>
              <a:effectLst/>
              <a:latin typeface="Arial" panose="020B0604020202020204" pitchFamily="34" charset="0"/>
              <a:cs typeface="Arial" panose="020B0604020202020204" pitchFamily="34" charset="0"/>
            </a:endParaRPr>
          </a:p>
          <a:p>
            <a:pPr marL="0" indent="0">
              <a:buNone/>
            </a:pP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carrie</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KNOWS</a:t>
            </a:r>
            <a:r>
              <a:rPr lang="en-IN" sz="1600" dirty="0">
                <a:solidFill>
                  <a:srgbClr val="586E75"/>
                </a:solidFill>
                <a:effectLst/>
                <a:latin typeface="Arial" panose="020B0604020202020204" pitchFamily="34" charset="0"/>
                <a:cs typeface="Arial" panose="020B0604020202020204" pitchFamily="34" charset="0"/>
              </a:rPr>
              <a:t>]-&gt;(</a:t>
            </a:r>
            <a:r>
              <a:rPr lang="en-IN" sz="1600" dirty="0">
                <a:solidFill>
                  <a:srgbClr val="333333"/>
                </a:solidFill>
                <a:effectLst/>
                <a:latin typeface="Arial" panose="020B0604020202020204" pitchFamily="34" charset="0"/>
                <a:cs typeface="Arial" panose="020B0604020202020204" pitchFamily="34" charset="0"/>
              </a:rPr>
              <a:t>guy</a:t>
            </a:r>
            <a:r>
              <a:rPr lang="en-IN" sz="1600" dirty="0">
                <a:solidFill>
                  <a:srgbClr val="586E75"/>
                </a:solidFill>
                <a:effectLst/>
                <a:latin typeface="Arial" panose="020B0604020202020204" pitchFamily="34" charset="0"/>
                <a:cs typeface="Arial" panose="020B0604020202020204" pitchFamily="34" charset="0"/>
              </a:rPr>
              <a:t>),</a:t>
            </a:r>
            <a:endParaRPr lang="en-IN" sz="1600" dirty="0">
              <a:solidFill>
                <a:srgbClr val="000000"/>
              </a:solidFill>
              <a:effectLst/>
              <a:latin typeface="Arial" panose="020B0604020202020204" pitchFamily="34" charset="0"/>
              <a:cs typeface="Arial" panose="020B0604020202020204" pitchFamily="34" charset="0"/>
            </a:endParaRPr>
          </a:p>
          <a:p>
            <a:pPr marL="0" indent="0">
              <a:buNone/>
            </a:pPr>
            <a:r>
              <a:rPr lang="en-IN" sz="1600" dirty="0">
                <a:solidFill>
                  <a:srgbClr val="333333"/>
                </a:solidFill>
                <a:effectLst/>
                <a:latin typeface="Arial" panose="020B0604020202020204" pitchFamily="34" charset="0"/>
                <a:cs typeface="Arial" panose="020B0604020202020204" pitchFamily="34" charset="0"/>
              </a:rPr>
              <a:t>  </a:t>
            </a:r>
            <a:r>
              <a:rPr lang="en-IN" sz="1600" dirty="0">
                <a:solidFill>
                  <a:srgbClr val="586E75"/>
                </a:solidFill>
                <a:effectLst/>
                <a:latin typeface="Arial" panose="020B0604020202020204" pitchFamily="34" charset="0"/>
                <a:cs typeface="Arial" panose="020B0604020202020204" pitchFamily="34" charset="0"/>
              </a:rPr>
              <a:t>(</a:t>
            </a:r>
            <a:r>
              <a:rPr lang="en-IN" sz="1600" dirty="0" err="1">
                <a:solidFill>
                  <a:srgbClr val="333333"/>
                </a:solidFill>
                <a:effectLst/>
                <a:latin typeface="Arial" panose="020B0604020202020204" pitchFamily="34" charset="0"/>
                <a:cs typeface="Arial" panose="020B0604020202020204" pitchFamily="34" charset="0"/>
              </a:rPr>
              <a:t>liam</a:t>
            </a:r>
            <a:r>
              <a:rPr lang="en-IN" sz="1600" dirty="0">
                <a:solidFill>
                  <a:srgbClr val="586E75"/>
                </a:solidFill>
                <a:effectLst/>
                <a:latin typeface="Arial" panose="020B0604020202020204" pitchFamily="34" charset="0"/>
                <a:cs typeface="Arial" panose="020B0604020202020204" pitchFamily="34" charset="0"/>
              </a:rPr>
              <a:t>)-[:</a:t>
            </a:r>
            <a:r>
              <a:rPr lang="en-IN" sz="1600" dirty="0">
                <a:solidFill>
                  <a:srgbClr val="333333"/>
                </a:solidFill>
                <a:effectLst/>
                <a:latin typeface="Arial" panose="020B0604020202020204" pitchFamily="34" charset="0"/>
                <a:cs typeface="Arial" panose="020B0604020202020204" pitchFamily="34" charset="0"/>
              </a:rPr>
              <a:t>KNOWS</a:t>
            </a:r>
            <a:r>
              <a:rPr lang="en-IN" sz="1600" dirty="0">
                <a:solidFill>
                  <a:srgbClr val="586E75"/>
                </a:solidFill>
                <a:effectLst/>
                <a:latin typeface="Arial" panose="020B0604020202020204" pitchFamily="34" charset="0"/>
                <a:cs typeface="Arial" panose="020B0604020202020204" pitchFamily="34" charset="0"/>
              </a:rPr>
              <a:t>]-&gt;(</a:t>
            </a:r>
            <a:r>
              <a:rPr lang="en-IN" sz="1600" dirty="0">
                <a:solidFill>
                  <a:srgbClr val="333333"/>
                </a:solidFill>
                <a:effectLst/>
                <a:latin typeface="Arial" panose="020B0604020202020204" pitchFamily="34" charset="0"/>
                <a:cs typeface="Arial" panose="020B0604020202020204" pitchFamily="34" charset="0"/>
              </a:rPr>
              <a:t>guy</a:t>
            </a:r>
            <a:r>
              <a:rPr lang="en-IN" sz="1600" dirty="0">
                <a:solidFill>
                  <a:srgbClr val="586E75"/>
                </a:solidFill>
                <a:effectLst/>
                <a:latin typeface="Arial" panose="020B0604020202020204" pitchFamily="34" charset="0"/>
                <a:cs typeface="Arial" panose="020B0604020202020204" pitchFamily="34" charset="0"/>
              </a:rPr>
              <a:t>)</a:t>
            </a:r>
            <a:endParaRPr lang="en-IN" sz="1600" dirty="0">
              <a:solidFill>
                <a:srgbClr val="000000"/>
              </a:solidFill>
              <a:effectLst/>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62058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Count Function</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1200"/>
              </a:spcBef>
              <a:buNone/>
            </a:pPr>
            <a:r>
              <a:rPr lang="en-US" sz="2000" dirty="0">
                <a:latin typeface="Arial" panose="020B0604020202020204" pitchFamily="34" charset="0"/>
                <a:cs typeface="Arial" panose="020B0604020202020204" pitchFamily="34" charset="0"/>
              </a:rPr>
              <a:t>The count() function is used to count the number of rows.</a:t>
            </a:r>
          </a:p>
          <a:p>
            <a:pPr marL="0" indent="0">
              <a:lnSpc>
                <a:spcPct val="120000"/>
              </a:lnSpc>
              <a:spcBef>
                <a:spcPts val="1200"/>
              </a:spcBef>
              <a:buNone/>
            </a:pPr>
            <a:r>
              <a:rPr lang="en-US" sz="2000" dirty="0">
                <a:solidFill>
                  <a:srgbClr val="FF0000"/>
                </a:solidFill>
                <a:latin typeface="Arial" panose="020B0604020202020204" pitchFamily="34" charset="0"/>
                <a:cs typeface="Arial" panose="020B0604020202020204" pitchFamily="34" charset="0"/>
              </a:rPr>
              <a:t>Syntax</a:t>
            </a:r>
          </a:p>
          <a:p>
            <a:pPr marL="457200" lvl="1" indent="0">
              <a:lnSpc>
                <a:spcPct val="120000"/>
              </a:lnSpc>
              <a:spcBef>
                <a:spcPts val="1200"/>
              </a:spcBef>
              <a:buNone/>
            </a:pPr>
            <a:r>
              <a:rPr lang="en-US" sz="2000" dirty="0">
                <a:latin typeface="Arial" panose="020B0604020202020204" pitchFamily="34" charset="0"/>
                <a:cs typeface="Arial" panose="020B0604020202020204" pitchFamily="34" charset="0"/>
              </a:rPr>
              <a:t>MATCH (n { name: 'A' })--&gt;(x)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RETURN n, count(*) </a:t>
            </a:r>
          </a:p>
          <a:p>
            <a:pPr marL="0" indent="0">
              <a:lnSpc>
                <a:spcPct val="120000"/>
              </a:lnSpc>
              <a:spcBef>
                <a:spcPts val="1200"/>
              </a:spcBef>
              <a:buNone/>
            </a:pPr>
            <a:r>
              <a:rPr lang="en-US" sz="2000" dirty="0">
                <a:solidFill>
                  <a:srgbClr val="FF0000"/>
                </a:solidFill>
                <a:latin typeface="Arial" panose="020B0604020202020204" pitchFamily="34" charset="0"/>
                <a:cs typeface="Arial" panose="020B0604020202020204" pitchFamily="34" charset="0"/>
              </a:rPr>
              <a:t>Example</a:t>
            </a:r>
          </a:p>
          <a:p>
            <a:pPr marL="0" marR="0" indent="0">
              <a:lnSpc>
                <a:spcPct val="107000"/>
              </a:lnSpc>
              <a:spcBef>
                <a:spcPts val="0"/>
              </a:spcBef>
              <a:spcAft>
                <a:spcPts val="0"/>
              </a:spcAft>
              <a:buNone/>
            </a:pPr>
            <a:r>
              <a:rPr lang="en-IN"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 count all the node</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MATCH</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RETURN</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count</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as</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count</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 </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0"/>
              </a:spcAft>
              <a:buNone/>
            </a:pPr>
            <a:r>
              <a:rPr lang="en-IN"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 count all the relationship</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MATCH</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r</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]-&gt;()</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RETURN</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count</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r</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as</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count</a:t>
            </a:r>
            <a:endParaRPr lang="en-US" sz="2000" dirty="0">
              <a:solidFill>
                <a:srgbClr val="FF000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93148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Count Function</a:t>
            </a:r>
          </a:p>
        </p:txBody>
      </p:sp>
      <p:sp>
        <p:nvSpPr>
          <p:cNvPr id="3" name="Content Placeholder 2"/>
          <p:cNvSpPr>
            <a:spLocks noGrp="1"/>
          </p:cNvSpPr>
          <p:nvPr>
            <p:ph idx="1"/>
          </p:nvPr>
        </p:nvSpPr>
        <p:spPr>
          <a:xfrm>
            <a:off x="838199" y="1690688"/>
            <a:ext cx="10515601" cy="4486275"/>
          </a:xfrm>
        </p:spPr>
        <p:txBody>
          <a:bodyPr>
            <a:noAutofit/>
          </a:bodyPr>
          <a:lstStyle/>
          <a:p>
            <a:pPr marL="0" marR="0" indent="0">
              <a:lnSpc>
                <a:spcPct val="107000"/>
              </a:lnSpc>
              <a:spcBef>
                <a:spcPts val="0"/>
              </a:spcBef>
              <a:spcAft>
                <a:spcPts val="600"/>
              </a:spcAft>
              <a:buNone/>
            </a:pPr>
            <a:r>
              <a:rPr lang="en-IN"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 count all the nodes under the label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60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MATCH</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Person</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60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RETURN</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count</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as</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count</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600"/>
              </a:spcAft>
              <a:buNone/>
            </a:pPr>
            <a:r>
              <a:rPr lang="en-IN"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600"/>
              </a:spcAft>
              <a:buNone/>
            </a:pPr>
            <a:r>
              <a:rPr lang="en-IN"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 count the number of nodes have age under person label</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60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MATCH</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err="1">
                <a:solidFill>
                  <a:srgbClr val="333333"/>
                </a:solidFill>
                <a:effectLst/>
                <a:latin typeface="Arial" panose="020B0604020202020204" pitchFamily="34" charset="0"/>
                <a:ea typeface="Times New Roman" panose="02020603050405020304" pitchFamily="18" charset="0"/>
                <a:cs typeface="Arial" panose="020B0604020202020204" pitchFamily="34" charset="0"/>
              </a:rPr>
              <a:t>p</a:t>
            </a:r>
            <a:r>
              <a:rPr lang="en-IN" sz="1800" kern="0" dirty="0" err="1">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err="1">
                <a:solidFill>
                  <a:srgbClr val="333333"/>
                </a:solidFill>
                <a:effectLst/>
                <a:latin typeface="Arial" panose="020B0604020202020204" pitchFamily="34" charset="0"/>
                <a:ea typeface="Times New Roman" panose="02020603050405020304" pitchFamily="18" charset="0"/>
                <a:cs typeface="Arial" panose="020B0604020202020204" pitchFamily="34" charset="0"/>
              </a:rPr>
              <a:t>Person</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60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RETURN</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count</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err="1">
                <a:solidFill>
                  <a:srgbClr val="333333"/>
                </a:solidFill>
                <a:effectLst/>
                <a:latin typeface="Arial" panose="020B0604020202020204" pitchFamily="34" charset="0"/>
                <a:ea typeface="Times New Roman" panose="02020603050405020304" pitchFamily="18" charset="0"/>
                <a:cs typeface="Arial" panose="020B0604020202020204" pitchFamily="34" charset="0"/>
              </a:rPr>
              <a:t>p</a:t>
            </a:r>
            <a:r>
              <a:rPr lang="en-IN" sz="1800" kern="0" dirty="0" err="1">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err="1">
                <a:solidFill>
                  <a:srgbClr val="333333"/>
                </a:solidFill>
                <a:effectLst/>
                <a:latin typeface="Arial" panose="020B0604020202020204" pitchFamily="34" charset="0"/>
                <a:ea typeface="Times New Roman" panose="02020603050405020304" pitchFamily="18" charset="0"/>
                <a:cs typeface="Arial" panose="020B0604020202020204" pitchFamily="34" charset="0"/>
              </a:rPr>
              <a:t>age</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600"/>
              </a:spcAft>
              <a:buNone/>
            </a:pPr>
            <a:r>
              <a:rPr lang="en-IN"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600"/>
              </a:spcAft>
              <a:buNone/>
            </a:pPr>
            <a:r>
              <a:rPr lang="en-IN"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 count based on a condition</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60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MATCH</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label</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WHERE</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err="1">
                <a:solidFill>
                  <a:srgbClr val="859900"/>
                </a:solidFill>
                <a:effectLst/>
                <a:latin typeface="Arial" panose="020B0604020202020204" pitchFamily="34" charset="0"/>
                <a:ea typeface="Times New Roman" panose="02020603050405020304" pitchFamily="18" charset="0"/>
                <a:cs typeface="Arial" panose="020B0604020202020204" pitchFamily="34" charset="0"/>
              </a:rPr>
              <a:t>label</a:t>
            </a:r>
            <a:r>
              <a:rPr lang="en-IN" sz="1800" kern="0" dirty="0" err="1">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err="1">
                <a:solidFill>
                  <a:srgbClr val="333333"/>
                </a:solidFill>
                <a:effectLst/>
                <a:latin typeface="Arial" panose="020B0604020202020204" pitchFamily="34" charset="0"/>
                <a:ea typeface="Times New Roman" panose="02020603050405020304" pitchFamily="18" charset="0"/>
                <a:cs typeface="Arial" panose="020B0604020202020204" pitchFamily="34" charset="0"/>
              </a:rPr>
              <a:t>age</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&gt;=</a:t>
            </a:r>
            <a:r>
              <a:rPr lang="en-IN" sz="1800" kern="0" dirty="0">
                <a:solidFill>
                  <a:srgbClr val="2AA198"/>
                </a:solidFill>
                <a:effectLst/>
                <a:latin typeface="Arial" panose="020B0604020202020204" pitchFamily="34" charset="0"/>
                <a:ea typeface="Times New Roman" panose="02020603050405020304" pitchFamily="18" charset="0"/>
                <a:cs typeface="Arial" panose="020B0604020202020204" pitchFamily="34" charset="0"/>
              </a:rPr>
              <a:t>50</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60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RETURN</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count</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endParaRPr lang="en-US" sz="2000" dirty="0">
              <a:solidFill>
                <a:srgbClr val="FF000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90465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u="sng" dirty="0">
                <a:solidFill>
                  <a:srgbClr val="0070C0"/>
                </a:solidFill>
                <a:latin typeface="Arial" panose="020B0604020202020204" pitchFamily="34" charset="0"/>
                <a:cs typeface="Arial" panose="020B0604020202020204" pitchFamily="34" charset="0"/>
              </a:rPr>
              <a:t>Count Function</a:t>
            </a:r>
          </a:p>
        </p:txBody>
      </p:sp>
      <p:sp>
        <p:nvSpPr>
          <p:cNvPr id="3" name="Content Placeholder 2"/>
          <p:cNvSpPr>
            <a:spLocks noGrp="1"/>
          </p:cNvSpPr>
          <p:nvPr>
            <p:ph idx="1"/>
          </p:nvPr>
        </p:nvSpPr>
        <p:spPr>
          <a:xfrm>
            <a:off x="838199" y="1690688"/>
            <a:ext cx="10515601" cy="4486275"/>
          </a:xfrm>
        </p:spPr>
        <p:txBody>
          <a:bodyPr>
            <a:noAutofit/>
          </a:bodyPr>
          <a:lstStyle/>
          <a:p>
            <a:pPr marL="0" marR="0" indent="0">
              <a:lnSpc>
                <a:spcPct val="107000"/>
              </a:lnSpc>
              <a:spcBef>
                <a:spcPts val="0"/>
              </a:spcBef>
              <a:spcAft>
                <a:spcPts val="600"/>
              </a:spcAft>
              <a:buNone/>
            </a:pPr>
            <a:r>
              <a:rPr lang="en-IN"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 count number of nodes have age 55</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60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Match</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n</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age</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2AA198"/>
                </a:solidFill>
                <a:effectLst/>
                <a:latin typeface="Arial" panose="020B0604020202020204" pitchFamily="34" charset="0"/>
                <a:ea typeface="Times New Roman" panose="02020603050405020304" pitchFamily="18" charset="0"/>
                <a:cs typeface="Arial" panose="020B0604020202020204" pitchFamily="34" charset="0"/>
              </a:rPr>
              <a:t>55</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x</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60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RETURN</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n</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count</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600"/>
              </a:spcAft>
              <a:buNone/>
            </a:pPr>
            <a:r>
              <a:rPr lang="en-IN"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600"/>
              </a:spcAft>
              <a:buNone/>
            </a:pPr>
            <a:r>
              <a:rPr lang="en-IN"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To count the number of relationships a person who have age 55</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60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Match</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n</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age</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2AA198"/>
                </a:solidFill>
                <a:effectLst/>
                <a:latin typeface="Arial" panose="020B0604020202020204" pitchFamily="34" charset="0"/>
                <a:ea typeface="Times New Roman" panose="02020603050405020304" pitchFamily="18" charset="0"/>
                <a:cs typeface="Arial" panose="020B0604020202020204" pitchFamily="34" charset="0"/>
              </a:rPr>
              <a:t>55</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r</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x</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R="0" indent="0">
              <a:lnSpc>
                <a:spcPct val="107000"/>
              </a:lnSpc>
              <a:spcBef>
                <a:spcPts val="0"/>
              </a:spcBef>
              <a:spcAft>
                <a:spcPts val="600"/>
              </a:spcAft>
              <a:buNone/>
            </a:pP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RETURN</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type</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r</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r>
              <a:rPr lang="en-IN" sz="1800" kern="0" dirty="0">
                <a:solidFill>
                  <a:srgbClr val="333333"/>
                </a:solidFill>
                <a:effectLst/>
                <a:latin typeface="Arial" panose="020B0604020202020204" pitchFamily="34" charset="0"/>
                <a:ea typeface="Times New Roman" panose="02020603050405020304" pitchFamily="18" charset="0"/>
                <a:cs typeface="Arial" panose="020B0604020202020204" pitchFamily="34" charset="0"/>
              </a:rPr>
              <a:t> </a:t>
            </a:r>
            <a:r>
              <a:rPr lang="en-IN" sz="1800" kern="0" dirty="0">
                <a:solidFill>
                  <a:srgbClr val="859900"/>
                </a:solidFill>
                <a:effectLst/>
                <a:latin typeface="Arial" panose="020B0604020202020204" pitchFamily="34" charset="0"/>
                <a:ea typeface="Times New Roman" panose="02020603050405020304" pitchFamily="18" charset="0"/>
                <a:cs typeface="Arial" panose="020B0604020202020204" pitchFamily="34" charset="0"/>
              </a:rPr>
              <a:t>count</a:t>
            </a:r>
            <a:r>
              <a:rPr lang="en-IN" sz="1800" kern="0" dirty="0">
                <a:solidFill>
                  <a:srgbClr val="586E75"/>
                </a:solidFill>
                <a:effectLst/>
                <a:latin typeface="Arial" panose="020B0604020202020204" pitchFamily="34" charset="0"/>
                <a:ea typeface="Times New Roman" panose="02020603050405020304" pitchFamily="18" charset="0"/>
                <a:cs typeface="Arial" panose="020B0604020202020204" pitchFamily="34" charset="0"/>
              </a:rPr>
              <a:t>(*)</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0" marR="0" indent="0">
              <a:lnSpc>
                <a:spcPct val="107000"/>
              </a:lnSpc>
              <a:spcBef>
                <a:spcPts val="0"/>
              </a:spcBef>
              <a:spcAft>
                <a:spcPts val="600"/>
              </a:spcAft>
              <a:buNone/>
            </a:pPr>
            <a:r>
              <a:rPr lang="en-IN" sz="1800" kern="0" dirty="0">
                <a:solidFill>
                  <a:srgbClr val="000000"/>
                </a:solidFill>
                <a:effectLst/>
                <a:latin typeface="Arial" panose="020B0604020202020204" pitchFamily="34" charset="0"/>
                <a:ea typeface="Times New Roman" panose="02020603050405020304" pitchFamily="18" charset="0"/>
                <a:cs typeface="Arial" panose="020B0604020202020204" pitchFamily="34" charset="0"/>
              </a:rPr>
              <a:t> </a:t>
            </a:r>
            <a:endParaRPr lang="en-IN" sz="1800" kern="100" dirty="0">
              <a:effectLst/>
              <a:latin typeface="Arial" panose="020B0604020202020204" pitchFamily="34" charset="0"/>
              <a:ea typeface="Calibri" panose="020F0502020204030204" pitchFamily="34" charset="0"/>
              <a:cs typeface="Arial" panose="020B0604020202020204" pitchFamily="34" charset="0"/>
            </a:endParaRPr>
          </a:p>
          <a:p>
            <a:pPr marL="0" indent="0">
              <a:lnSpc>
                <a:spcPct val="120000"/>
              </a:lnSpc>
              <a:spcBef>
                <a:spcPts val="1200"/>
              </a:spcBef>
              <a:spcAft>
                <a:spcPts val="600"/>
              </a:spcAft>
              <a:buNone/>
            </a:pPr>
            <a:endParaRPr lang="en-US" sz="2000" dirty="0">
              <a:solidFill>
                <a:srgbClr val="FF0000"/>
              </a:solidFill>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654092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Aggregation Function</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MAX - It returns the maximum value from a set of rows returned by MATCH command.</a:t>
            </a: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	</a:t>
            </a:r>
            <a:r>
              <a:rPr lang="en-US" sz="2000" b="0" i="0" dirty="0">
                <a:solidFill>
                  <a:srgbClr val="718096"/>
                </a:solidFill>
                <a:effectLst/>
                <a:latin typeface="Arial" panose="020B0604020202020204" pitchFamily="34" charset="0"/>
                <a:cs typeface="Arial" panose="020B0604020202020204" pitchFamily="34" charset="0"/>
              </a:rPr>
              <a:t>MATCH</a:t>
            </a:r>
            <a:r>
              <a:rPr lang="en-US" sz="2000" b="0" i="0" dirty="0">
                <a:solidFill>
                  <a:srgbClr val="4A5568"/>
                </a:solidFill>
                <a:effectLst/>
                <a:latin typeface="Arial" panose="020B0604020202020204" pitchFamily="34" charset="0"/>
                <a:cs typeface="Arial" panose="020B0604020202020204" pitchFamily="34" charset="0"/>
              </a:rPr>
              <a:t> (</a:t>
            </a:r>
            <a:r>
              <a:rPr lang="en-US" sz="2000" b="0" i="0" dirty="0" err="1">
                <a:solidFill>
                  <a:srgbClr val="4A5568"/>
                </a:solidFill>
                <a:effectLst/>
                <a:latin typeface="Arial" panose="020B0604020202020204" pitchFamily="34" charset="0"/>
                <a:cs typeface="Arial" panose="020B0604020202020204" pitchFamily="34" charset="0"/>
              </a:rPr>
              <a:t>p:</a:t>
            </a:r>
            <a:r>
              <a:rPr lang="en-US" sz="2000" b="0" i="0" dirty="0" err="1">
                <a:solidFill>
                  <a:srgbClr val="3182CE"/>
                </a:solidFill>
                <a:effectLst/>
                <a:latin typeface="Arial" panose="020B0604020202020204" pitchFamily="34" charset="0"/>
                <a:cs typeface="Arial" panose="020B0604020202020204" pitchFamily="34" charset="0"/>
              </a:rPr>
              <a:t>Person</a:t>
            </a:r>
            <a:r>
              <a:rPr lang="en-US" sz="2000" b="0" i="0" dirty="0">
                <a:solidFill>
                  <a:srgbClr val="4A5568"/>
                </a:solidFill>
                <a:effectLst/>
                <a:latin typeface="Arial" panose="020B0604020202020204" pitchFamily="34" charset="0"/>
                <a:cs typeface="Arial" panose="020B0604020202020204" pitchFamily="34" charset="0"/>
              </a:rPr>
              <a:t>) </a:t>
            </a:r>
            <a:r>
              <a:rPr lang="en-US" sz="2000" b="0" i="0" dirty="0">
                <a:solidFill>
                  <a:srgbClr val="718096"/>
                </a:solidFill>
                <a:effectLst/>
                <a:latin typeface="Arial" panose="020B0604020202020204" pitchFamily="34" charset="0"/>
                <a:cs typeface="Arial" panose="020B0604020202020204" pitchFamily="34" charset="0"/>
              </a:rPr>
              <a:t>RETURN</a:t>
            </a:r>
            <a:r>
              <a:rPr lang="en-US" sz="2000" b="0" i="0" dirty="0">
                <a:solidFill>
                  <a:srgbClr val="4A5568"/>
                </a:solidFill>
                <a:effectLst/>
                <a:latin typeface="Arial" panose="020B0604020202020204" pitchFamily="34" charset="0"/>
                <a:cs typeface="Arial" panose="020B0604020202020204" pitchFamily="34" charset="0"/>
              </a:rPr>
              <a:t> </a:t>
            </a:r>
            <a:r>
              <a:rPr lang="en-US" sz="2000" b="0" i="0" dirty="0">
                <a:solidFill>
                  <a:srgbClr val="3182CE"/>
                </a:solidFill>
                <a:effectLst/>
                <a:latin typeface="Arial" panose="020B0604020202020204" pitchFamily="34" charset="0"/>
                <a:cs typeface="Arial" panose="020B0604020202020204" pitchFamily="34" charset="0"/>
              </a:rPr>
              <a:t>max</a:t>
            </a:r>
            <a:r>
              <a:rPr lang="en-US" sz="2000" b="0" i="0" dirty="0">
                <a:solidFill>
                  <a:srgbClr val="4A5568"/>
                </a:solidFill>
                <a:effectLst/>
                <a:latin typeface="Arial" panose="020B0604020202020204" pitchFamily="34" charset="0"/>
                <a:cs typeface="Arial" panose="020B0604020202020204" pitchFamily="34" charset="0"/>
              </a:rPr>
              <a:t>(</a:t>
            </a:r>
            <a:r>
              <a:rPr lang="en-US" sz="2000" b="0" i="0" dirty="0" err="1">
                <a:solidFill>
                  <a:srgbClr val="4A5568"/>
                </a:solidFill>
                <a:effectLst/>
                <a:latin typeface="Arial" panose="020B0604020202020204" pitchFamily="34" charset="0"/>
                <a:cs typeface="Arial" panose="020B0604020202020204" pitchFamily="34" charset="0"/>
              </a:rPr>
              <a:t>p.age</a:t>
            </a:r>
            <a:r>
              <a:rPr lang="en-US" sz="2000" b="0" i="0" dirty="0">
                <a:solidFill>
                  <a:srgbClr val="4A5568"/>
                </a:solidFill>
                <a:effectLst/>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MIN - It returns the minimum value from a set of rows returned by MATCH command.</a:t>
            </a: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	</a:t>
            </a:r>
            <a:r>
              <a:rPr lang="en-US" sz="2000" b="0" i="0" dirty="0">
                <a:solidFill>
                  <a:srgbClr val="718096"/>
                </a:solidFill>
                <a:effectLst/>
                <a:latin typeface="Arial" panose="020B0604020202020204" pitchFamily="34" charset="0"/>
                <a:cs typeface="Arial" panose="020B0604020202020204" pitchFamily="34" charset="0"/>
              </a:rPr>
              <a:t>MATCH</a:t>
            </a:r>
            <a:r>
              <a:rPr lang="en-US" sz="2000" b="0" i="0" dirty="0">
                <a:solidFill>
                  <a:srgbClr val="4A5568"/>
                </a:solidFill>
                <a:effectLst/>
                <a:latin typeface="Arial" panose="020B0604020202020204" pitchFamily="34" charset="0"/>
                <a:cs typeface="Arial" panose="020B0604020202020204" pitchFamily="34" charset="0"/>
              </a:rPr>
              <a:t> (</a:t>
            </a:r>
            <a:r>
              <a:rPr lang="en-US" sz="2000" b="0" i="0" dirty="0" err="1">
                <a:solidFill>
                  <a:srgbClr val="4A5568"/>
                </a:solidFill>
                <a:effectLst/>
                <a:latin typeface="Arial" panose="020B0604020202020204" pitchFamily="34" charset="0"/>
                <a:cs typeface="Arial" panose="020B0604020202020204" pitchFamily="34" charset="0"/>
              </a:rPr>
              <a:t>p:</a:t>
            </a:r>
            <a:r>
              <a:rPr lang="en-US" sz="2000" b="0" i="0" dirty="0" err="1">
                <a:solidFill>
                  <a:srgbClr val="3182CE"/>
                </a:solidFill>
                <a:effectLst/>
                <a:latin typeface="Arial" panose="020B0604020202020204" pitchFamily="34" charset="0"/>
                <a:cs typeface="Arial" panose="020B0604020202020204" pitchFamily="34" charset="0"/>
              </a:rPr>
              <a:t>Person</a:t>
            </a:r>
            <a:r>
              <a:rPr lang="en-US" sz="2000" b="0" i="0" dirty="0">
                <a:solidFill>
                  <a:srgbClr val="4A5568"/>
                </a:solidFill>
                <a:effectLst/>
                <a:latin typeface="Arial" panose="020B0604020202020204" pitchFamily="34" charset="0"/>
                <a:cs typeface="Arial" panose="020B0604020202020204" pitchFamily="34" charset="0"/>
              </a:rPr>
              <a:t>) </a:t>
            </a:r>
            <a:r>
              <a:rPr lang="en-US" sz="2000" b="0" i="0" dirty="0">
                <a:solidFill>
                  <a:srgbClr val="718096"/>
                </a:solidFill>
                <a:effectLst/>
                <a:latin typeface="Arial" panose="020B0604020202020204" pitchFamily="34" charset="0"/>
                <a:cs typeface="Arial" panose="020B0604020202020204" pitchFamily="34" charset="0"/>
              </a:rPr>
              <a:t>RETURN</a:t>
            </a:r>
            <a:r>
              <a:rPr lang="en-US" sz="2000" b="0" i="0" dirty="0">
                <a:solidFill>
                  <a:srgbClr val="4A5568"/>
                </a:solidFill>
                <a:effectLst/>
                <a:latin typeface="Arial" panose="020B0604020202020204" pitchFamily="34" charset="0"/>
                <a:cs typeface="Arial" panose="020B0604020202020204" pitchFamily="34" charset="0"/>
              </a:rPr>
              <a:t> </a:t>
            </a:r>
            <a:r>
              <a:rPr lang="en-US" sz="2000" b="0" i="0" dirty="0">
                <a:solidFill>
                  <a:srgbClr val="3182CE"/>
                </a:solidFill>
                <a:effectLst/>
                <a:latin typeface="Arial" panose="020B0604020202020204" pitchFamily="34" charset="0"/>
                <a:cs typeface="Arial" panose="020B0604020202020204" pitchFamily="34" charset="0"/>
              </a:rPr>
              <a:t>min</a:t>
            </a:r>
            <a:r>
              <a:rPr lang="en-US" sz="2000" b="0" i="0" dirty="0">
                <a:solidFill>
                  <a:srgbClr val="4A5568"/>
                </a:solidFill>
                <a:effectLst/>
                <a:latin typeface="Arial" panose="020B0604020202020204" pitchFamily="34" charset="0"/>
                <a:cs typeface="Arial" panose="020B0604020202020204" pitchFamily="34" charset="0"/>
              </a:rPr>
              <a:t>(</a:t>
            </a:r>
            <a:r>
              <a:rPr lang="en-US" sz="2000" b="0" i="0" dirty="0" err="1">
                <a:solidFill>
                  <a:srgbClr val="4A5568"/>
                </a:solidFill>
                <a:effectLst/>
                <a:latin typeface="Arial" panose="020B0604020202020204" pitchFamily="34" charset="0"/>
                <a:cs typeface="Arial" panose="020B0604020202020204" pitchFamily="34" charset="0"/>
              </a:rPr>
              <a:t>p.age</a:t>
            </a:r>
            <a:r>
              <a:rPr lang="en-US" sz="2000" b="0" i="0" dirty="0">
                <a:solidFill>
                  <a:srgbClr val="4A5568"/>
                </a:solidFill>
                <a:effectLst/>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SUM - It returns the summation value of all rows returned by MATCH command.</a:t>
            </a: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	</a:t>
            </a:r>
            <a:r>
              <a:rPr lang="en-US" sz="2000" b="0" i="0" dirty="0">
                <a:solidFill>
                  <a:srgbClr val="718096"/>
                </a:solidFill>
                <a:effectLst/>
                <a:latin typeface="Arial" panose="020B0604020202020204" pitchFamily="34" charset="0"/>
                <a:cs typeface="Arial" panose="020B0604020202020204" pitchFamily="34" charset="0"/>
              </a:rPr>
              <a:t>MATCH</a:t>
            </a:r>
            <a:r>
              <a:rPr lang="en-US" sz="2000" b="0" i="0" dirty="0">
                <a:solidFill>
                  <a:srgbClr val="4A5568"/>
                </a:solidFill>
                <a:effectLst/>
                <a:latin typeface="Arial" panose="020B0604020202020204" pitchFamily="34" charset="0"/>
                <a:cs typeface="Arial" panose="020B0604020202020204" pitchFamily="34" charset="0"/>
              </a:rPr>
              <a:t> (</a:t>
            </a:r>
            <a:r>
              <a:rPr lang="en-US" sz="2000" b="0" i="0" dirty="0" err="1">
                <a:solidFill>
                  <a:srgbClr val="4A5568"/>
                </a:solidFill>
                <a:effectLst/>
                <a:latin typeface="Arial" panose="020B0604020202020204" pitchFamily="34" charset="0"/>
                <a:cs typeface="Arial" panose="020B0604020202020204" pitchFamily="34" charset="0"/>
              </a:rPr>
              <a:t>p:</a:t>
            </a:r>
            <a:r>
              <a:rPr lang="en-US" sz="2000" b="0" i="0" dirty="0" err="1">
                <a:solidFill>
                  <a:srgbClr val="3182CE"/>
                </a:solidFill>
                <a:effectLst/>
                <a:latin typeface="Arial" panose="020B0604020202020204" pitchFamily="34" charset="0"/>
                <a:cs typeface="Arial" panose="020B0604020202020204" pitchFamily="34" charset="0"/>
              </a:rPr>
              <a:t>Person</a:t>
            </a:r>
            <a:r>
              <a:rPr lang="en-US" sz="2000" b="0" i="0" dirty="0">
                <a:solidFill>
                  <a:srgbClr val="4A5568"/>
                </a:solidFill>
                <a:effectLst/>
                <a:latin typeface="Arial" panose="020B0604020202020204" pitchFamily="34" charset="0"/>
                <a:cs typeface="Arial" panose="020B0604020202020204" pitchFamily="34" charset="0"/>
              </a:rPr>
              <a:t>) </a:t>
            </a:r>
            <a:r>
              <a:rPr lang="en-US" sz="2000" b="0" i="0" dirty="0">
                <a:solidFill>
                  <a:srgbClr val="718096"/>
                </a:solidFill>
                <a:effectLst/>
                <a:latin typeface="Arial" panose="020B0604020202020204" pitchFamily="34" charset="0"/>
                <a:cs typeface="Arial" panose="020B0604020202020204" pitchFamily="34" charset="0"/>
              </a:rPr>
              <a:t>RETURN</a:t>
            </a:r>
            <a:r>
              <a:rPr lang="en-US" sz="2000" b="0" i="0" dirty="0">
                <a:solidFill>
                  <a:srgbClr val="4A5568"/>
                </a:solidFill>
                <a:effectLst/>
                <a:latin typeface="Arial" panose="020B0604020202020204" pitchFamily="34" charset="0"/>
                <a:cs typeface="Arial" panose="020B0604020202020204" pitchFamily="34" charset="0"/>
              </a:rPr>
              <a:t> </a:t>
            </a:r>
            <a:r>
              <a:rPr lang="en-US" sz="2000" b="0" i="0" dirty="0">
                <a:solidFill>
                  <a:srgbClr val="3182CE"/>
                </a:solidFill>
                <a:effectLst/>
                <a:latin typeface="Arial" panose="020B0604020202020204" pitchFamily="34" charset="0"/>
                <a:cs typeface="Arial" panose="020B0604020202020204" pitchFamily="34" charset="0"/>
              </a:rPr>
              <a:t>sum</a:t>
            </a:r>
            <a:r>
              <a:rPr lang="en-US" sz="2000" b="0" i="0" dirty="0">
                <a:solidFill>
                  <a:srgbClr val="4A5568"/>
                </a:solidFill>
                <a:effectLst/>
                <a:latin typeface="Arial" panose="020B0604020202020204" pitchFamily="34" charset="0"/>
                <a:cs typeface="Arial" panose="020B0604020202020204" pitchFamily="34" charset="0"/>
              </a:rPr>
              <a:t>(</a:t>
            </a:r>
            <a:r>
              <a:rPr lang="en-US" sz="2000" b="0" i="0" dirty="0" err="1">
                <a:solidFill>
                  <a:srgbClr val="4A5568"/>
                </a:solidFill>
                <a:effectLst/>
                <a:latin typeface="Arial" panose="020B0604020202020204" pitchFamily="34" charset="0"/>
                <a:cs typeface="Arial" panose="020B0604020202020204" pitchFamily="34" charset="0"/>
              </a:rPr>
              <a:t>p.age</a:t>
            </a:r>
            <a:r>
              <a:rPr lang="en-US" sz="2000" b="0" i="0" dirty="0">
                <a:solidFill>
                  <a:srgbClr val="4A5568"/>
                </a:solidFill>
                <a:effectLst/>
                <a:latin typeface="Arial" panose="020B0604020202020204" pitchFamily="34" charset="0"/>
                <a:cs typeface="Arial" panose="020B0604020202020204" pitchFamily="34" charset="0"/>
              </a:rPr>
              <a:t>)</a:t>
            </a:r>
            <a:endParaRPr lang="en-US" sz="2000" dirty="0">
              <a:latin typeface="Arial" panose="020B0604020202020204" pitchFamily="34" charset="0"/>
              <a:cs typeface="Arial" panose="020B0604020202020204" pitchFamily="34" charset="0"/>
            </a:endParaRP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AVG - It returns the average value of all rows returned by MATCH command.</a:t>
            </a:r>
          </a:p>
          <a:p>
            <a:pPr marL="0" indent="0">
              <a:lnSpc>
                <a:spcPct val="100000"/>
              </a:lnSpc>
              <a:spcBef>
                <a:spcPts val="600"/>
              </a:spcBef>
              <a:spcAft>
                <a:spcPts val="600"/>
              </a:spcAft>
              <a:buNone/>
            </a:pPr>
            <a:r>
              <a:rPr lang="en-US" sz="2000" dirty="0">
                <a:latin typeface="Arial" panose="020B0604020202020204" pitchFamily="34" charset="0"/>
                <a:cs typeface="Arial" panose="020B0604020202020204" pitchFamily="34" charset="0"/>
              </a:rPr>
              <a:t>	</a:t>
            </a:r>
            <a:r>
              <a:rPr lang="en-US" sz="2000" b="0" i="0" dirty="0">
                <a:solidFill>
                  <a:srgbClr val="718096"/>
                </a:solidFill>
                <a:effectLst/>
                <a:latin typeface="Arial" panose="020B0604020202020204" pitchFamily="34" charset="0"/>
                <a:cs typeface="Arial" panose="020B0604020202020204" pitchFamily="34" charset="0"/>
              </a:rPr>
              <a:t>MATCH</a:t>
            </a:r>
            <a:r>
              <a:rPr lang="en-US" sz="2000" b="0" i="0" dirty="0">
                <a:solidFill>
                  <a:srgbClr val="4A5568"/>
                </a:solidFill>
                <a:effectLst/>
                <a:latin typeface="Arial" panose="020B0604020202020204" pitchFamily="34" charset="0"/>
                <a:cs typeface="Arial" panose="020B0604020202020204" pitchFamily="34" charset="0"/>
              </a:rPr>
              <a:t> (</a:t>
            </a:r>
            <a:r>
              <a:rPr lang="en-US" sz="2000" b="0" i="0" dirty="0" err="1">
                <a:solidFill>
                  <a:srgbClr val="4A5568"/>
                </a:solidFill>
                <a:effectLst/>
                <a:latin typeface="Arial" panose="020B0604020202020204" pitchFamily="34" charset="0"/>
                <a:cs typeface="Arial" panose="020B0604020202020204" pitchFamily="34" charset="0"/>
              </a:rPr>
              <a:t>p:</a:t>
            </a:r>
            <a:r>
              <a:rPr lang="en-US" sz="2000" b="0" i="0" dirty="0" err="1">
                <a:solidFill>
                  <a:srgbClr val="3182CE"/>
                </a:solidFill>
                <a:effectLst/>
                <a:latin typeface="Arial" panose="020B0604020202020204" pitchFamily="34" charset="0"/>
                <a:cs typeface="Arial" panose="020B0604020202020204" pitchFamily="34" charset="0"/>
              </a:rPr>
              <a:t>Person</a:t>
            </a:r>
            <a:r>
              <a:rPr lang="en-US" sz="2000" b="0" i="0" dirty="0">
                <a:solidFill>
                  <a:srgbClr val="4A5568"/>
                </a:solidFill>
                <a:effectLst/>
                <a:latin typeface="Arial" panose="020B0604020202020204" pitchFamily="34" charset="0"/>
                <a:cs typeface="Arial" panose="020B0604020202020204" pitchFamily="34" charset="0"/>
              </a:rPr>
              <a:t>) </a:t>
            </a:r>
            <a:r>
              <a:rPr lang="en-US" sz="2000" b="0" i="0" dirty="0">
                <a:solidFill>
                  <a:srgbClr val="718096"/>
                </a:solidFill>
                <a:effectLst/>
                <a:latin typeface="Arial" panose="020B0604020202020204" pitchFamily="34" charset="0"/>
                <a:cs typeface="Arial" panose="020B0604020202020204" pitchFamily="34" charset="0"/>
              </a:rPr>
              <a:t>RETURN</a:t>
            </a:r>
            <a:r>
              <a:rPr lang="en-US" sz="2000" b="0" i="0" dirty="0">
                <a:solidFill>
                  <a:srgbClr val="4A5568"/>
                </a:solidFill>
                <a:effectLst/>
                <a:latin typeface="Arial" panose="020B0604020202020204" pitchFamily="34" charset="0"/>
                <a:cs typeface="Arial" panose="020B0604020202020204" pitchFamily="34" charset="0"/>
              </a:rPr>
              <a:t> </a:t>
            </a:r>
            <a:r>
              <a:rPr lang="en-US" sz="2000" b="0" i="0" dirty="0">
                <a:solidFill>
                  <a:srgbClr val="3182CE"/>
                </a:solidFill>
                <a:effectLst/>
                <a:latin typeface="Arial" panose="020B0604020202020204" pitchFamily="34" charset="0"/>
                <a:cs typeface="Arial" panose="020B0604020202020204" pitchFamily="34" charset="0"/>
              </a:rPr>
              <a:t>avg</a:t>
            </a:r>
            <a:r>
              <a:rPr lang="en-US" sz="2000" b="0" i="0" dirty="0">
                <a:solidFill>
                  <a:srgbClr val="4A5568"/>
                </a:solidFill>
                <a:effectLst/>
                <a:latin typeface="Arial" panose="020B0604020202020204" pitchFamily="34" charset="0"/>
                <a:cs typeface="Arial" panose="020B0604020202020204" pitchFamily="34" charset="0"/>
              </a:rPr>
              <a:t>(</a:t>
            </a:r>
            <a:r>
              <a:rPr lang="en-US" sz="2000" b="0" i="0" dirty="0" err="1">
                <a:solidFill>
                  <a:srgbClr val="4A5568"/>
                </a:solidFill>
                <a:effectLst/>
                <a:latin typeface="Arial" panose="020B0604020202020204" pitchFamily="34" charset="0"/>
                <a:cs typeface="Arial" panose="020B0604020202020204" pitchFamily="34" charset="0"/>
              </a:rPr>
              <a:t>p.age</a:t>
            </a:r>
            <a:r>
              <a:rPr lang="en-US" sz="2000" b="0" i="0" dirty="0">
                <a:solidFill>
                  <a:srgbClr val="4A5568"/>
                </a:solidFill>
                <a:effectLst/>
                <a:latin typeface="Arial" panose="020B0604020202020204" pitchFamily="34" charset="0"/>
                <a:cs typeface="Arial" panose="020B0604020202020204" pitchFamily="34" charset="0"/>
              </a:rPr>
              <a:t>)</a:t>
            </a:r>
          </a:p>
          <a:p>
            <a:pPr marL="0" indent="0">
              <a:lnSpc>
                <a:spcPct val="100000"/>
              </a:lnSpc>
              <a:spcBef>
                <a:spcPts val="600"/>
              </a:spcBef>
              <a:spcAft>
                <a:spcPts val="600"/>
              </a:spcAft>
              <a:buNone/>
            </a:pPr>
            <a:r>
              <a:rPr lang="en-US" sz="2000" dirty="0" err="1">
                <a:latin typeface="Arial" panose="020B0604020202020204" pitchFamily="34" charset="0"/>
                <a:cs typeface="Arial" panose="020B0604020202020204" pitchFamily="34" charset="0"/>
              </a:rPr>
              <a:t>stDev</a:t>
            </a:r>
            <a:r>
              <a:rPr lang="en-US" sz="2000" dirty="0">
                <a:latin typeface="Arial" panose="020B0604020202020204" pitchFamily="34" charset="0"/>
                <a:cs typeface="Arial" panose="020B0604020202020204" pitchFamily="34" charset="0"/>
              </a:rPr>
              <a:t>() - It returns the standard deviation for the given value over a group.</a:t>
            </a:r>
          </a:p>
          <a:p>
            <a:pPr marL="0" marR="0" lvl="0" indent="0" algn="l" defTabSz="914400" rtl="0" eaLnBrk="1" fontAlgn="auto" latinLnBrk="0" hangingPunct="1">
              <a:lnSpc>
                <a:spcPct val="100000"/>
              </a:lnSpc>
              <a:spcBef>
                <a:spcPts val="600"/>
              </a:spcBef>
              <a:spcAft>
                <a:spcPts val="600"/>
              </a:spcAft>
              <a:buClrTx/>
              <a:buSzTx/>
              <a:buFont typeface="Arial" panose="020B0604020202020204" pitchFamily="34" charset="0"/>
              <a:buNone/>
              <a:tabLst/>
              <a:defRPr/>
            </a:pPr>
            <a:r>
              <a:rPr lang="en-US" sz="2000" dirty="0">
                <a:latin typeface="Arial" panose="020B0604020202020204" pitchFamily="34" charset="0"/>
                <a:cs typeface="Arial" panose="020B0604020202020204" pitchFamily="34" charset="0"/>
              </a:rPr>
              <a:t>	</a:t>
            </a:r>
            <a:r>
              <a:rPr lang="en-US" sz="1400" dirty="0">
                <a:solidFill>
                  <a:srgbClr val="859900"/>
                </a:solidFill>
                <a:effectLst/>
              </a:rPr>
              <a:t> </a:t>
            </a:r>
            <a:r>
              <a:rPr kumimoji="0" lang="en-US" sz="2000" b="0" i="0" u="none" strike="noStrike" kern="1200" cap="none" spc="0" normalizeH="0" baseline="0" noProof="0" dirty="0">
                <a:ln>
                  <a:noFill/>
                </a:ln>
                <a:solidFill>
                  <a:srgbClr val="718096"/>
                </a:solidFill>
                <a:effectLst/>
                <a:uLnTx/>
                <a:uFillTx/>
                <a:latin typeface="Arial" panose="020B0604020202020204" pitchFamily="34" charset="0"/>
                <a:ea typeface="+mn-ea"/>
                <a:cs typeface="Arial" panose="020B0604020202020204" pitchFamily="34" charset="0"/>
              </a:rPr>
              <a:t>MATCH</a:t>
            </a:r>
            <a:r>
              <a:rPr kumimoji="0" lang="en-US" sz="200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a:t>
            </a:r>
            <a:r>
              <a:rPr kumimoji="0" lang="en-US" sz="2000" b="0"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p:</a:t>
            </a:r>
            <a:r>
              <a:rPr kumimoji="0" lang="en-US" sz="2000" b="0" i="0" u="none" strike="noStrike" kern="1200" cap="none" spc="0" normalizeH="0" baseline="0" noProof="0" dirty="0" err="1">
                <a:ln>
                  <a:noFill/>
                </a:ln>
                <a:solidFill>
                  <a:srgbClr val="3182CE"/>
                </a:solidFill>
                <a:effectLst/>
                <a:uLnTx/>
                <a:uFillTx/>
                <a:latin typeface="Arial" panose="020B0604020202020204" pitchFamily="34" charset="0"/>
                <a:ea typeface="+mn-ea"/>
                <a:cs typeface="Arial" panose="020B0604020202020204" pitchFamily="34" charset="0"/>
              </a:rPr>
              <a:t>Person</a:t>
            </a:r>
            <a:r>
              <a:rPr kumimoji="0" lang="en-US" sz="200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a:t>
            </a:r>
            <a:r>
              <a:rPr kumimoji="0" lang="en-US" sz="2000" b="0" i="0" u="none" strike="noStrike" kern="1200" cap="none" spc="0" normalizeH="0" baseline="0" noProof="0" dirty="0">
                <a:ln>
                  <a:noFill/>
                </a:ln>
                <a:solidFill>
                  <a:srgbClr val="718096"/>
                </a:solidFill>
                <a:effectLst/>
                <a:uLnTx/>
                <a:uFillTx/>
                <a:latin typeface="Arial" panose="020B0604020202020204" pitchFamily="34" charset="0"/>
                <a:ea typeface="+mn-ea"/>
                <a:cs typeface="Arial" panose="020B0604020202020204" pitchFamily="34" charset="0"/>
              </a:rPr>
              <a:t>RETURN</a:t>
            </a:r>
            <a:r>
              <a:rPr kumimoji="0" lang="en-US" sz="200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 </a:t>
            </a:r>
            <a:r>
              <a:rPr lang="en-US" sz="2000" dirty="0" err="1">
                <a:solidFill>
                  <a:srgbClr val="3182CE"/>
                </a:solidFill>
                <a:latin typeface="Arial" panose="020B0604020202020204" pitchFamily="34" charset="0"/>
                <a:cs typeface="Arial" panose="020B0604020202020204" pitchFamily="34" charset="0"/>
              </a:rPr>
              <a:t>stDev</a:t>
            </a:r>
            <a:r>
              <a:rPr kumimoji="0" lang="en-US" sz="200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a:t>
            </a:r>
            <a:r>
              <a:rPr kumimoji="0" lang="en-US" sz="2000" b="0" i="0" u="none" strike="noStrike" kern="1200" cap="none" spc="0" normalizeH="0" baseline="0" noProof="0" dirty="0" err="1">
                <a:ln>
                  <a:noFill/>
                </a:ln>
                <a:solidFill>
                  <a:srgbClr val="4A5568"/>
                </a:solidFill>
                <a:effectLst/>
                <a:uLnTx/>
                <a:uFillTx/>
                <a:latin typeface="Arial" panose="020B0604020202020204" pitchFamily="34" charset="0"/>
                <a:ea typeface="+mn-ea"/>
                <a:cs typeface="Arial" panose="020B0604020202020204" pitchFamily="34" charset="0"/>
              </a:rPr>
              <a:t>p.age</a:t>
            </a:r>
            <a:r>
              <a:rPr kumimoji="0" lang="en-US" sz="2000" b="0" i="0" u="none" strike="noStrike" kern="1200" cap="none" spc="0" normalizeH="0" baseline="0" noProof="0" dirty="0">
                <a:ln>
                  <a:noFill/>
                </a:ln>
                <a:solidFill>
                  <a:srgbClr val="4A5568"/>
                </a:solidFill>
                <a:effectLst/>
                <a:uLnTx/>
                <a:uFillTx/>
                <a:latin typeface="Arial" panose="020B0604020202020204" pitchFamily="34" charset="0"/>
                <a:ea typeface="+mn-ea"/>
                <a:cs typeface="Arial" panose="020B0604020202020204" pitchFamily="34" charset="0"/>
              </a:rPr>
              <a:t>)</a:t>
            </a:r>
          </a:p>
          <a:p>
            <a:pPr marL="0" indent="0">
              <a:lnSpc>
                <a:spcPct val="100000"/>
              </a:lnSpc>
              <a:spcBef>
                <a:spcPts val="600"/>
              </a:spcBef>
              <a:spcAft>
                <a:spcPts val="600"/>
              </a:spcAft>
              <a:buNone/>
            </a:pPr>
            <a:endParaRPr lang="en-US" sz="1400" dirty="0">
              <a:solidFill>
                <a:srgbClr val="000000"/>
              </a:solidFill>
              <a:effectLst/>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34857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Predicate functions</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600"/>
              </a:spcBef>
              <a:spcAft>
                <a:spcPts val="600"/>
              </a:spcAft>
              <a:buNone/>
            </a:pPr>
            <a:r>
              <a:rPr lang="en-US" sz="2300" dirty="0">
                <a:latin typeface="Arial" panose="020B0604020202020204" pitchFamily="34" charset="0"/>
                <a:cs typeface="Arial" panose="020B0604020202020204" pitchFamily="34" charset="0"/>
              </a:rPr>
              <a:t>Create these nodes:</a:t>
            </a:r>
          </a:p>
          <a:p>
            <a:pPr marL="0" indent="0">
              <a:lnSpc>
                <a:spcPct val="120000"/>
              </a:lnSpc>
              <a:spcBef>
                <a:spcPts val="600"/>
              </a:spcBef>
              <a:spcAft>
                <a:spcPts val="600"/>
              </a:spcAft>
              <a:buNone/>
            </a:pPr>
            <a:endParaRPr lang="en-US" sz="2300"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r>
              <a:rPr lang="en-US" sz="2300" dirty="0">
                <a:latin typeface="Arial" panose="020B0604020202020204" pitchFamily="34" charset="0"/>
                <a:cs typeface="Arial" panose="020B0604020202020204" pitchFamily="34" charset="0"/>
              </a:rPr>
              <a:t>MERGE (</a:t>
            </a:r>
            <a:r>
              <a:rPr lang="en-US" sz="2300" dirty="0" err="1">
                <a:latin typeface="Arial" panose="020B0604020202020204" pitchFamily="34" charset="0"/>
                <a:cs typeface="Arial" panose="020B0604020202020204" pitchFamily="34" charset="0"/>
              </a:rPr>
              <a:t>Ajith:student:cse</a:t>
            </a:r>
            <a:r>
              <a:rPr lang="en-US" sz="2300" dirty="0">
                <a:latin typeface="Arial" panose="020B0604020202020204" pitchFamily="34" charset="0"/>
                <a:cs typeface="Arial" panose="020B0604020202020204" pitchFamily="34" charset="0"/>
              </a:rPr>
              <a:t> {name: "</a:t>
            </a:r>
            <a:r>
              <a:rPr lang="en-US" sz="2300" dirty="0" err="1">
                <a:latin typeface="Arial" panose="020B0604020202020204" pitchFamily="34" charset="0"/>
                <a:cs typeface="Arial" panose="020B0604020202020204" pitchFamily="34" charset="0"/>
              </a:rPr>
              <a:t>Ajith</a:t>
            </a:r>
            <a:r>
              <a:rPr lang="en-US" sz="2300" dirty="0">
                <a:latin typeface="Arial" panose="020B0604020202020204" pitchFamily="34" charset="0"/>
                <a:cs typeface="Arial" panose="020B0604020202020204" pitchFamily="34" charset="0"/>
              </a:rPr>
              <a:t>", roll:105, </a:t>
            </a:r>
            <a:r>
              <a:rPr lang="en-US" sz="2300" dirty="0" err="1">
                <a:latin typeface="Arial" panose="020B0604020202020204" pitchFamily="34" charset="0"/>
                <a:cs typeface="Arial" panose="020B0604020202020204" pitchFamily="34" charset="0"/>
              </a:rPr>
              <a:t>lang</a:t>
            </a:r>
            <a:r>
              <a:rPr lang="en-US" sz="2300" dirty="0">
                <a:latin typeface="Arial" panose="020B0604020202020204" pitchFamily="34" charset="0"/>
                <a:cs typeface="Arial" panose="020B0604020202020204" pitchFamily="34" charset="0"/>
              </a:rPr>
              <a:t>:['</a:t>
            </a:r>
            <a:r>
              <a:rPr lang="en-US" sz="2300" dirty="0" err="1">
                <a:latin typeface="Arial" panose="020B0604020202020204" pitchFamily="34" charset="0"/>
                <a:cs typeface="Arial" panose="020B0604020202020204" pitchFamily="34" charset="0"/>
              </a:rPr>
              <a:t>telugu</a:t>
            </a:r>
            <a:r>
              <a:rPr lang="en-US" sz="2300" dirty="0">
                <a:latin typeface="Arial" panose="020B0604020202020204" pitchFamily="34" charset="0"/>
                <a:cs typeface="Arial" panose="020B0604020202020204" pitchFamily="34" charset="0"/>
              </a:rPr>
              <a:t>','</a:t>
            </a:r>
            <a:r>
              <a:rPr lang="en-US" sz="2300" dirty="0" err="1">
                <a:latin typeface="Arial" panose="020B0604020202020204" pitchFamily="34" charset="0"/>
                <a:cs typeface="Arial" panose="020B0604020202020204" pitchFamily="34" charset="0"/>
              </a:rPr>
              <a:t>english</a:t>
            </a:r>
            <a:r>
              <a:rPr lang="en-US" sz="2300" dirty="0">
                <a:latin typeface="Arial" panose="020B0604020202020204" pitchFamily="34" charset="0"/>
                <a:cs typeface="Arial" panose="020B0604020202020204" pitchFamily="34" charset="0"/>
              </a:rPr>
              <a:t>','</a:t>
            </a:r>
            <a:r>
              <a:rPr lang="en-US" sz="2300" dirty="0" err="1">
                <a:latin typeface="Arial" panose="020B0604020202020204" pitchFamily="34" charset="0"/>
                <a:cs typeface="Arial" panose="020B0604020202020204" pitchFamily="34" charset="0"/>
              </a:rPr>
              <a:t>tamil</a:t>
            </a:r>
            <a:r>
              <a:rPr lang="en-US" sz="2300" dirty="0">
                <a:latin typeface="Arial" panose="020B0604020202020204" pitchFamily="34" charset="0"/>
                <a:cs typeface="Arial" panose="020B0604020202020204" pitchFamily="34" charset="0"/>
              </a:rPr>
              <a:t>']}) </a:t>
            </a:r>
          </a:p>
          <a:p>
            <a:pPr marL="0" indent="0">
              <a:lnSpc>
                <a:spcPct val="120000"/>
              </a:lnSpc>
              <a:spcBef>
                <a:spcPts val="600"/>
              </a:spcBef>
              <a:spcAft>
                <a:spcPts val="600"/>
              </a:spcAft>
              <a:buNone/>
            </a:pPr>
            <a:r>
              <a:rPr lang="en-US" sz="2300" dirty="0">
                <a:latin typeface="Arial" panose="020B0604020202020204" pitchFamily="34" charset="0"/>
                <a:cs typeface="Arial" panose="020B0604020202020204" pitchFamily="34" charset="0"/>
              </a:rPr>
              <a:t>MERGE (</a:t>
            </a:r>
            <a:r>
              <a:rPr lang="en-US" sz="2300" dirty="0" err="1">
                <a:latin typeface="Arial" panose="020B0604020202020204" pitchFamily="34" charset="0"/>
                <a:cs typeface="Arial" panose="020B0604020202020204" pitchFamily="34" charset="0"/>
              </a:rPr>
              <a:t>Vijay:student:cse</a:t>
            </a:r>
            <a:r>
              <a:rPr lang="en-US" sz="2300" dirty="0">
                <a:latin typeface="Arial" panose="020B0604020202020204" pitchFamily="34" charset="0"/>
                <a:cs typeface="Arial" panose="020B0604020202020204" pitchFamily="34" charset="0"/>
              </a:rPr>
              <a:t> {name: "Vijay", roll:125, </a:t>
            </a:r>
            <a:r>
              <a:rPr lang="en-US" sz="2300" dirty="0" err="1">
                <a:latin typeface="Arial" panose="020B0604020202020204" pitchFamily="34" charset="0"/>
                <a:cs typeface="Arial" panose="020B0604020202020204" pitchFamily="34" charset="0"/>
              </a:rPr>
              <a:t>lang</a:t>
            </a:r>
            <a:r>
              <a:rPr lang="en-US" sz="2300" dirty="0">
                <a:latin typeface="Arial" panose="020B0604020202020204" pitchFamily="34" charset="0"/>
                <a:cs typeface="Arial" panose="020B0604020202020204" pitchFamily="34" charset="0"/>
              </a:rPr>
              <a:t>:['</a:t>
            </a:r>
            <a:r>
              <a:rPr lang="en-US" sz="2300" dirty="0" err="1">
                <a:latin typeface="Arial" panose="020B0604020202020204" pitchFamily="34" charset="0"/>
                <a:cs typeface="Arial" panose="020B0604020202020204" pitchFamily="34" charset="0"/>
              </a:rPr>
              <a:t>hindi</a:t>
            </a:r>
            <a:r>
              <a:rPr lang="en-US" sz="2300" dirty="0">
                <a:latin typeface="Arial" panose="020B0604020202020204" pitchFamily="34" charset="0"/>
                <a:cs typeface="Arial" panose="020B0604020202020204" pitchFamily="34" charset="0"/>
              </a:rPr>
              <a:t>','</a:t>
            </a:r>
            <a:r>
              <a:rPr lang="en-US" sz="2300" dirty="0" err="1">
                <a:latin typeface="Arial" panose="020B0604020202020204" pitchFamily="34" charset="0"/>
                <a:cs typeface="Arial" panose="020B0604020202020204" pitchFamily="34" charset="0"/>
              </a:rPr>
              <a:t>english</a:t>
            </a:r>
            <a:r>
              <a:rPr lang="en-US" sz="2300" dirty="0">
                <a:latin typeface="Arial" panose="020B0604020202020204" pitchFamily="34" charset="0"/>
                <a:cs typeface="Arial" panose="020B0604020202020204" pitchFamily="34" charset="0"/>
              </a:rPr>
              <a:t>','</a:t>
            </a:r>
            <a:r>
              <a:rPr lang="en-US" sz="2300" dirty="0" err="1">
                <a:latin typeface="Arial" panose="020B0604020202020204" pitchFamily="34" charset="0"/>
                <a:cs typeface="Arial" panose="020B0604020202020204" pitchFamily="34" charset="0"/>
              </a:rPr>
              <a:t>tamil</a:t>
            </a:r>
            <a:r>
              <a:rPr lang="en-US" sz="2300" dirty="0">
                <a:latin typeface="Arial" panose="020B0604020202020204" pitchFamily="34" charset="0"/>
                <a:cs typeface="Arial" panose="020B0604020202020204" pitchFamily="34" charset="0"/>
              </a:rPr>
              <a:t>']}) </a:t>
            </a:r>
          </a:p>
          <a:p>
            <a:pPr marL="0" indent="0">
              <a:lnSpc>
                <a:spcPct val="120000"/>
              </a:lnSpc>
              <a:spcBef>
                <a:spcPts val="600"/>
              </a:spcBef>
              <a:spcAft>
                <a:spcPts val="600"/>
              </a:spcAft>
              <a:buNone/>
            </a:pPr>
            <a:r>
              <a:rPr lang="en-US" sz="2300" dirty="0">
                <a:latin typeface="Arial" panose="020B0604020202020204" pitchFamily="34" charset="0"/>
                <a:cs typeface="Arial" panose="020B0604020202020204" pitchFamily="34" charset="0"/>
              </a:rPr>
              <a:t>MERGE (</a:t>
            </a:r>
            <a:r>
              <a:rPr lang="en-US" sz="2300" dirty="0" err="1">
                <a:latin typeface="Arial" panose="020B0604020202020204" pitchFamily="34" charset="0"/>
                <a:cs typeface="Arial" panose="020B0604020202020204" pitchFamily="34" charset="0"/>
              </a:rPr>
              <a:t>Surya:student:cse</a:t>
            </a:r>
            <a:r>
              <a:rPr lang="en-US" sz="2300" dirty="0">
                <a:latin typeface="Arial" panose="020B0604020202020204" pitchFamily="34" charset="0"/>
                <a:cs typeface="Arial" panose="020B0604020202020204" pitchFamily="34" charset="0"/>
              </a:rPr>
              <a:t> {name: "Surya", roll:135, </a:t>
            </a:r>
            <a:r>
              <a:rPr lang="en-US" sz="2300" dirty="0" err="1">
                <a:latin typeface="Arial" panose="020B0604020202020204" pitchFamily="34" charset="0"/>
                <a:cs typeface="Arial" panose="020B0604020202020204" pitchFamily="34" charset="0"/>
              </a:rPr>
              <a:t>lang</a:t>
            </a:r>
            <a:r>
              <a:rPr lang="en-US" sz="2300" dirty="0">
                <a:latin typeface="Arial" panose="020B0604020202020204" pitchFamily="34" charset="0"/>
                <a:cs typeface="Arial" panose="020B0604020202020204" pitchFamily="34" charset="0"/>
              </a:rPr>
              <a:t>:['</a:t>
            </a:r>
            <a:r>
              <a:rPr lang="en-US" sz="2300" dirty="0" err="1">
                <a:latin typeface="Arial" panose="020B0604020202020204" pitchFamily="34" charset="0"/>
                <a:cs typeface="Arial" panose="020B0604020202020204" pitchFamily="34" charset="0"/>
              </a:rPr>
              <a:t>telugu</a:t>
            </a:r>
            <a:r>
              <a:rPr lang="en-US" sz="2300" dirty="0">
                <a:latin typeface="Arial" panose="020B0604020202020204" pitchFamily="34" charset="0"/>
                <a:cs typeface="Arial" panose="020B0604020202020204" pitchFamily="34" charset="0"/>
              </a:rPr>
              <a:t>','</a:t>
            </a:r>
            <a:r>
              <a:rPr lang="en-US" sz="2300" dirty="0" err="1">
                <a:latin typeface="Arial" panose="020B0604020202020204" pitchFamily="34" charset="0"/>
                <a:cs typeface="Arial" panose="020B0604020202020204" pitchFamily="34" charset="0"/>
              </a:rPr>
              <a:t>hindi</a:t>
            </a:r>
            <a:r>
              <a:rPr lang="en-US" sz="2300" dirty="0">
                <a:latin typeface="Arial" panose="020B0604020202020204" pitchFamily="34" charset="0"/>
                <a:cs typeface="Arial" panose="020B0604020202020204" pitchFamily="34" charset="0"/>
              </a:rPr>
              <a:t>']}) </a:t>
            </a:r>
          </a:p>
          <a:p>
            <a:pPr marL="0" indent="0">
              <a:lnSpc>
                <a:spcPct val="120000"/>
              </a:lnSpc>
              <a:spcBef>
                <a:spcPts val="600"/>
              </a:spcBef>
              <a:spcAft>
                <a:spcPts val="600"/>
              </a:spcAft>
              <a:buNone/>
            </a:pPr>
            <a:r>
              <a:rPr lang="en-US" sz="2300" dirty="0">
                <a:latin typeface="Arial" panose="020B0604020202020204" pitchFamily="34" charset="0"/>
                <a:cs typeface="Arial" panose="020B0604020202020204" pitchFamily="34" charset="0"/>
              </a:rPr>
              <a:t>RETURN </a:t>
            </a:r>
            <a:r>
              <a:rPr lang="en-US" sz="2300" dirty="0" err="1">
                <a:latin typeface="Arial" panose="020B0604020202020204" pitchFamily="34" charset="0"/>
                <a:cs typeface="Arial" panose="020B0604020202020204" pitchFamily="34" charset="0"/>
              </a:rPr>
              <a:t>Ajith,Vijay,Surya</a:t>
            </a:r>
            <a:endParaRPr lang="en-US" sz="23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19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403203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Predicate functions</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Predicates are boolean functions that return true or false for a given set of non-null input. They are most commonly used to filter out subgraphs in the WHERE part of a query.</a:t>
            </a:r>
          </a:p>
          <a:p>
            <a:pPr marL="0"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Functions:</a:t>
            </a:r>
          </a:p>
          <a:p>
            <a:pPr marL="45720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all()</a:t>
            </a:r>
          </a:p>
          <a:p>
            <a:pPr marL="45720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any()</a:t>
            </a:r>
          </a:p>
          <a:p>
            <a:pPr marL="45720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exists()</a:t>
            </a:r>
          </a:p>
          <a:p>
            <a:pPr marL="45720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none()</a:t>
            </a:r>
          </a:p>
          <a:p>
            <a:pPr marL="45720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single()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30076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Predicate functions</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Predicates are boolean functions that return true or false for a given set of non-null input. They are most commonly used to filter out subgraphs in the WHERE part of a query.</a:t>
            </a:r>
          </a:p>
          <a:p>
            <a:pPr marL="0"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Functions:</a:t>
            </a:r>
          </a:p>
          <a:p>
            <a:pPr marL="45720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all() : </a:t>
            </a:r>
          </a:p>
          <a:p>
            <a:pPr marL="45720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MATCH (n) WHERE EXISTS (</a:t>
            </a:r>
            <a:r>
              <a:rPr lang="en-US" sz="2000" dirty="0" err="1">
                <a:latin typeface="Arial" panose="020B0604020202020204" pitchFamily="34" charset="0"/>
                <a:cs typeface="Arial" panose="020B0604020202020204" pitchFamily="34" charset="0"/>
              </a:rPr>
              <a:t>n.roll</a:t>
            </a:r>
            <a:r>
              <a:rPr lang="en-US" sz="2000" dirty="0">
                <a:latin typeface="Arial" panose="020B0604020202020204" pitchFamily="34" charset="0"/>
                <a:cs typeface="Arial" panose="020B0604020202020204" pitchFamily="34" charset="0"/>
              </a:rPr>
              <a:t>) AND ALL(x IN </a:t>
            </a:r>
            <a:r>
              <a:rPr lang="en-US" sz="2000" dirty="0" err="1">
                <a:latin typeface="Arial" panose="020B0604020202020204" pitchFamily="34" charset="0"/>
                <a:cs typeface="Arial" panose="020B0604020202020204" pitchFamily="34" charset="0"/>
              </a:rPr>
              <a:t>n.roll</a:t>
            </a:r>
            <a:r>
              <a:rPr lang="en-US" sz="2000" dirty="0">
                <a:latin typeface="Arial" panose="020B0604020202020204" pitchFamily="34" charset="0"/>
                <a:cs typeface="Arial" panose="020B0604020202020204" pitchFamily="34" charset="0"/>
              </a:rPr>
              <a:t> WHERE x&gt;120) RETURN n.name AS name, </a:t>
            </a:r>
            <a:r>
              <a:rPr lang="en-US" sz="2000" dirty="0" err="1">
                <a:latin typeface="Arial" panose="020B0604020202020204" pitchFamily="34" charset="0"/>
                <a:cs typeface="Arial" panose="020B0604020202020204" pitchFamily="34" charset="0"/>
              </a:rPr>
              <a:t>n.roll</a:t>
            </a:r>
            <a:r>
              <a:rPr lang="en-US" sz="2000" dirty="0">
                <a:latin typeface="Arial" panose="020B0604020202020204" pitchFamily="34" charset="0"/>
                <a:cs typeface="Arial" panose="020B0604020202020204" pitchFamily="34" charset="0"/>
              </a:rPr>
              <a:t> AS roll</a:t>
            </a:r>
          </a:p>
          <a:p>
            <a:pPr marL="45720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any() : </a:t>
            </a:r>
          </a:p>
          <a:p>
            <a:pPr marL="45720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MATCH (n) WHERE EXISTS (</a:t>
            </a:r>
            <a:r>
              <a:rPr lang="en-US" sz="2000" dirty="0" err="1">
                <a:latin typeface="Arial" panose="020B0604020202020204" pitchFamily="34" charset="0"/>
                <a:cs typeface="Arial" panose="020B0604020202020204" pitchFamily="34" charset="0"/>
              </a:rPr>
              <a:t>n.lang</a:t>
            </a:r>
            <a:r>
              <a:rPr lang="en-US" sz="2000" dirty="0">
                <a:latin typeface="Arial" panose="020B0604020202020204" pitchFamily="34" charset="0"/>
                <a:cs typeface="Arial" panose="020B0604020202020204" pitchFamily="34" charset="0"/>
              </a:rPr>
              <a:t>) AND ANY(x IN </a:t>
            </a:r>
            <a:r>
              <a:rPr lang="en-US" sz="2000" dirty="0" err="1">
                <a:latin typeface="Arial" panose="020B0604020202020204" pitchFamily="34" charset="0"/>
                <a:cs typeface="Arial" panose="020B0604020202020204" pitchFamily="34" charset="0"/>
              </a:rPr>
              <a:t>n.lang</a:t>
            </a:r>
            <a:r>
              <a:rPr lang="en-US" sz="2000" dirty="0">
                <a:latin typeface="Arial" panose="020B0604020202020204" pitchFamily="34" charset="0"/>
                <a:cs typeface="Arial" panose="020B0604020202020204" pitchFamily="34" charset="0"/>
              </a:rPr>
              <a:t> WHERE x="</a:t>
            </a:r>
            <a:r>
              <a:rPr lang="en-US" sz="2000" dirty="0" err="1">
                <a:latin typeface="Arial" panose="020B0604020202020204" pitchFamily="34" charset="0"/>
                <a:cs typeface="Arial" panose="020B0604020202020204" pitchFamily="34" charset="0"/>
              </a:rPr>
              <a:t>english</a:t>
            </a:r>
            <a:r>
              <a:rPr lang="en-US" sz="2000" dirty="0">
                <a:latin typeface="Arial" panose="020B0604020202020204" pitchFamily="34" charset="0"/>
                <a:cs typeface="Arial" panose="020B0604020202020204" pitchFamily="34" charset="0"/>
              </a:rPr>
              <a:t>") RETURN n.name AS name, </a:t>
            </a:r>
            <a:r>
              <a:rPr lang="en-US" sz="2000" dirty="0" err="1">
                <a:latin typeface="Arial" panose="020B0604020202020204" pitchFamily="34" charset="0"/>
                <a:cs typeface="Arial" panose="020B0604020202020204" pitchFamily="34" charset="0"/>
              </a:rPr>
              <a:t>n.lang</a:t>
            </a:r>
            <a:r>
              <a:rPr lang="en-US" sz="2000" dirty="0">
                <a:latin typeface="Arial" panose="020B0604020202020204" pitchFamily="34" charset="0"/>
                <a:cs typeface="Arial" panose="020B0604020202020204" pitchFamily="34" charset="0"/>
              </a:rPr>
              <a:t> as </a:t>
            </a:r>
            <a:r>
              <a:rPr lang="en-US" sz="2000" dirty="0" err="1">
                <a:latin typeface="Arial" panose="020B0604020202020204" pitchFamily="34" charset="0"/>
                <a:cs typeface="Arial" panose="020B0604020202020204" pitchFamily="34" charset="0"/>
              </a:rPr>
              <a:t>lang</a:t>
            </a:r>
            <a:endParaRPr lang="en-US" sz="2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014871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Predicate functions</a:t>
            </a:r>
          </a:p>
        </p:txBody>
      </p:sp>
      <p:sp>
        <p:nvSpPr>
          <p:cNvPr id="3" name="Content Placeholder 2"/>
          <p:cNvSpPr>
            <a:spLocks noGrp="1"/>
          </p:cNvSpPr>
          <p:nvPr>
            <p:ph idx="1"/>
          </p:nvPr>
        </p:nvSpPr>
        <p:spPr>
          <a:xfrm>
            <a:off x="838199" y="1690688"/>
            <a:ext cx="10515601" cy="4486275"/>
          </a:xfrm>
        </p:spPr>
        <p:txBody>
          <a:bodyPr>
            <a:noAutofit/>
          </a:bodyPr>
          <a:lstStyle/>
          <a:p>
            <a:pPr marL="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exists() : </a:t>
            </a:r>
          </a:p>
          <a:p>
            <a:pPr marL="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MATCH (n) WHERE EXISTS (</a:t>
            </a:r>
            <a:r>
              <a:rPr lang="en-US" sz="2000" dirty="0" err="1">
                <a:latin typeface="Arial" panose="020B0604020202020204" pitchFamily="34" charset="0"/>
                <a:cs typeface="Arial" panose="020B0604020202020204" pitchFamily="34" charset="0"/>
              </a:rPr>
              <a:t>n.lang</a:t>
            </a:r>
            <a:r>
              <a:rPr lang="en-US" sz="2000" dirty="0">
                <a:latin typeface="Arial" panose="020B0604020202020204" pitchFamily="34" charset="0"/>
                <a:cs typeface="Arial" panose="020B0604020202020204" pitchFamily="34" charset="0"/>
              </a:rPr>
              <a:t>) RETURN n.name AS name</a:t>
            </a:r>
          </a:p>
          <a:p>
            <a:pPr marL="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none() : </a:t>
            </a:r>
          </a:p>
          <a:p>
            <a:pPr marL="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MATCH (n) WHERE EXISTS (</a:t>
            </a:r>
            <a:r>
              <a:rPr lang="en-US" sz="2000" dirty="0" err="1">
                <a:latin typeface="Arial" panose="020B0604020202020204" pitchFamily="34" charset="0"/>
                <a:cs typeface="Arial" panose="020B0604020202020204" pitchFamily="34" charset="0"/>
              </a:rPr>
              <a:t>n.lang</a:t>
            </a:r>
            <a:r>
              <a:rPr lang="en-US" sz="2000" dirty="0">
                <a:latin typeface="Arial" panose="020B0604020202020204" pitchFamily="34" charset="0"/>
                <a:cs typeface="Arial" panose="020B0604020202020204" pitchFamily="34" charset="0"/>
              </a:rPr>
              <a:t>) AND NONE(x IN </a:t>
            </a:r>
            <a:r>
              <a:rPr lang="en-US" sz="2000" dirty="0" err="1">
                <a:latin typeface="Arial" panose="020B0604020202020204" pitchFamily="34" charset="0"/>
                <a:cs typeface="Arial" panose="020B0604020202020204" pitchFamily="34" charset="0"/>
              </a:rPr>
              <a:t>n.lang</a:t>
            </a:r>
            <a:r>
              <a:rPr lang="en-US" sz="2000" dirty="0">
                <a:latin typeface="Arial" panose="020B0604020202020204" pitchFamily="34" charset="0"/>
                <a:cs typeface="Arial" panose="020B0604020202020204" pitchFamily="34" charset="0"/>
              </a:rPr>
              <a:t> WHERE x="</a:t>
            </a:r>
            <a:r>
              <a:rPr lang="en-US" sz="2000" dirty="0" err="1">
                <a:latin typeface="Arial" panose="020B0604020202020204" pitchFamily="34" charset="0"/>
                <a:cs typeface="Arial" panose="020B0604020202020204" pitchFamily="34" charset="0"/>
              </a:rPr>
              <a:t>telugu</a:t>
            </a:r>
            <a:r>
              <a:rPr lang="en-US" sz="2000" dirty="0">
                <a:latin typeface="Arial" panose="020B0604020202020204" pitchFamily="34" charset="0"/>
                <a:cs typeface="Arial" panose="020B0604020202020204" pitchFamily="34" charset="0"/>
              </a:rPr>
              <a:t>") RETURN n.name AS name, </a:t>
            </a:r>
            <a:r>
              <a:rPr lang="en-US" sz="2000" dirty="0" err="1">
                <a:latin typeface="Arial" panose="020B0604020202020204" pitchFamily="34" charset="0"/>
                <a:cs typeface="Arial" panose="020B0604020202020204" pitchFamily="34" charset="0"/>
              </a:rPr>
              <a:t>n.lang</a:t>
            </a:r>
            <a:r>
              <a:rPr lang="en-US" sz="2000" dirty="0">
                <a:latin typeface="Arial" panose="020B0604020202020204" pitchFamily="34" charset="0"/>
                <a:cs typeface="Arial" panose="020B0604020202020204" pitchFamily="34" charset="0"/>
              </a:rPr>
              <a:t> as </a:t>
            </a:r>
            <a:r>
              <a:rPr lang="en-US" sz="2000" dirty="0" err="1">
                <a:latin typeface="Arial" panose="020B0604020202020204" pitchFamily="34" charset="0"/>
                <a:cs typeface="Arial" panose="020B0604020202020204" pitchFamily="34" charset="0"/>
              </a:rPr>
              <a:t>lang</a:t>
            </a:r>
            <a:endParaRPr lang="en-US" sz="2000" dirty="0">
              <a:latin typeface="Arial" panose="020B0604020202020204" pitchFamily="34" charset="0"/>
              <a:cs typeface="Arial" panose="020B0604020202020204" pitchFamily="34" charset="0"/>
            </a:endParaRPr>
          </a:p>
          <a:p>
            <a:pPr marL="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single() : </a:t>
            </a:r>
          </a:p>
          <a:p>
            <a:pPr marL="0" lvl="1" indent="0">
              <a:lnSpc>
                <a:spcPct val="120000"/>
              </a:lnSpc>
              <a:spcBef>
                <a:spcPts val="600"/>
              </a:spcBef>
              <a:spcAft>
                <a:spcPts val="600"/>
              </a:spcAft>
              <a:buNone/>
            </a:pPr>
            <a:r>
              <a:rPr lang="en-US" sz="2000" dirty="0">
                <a:latin typeface="Arial" panose="020B0604020202020204" pitchFamily="34" charset="0"/>
                <a:cs typeface="Arial" panose="020B0604020202020204" pitchFamily="34" charset="0"/>
              </a:rPr>
              <a:t>MATCH (n) WHERE EXISTS (</a:t>
            </a:r>
            <a:r>
              <a:rPr lang="en-US" sz="2000" dirty="0" err="1">
                <a:latin typeface="Arial" panose="020B0604020202020204" pitchFamily="34" charset="0"/>
                <a:cs typeface="Arial" panose="020B0604020202020204" pitchFamily="34" charset="0"/>
              </a:rPr>
              <a:t>n.lang</a:t>
            </a:r>
            <a:r>
              <a:rPr lang="en-US" sz="2000" dirty="0">
                <a:latin typeface="Arial" panose="020B0604020202020204" pitchFamily="34" charset="0"/>
                <a:cs typeface="Arial" panose="020B0604020202020204" pitchFamily="34" charset="0"/>
              </a:rPr>
              <a:t>) AND SINGLE(x IN </a:t>
            </a:r>
            <a:r>
              <a:rPr lang="en-US" sz="2000" dirty="0" err="1">
                <a:latin typeface="Arial" panose="020B0604020202020204" pitchFamily="34" charset="0"/>
                <a:cs typeface="Arial" panose="020B0604020202020204" pitchFamily="34" charset="0"/>
              </a:rPr>
              <a:t>n.lang</a:t>
            </a:r>
            <a:r>
              <a:rPr lang="en-US" sz="2000" dirty="0">
                <a:latin typeface="Arial" panose="020B0604020202020204" pitchFamily="34" charset="0"/>
                <a:cs typeface="Arial" panose="020B0604020202020204" pitchFamily="34" charset="0"/>
              </a:rPr>
              <a:t> WHERE x="</a:t>
            </a:r>
            <a:r>
              <a:rPr lang="en-US" sz="2000" dirty="0" err="1">
                <a:latin typeface="Arial" panose="020B0604020202020204" pitchFamily="34" charset="0"/>
                <a:cs typeface="Arial" panose="020B0604020202020204" pitchFamily="34" charset="0"/>
              </a:rPr>
              <a:t>english</a:t>
            </a:r>
            <a:r>
              <a:rPr lang="en-US" sz="2000" dirty="0">
                <a:latin typeface="Arial" panose="020B0604020202020204" pitchFamily="34" charset="0"/>
                <a:cs typeface="Arial" panose="020B0604020202020204" pitchFamily="34" charset="0"/>
              </a:rPr>
              <a:t>") RETURN n.name AS name, </a:t>
            </a:r>
            <a:r>
              <a:rPr lang="en-US" sz="2000" dirty="0" err="1">
                <a:latin typeface="Arial" panose="020B0604020202020204" pitchFamily="34" charset="0"/>
                <a:cs typeface="Arial" panose="020B0604020202020204" pitchFamily="34" charset="0"/>
              </a:rPr>
              <a:t>n.lang</a:t>
            </a:r>
            <a:r>
              <a:rPr lang="en-US" sz="2000" dirty="0">
                <a:latin typeface="Arial" panose="020B0604020202020204" pitchFamily="34" charset="0"/>
                <a:cs typeface="Arial" panose="020B0604020202020204" pitchFamily="34" charset="0"/>
              </a:rPr>
              <a:t> as </a:t>
            </a:r>
            <a:r>
              <a:rPr lang="en-US" sz="2000" dirty="0" err="1">
                <a:latin typeface="Arial" panose="020B0604020202020204" pitchFamily="34" charset="0"/>
                <a:cs typeface="Arial" panose="020B0604020202020204" pitchFamily="34" charset="0"/>
              </a:rPr>
              <a:t>lang</a:t>
            </a:r>
            <a:endParaRPr lang="en-US" sz="2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042572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 Backup</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00000"/>
              </a:lnSpc>
              <a:spcBef>
                <a:spcPts val="600"/>
              </a:spcBef>
              <a:spcAft>
                <a:spcPts val="600"/>
              </a:spcAft>
              <a:buNone/>
            </a:pPr>
            <a:r>
              <a:rPr lang="en-US" sz="2200" dirty="0">
                <a:latin typeface="Arial" panose="020B0604020202020204" pitchFamily="34" charset="0"/>
                <a:cs typeface="Arial" panose="020B0604020202020204" pitchFamily="34" charset="0"/>
              </a:rPr>
              <a:t>Step 1 − Click the "Stop" button to shut down the server.</a:t>
            </a:r>
          </a:p>
          <a:p>
            <a:pPr marL="0" indent="0">
              <a:lnSpc>
                <a:spcPct val="100000"/>
              </a:lnSpc>
              <a:spcBef>
                <a:spcPts val="600"/>
              </a:spcBef>
              <a:spcAft>
                <a:spcPts val="600"/>
              </a:spcAft>
              <a:buNone/>
            </a:pPr>
            <a:r>
              <a:rPr lang="en-US" sz="2200" dirty="0">
                <a:latin typeface="Arial" panose="020B0604020202020204" pitchFamily="34" charset="0"/>
                <a:cs typeface="Arial" panose="020B0604020202020204" pitchFamily="34" charset="0"/>
              </a:rPr>
              <a:t>Step 2 − Open the command prompt.</a:t>
            </a:r>
          </a:p>
          <a:p>
            <a:pPr marL="0" indent="0">
              <a:lnSpc>
                <a:spcPct val="100000"/>
              </a:lnSpc>
              <a:spcBef>
                <a:spcPts val="600"/>
              </a:spcBef>
              <a:spcAft>
                <a:spcPts val="600"/>
              </a:spcAft>
              <a:buNone/>
            </a:pPr>
            <a:r>
              <a:rPr lang="en-US" sz="2200" dirty="0">
                <a:latin typeface="Arial" panose="020B0604020202020204" pitchFamily="34" charset="0"/>
                <a:cs typeface="Arial" panose="020B0604020202020204" pitchFamily="34" charset="0"/>
              </a:rPr>
              <a:t>Step 3 − Create a folder "Neo4jDbBackup-01" at C:\Neo4j (This may be any location in your file system).</a:t>
            </a:r>
          </a:p>
          <a:p>
            <a:pPr marL="0" indent="0">
              <a:lnSpc>
                <a:spcPct val="100000"/>
              </a:lnSpc>
              <a:spcBef>
                <a:spcPts val="600"/>
              </a:spcBef>
              <a:spcAft>
                <a:spcPts val="600"/>
              </a:spcAft>
              <a:buNone/>
            </a:pP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mkdir</a:t>
            </a:r>
            <a:r>
              <a:rPr lang="en-US" sz="2200" dirty="0">
                <a:latin typeface="Arial" panose="020B0604020202020204" pitchFamily="34" charset="0"/>
                <a:cs typeface="Arial" panose="020B0604020202020204" pitchFamily="34" charset="0"/>
              </a:rPr>
              <a:t> C:\Neo4j\Neo4jDbBackup-01</a:t>
            </a:r>
          </a:p>
          <a:p>
            <a:pPr marL="0" indent="0">
              <a:lnSpc>
                <a:spcPct val="100000"/>
              </a:lnSpc>
              <a:spcBef>
                <a:spcPts val="600"/>
              </a:spcBef>
              <a:spcAft>
                <a:spcPts val="600"/>
              </a:spcAft>
              <a:buNone/>
            </a:pPr>
            <a:r>
              <a:rPr lang="en-US" sz="2200" dirty="0">
                <a:latin typeface="Arial" panose="020B0604020202020204" pitchFamily="34" charset="0"/>
                <a:cs typeface="Arial" panose="020B0604020202020204" pitchFamily="34" charset="0"/>
              </a:rPr>
              <a:t>Step 4 − Type the following command and press Enter key.</a:t>
            </a:r>
          </a:p>
          <a:p>
            <a:pPr marL="0" indent="0">
              <a:lnSpc>
                <a:spcPct val="100000"/>
              </a:lnSpc>
              <a:spcBef>
                <a:spcPts val="600"/>
              </a:spcBef>
              <a:spcAft>
                <a:spcPts val="600"/>
              </a:spcAft>
              <a:buNone/>
            </a:pPr>
            <a:r>
              <a:rPr lang="en-US" sz="2200" dirty="0">
                <a:latin typeface="Arial" panose="020B0604020202020204" pitchFamily="34" charset="0"/>
                <a:cs typeface="Arial" panose="020B0604020202020204" pitchFamily="34" charset="0"/>
              </a:rPr>
              <a:t>	   copy C:\Ne04j2.0db C:\Neo4j\Neo4jDbBackup-01 </a:t>
            </a:r>
          </a:p>
          <a:p>
            <a:pPr marL="0" indent="0">
              <a:lnSpc>
                <a:spcPct val="100000"/>
              </a:lnSpc>
              <a:spcBef>
                <a:spcPts val="600"/>
              </a:spcBef>
              <a:spcAft>
                <a:spcPts val="600"/>
              </a:spcAft>
              <a:buNone/>
            </a:pPr>
            <a:r>
              <a:rPr lang="en-US" sz="2200" dirty="0">
                <a:latin typeface="Arial" panose="020B0604020202020204" pitchFamily="34" charset="0"/>
                <a:cs typeface="Arial" panose="020B0604020202020204" pitchFamily="34" charset="0"/>
              </a:rPr>
              <a:t>Step 5 − Use any Windows compression/decompression tool like WinZip, 7 Zip, or WinRAR to zip our Database folder.</a:t>
            </a:r>
          </a:p>
          <a:p>
            <a:pPr marL="0" indent="0">
              <a:lnSpc>
                <a:spcPct val="100000"/>
              </a:lnSpc>
              <a:spcBef>
                <a:spcPts val="600"/>
              </a:spcBef>
              <a:spcAft>
                <a:spcPts val="600"/>
              </a:spcAft>
              <a:buNone/>
            </a:pPr>
            <a:endParaRPr lang="en-US" sz="22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098227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Database Restore</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00000"/>
              </a:lnSpc>
              <a:spcBef>
                <a:spcPts val="600"/>
              </a:spcBef>
              <a:spcAft>
                <a:spcPts val="600"/>
              </a:spcAft>
              <a:buNone/>
            </a:pPr>
            <a:r>
              <a:rPr lang="en-US" sz="2300" dirty="0">
                <a:latin typeface="Arial" panose="020B0604020202020204" pitchFamily="34" charset="0"/>
                <a:cs typeface="Arial" panose="020B0604020202020204" pitchFamily="34" charset="0"/>
              </a:rPr>
              <a:t>Step 1 − Shutdown the database server. Please refer to the previous steps to shut down the server.</a:t>
            </a:r>
          </a:p>
          <a:p>
            <a:pPr marL="0" indent="0">
              <a:lnSpc>
                <a:spcPct val="100000"/>
              </a:lnSpc>
              <a:spcBef>
                <a:spcPts val="600"/>
              </a:spcBef>
              <a:spcAft>
                <a:spcPts val="600"/>
              </a:spcAft>
              <a:buNone/>
            </a:pPr>
            <a:r>
              <a:rPr lang="en-US" sz="2300" dirty="0">
                <a:latin typeface="Arial" panose="020B0604020202020204" pitchFamily="34" charset="0"/>
                <a:cs typeface="Arial" panose="020B0604020202020204" pitchFamily="34" charset="0"/>
              </a:rPr>
              <a:t>Step 2 − Empty the current database folder.</a:t>
            </a:r>
          </a:p>
          <a:p>
            <a:pPr marL="0" indent="0">
              <a:lnSpc>
                <a:spcPct val="100000"/>
              </a:lnSpc>
              <a:spcBef>
                <a:spcPts val="600"/>
              </a:spcBef>
              <a:spcAft>
                <a:spcPts val="600"/>
              </a:spcAft>
              <a:buNone/>
            </a:pPr>
            <a:r>
              <a:rPr lang="en-US" sz="2300" dirty="0">
                <a:latin typeface="Arial" panose="020B0604020202020204" pitchFamily="34" charset="0"/>
                <a:cs typeface="Arial" panose="020B0604020202020204" pitchFamily="34" charset="0"/>
              </a:rPr>
              <a:t>Step 3 − Use any Windows compression/decompression tool like WinZip, 7 Zip, or </a:t>
            </a:r>
            <a:r>
              <a:rPr lang="en-US" sz="2300" dirty="0" err="1">
                <a:latin typeface="Arial" panose="020B0604020202020204" pitchFamily="34" charset="0"/>
                <a:cs typeface="Arial" panose="020B0604020202020204" pitchFamily="34" charset="0"/>
              </a:rPr>
              <a:t>WinRar</a:t>
            </a:r>
            <a:r>
              <a:rPr lang="en-US" sz="2300" dirty="0">
                <a:latin typeface="Arial" panose="020B0604020202020204" pitchFamily="34" charset="0"/>
                <a:cs typeface="Arial" panose="020B0604020202020204" pitchFamily="34" charset="0"/>
              </a:rPr>
              <a:t> to unzip our backup folder.</a:t>
            </a:r>
          </a:p>
          <a:p>
            <a:pPr marL="0" indent="0">
              <a:lnSpc>
                <a:spcPct val="100000"/>
              </a:lnSpc>
              <a:spcBef>
                <a:spcPts val="600"/>
              </a:spcBef>
              <a:spcAft>
                <a:spcPts val="600"/>
              </a:spcAft>
              <a:buNone/>
            </a:pPr>
            <a:r>
              <a:rPr lang="en-US" sz="2300" dirty="0">
                <a:latin typeface="Arial" panose="020B0604020202020204" pitchFamily="34" charset="0"/>
                <a:cs typeface="Arial" panose="020B0604020202020204" pitchFamily="34" charset="0"/>
              </a:rPr>
              <a:t>Step 4 − Open the command prompt and execute the following command.</a:t>
            </a:r>
          </a:p>
          <a:p>
            <a:pPr marL="0" indent="0">
              <a:lnSpc>
                <a:spcPct val="100000"/>
              </a:lnSpc>
              <a:spcBef>
                <a:spcPts val="600"/>
              </a:spcBef>
              <a:spcAft>
                <a:spcPts val="600"/>
              </a:spcAft>
              <a:buNone/>
            </a:pPr>
            <a:r>
              <a:rPr lang="en-US" sz="2300" dirty="0">
                <a:latin typeface="Arial" panose="020B0604020202020204" pitchFamily="34" charset="0"/>
                <a:cs typeface="Arial" panose="020B0604020202020204" pitchFamily="34" charset="0"/>
              </a:rPr>
              <a:t>	   Copy C:\Neo4j\Neo4jDbBackup-01 C:\Ne04j2.0db </a:t>
            </a:r>
          </a:p>
          <a:p>
            <a:pPr marL="0" indent="0">
              <a:lnSpc>
                <a:spcPct val="100000"/>
              </a:lnSpc>
              <a:spcBef>
                <a:spcPts val="600"/>
              </a:spcBef>
              <a:spcAft>
                <a:spcPts val="600"/>
              </a:spcAft>
              <a:buNone/>
            </a:pPr>
            <a:r>
              <a:rPr lang="en-US" sz="2300" dirty="0">
                <a:latin typeface="Arial" panose="020B0604020202020204" pitchFamily="34" charset="0"/>
                <a:cs typeface="Arial" panose="020B0604020202020204" pitchFamily="34" charset="0"/>
              </a:rPr>
              <a:t>Step 5 - Now we can observe that our database folder contains working backup files</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540053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 Index</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00000"/>
              </a:lnSpc>
              <a:spcBef>
                <a:spcPts val="1800"/>
              </a:spcBef>
              <a:spcAft>
                <a:spcPts val="600"/>
              </a:spcAft>
              <a:buNone/>
            </a:pPr>
            <a:r>
              <a:rPr lang="en-US" sz="2000" dirty="0">
                <a:latin typeface="Arial" panose="020B0604020202020204" pitchFamily="34" charset="0"/>
                <a:cs typeface="Arial" panose="020B0604020202020204" pitchFamily="34" charset="0"/>
              </a:rPr>
              <a:t>Neo4j SQL supports Indexes on node or relationship properties to improve the performance of the application. We can create indexes on properties for all nodes, which have the same label name.</a:t>
            </a:r>
          </a:p>
          <a:p>
            <a:pPr marL="0" indent="0">
              <a:lnSpc>
                <a:spcPct val="100000"/>
              </a:lnSpc>
              <a:spcBef>
                <a:spcPts val="1800"/>
              </a:spcBef>
              <a:spcAft>
                <a:spcPts val="600"/>
              </a:spcAft>
              <a:buNone/>
            </a:pPr>
            <a:r>
              <a:rPr lang="en-US" sz="2000" dirty="0">
                <a:latin typeface="Arial" panose="020B0604020202020204" pitchFamily="34" charset="0"/>
                <a:cs typeface="Arial" panose="020B0604020202020204" pitchFamily="34" charset="0"/>
              </a:rPr>
              <a:t>We can use these indexed columns on MATCH or WHERE or IN operator to improve the execution of CQL command.</a:t>
            </a:r>
          </a:p>
          <a:p>
            <a:pPr marL="0" indent="0">
              <a:lnSpc>
                <a:spcPct val="100000"/>
              </a:lnSpc>
              <a:spcBef>
                <a:spcPts val="1800"/>
              </a:spcBef>
              <a:spcAft>
                <a:spcPts val="600"/>
              </a:spcAft>
              <a:buNone/>
            </a:pPr>
            <a:r>
              <a:rPr lang="en-US" sz="2000" dirty="0">
                <a:latin typeface="Arial" panose="020B0604020202020204" pitchFamily="34" charset="0"/>
                <a:cs typeface="Arial" panose="020B0604020202020204" pitchFamily="34" charset="0"/>
              </a:rPr>
              <a:t>Creating an Index</a:t>
            </a:r>
          </a:p>
          <a:p>
            <a:pPr marL="0" indent="0">
              <a:lnSpc>
                <a:spcPct val="100000"/>
              </a:lnSpc>
              <a:spcBef>
                <a:spcPts val="1800"/>
              </a:spcBef>
              <a:spcAft>
                <a:spcPts val="600"/>
              </a:spcAft>
              <a:buNone/>
            </a:pPr>
            <a:r>
              <a:rPr lang="en-US" sz="2000" dirty="0">
                <a:latin typeface="Arial" panose="020B0604020202020204" pitchFamily="34" charset="0"/>
                <a:cs typeface="Arial" panose="020B0604020202020204" pitchFamily="34" charset="0"/>
              </a:rPr>
              <a:t>Syntax:		CREATE INDEX </a:t>
            </a:r>
            <a:r>
              <a:rPr lang="en-US" sz="2000" dirty="0" err="1">
                <a:latin typeface="Arial" panose="020B0604020202020204" pitchFamily="34" charset="0"/>
                <a:cs typeface="Arial" panose="020B0604020202020204" pitchFamily="34" charset="0"/>
              </a:rPr>
              <a:t>ON:label</a:t>
            </a:r>
            <a:r>
              <a:rPr lang="en-US" sz="2000" dirty="0">
                <a:latin typeface="Arial" panose="020B0604020202020204" pitchFamily="34" charset="0"/>
                <a:cs typeface="Arial" panose="020B0604020202020204" pitchFamily="34" charset="0"/>
              </a:rPr>
              <a:t> (node) </a:t>
            </a:r>
          </a:p>
          <a:p>
            <a:pPr marL="0" indent="0">
              <a:lnSpc>
                <a:spcPct val="100000"/>
              </a:lnSpc>
              <a:spcBef>
                <a:spcPts val="1800"/>
              </a:spcBef>
              <a:spcAft>
                <a:spcPts val="600"/>
              </a:spcAft>
              <a:buNone/>
            </a:pPr>
            <a:r>
              <a:rPr lang="en-US" sz="2000" dirty="0">
                <a:latin typeface="Arial" panose="020B0604020202020204" pitchFamily="34" charset="0"/>
                <a:cs typeface="Arial" panose="020B0604020202020204" pitchFamily="34" charset="0"/>
              </a:rPr>
              <a:t>Example:	CREATE (</a:t>
            </a:r>
            <a:r>
              <a:rPr lang="en-US" sz="2000" dirty="0" err="1">
                <a:latin typeface="Arial" panose="020B0604020202020204" pitchFamily="34" charset="0"/>
                <a:cs typeface="Arial" panose="020B0604020202020204" pitchFamily="34" charset="0"/>
              </a:rPr>
              <a:t>Mary:employee</a:t>
            </a:r>
            <a:r>
              <a:rPr lang="en-US" sz="2000" dirty="0">
                <a:latin typeface="Arial" panose="020B0604020202020204" pitchFamily="34" charset="0"/>
                <a:cs typeface="Arial" panose="020B0604020202020204" pitchFamily="34" charset="0"/>
              </a:rPr>
              <a:t>{name: “Mary </a:t>
            </a:r>
            <a:r>
              <a:rPr lang="en-US" sz="2000" dirty="0" err="1">
                <a:latin typeface="Arial" panose="020B0604020202020204" pitchFamily="34" charset="0"/>
                <a:cs typeface="Arial" panose="020B0604020202020204" pitchFamily="34" charset="0"/>
              </a:rPr>
              <a:t>Josep</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exp</a:t>
            </a:r>
            <a:r>
              <a:rPr lang="en-US" sz="2000" dirty="0">
                <a:latin typeface="Arial" panose="020B0604020202020204" pitchFamily="34" charset="0"/>
                <a:cs typeface="Arial" panose="020B0604020202020204" pitchFamily="34" charset="0"/>
              </a:rPr>
              <a:t>: 5})</a:t>
            </a:r>
          </a:p>
          <a:p>
            <a:pPr marL="0" indent="0">
              <a:lnSpc>
                <a:spcPct val="100000"/>
              </a:lnSpc>
              <a:spcBef>
                <a:spcPts val="1800"/>
              </a:spcBef>
              <a:spcAft>
                <a:spcPts val="600"/>
              </a:spcAft>
              <a:buNone/>
            </a:pPr>
            <a:r>
              <a:rPr lang="en-US" sz="2000" dirty="0">
                <a:latin typeface="Arial" panose="020B0604020202020204" pitchFamily="34" charset="0"/>
                <a:cs typeface="Arial" panose="020B0604020202020204" pitchFamily="34" charset="0"/>
              </a:rPr>
              <a:t>		CREATE INDEX </a:t>
            </a:r>
            <a:r>
              <a:rPr lang="en-US" sz="2000" dirty="0" err="1">
                <a:latin typeface="Arial" panose="020B0604020202020204" pitchFamily="34" charset="0"/>
                <a:cs typeface="Arial" panose="020B0604020202020204" pitchFamily="34" charset="0"/>
              </a:rPr>
              <a:t>ON:employee</a:t>
            </a:r>
            <a:r>
              <a:rPr lang="en-US" sz="2000" dirty="0">
                <a:latin typeface="Arial" panose="020B0604020202020204" pitchFamily="34" charset="0"/>
                <a:cs typeface="Arial" panose="020B0604020202020204" pitchFamily="34" charset="0"/>
              </a:rPr>
              <a:t>(Mary)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244970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 Index</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00000"/>
              </a:lnSpc>
              <a:spcBef>
                <a:spcPts val="1800"/>
              </a:spcBef>
              <a:spcAft>
                <a:spcPts val="600"/>
              </a:spcAft>
              <a:buNone/>
            </a:pPr>
            <a:r>
              <a:rPr lang="en-US" sz="2400" dirty="0">
                <a:latin typeface="Arial" panose="020B0604020202020204" pitchFamily="34" charset="0"/>
                <a:cs typeface="Arial" panose="020B0604020202020204" pitchFamily="34" charset="0"/>
              </a:rPr>
              <a:t>Deleting an Index</a:t>
            </a:r>
          </a:p>
          <a:p>
            <a:pPr marL="0" indent="0">
              <a:lnSpc>
                <a:spcPct val="100000"/>
              </a:lnSpc>
              <a:spcBef>
                <a:spcPts val="1800"/>
              </a:spcBef>
              <a:spcAft>
                <a:spcPts val="600"/>
              </a:spcAft>
              <a:buNone/>
            </a:pPr>
            <a:r>
              <a:rPr lang="en-US" sz="2400" dirty="0">
                <a:latin typeface="Arial" panose="020B0604020202020204" pitchFamily="34" charset="0"/>
                <a:cs typeface="Arial" panose="020B0604020202020204" pitchFamily="34" charset="0"/>
              </a:rPr>
              <a:t>Neo4j CQL provides a "DROP INDEX" command to drop an existing index of a Node or </a:t>
            </a:r>
            <a:r>
              <a:rPr lang="en-US" sz="2400" dirty="0" err="1">
                <a:latin typeface="Arial" panose="020B0604020202020204" pitchFamily="34" charset="0"/>
                <a:cs typeface="Arial" panose="020B0604020202020204" pitchFamily="34" charset="0"/>
              </a:rPr>
              <a:t>Relationshis</a:t>
            </a:r>
            <a:r>
              <a:rPr lang="en-US" sz="2400" dirty="0">
                <a:latin typeface="Arial" panose="020B0604020202020204" pitchFamily="34" charset="0"/>
                <a:cs typeface="Arial" panose="020B0604020202020204" pitchFamily="34" charset="0"/>
              </a:rPr>
              <a:t> property.</a:t>
            </a:r>
          </a:p>
          <a:p>
            <a:pPr marL="0" indent="0">
              <a:lnSpc>
                <a:spcPct val="100000"/>
              </a:lnSpc>
              <a:spcBef>
                <a:spcPts val="1800"/>
              </a:spcBef>
              <a:spcAft>
                <a:spcPts val="600"/>
              </a:spcAft>
              <a:buNone/>
            </a:pPr>
            <a:r>
              <a:rPr lang="en-US" sz="2400" dirty="0">
                <a:latin typeface="Arial" panose="020B0604020202020204" pitchFamily="34" charset="0"/>
                <a:cs typeface="Arial" panose="020B0604020202020204" pitchFamily="34" charset="0"/>
              </a:rPr>
              <a:t>Syntax:	DROP INDEX </a:t>
            </a:r>
            <a:r>
              <a:rPr lang="en-US" sz="2400" dirty="0" err="1">
                <a:latin typeface="Arial" panose="020B0604020202020204" pitchFamily="34" charset="0"/>
                <a:cs typeface="Arial" panose="020B0604020202020204" pitchFamily="34" charset="0"/>
              </a:rPr>
              <a:t>ON:label</a:t>
            </a:r>
            <a:r>
              <a:rPr lang="en-US" sz="2400" dirty="0">
                <a:latin typeface="Arial" panose="020B0604020202020204" pitchFamily="34" charset="0"/>
                <a:cs typeface="Arial" panose="020B0604020202020204" pitchFamily="34" charset="0"/>
              </a:rPr>
              <a:t>(node) </a:t>
            </a:r>
          </a:p>
          <a:p>
            <a:pPr marL="0" indent="0">
              <a:lnSpc>
                <a:spcPct val="100000"/>
              </a:lnSpc>
              <a:spcBef>
                <a:spcPts val="1800"/>
              </a:spcBef>
              <a:spcAft>
                <a:spcPts val="600"/>
              </a:spcAft>
              <a:buNone/>
            </a:pPr>
            <a:r>
              <a:rPr lang="en-US" sz="2400" dirty="0">
                <a:latin typeface="Arial" panose="020B0604020202020204" pitchFamily="34" charset="0"/>
                <a:cs typeface="Arial" panose="020B0604020202020204" pitchFamily="34" charset="0"/>
              </a:rPr>
              <a:t>Example:	DROP INDEX </a:t>
            </a:r>
            <a:r>
              <a:rPr lang="en-US" sz="2400" dirty="0" err="1">
                <a:latin typeface="Arial" panose="020B0604020202020204" pitchFamily="34" charset="0"/>
                <a:cs typeface="Arial" panose="020B0604020202020204" pitchFamily="34" charset="0"/>
              </a:rPr>
              <a:t>ON:employee</a:t>
            </a:r>
            <a:r>
              <a:rPr lang="en-US" sz="2400" dirty="0">
                <a:latin typeface="Arial" panose="020B0604020202020204" pitchFamily="34" charset="0"/>
                <a:cs typeface="Arial" panose="020B0604020202020204" pitchFamily="34" charset="0"/>
              </a:rPr>
              <a:t>(Mary)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26</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657944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UNIQUE Constraint</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0"/>
              </a:spcBef>
              <a:buNone/>
            </a:pPr>
            <a:r>
              <a:rPr lang="en-US" sz="2000" dirty="0">
                <a:latin typeface="Arial" panose="020B0604020202020204" pitchFamily="34" charset="0"/>
                <a:cs typeface="Arial" panose="020B0604020202020204" pitchFamily="34" charset="0"/>
              </a:rPr>
              <a:t>Neo4j CQL provides "CREATE CONSTRAINT" command to create unique constraints on node or relationship properties.</a:t>
            </a:r>
          </a:p>
          <a:p>
            <a:pPr marL="0" indent="0">
              <a:lnSpc>
                <a:spcPct val="120000"/>
              </a:lnSpc>
              <a:spcBef>
                <a:spcPts val="0"/>
              </a:spcBef>
              <a:buNone/>
            </a:pPr>
            <a:r>
              <a:rPr lang="en-US" sz="2000" dirty="0">
                <a:latin typeface="Arial" panose="020B0604020202020204" pitchFamily="34" charset="0"/>
                <a:cs typeface="Arial" panose="020B0604020202020204" pitchFamily="34" charset="0"/>
              </a:rPr>
              <a:t>Syntax</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MATCH (root {name: "</a:t>
            </a:r>
            <a:r>
              <a:rPr lang="en-US" sz="2000" dirty="0" err="1">
                <a:latin typeface="Arial" panose="020B0604020202020204" pitchFamily="34" charset="0"/>
                <a:cs typeface="Arial" panose="020B0604020202020204" pitchFamily="34" charset="0"/>
              </a:rPr>
              <a:t>Dhawan</a:t>
            </a:r>
            <a:r>
              <a:rPr lang="en-US" sz="2000" dirty="0">
                <a:latin typeface="Arial" panose="020B0604020202020204" pitchFamily="34" charset="0"/>
                <a:cs typeface="Arial" panose="020B0604020202020204" pitchFamily="34" charset="0"/>
              </a:rPr>
              <a:t>"})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CREATE UNIQUE (root)-[:LOVES]-(someone)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RETURN someone </a:t>
            </a:r>
          </a:p>
          <a:p>
            <a:pPr marL="0" indent="0">
              <a:lnSpc>
                <a:spcPct val="120000"/>
              </a:lnSpc>
              <a:spcBef>
                <a:spcPts val="0"/>
              </a:spcBef>
              <a:buNone/>
            </a:pPr>
            <a:r>
              <a:rPr lang="en-US" sz="2000" dirty="0">
                <a:latin typeface="Arial" panose="020B0604020202020204" pitchFamily="34" charset="0"/>
                <a:cs typeface="Arial" panose="020B0604020202020204" pitchFamily="34" charset="0"/>
              </a:rPr>
              <a:t>Example</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CREATE(</a:t>
            </a:r>
            <a:r>
              <a:rPr lang="en-US" sz="2000" dirty="0" err="1">
                <a:latin typeface="Arial" panose="020B0604020202020204" pitchFamily="34" charset="0"/>
                <a:cs typeface="Arial" panose="020B0604020202020204" pitchFamily="34" charset="0"/>
              </a:rPr>
              <a:t>Sarad:student</a:t>
            </a:r>
            <a:r>
              <a:rPr lang="en-US" sz="2000" dirty="0">
                <a:latin typeface="Arial" panose="020B0604020202020204" pitchFamily="34" charset="0"/>
                <a:cs typeface="Arial" panose="020B0604020202020204" pitchFamily="34" charset="0"/>
              </a:rPr>
              <a:t>{sid:001, name: “</a:t>
            </a:r>
            <a:r>
              <a:rPr lang="en-US" sz="2000" dirty="0" err="1">
                <a:latin typeface="Arial" panose="020B0604020202020204" pitchFamily="34" charset="0"/>
                <a:cs typeface="Arial" panose="020B0604020202020204" pitchFamily="34" charset="0"/>
              </a:rPr>
              <a:t>Sarad</a:t>
            </a:r>
            <a:r>
              <a:rPr lang="en-US" sz="2000" dirty="0">
                <a:latin typeface="Arial" panose="020B0604020202020204" pitchFamily="34" charset="0"/>
                <a:cs typeface="Arial" panose="020B0604020202020204" pitchFamily="34" charset="0"/>
              </a:rPr>
              <a:t> Yadav", branch: “</a:t>
            </a:r>
            <a:r>
              <a:rPr lang="en-US" sz="2000" dirty="0" err="1">
                <a:latin typeface="Arial" panose="020B0604020202020204" pitchFamily="34" charset="0"/>
                <a:cs typeface="Arial" panose="020B0604020202020204" pitchFamily="34" charset="0"/>
              </a:rPr>
              <a:t>cse</a:t>
            </a:r>
            <a:r>
              <a:rPr lang="en-US" sz="2000" dirty="0">
                <a:latin typeface="Arial" panose="020B0604020202020204" pitchFamily="34" charset="0"/>
                <a:cs typeface="Arial" panose="020B0604020202020204" pitchFamily="34" charset="0"/>
              </a:rPr>
              <a:t>"})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CREATE(</a:t>
            </a:r>
            <a:r>
              <a:rPr lang="en-US" sz="2000" dirty="0" err="1">
                <a:latin typeface="Arial" panose="020B0604020202020204" pitchFamily="34" charset="0"/>
                <a:cs typeface="Arial" panose="020B0604020202020204" pitchFamily="34" charset="0"/>
              </a:rPr>
              <a:t>Sumanth:student</a:t>
            </a:r>
            <a:r>
              <a:rPr lang="en-US" sz="2000" dirty="0">
                <a:latin typeface="Arial" panose="020B0604020202020204" pitchFamily="34" charset="0"/>
                <a:cs typeface="Arial" panose="020B0604020202020204" pitchFamily="34" charset="0"/>
              </a:rPr>
              <a:t>{sid:002, name: “</a:t>
            </a:r>
            <a:r>
              <a:rPr lang="en-US" sz="2000" dirty="0" err="1">
                <a:latin typeface="Arial" panose="020B0604020202020204" pitchFamily="34" charset="0"/>
                <a:cs typeface="Arial" panose="020B0604020202020204" pitchFamily="34" charset="0"/>
              </a:rPr>
              <a:t>Sumanth</a:t>
            </a:r>
            <a:r>
              <a:rPr lang="en-US" sz="2000" dirty="0">
                <a:latin typeface="Arial" panose="020B0604020202020204" pitchFamily="34" charset="0"/>
                <a:cs typeface="Arial" panose="020B0604020202020204" pitchFamily="34" charset="0"/>
              </a:rPr>
              <a:t> Rao", branch: “</a:t>
            </a:r>
            <a:r>
              <a:rPr lang="en-US" sz="2000" dirty="0" err="1">
                <a:latin typeface="Arial" panose="020B0604020202020204" pitchFamily="34" charset="0"/>
                <a:cs typeface="Arial" panose="020B0604020202020204" pitchFamily="34" charset="0"/>
              </a:rPr>
              <a:t>cse</a:t>
            </a:r>
            <a:r>
              <a:rPr lang="en-US" sz="2000" dirty="0">
                <a:latin typeface="Arial" panose="020B0604020202020204" pitchFamily="34" charset="0"/>
                <a:cs typeface="Arial" panose="020B0604020202020204" pitchFamily="34" charset="0"/>
              </a:rPr>
              <a:t>"}) </a:t>
            </a: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CREATE(</a:t>
            </a:r>
            <a:r>
              <a:rPr lang="en-US" sz="2000" dirty="0" err="1">
                <a:latin typeface="Arial" panose="020B0604020202020204" pitchFamily="34" charset="0"/>
                <a:cs typeface="Arial" panose="020B0604020202020204" pitchFamily="34" charset="0"/>
              </a:rPr>
              <a:t>Roshni:student</a:t>
            </a:r>
            <a:r>
              <a:rPr lang="en-US" sz="2000" dirty="0">
                <a:latin typeface="Arial" panose="020B0604020202020204" pitchFamily="34" charset="0"/>
                <a:cs typeface="Arial" panose="020B0604020202020204" pitchFamily="34" charset="0"/>
              </a:rPr>
              <a:t>{sid:003, name: “</a:t>
            </a:r>
            <a:r>
              <a:rPr lang="en-US" sz="2000" dirty="0" err="1">
                <a:latin typeface="Arial" panose="020B0604020202020204" pitchFamily="34" charset="0"/>
                <a:cs typeface="Arial" panose="020B0604020202020204" pitchFamily="34" charset="0"/>
              </a:rPr>
              <a:t>Roshni</a:t>
            </a:r>
            <a:r>
              <a:rPr lang="en-US" sz="2000" dirty="0">
                <a:latin typeface="Arial" panose="020B0604020202020204" pitchFamily="34" charset="0"/>
                <a:cs typeface="Arial" panose="020B0604020202020204" pitchFamily="34" charset="0"/>
              </a:rPr>
              <a:t>", branch: “</a:t>
            </a:r>
            <a:r>
              <a:rPr lang="en-US" sz="2000" dirty="0" err="1">
                <a:latin typeface="Arial" panose="020B0604020202020204" pitchFamily="34" charset="0"/>
                <a:cs typeface="Arial" panose="020B0604020202020204" pitchFamily="34" charset="0"/>
              </a:rPr>
              <a:t>cse</a:t>
            </a:r>
            <a:r>
              <a:rPr lang="en-US" sz="2000" dirty="0">
                <a:latin typeface="Arial" panose="020B0604020202020204" pitchFamily="34" charset="0"/>
                <a:cs typeface="Arial" panose="020B0604020202020204" pitchFamily="34" charset="0"/>
              </a:rPr>
              <a:t>"}) </a:t>
            </a:r>
          </a:p>
          <a:p>
            <a:pPr marL="457200" lvl="1" indent="0">
              <a:lnSpc>
                <a:spcPct val="120000"/>
              </a:lnSpc>
              <a:spcBef>
                <a:spcPts val="0"/>
              </a:spcBef>
              <a:buNone/>
            </a:pPr>
            <a:endParaRPr lang="en-US" sz="2000" dirty="0">
              <a:latin typeface="Arial" panose="020B0604020202020204" pitchFamily="34" charset="0"/>
              <a:cs typeface="Arial" panose="020B0604020202020204" pitchFamily="34" charset="0"/>
            </a:endParaRPr>
          </a:p>
          <a:p>
            <a:pPr marL="457200" lvl="1" indent="0">
              <a:lnSpc>
                <a:spcPct val="120000"/>
              </a:lnSpc>
              <a:spcBef>
                <a:spcPts val="0"/>
              </a:spcBef>
              <a:buNone/>
            </a:pPr>
            <a:r>
              <a:rPr lang="en-US" sz="2000" dirty="0">
                <a:latin typeface="Arial" panose="020B0604020202020204" pitchFamily="34" charset="0"/>
                <a:cs typeface="Arial" panose="020B0604020202020204" pitchFamily="34" charset="0"/>
              </a:rPr>
              <a:t>CREATE </a:t>
            </a:r>
            <a:r>
              <a:rPr lang="en-US" sz="2000" dirty="0">
                <a:solidFill>
                  <a:srgbClr val="FF0000"/>
                </a:solidFill>
                <a:latin typeface="Arial" panose="020B0604020202020204" pitchFamily="34" charset="0"/>
                <a:cs typeface="Arial" panose="020B0604020202020204" pitchFamily="34" charset="0"/>
              </a:rPr>
              <a:t>CONSTRAINT ON (</a:t>
            </a:r>
            <a:r>
              <a:rPr lang="en-US" sz="2000" dirty="0" err="1">
                <a:solidFill>
                  <a:srgbClr val="FF0000"/>
                </a:solidFill>
                <a:latin typeface="Arial" panose="020B0604020202020204" pitchFamily="34" charset="0"/>
                <a:cs typeface="Arial" panose="020B0604020202020204" pitchFamily="34" charset="0"/>
              </a:rPr>
              <a:t>n:student</a:t>
            </a:r>
            <a:r>
              <a:rPr lang="en-US" sz="2000" dirty="0">
                <a:solidFill>
                  <a:srgbClr val="FF0000"/>
                </a:solidFill>
                <a:latin typeface="Arial" panose="020B0604020202020204" pitchFamily="34" charset="0"/>
                <a:cs typeface="Arial" panose="020B0604020202020204" pitchFamily="34" charset="0"/>
              </a:rPr>
              <a:t>) ASSERT </a:t>
            </a:r>
            <a:r>
              <a:rPr lang="en-US" sz="2000" dirty="0" err="1">
                <a:solidFill>
                  <a:srgbClr val="FF0000"/>
                </a:solidFill>
                <a:latin typeface="Arial" panose="020B0604020202020204" pitchFamily="34" charset="0"/>
                <a:cs typeface="Arial" panose="020B0604020202020204" pitchFamily="34" charset="0"/>
              </a:rPr>
              <a:t>n.sid</a:t>
            </a:r>
            <a:r>
              <a:rPr lang="en-US" sz="2000" dirty="0">
                <a:solidFill>
                  <a:srgbClr val="FF0000"/>
                </a:solidFill>
                <a:latin typeface="Arial" panose="020B0604020202020204" pitchFamily="34" charset="0"/>
                <a:cs typeface="Arial" panose="020B0604020202020204" pitchFamily="34" charset="0"/>
              </a:rPr>
              <a:t> IS UNIQUE</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27</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5431206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 Drop Unique</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0"/>
              </a:spcBef>
              <a:buNone/>
            </a:pPr>
            <a:r>
              <a:rPr lang="en-US" sz="2300" dirty="0">
                <a:latin typeface="Arial" panose="020B0604020202020204" pitchFamily="34" charset="0"/>
                <a:cs typeface="Arial" panose="020B0604020202020204" pitchFamily="34" charset="0"/>
              </a:rPr>
              <a:t>Neo4j CQL provides "DROP CONSTRAINT" command to delete existing Unique constraint from a node or relationship property.</a:t>
            </a:r>
          </a:p>
          <a:p>
            <a:pPr marL="0" indent="0">
              <a:lnSpc>
                <a:spcPct val="120000"/>
              </a:lnSpc>
              <a:spcBef>
                <a:spcPts val="0"/>
              </a:spcBef>
              <a:buNone/>
            </a:pPr>
            <a:endParaRPr lang="en-US" sz="23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300" dirty="0">
                <a:latin typeface="Arial" panose="020B0604020202020204" pitchFamily="34" charset="0"/>
                <a:cs typeface="Arial" panose="020B0604020202020204" pitchFamily="34" charset="0"/>
              </a:rPr>
              <a:t>Syntax</a:t>
            </a:r>
          </a:p>
          <a:p>
            <a:pPr marL="457200" lvl="1" indent="0">
              <a:lnSpc>
                <a:spcPct val="120000"/>
              </a:lnSpc>
              <a:spcBef>
                <a:spcPts val="0"/>
              </a:spcBef>
              <a:buNone/>
            </a:pPr>
            <a:r>
              <a:rPr lang="en-US" sz="2300" dirty="0">
                <a:latin typeface="Arial" panose="020B0604020202020204" pitchFamily="34" charset="0"/>
                <a:cs typeface="Arial" panose="020B0604020202020204" pitchFamily="34" charset="0"/>
              </a:rPr>
              <a:t>DROP CONSTRAINT ON (</a:t>
            </a:r>
            <a:r>
              <a:rPr lang="en-US" sz="2300" dirty="0" err="1">
                <a:latin typeface="Arial" panose="020B0604020202020204" pitchFamily="34" charset="0"/>
                <a:cs typeface="Arial" panose="020B0604020202020204" pitchFamily="34" charset="0"/>
              </a:rPr>
              <a:t>node:label</a:t>
            </a:r>
            <a:r>
              <a:rPr lang="en-US" sz="2300" dirty="0">
                <a:latin typeface="Arial" panose="020B0604020202020204" pitchFamily="34" charset="0"/>
                <a:cs typeface="Arial" panose="020B0604020202020204" pitchFamily="34" charset="0"/>
              </a:rPr>
              <a:t>) </a:t>
            </a:r>
          </a:p>
          <a:p>
            <a:pPr marL="457200" lvl="1" indent="0">
              <a:lnSpc>
                <a:spcPct val="120000"/>
              </a:lnSpc>
              <a:spcBef>
                <a:spcPts val="0"/>
              </a:spcBef>
              <a:buNone/>
            </a:pPr>
            <a:r>
              <a:rPr lang="en-US" sz="2300" dirty="0">
                <a:latin typeface="Arial" panose="020B0604020202020204" pitchFamily="34" charset="0"/>
                <a:cs typeface="Arial" panose="020B0604020202020204" pitchFamily="34" charset="0"/>
              </a:rPr>
              <a:t>ASSERT node.id IS UNIQUE </a:t>
            </a:r>
          </a:p>
          <a:p>
            <a:pPr marL="0" indent="0">
              <a:lnSpc>
                <a:spcPct val="120000"/>
              </a:lnSpc>
              <a:spcBef>
                <a:spcPts val="0"/>
              </a:spcBef>
              <a:buNone/>
            </a:pPr>
            <a:endParaRPr lang="en-US" sz="23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300" dirty="0">
                <a:latin typeface="Arial" panose="020B0604020202020204" pitchFamily="34" charset="0"/>
                <a:cs typeface="Arial" panose="020B0604020202020204" pitchFamily="34" charset="0"/>
              </a:rPr>
              <a:t>Example</a:t>
            </a:r>
          </a:p>
          <a:p>
            <a:pPr marL="457200" lvl="1" indent="0">
              <a:lnSpc>
                <a:spcPct val="120000"/>
              </a:lnSpc>
              <a:spcBef>
                <a:spcPts val="0"/>
              </a:spcBef>
              <a:buNone/>
            </a:pPr>
            <a:r>
              <a:rPr lang="en-US" sz="2300" dirty="0">
                <a:latin typeface="Arial" panose="020B0604020202020204" pitchFamily="34" charset="0"/>
                <a:cs typeface="Arial" panose="020B0604020202020204" pitchFamily="34" charset="0"/>
              </a:rPr>
              <a:t>DROP CONSTRAINT ON (</a:t>
            </a:r>
            <a:r>
              <a:rPr lang="en-US" sz="2300" dirty="0" err="1">
                <a:latin typeface="Arial" panose="020B0604020202020204" pitchFamily="34" charset="0"/>
                <a:cs typeface="Arial" panose="020B0604020202020204" pitchFamily="34" charset="0"/>
              </a:rPr>
              <a:t>n:student</a:t>
            </a:r>
            <a:r>
              <a:rPr lang="en-US" sz="2300" dirty="0">
                <a:latin typeface="Arial" panose="020B0604020202020204" pitchFamily="34" charset="0"/>
                <a:cs typeface="Arial" panose="020B0604020202020204" pitchFamily="34" charset="0"/>
              </a:rPr>
              <a:t>) </a:t>
            </a:r>
          </a:p>
          <a:p>
            <a:pPr marL="457200" lvl="1" indent="0">
              <a:lnSpc>
                <a:spcPct val="120000"/>
              </a:lnSpc>
              <a:spcBef>
                <a:spcPts val="0"/>
              </a:spcBef>
              <a:buNone/>
            </a:pPr>
            <a:r>
              <a:rPr lang="en-US" sz="2300" dirty="0">
                <a:latin typeface="Arial" panose="020B0604020202020204" pitchFamily="34" charset="0"/>
                <a:cs typeface="Arial" panose="020B0604020202020204" pitchFamily="34" charset="0"/>
              </a:rPr>
              <a:t>ASSERT </a:t>
            </a:r>
            <a:r>
              <a:rPr lang="en-US" sz="2300" dirty="0" err="1">
                <a:latin typeface="Arial" panose="020B0604020202020204" pitchFamily="34" charset="0"/>
                <a:cs typeface="Arial" panose="020B0604020202020204" pitchFamily="34" charset="0"/>
              </a:rPr>
              <a:t>n.sid</a:t>
            </a:r>
            <a:r>
              <a:rPr lang="en-US" sz="2300" dirty="0">
                <a:latin typeface="Arial" panose="020B0604020202020204" pitchFamily="34" charset="0"/>
                <a:cs typeface="Arial" panose="020B0604020202020204" pitchFamily="34" charset="0"/>
              </a:rPr>
              <a:t> IS UNIQUE </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28</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71595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 Overview</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0"/>
              </a:spcBef>
              <a:buNone/>
            </a:pPr>
            <a:r>
              <a:rPr lang="en-US" sz="2200" b="1" dirty="0">
                <a:latin typeface="Arial" panose="020B0604020202020204" pitchFamily="34" charset="0"/>
                <a:cs typeface="Arial" panose="020B0604020202020204" pitchFamily="34" charset="0"/>
              </a:rPr>
              <a:t>Create queries</a:t>
            </a:r>
          </a:p>
          <a:p>
            <a:pPr marL="0" indent="0">
              <a:lnSpc>
                <a:spcPct val="120000"/>
              </a:lnSpc>
              <a:spcBef>
                <a:spcPts val="0"/>
              </a:spcBef>
              <a:buNone/>
            </a:pPr>
            <a:r>
              <a:rPr lang="en-US" sz="2200" dirty="0">
                <a:latin typeface="Arial" panose="020B0604020202020204" pitchFamily="34" charset="0"/>
                <a:cs typeface="Arial" panose="020B0604020202020204" pitchFamily="34" charset="0"/>
              </a:rPr>
              <a:t>Create a new node </a:t>
            </a:r>
          </a:p>
          <a:p>
            <a:pPr marL="0" indent="0">
              <a:lnSpc>
                <a:spcPct val="120000"/>
              </a:lnSpc>
              <a:spcBef>
                <a:spcPts val="0"/>
              </a:spcBef>
              <a:buNone/>
            </a:pPr>
            <a:r>
              <a:rPr lang="en-US" sz="2200" dirty="0">
                <a:latin typeface="Arial" panose="020B0604020202020204" pitchFamily="34" charset="0"/>
                <a:cs typeface="Arial" panose="020B0604020202020204" pitchFamily="34" charset="0"/>
              </a:rPr>
              <a:t>	CREATE (</a:t>
            </a:r>
            <a:r>
              <a:rPr lang="en-US" sz="2200" dirty="0" err="1">
                <a:latin typeface="Arial" panose="020B0604020202020204" pitchFamily="34" charset="0"/>
                <a:cs typeface="Arial" panose="020B0604020202020204" pitchFamily="34" charset="0"/>
              </a:rPr>
              <a:t>a:Person</a:t>
            </a:r>
            <a:r>
              <a:rPr lang="en-US" sz="2200" dirty="0">
                <a:latin typeface="Arial" panose="020B0604020202020204" pitchFamily="34" charset="0"/>
                <a:cs typeface="Arial" panose="020B0604020202020204" pitchFamily="34" charset="0"/>
              </a:rPr>
              <a:t> {name:"</a:t>
            </a:r>
            <a:r>
              <a:rPr lang="en-US" sz="2200" dirty="0" err="1">
                <a:latin typeface="Arial" panose="020B0604020202020204" pitchFamily="34" charset="0"/>
                <a:cs typeface="Arial" panose="020B0604020202020204" pitchFamily="34" charset="0"/>
              </a:rPr>
              <a:t>Théo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Gauchoux</a:t>
            </a:r>
            <a:r>
              <a:rPr lang="en-US" sz="2200" dirty="0">
                <a:latin typeface="Arial" panose="020B0604020202020204" pitchFamily="34" charset="0"/>
                <a:cs typeface="Arial" panose="020B0604020202020204" pitchFamily="34" charset="0"/>
              </a:rPr>
              <a:t>"}) RETURN a </a:t>
            </a:r>
          </a:p>
          <a:p>
            <a:pPr marL="0" indent="0">
              <a:lnSpc>
                <a:spcPct val="12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200" dirty="0">
                <a:latin typeface="Arial" panose="020B0604020202020204" pitchFamily="34" charset="0"/>
                <a:cs typeface="Arial" panose="020B0604020202020204" pitchFamily="34" charset="0"/>
              </a:rPr>
              <a:t>Create a new relationship (with 2 new nodes) </a:t>
            </a:r>
          </a:p>
          <a:p>
            <a:pPr marL="0" indent="0">
              <a:lnSpc>
                <a:spcPct val="120000"/>
              </a:lnSpc>
              <a:spcBef>
                <a:spcPts val="0"/>
              </a:spcBef>
              <a:buNone/>
            </a:pPr>
            <a:r>
              <a:rPr lang="en-US" sz="2200" dirty="0">
                <a:latin typeface="Arial" panose="020B0604020202020204" pitchFamily="34" charset="0"/>
                <a:cs typeface="Arial" panose="020B0604020202020204" pitchFamily="34" charset="0"/>
              </a:rPr>
              <a:t>	CREATE (</a:t>
            </a:r>
            <a:r>
              <a:rPr lang="en-US" sz="2200" dirty="0" err="1">
                <a:latin typeface="Arial" panose="020B0604020202020204" pitchFamily="34" charset="0"/>
                <a:cs typeface="Arial" panose="020B0604020202020204" pitchFamily="34" charset="0"/>
              </a:rPr>
              <a:t>a:Person</a:t>
            </a:r>
            <a:r>
              <a:rPr lang="en-US" sz="2200" dirty="0">
                <a:latin typeface="Arial" panose="020B0604020202020204" pitchFamily="34" charset="0"/>
                <a:cs typeface="Arial" panose="020B0604020202020204" pitchFamily="34" charset="0"/>
              </a:rPr>
              <a:t>)-[</a:t>
            </a:r>
            <a:r>
              <a:rPr lang="en-US" sz="2200" dirty="0" err="1">
                <a:latin typeface="Arial" panose="020B0604020202020204" pitchFamily="34" charset="0"/>
                <a:cs typeface="Arial" panose="020B0604020202020204" pitchFamily="34" charset="0"/>
              </a:rPr>
              <a:t>k:KNOWS</a:t>
            </a:r>
            <a:r>
              <a:rPr lang="en-US" sz="2200" dirty="0">
                <a:latin typeface="Arial" panose="020B0604020202020204" pitchFamily="34" charset="0"/>
                <a:cs typeface="Arial" panose="020B0604020202020204" pitchFamily="34" charset="0"/>
              </a:rPr>
              <a:t>]-(</a:t>
            </a:r>
            <a:r>
              <a:rPr lang="en-US" sz="2200" dirty="0" err="1">
                <a:latin typeface="Arial" panose="020B0604020202020204" pitchFamily="34" charset="0"/>
                <a:cs typeface="Arial" panose="020B0604020202020204" pitchFamily="34" charset="0"/>
              </a:rPr>
              <a:t>b:Person</a:t>
            </a:r>
            <a:r>
              <a:rPr lang="en-US" sz="2200" dirty="0">
                <a:latin typeface="Arial" panose="020B0604020202020204" pitchFamily="34" charset="0"/>
                <a:cs typeface="Arial" panose="020B0604020202020204" pitchFamily="34" charset="0"/>
              </a:rPr>
              <a:t>) RETURN </a:t>
            </a:r>
            <a:r>
              <a:rPr lang="en-US" sz="2200" dirty="0" err="1">
                <a:latin typeface="Arial" panose="020B0604020202020204" pitchFamily="34" charset="0"/>
                <a:cs typeface="Arial" panose="020B0604020202020204" pitchFamily="34" charset="0"/>
              </a:rPr>
              <a:t>a,k,b</a:t>
            </a:r>
            <a:endParaRPr lang="en-US" sz="2200" dirty="0">
              <a:latin typeface="Arial" panose="020B0604020202020204" pitchFamily="34" charset="0"/>
              <a:cs typeface="Arial" panose="020B0604020202020204" pitchFamily="34" charset="0"/>
            </a:endParaRPr>
          </a:p>
          <a:p>
            <a:pPr marL="0" indent="0">
              <a:lnSpc>
                <a:spcPct val="12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200" b="1" dirty="0">
                <a:latin typeface="Arial" panose="020B0604020202020204" pitchFamily="34" charset="0"/>
                <a:cs typeface="Arial" panose="020B0604020202020204" pitchFamily="34" charset="0"/>
              </a:rPr>
              <a:t>Match queries</a:t>
            </a:r>
          </a:p>
          <a:p>
            <a:pPr marL="0" indent="0">
              <a:lnSpc>
                <a:spcPct val="120000"/>
              </a:lnSpc>
              <a:spcBef>
                <a:spcPts val="0"/>
              </a:spcBef>
              <a:buNone/>
            </a:pPr>
            <a:r>
              <a:rPr lang="en-US" sz="2200" dirty="0">
                <a:latin typeface="Arial" panose="020B0604020202020204" pitchFamily="34" charset="0"/>
                <a:cs typeface="Arial" panose="020B0604020202020204" pitchFamily="34" charset="0"/>
              </a:rPr>
              <a:t>Match all nodes </a:t>
            </a:r>
          </a:p>
          <a:p>
            <a:pPr marL="0" indent="0">
              <a:lnSpc>
                <a:spcPct val="120000"/>
              </a:lnSpc>
              <a:spcBef>
                <a:spcPts val="0"/>
              </a:spcBef>
              <a:buNone/>
            </a:pPr>
            <a:r>
              <a:rPr lang="en-US" sz="2200" dirty="0">
                <a:latin typeface="Arial" panose="020B0604020202020204" pitchFamily="34" charset="0"/>
                <a:cs typeface="Arial" panose="020B0604020202020204" pitchFamily="34" charset="0"/>
              </a:rPr>
              <a:t>	MATCH (n) RETURN n</a:t>
            </a:r>
          </a:p>
          <a:p>
            <a:pPr marL="0" indent="0">
              <a:lnSpc>
                <a:spcPct val="120000"/>
              </a:lnSpc>
              <a:spcBef>
                <a:spcPts val="0"/>
              </a:spcBef>
              <a:buNone/>
            </a:pPr>
            <a:endParaRPr lang="en-US" sz="22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29</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688363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 Overview</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0"/>
              </a:spcBef>
              <a:buNone/>
            </a:pPr>
            <a:r>
              <a:rPr lang="en-US" sz="2000" dirty="0">
                <a:latin typeface="Arial" panose="020B0604020202020204" pitchFamily="34" charset="0"/>
                <a:cs typeface="Arial" panose="020B0604020202020204" pitchFamily="34" charset="0"/>
              </a:rPr>
              <a:t>Match nodes by label </a:t>
            </a:r>
          </a:p>
          <a:p>
            <a:pPr marL="0" indent="0">
              <a:lnSpc>
                <a:spcPct val="120000"/>
              </a:lnSpc>
              <a:spcBef>
                <a:spcPts val="0"/>
              </a:spcBef>
              <a:buNone/>
            </a:pPr>
            <a:r>
              <a:rPr lang="en-US" sz="2000" dirty="0">
                <a:latin typeface="Arial" panose="020B0604020202020204" pitchFamily="34" charset="0"/>
                <a:cs typeface="Arial" panose="020B0604020202020204" pitchFamily="34" charset="0"/>
              </a:rPr>
              <a:t>	MATCH (</a:t>
            </a:r>
            <a:r>
              <a:rPr lang="en-US" sz="2000" dirty="0" err="1">
                <a:latin typeface="Arial" panose="020B0604020202020204" pitchFamily="34" charset="0"/>
                <a:cs typeface="Arial" panose="020B0604020202020204" pitchFamily="34" charset="0"/>
              </a:rPr>
              <a:t>a:Person</a:t>
            </a:r>
            <a:r>
              <a:rPr lang="en-US" sz="2000" dirty="0">
                <a:latin typeface="Arial" panose="020B0604020202020204" pitchFamily="34" charset="0"/>
                <a:cs typeface="Arial" panose="020B0604020202020204" pitchFamily="34" charset="0"/>
              </a:rPr>
              <a:t>) RETURN a</a:t>
            </a: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000" dirty="0">
                <a:latin typeface="Arial" panose="020B0604020202020204" pitchFamily="34" charset="0"/>
                <a:cs typeface="Arial" panose="020B0604020202020204" pitchFamily="34" charset="0"/>
              </a:rPr>
              <a:t>Match nodes by label and property </a:t>
            </a:r>
          </a:p>
          <a:p>
            <a:pPr marL="0" indent="0">
              <a:lnSpc>
                <a:spcPct val="120000"/>
              </a:lnSpc>
              <a:spcBef>
                <a:spcPts val="0"/>
              </a:spcBef>
              <a:buNone/>
            </a:pPr>
            <a:r>
              <a:rPr lang="en-US" sz="2000" dirty="0">
                <a:latin typeface="Arial" panose="020B0604020202020204" pitchFamily="34" charset="0"/>
                <a:cs typeface="Arial" panose="020B0604020202020204" pitchFamily="34" charset="0"/>
              </a:rPr>
              <a:t>	MATCH (</a:t>
            </a:r>
            <a:r>
              <a:rPr lang="en-US" sz="2000" dirty="0" err="1">
                <a:latin typeface="Arial" panose="020B0604020202020204" pitchFamily="34" charset="0"/>
                <a:cs typeface="Arial" panose="020B0604020202020204" pitchFamily="34" charset="0"/>
              </a:rPr>
              <a:t>a:Person</a:t>
            </a:r>
            <a:r>
              <a:rPr lang="en-US" sz="2000" dirty="0">
                <a:latin typeface="Arial" panose="020B0604020202020204" pitchFamily="34" charset="0"/>
                <a:cs typeface="Arial" panose="020B0604020202020204" pitchFamily="34" charset="0"/>
              </a:rPr>
              <a:t> {name:"</a:t>
            </a:r>
            <a:r>
              <a:rPr lang="en-US" sz="2000" dirty="0" err="1">
                <a:latin typeface="Arial" panose="020B0604020202020204" pitchFamily="34" charset="0"/>
                <a:cs typeface="Arial" panose="020B0604020202020204" pitchFamily="34" charset="0"/>
              </a:rPr>
              <a:t>Théo</a:t>
            </a:r>
            <a:r>
              <a:rPr lang="en-US" sz="2000" dirty="0">
                <a:latin typeface="Arial" panose="020B0604020202020204" pitchFamily="34" charset="0"/>
                <a:cs typeface="Arial" panose="020B0604020202020204" pitchFamily="34" charset="0"/>
              </a:rPr>
              <a:t> </a:t>
            </a:r>
            <a:r>
              <a:rPr lang="en-US" sz="2000" dirty="0" err="1">
                <a:latin typeface="Arial" panose="020B0604020202020204" pitchFamily="34" charset="0"/>
                <a:cs typeface="Arial" panose="020B0604020202020204" pitchFamily="34" charset="0"/>
              </a:rPr>
              <a:t>Gauchoux</a:t>
            </a:r>
            <a:r>
              <a:rPr lang="en-US" sz="2000" dirty="0">
                <a:latin typeface="Arial" panose="020B0604020202020204" pitchFamily="34" charset="0"/>
                <a:cs typeface="Arial" panose="020B0604020202020204" pitchFamily="34" charset="0"/>
              </a:rPr>
              <a:t>"}) RETURN a</a:t>
            </a: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000" dirty="0">
                <a:latin typeface="Arial" panose="020B0604020202020204" pitchFamily="34" charset="0"/>
                <a:cs typeface="Arial" panose="020B0604020202020204" pitchFamily="34" charset="0"/>
              </a:rPr>
              <a:t>Match nodes according to relationships (undirected) </a:t>
            </a:r>
          </a:p>
          <a:p>
            <a:pPr marL="0" indent="0">
              <a:lnSpc>
                <a:spcPct val="120000"/>
              </a:lnSpc>
              <a:spcBef>
                <a:spcPts val="0"/>
              </a:spcBef>
              <a:buNone/>
            </a:pPr>
            <a:r>
              <a:rPr lang="en-US" sz="2000" dirty="0">
                <a:latin typeface="Arial" panose="020B0604020202020204" pitchFamily="34" charset="0"/>
                <a:cs typeface="Arial" panose="020B0604020202020204" pitchFamily="34" charset="0"/>
              </a:rPr>
              <a:t>	MATCH (a)-[:KNOWS]-(b) RETURN </a:t>
            </a:r>
            <a:r>
              <a:rPr lang="en-US" sz="2000" dirty="0" err="1">
                <a:latin typeface="Arial" panose="020B0604020202020204" pitchFamily="34" charset="0"/>
                <a:cs typeface="Arial" panose="020B0604020202020204" pitchFamily="34" charset="0"/>
              </a:rPr>
              <a:t>a,b</a:t>
            </a: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000" dirty="0">
                <a:latin typeface="Arial" panose="020B0604020202020204" pitchFamily="34" charset="0"/>
                <a:cs typeface="Arial" panose="020B0604020202020204" pitchFamily="34" charset="0"/>
              </a:rPr>
              <a:t>Match nodes according to relationships (directed) </a:t>
            </a:r>
          </a:p>
          <a:p>
            <a:pPr marL="0" indent="0">
              <a:lnSpc>
                <a:spcPct val="120000"/>
              </a:lnSpc>
              <a:spcBef>
                <a:spcPts val="0"/>
              </a:spcBef>
              <a:buNone/>
            </a:pPr>
            <a:r>
              <a:rPr lang="en-US" sz="2000" dirty="0">
                <a:latin typeface="Arial" panose="020B0604020202020204" pitchFamily="34" charset="0"/>
                <a:cs typeface="Arial" panose="020B0604020202020204" pitchFamily="34" charset="0"/>
              </a:rPr>
              <a:t>	MATCH (a)-[:MANAGES]-&gt;(b) RETURN </a:t>
            </a:r>
            <a:r>
              <a:rPr lang="en-US" sz="2000" dirty="0" err="1">
                <a:latin typeface="Arial" panose="020B0604020202020204" pitchFamily="34" charset="0"/>
                <a:cs typeface="Arial" panose="020B0604020202020204" pitchFamily="34" charset="0"/>
              </a:rPr>
              <a:t>a,b</a:t>
            </a:r>
            <a:endParaRPr lang="en-US" sz="2000" dirty="0">
              <a:latin typeface="Arial" panose="020B0604020202020204" pitchFamily="34" charset="0"/>
              <a:cs typeface="Arial" panose="020B0604020202020204" pitchFamily="34" charset="0"/>
            </a:endParaRPr>
          </a:p>
          <a:p>
            <a:pPr marL="0" indent="0">
              <a:lnSpc>
                <a:spcPct val="120000"/>
              </a:lnSpc>
              <a:spcBef>
                <a:spcPts val="0"/>
              </a:spcBef>
              <a:buNone/>
            </a:pPr>
            <a:endParaRPr lang="en-US" sz="20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30</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526204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 Overview</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0"/>
              </a:spcBef>
              <a:buNone/>
            </a:pPr>
            <a:r>
              <a:rPr lang="en-US" sz="2100" dirty="0">
                <a:latin typeface="Arial" panose="020B0604020202020204" pitchFamily="34" charset="0"/>
                <a:cs typeface="Arial" panose="020B0604020202020204" pitchFamily="34" charset="0"/>
              </a:rPr>
              <a:t>Match nodes with a WHERE clause </a:t>
            </a:r>
          </a:p>
          <a:p>
            <a:pPr marL="895350" indent="0">
              <a:lnSpc>
                <a:spcPct val="120000"/>
              </a:lnSpc>
              <a:spcBef>
                <a:spcPts val="0"/>
              </a:spcBef>
              <a:buNone/>
            </a:pPr>
            <a:r>
              <a:rPr lang="en-US" sz="2100" dirty="0">
                <a:latin typeface="Arial" panose="020B0604020202020204" pitchFamily="34" charset="0"/>
                <a:cs typeface="Arial" panose="020B0604020202020204" pitchFamily="34" charset="0"/>
              </a:rPr>
              <a:t>MATCH (</a:t>
            </a:r>
            <a:r>
              <a:rPr lang="en-US" sz="2100" dirty="0" err="1">
                <a:latin typeface="Arial" panose="020B0604020202020204" pitchFamily="34" charset="0"/>
                <a:cs typeface="Arial" panose="020B0604020202020204" pitchFamily="34" charset="0"/>
              </a:rPr>
              <a:t>p:Person</a:t>
            </a:r>
            <a:r>
              <a:rPr lang="en-US" sz="2100" dirty="0">
                <a:latin typeface="Arial" panose="020B0604020202020204" pitchFamily="34" charset="0"/>
                <a:cs typeface="Arial" panose="020B0604020202020204" pitchFamily="34" charset="0"/>
              </a:rPr>
              <a:t> {name:"</a:t>
            </a:r>
            <a:r>
              <a:rPr lang="en-US" sz="2100" dirty="0" err="1">
                <a:latin typeface="Arial" panose="020B0604020202020204" pitchFamily="34" charset="0"/>
                <a:cs typeface="Arial" panose="020B0604020202020204" pitchFamily="34" charset="0"/>
              </a:rPr>
              <a:t>Théo</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Gauchoux</a:t>
            </a:r>
            <a:r>
              <a:rPr lang="en-US" sz="2100" dirty="0">
                <a:latin typeface="Arial" panose="020B0604020202020204" pitchFamily="34" charset="0"/>
                <a:cs typeface="Arial" panose="020B0604020202020204" pitchFamily="34" charset="0"/>
              </a:rPr>
              <a:t>"})-[</a:t>
            </a:r>
            <a:r>
              <a:rPr lang="en-US" sz="2100" dirty="0" err="1">
                <a:latin typeface="Arial" panose="020B0604020202020204" pitchFamily="34" charset="0"/>
                <a:cs typeface="Arial" panose="020B0604020202020204" pitchFamily="34" charset="0"/>
              </a:rPr>
              <a:t>s:LIVES_IN</a:t>
            </a:r>
            <a:r>
              <a:rPr lang="en-US" sz="2100" dirty="0">
                <a:latin typeface="Arial" panose="020B0604020202020204" pitchFamily="34" charset="0"/>
                <a:cs typeface="Arial" panose="020B0604020202020204" pitchFamily="34" charset="0"/>
              </a:rPr>
              <a:t>]-&gt;(</a:t>
            </a:r>
            <a:r>
              <a:rPr lang="en-US" sz="2100" dirty="0" err="1">
                <a:latin typeface="Arial" panose="020B0604020202020204" pitchFamily="34" charset="0"/>
                <a:cs typeface="Arial" panose="020B0604020202020204" pitchFamily="34" charset="0"/>
              </a:rPr>
              <a:t>city:City</a:t>
            </a:r>
            <a:r>
              <a:rPr lang="en-US" sz="2100" dirty="0">
                <a:latin typeface="Arial" panose="020B0604020202020204" pitchFamily="34" charset="0"/>
                <a:cs typeface="Arial" panose="020B0604020202020204" pitchFamily="34" charset="0"/>
              </a:rPr>
              <a:t>) WHERE </a:t>
            </a:r>
            <a:r>
              <a:rPr lang="en-US" sz="2100" dirty="0" err="1">
                <a:latin typeface="Arial" panose="020B0604020202020204" pitchFamily="34" charset="0"/>
                <a:cs typeface="Arial" panose="020B0604020202020204" pitchFamily="34" charset="0"/>
              </a:rPr>
              <a:t>s.since</a:t>
            </a:r>
            <a:r>
              <a:rPr lang="en-US" sz="2100" dirty="0">
                <a:latin typeface="Arial" panose="020B0604020202020204" pitchFamily="34" charset="0"/>
                <a:cs typeface="Arial" panose="020B0604020202020204" pitchFamily="34" charset="0"/>
              </a:rPr>
              <a:t> = 2015 RETURN </a:t>
            </a:r>
            <a:r>
              <a:rPr lang="en-US" sz="2100" dirty="0" err="1">
                <a:latin typeface="Arial" panose="020B0604020202020204" pitchFamily="34" charset="0"/>
                <a:cs typeface="Arial" panose="020B0604020202020204" pitchFamily="34" charset="0"/>
              </a:rPr>
              <a:t>p,state</a:t>
            </a:r>
            <a:endParaRPr lang="en-US" sz="2100" dirty="0">
              <a:latin typeface="Arial" panose="020B0604020202020204" pitchFamily="34" charset="0"/>
              <a:cs typeface="Arial" panose="020B0604020202020204" pitchFamily="34" charset="0"/>
            </a:endParaRPr>
          </a:p>
          <a:p>
            <a:pPr marL="0" indent="0">
              <a:lnSpc>
                <a:spcPct val="120000"/>
              </a:lnSpc>
              <a:spcBef>
                <a:spcPts val="0"/>
              </a:spcBef>
              <a:buNone/>
            </a:pPr>
            <a:endParaRPr lang="en-US" sz="21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100" dirty="0">
                <a:latin typeface="Arial" panose="020B0604020202020204" pitchFamily="34" charset="0"/>
                <a:cs typeface="Arial" panose="020B0604020202020204" pitchFamily="34" charset="0"/>
              </a:rPr>
              <a:t>You can use MATCH WHERE clause with CREATE clause </a:t>
            </a:r>
          </a:p>
          <a:p>
            <a:pPr marL="895350" indent="0">
              <a:lnSpc>
                <a:spcPct val="120000"/>
              </a:lnSpc>
              <a:spcBef>
                <a:spcPts val="0"/>
              </a:spcBef>
              <a:buNone/>
            </a:pPr>
            <a:r>
              <a:rPr lang="en-US" sz="2100" dirty="0">
                <a:latin typeface="Arial" panose="020B0604020202020204" pitchFamily="34" charset="0"/>
                <a:cs typeface="Arial" panose="020B0604020202020204" pitchFamily="34" charset="0"/>
              </a:rPr>
              <a:t>MATCH (a), (b) WHERE a.name = "Jacquie" AND b.name = "Michel" CREATE (a)-[:KNOWS]-(b)</a:t>
            </a:r>
          </a:p>
          <a:p>
            <a:pPr marL="0" indent="0">
              <a:lnSpc>
                <a:spcPct val="120000"/>
              </a:lnSpc>
              <a:spcBef>
                <a:spcPts val="0"/>
              </a:spcBef>
              <a:buNone/>
            </a:pPr>
            <a:endParaRPr lang="en-US" sz="21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100" b="1" dirty="0">
                <a:latin typeface="Arial" panose="020B0604020202020204" pitchFamily="34" charset="0"/>
                <a:cs typeface="Arial" panose="020B0604020202020204" pitchFamily="34" charset="0"/>
              </a:rPr>
              <a:t>Update queries</a:t>
            </a:r>
          </a:p>
          <a:p>
            <a:pPr marL="0" indent="0">
              <a:lnSpc>
                <a:spcPct val="120000"/>
              </a:lnSpc>
              <a:spcBef>
                <a:spcPts val="0"/>
              </a:spcBef>
              <a:buNone/>
            </a:pPr>
            <a:r>
              <a:rPr lang="en-US" sz="2100" dirty="0">
                <a:latin typeface="Arial" panose="020B0604020202020204" pitchFamily="34" charset="0"/>
                <a:cs typeface="Arial" panose="020B0604020202020204" pitchFamily="34" charset="0"/>
              </a:rPr>
              <a:t>Update a specific property of a node </a:t>
            </a:r>
          </a:p>
          <a:p>
            <a:pPr marL="0" indent="0">
              <a:lnSpc>
                <a:spcPct val="120000"/>
              </a:lnSpc>
              <a:spcBef>
                <a:spcPts val="0"/>
              </a:spcBef>
              <a:buNone/>
            </a:pPr>
            <a:r>
              <a:rPr lang="en-US" sz="2100" dirty="0">
                <a:latin typeface="Arial" panose="020B0604020202020204" pitchFamily="34" charset="0"/>
                <a:cs typeface="Arial" panose="020B0604020202020204" pitchFamily="34" charset="0"/>
              </a:rPr>
              <a:t>	MATCH (</a:t>
            </a:r>
            <a:r>
              <a:rPr lang="en-US" sz="2100" dirty="0" err="1">
                <a:latin typeface="Arial" panose="020B0604020202020204" pitchFamily="34" charset="0"/>
                <a:cs typeface="Arial" panose="020B0604020202020204" pitchFamily="34" charset="0"/>
              </a:rPr>
              <a:t>p:Person</a:t>
            </a:r>
            <a:r>
              <a:rPr lang="en-US" sz="2100" dirty="0">
                <a:latin typeface="Arial" panose="020B0604020202020204" pitchFamily="34" charset="0"/>
                <a:cs typeface="Arial" panose="020B0604020202020204" pitchFamily="34" charset="0"/>
              </a:rPr>
              <a:t>) WHERE p.name = "</a:t>
            </a:r>
            <a:r>
              <a:rPr lang="en-US" sz="2100" dirty="0" err="1">
                <a:latin typeface="Arial" panose="020B0604020202020204" pitchFamily="34" charset="0"/>
                <a:cs typeface="Arial" panose="020B0604020202020204" pitchFamily="34" charset="0"/>
              </a:rPr>
              <a:t>Théo</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Gauchoux</a:t>
            </a:r>
            <a:r>
              <a:rPr lang="en-US" sz="2100" dirty="0">
                <a:latin typeface="Arial" panose="020B0604020202020204" pitchFamily="34" charset="0"/>
                <a:cs typeface="Arial" panose="020B0604020202020204" pitchFamily="34" charset="0"/>
              </a:rPr>
              <a:t>" SET </a:t>
            </a:r>
            <a:r>
              <a:rPr lang="en-US" sz="2100" dirty="0" err="1">
                <a:latin typeface="Arial" panose="020B0604020202020204" pitchFamily="34" charset="0"/>
                <a:cs typeface="Arial" panose="020B0604020202020204" pitchFamily="34" charset="0"/>
              </a:rPr>
              <a:t>p.age</a:t>
            </a:r>
            <a:r>
              <a:rPr lang="en-US" sz="2100" dirty="0">
                <a:latin typeface="Arial" panose="020B0604020202020204" pitchFamily="34" charset="0"/>
                <a:cs typeface="Arial" panose="020B0604020202020204" pitchFamily="34" charset="0"/>
              </a:rPr>
              <a:t> = 23</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31</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70239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 Overview</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0"/>
              </a:spcBef>
              <a:buNone/>
            </a:pPr>
            <a:r>
              <a:rPr lang="en-US" sz="2200" dirty="0">
                <a:latin typeface="Arial" panose="020B0604020202020204" pitchFamily="34" charset="0"/>
                <a:cs typeface="Arial" panose="020B0604020202020204" pitchFamily="34" charset="0"/>
              </a:rPr>
              <a:t>Replace all properties of a node </a:t>
            </a:r>
          </a:p>
          <a:p>
            <a:pPr marL="895350" indent="0">
              <a:lnSpc>
                <a:spcPct val="120000"/>
              </a:lnSpc>
              <a:spcBef>
                <a:spcPts val="0"/>
              </a:spcBef>
              <a:buNone/>
            </a:pPr>
            <a:r>
              <a:rPr lang="en-US" sz="2200" dirty="0">
                <a:latin typeface="Arial" panose="020B0604020202020204" pitchFamily="34" charset="0"/>
                <a:cs typeface="Arial" panose="020B0604020202020204" pitchFamily="34" charset="0"/>
              </a:rPr>
              <a:t>MATCH (</a:t>
            </a:r>
            <a:r>
              <a:rPr lang="en-US" sz="2200" dirty="0" err="1">
                <a:latin typeface="Arial" panose="020B0604020202020204" pitchFamily="34" charset="0"/>
                <a:cs typeface="Arial" panose="020B0604020202020204" pitchFamily="34" charset="0"/>
              </a:rPr>
              <a:t>p:Person</a:t>
            </a:r>
            <a:r>
              <a:rPr lang="en-US" sz="2200" dirty="0">
                <a:latin typeface="Arial" panose="020B0604020202020204" pitchFamily="34" charset="0"/>
                <a:cs typeface="Arial" panose="020B0604020202020204" pitchFamily="34" charset="0"/>
              </a:rPr>
              <a:t>) WHERE p.name = "</a:t>
            </a:r>
            <a:r>
              <a:rPr lang="en-US" sz="2200" dirty="0" err="1">
                <a:latin typeface="Arial" panose="020B0604020202020204" pitchFamily="34" charset="0"/>
                <a:cs typeface="Arial" panose="020B0604020202020204" pitchFamily="34" charset="0"/>
              </a:rPr>
              <a:t>Théo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Gauchoux</a:t>
            </a:r>
            <a:r>
              <a:rPr lang="en-US" sz="2200" dirty="0">
                <a:latin typeface="Arial" panose="020B0604020202020204" pitchFamily="34" charset="0"/>
                <a:cs typeface="Arial" panose="020B0604020202020204" pitchFamily="34" charset="0"/>
              </a:rPr>
              <a:t>" SET p = {name: "Michel", age: 23}</a:t>
            </a:r>
          </a:p>
          <a:p>
            <a:pPr marL="0" indent="0">
              <a:lnSpc>
                <a:spcPct val="12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200" dirty="0">
                <a:latin typeface="Arial" panose="020B0604020202020204" pitchFamily="34" charset="0"/>
                <a:cs typeface="Arial" panose="020B0604020202020204" pitchFamily="34" charset="0"/>
              </a:rPr>
              <a:t>Add new property to a node </a:t>
            </a:r>
          </a:p>
          <a:p>
            <a:pPr marL="895350" indent="0">
              <a:lnSpc>
                <a:spcPct val="120000"/>
              </a:lnSpc>
              <a:spcBef>
                <a:spcPts val="0"/>
              </a:spcBef>
              <a:buNone/>
            </a:pPr>
            <a:r>
              <a:rPr lang="en-US" sz="2200" dirty="0">
                <a:latin typeface="Arial" panose="020B0604020202020204" pitchFamily="34" charset="0"/>
                <a:cs typeface="Arial" panose="020B0604020202020204" pitchFamily="34" charset="0"/>
              </a:rPr>
              <a:t>MATCH (</a:t>
            </a:r>
            <a:r>
              <a:rPr lang="en-US" sz="2200" dirty="0" err="1">
                <a:latin typeface="Arial" panose="020B0604020202020204" pitchFamily="34" charset="0"/>
                <a:cs typeface="Arial" panose="020B0604020202020204" pitchFamily="34" charset="0"/>
              </a:rPr>
              <a:t>p:Person</a:t>
            </a:r>
            <a:r>
              <a:rPr lang="en-US" sz="2200" dirty="0">
                <a:latin typeface="Arial" panose="020B0604020202020204" pitchFamily="34" charset="0"/>
                <a:cs typeface="Arial" panose="020B0604020202020204" pitchFamily="34" charset="0"/>
              </a:rPr>
              <a:t>) WHERE p.name = "</a:t>
            </a:r>
            <a:r>
              <a:rPr lang="en-US" sz="2200" dirty="0" err="1">
                <a:latin typeface="Arial" panose="020B0604020202020204" pitchFamily="34" charset="0"/>
                <a:cs typeface="Arial" panose="020B0604020202020204" pitchFamily="34" charset="0"/>
              </a:rPr>
              <a:t>Théo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Gauchoux</a:t>
            </a:r>
            <a:r>
              <a:rPr lang="en-US" sz="2200" dirty="0">
                <a:latin typeface="Arial" panose="020B0604020202020204" pitchFamily="34" charset="0"/>
                <a:cs typeface="Arial" panose="020B0604020202020204" pitchFamily="34" charset="0"/>
              </a:rPr>
              <a:t>" SET p + = {studies: "IT Engineering"}</a:t>
            </a:r>
          </a:p>
          <a:p>
            <a:pPr marL="0" indent="0">
              <a:lnSpc>
                <a:spcPct val="120000"/>
              </a:lnSpc>
              <a:spcBef>
                <a:spcPts val="0"/>
              </a:spcBef>
              <a:buNone/>
            </a:pPr>
            <a:endParaRPr lang="en-US" sz="22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200" dirty="0">
                <a:latin typeface="Arial" panose="020B0604020202020204" pitchFamily="34" charset="0"/>
                <a:cs typeface="Arial" panose="020B0604020202020204" pitchFamily="34" charset="0"/>
              </a:rPr>
              <a:t>Add a label to a node </a:t>
            </a:r>
          </a:p>
          <a:p>
            <a:pPr marL="0" indent="0">
              <a:lnSpc>
                <a:spcPct val="120000"/>
              </a:lnSpc>
              <a:spcBef>
                <a:spcPts val="0"/>
              </a:spcBef>
              <a:buNone/>
            </a:pPr>
            <a:r>
              <a:rPr lang="en-US" sz="2200" dirty="0">
                <a:latin typeface="Arial" panose="020B0604020202020204" pitchFamily="34" charset="0"/>
                <a:cs typeface="Arial" panose="020B0604020202020204" pitchFamily="34" charset="0"/>
              </a:rPr>
              <a:t>	MATCH (</a:t>
            </a:r>
            <a:r>
              <a:rPr lang="en-US" sz="2200" dirty="0" err="1">
                <a:latin typeface="Arial" panose="020B0604020202020204" pitchFamily="34" charset="0"/>
                <a:cs typeface="Arial" panose="020B0604020202020204" pitchFamily="34" charset="0"/>
              </a:rPr>
              <a:t>p:Person</a:t>
            </a:r>
            <a:r>
              <a:rPr lang="en-US" sz="2200" dirty="0">
                <a:latin typeface="Arial" panose="020B0604020202020204" pitchFamily="34" charset="0"/>
                <a:cs typeface="Arial" panose="020B0604020202020204" pitchFamily="34" charset="0"/>
              </a:rPr>
              <a:t>) WHERE p.name = "</a:t>
            </a:r>
            <a:r>
              <a:rPr lang="en-US" sz="2200" dirty="0" err="1">
                <a:latin typeface="Arial" panose="020B0604020202020204" pitchFamily="34" charset="0"/>
                <a:cs typeface="Arial" panose="020B0604020202020204" pitchFamily="34" charset="0"/>
              </a:rPr>
              <a:t>Théo</a:t>
            </a:r>
            <a:r>
              <a:rPr lang="en-US" sz="2200" dirty="0">
                <a:latin typeface="Arial" panose="020B0604020202020204" pitchFamily="34" charset="0"/>
                <a:cs typeface="Arial" panose="020B0604020202020204" pitchFamily="34" charset="0"/>
              </a:rPr>
              <a:t> </a:t>
            </a:r>
            <a:r>
              <a:rPr lang="en-US" sz="2200" dirty="0" err="1">
                <a:latin typeface="Arial" panose="020B0604020202020204" pitchFamily="34" charset="0"/>
                <a:cs typeface="Arial" panose="020B0604020202020204" pitchFamily="34" charset="0"/>
              </a:rPr>
              <a:t>Gauchoux</a:t>
            </a:r>
            <a:r>
              <a:rPr lang="en-US" sz="2200" dirty="0">
                <a:latin typeface="Arial" panose="020B0604020202020204" pitchFamily="34" charset="0"/>
                <a:cs typeface="Arial" panose="020B0604020202020204" pitchFamily="34" charset="0"/>
              </a:rPr>
              <a:t>" SET p:Internship</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32</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763231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 Overview</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0"/>
              </a:spcBef>
              <a:buNone/>
            </a:pPr>
            <a:r>
              <a:rPr lang="en-US" sz="2100" b="1" dirty="0">
                <a:latin typeface="Arial" panose="020B0604020202020204" pitchFamily="34" charset="0"/>
                <a:cs typeface="Arial" panose="020B0604020202020204" pitchFamily="34" charset="0"/>
              </a:rPr>
              <a:t>Delete queries</a:t>
            </a:r>
          </a:p>
          <a:p>
            <a:pPr marL="0" indent="0">
              <a:lnSpc>
                <a:spcPct val="120000"/>
              </a:lnSpc>
              <a:spcBef>
                <a:spcPts val="0"/>
              </a:spcBef>
              <a:buNone/>
            </a:pPr>
            <a:r>
              <a:rPr lang="en-US" sz="2100" dirty="0">
                <a:latin typeface="Arial" panose="020B0604020202020204" pitchFamily="34" charset="0"/>
                <a:cs typeface="Arial" panose="020B0604020202020204" pitchFamily="34" charset="0"/>
              </a:rPr>
              <a:t>Delete a specific node (linked relationships must be deleted before) </a:t>
            </a:r>
          </a:p>
          <a:p>
            <a:pPr marL="895350" indent="0">
              <a:lnSpc>
                <a:spcPct val="120000"/>
              </a:lnSpc>
              <a:spcBef>
                <a:spcPts val="0"/>
              </a:spcBef>
              <a:buNone/>
            </a:pPr>
            <a:r>
              <a:rPr lang="en-US" sz="2100" dirty="0">
                <a:latin typeface="Arial" panose="020B0604020202020204" pitchFamily="34" charset="0"/>
                <a:cs typeface="Arial" panose="020B0604020202020204" pitchFamily="34" charset="0"/>
              </a:rPr>
              <a:t>MATCH (</a:t>
            </a:r>
            <a:r>
              <a:rPr lang="en-US" sz="2100" dirty="0" err="1">
                <a:latin typeface="Arial" panose="020B0604020202020204" pitchFamily="34" charset="0"/>
                <a:cs typeface="Arial" panose="020B0604020202020204" pitchFamily="34" charset="0"/>
              </a:rPr>
              <a:t>p:Person</a:t>
            </a:r>
            <a:r>
              <a:rPr lang="en-US" sz="2100" dirty="0">
                <a:latin typeface="Arial" panose="020B0604020202020204" pitchFamily="34" charset="0"/>
                <a:cs typeface="Arial" panose="020B0604020202020204" pitchFamily="34" charset="0"/>
              </a:rPr>
              <a:t>)-[relationship]-() WHERE p.name = "</a:t>
            </a:r>
            <a:r>
              <a:rPr lang="en-US" sz="2100" dirty="0" err="1">
                <a:latin typeface="Arial" panose="020B0604020202020204" pitchFamily="34" charset="0"/>
                <a:cs typeface="Arial" panose="020B0604020202020204" pitchFamily="34" charset="0"/>
              </a:rPr>
              <a:t>Théo</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Gauchoux</a:t>
            </a:r>
            <a:r>
              <a:rPr lang="en-US" sz="2100" dirty="0">
                <a:latin typeface="Arial" panose="020B0604020202020204" pitchFamily="34" charset="0"/>
                <a:cs typeface="Arial" panose="020B0604020202020204" pitchFamily="34" charset="0"/>
              </a:rPr>
              <a:t>" DELETE relationship, p</a:t>
            </a:r>
          </a:p>
          <a:p>
            <a:pPr marL="0" indent="0">
              <a:lnSpc>
                <a:spcPct val="120000"/>
              </a:lnSpc>
              <a:spcBef>
                <a:spcPts val="0"/>
              </a:spcBef>
              <a:buNone/>
            </a:pPr>
            <a:endParaRPr lang="en-US" sz="21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100" dirty="0">
                <a:latin typeface="Arial" panose="020B0604020202020204" pitchFamily="34" charset="0"/>
                <a:cs typeface="Arial" panose="020B0604020202020204" pitchFamily="34" charset="0"/>
              </a:rPr>
              <a:t>Remove a property in a specific node </a:t>
            </a:r>
          </a:p>
          <a:p>
            <a:pPr marL="895350" indent="0">
              <a:lnSpc>
                <a:spcPct val="120000"/>
              </a:lnSpc>
              <a:spcBef>
                <a:spcPts val="0"/>
              </a:spcBef>
              <a:buNone/>
            </a:pPr>
            <a:r>
              <a:rPr lang="en-US" sz="2100" dirty="0">
                <a:latin typeface="Arial" panose="020B0604020202020204" pitchFamily="34" charset="0"/>
                <a:cs typeface="Arial" panose="020B0604020202020204" pitchFamily="34" charset="0"/>
              </a:rPr>
              <a:t>MATCH (</a:t>
            </a:r>
            <a:r>
              <a:rPr lang="en-US" sz="2100" dirty="0" err="1">
                <a:latin typeface="Arial" panose="020B0604020202020204" pitchFamily="34" charset="0"/>
                <a:cs typeface="Arial" panose="020B0604020202020204" pitchFamily="34" charset="0"/>
              </a:rPr>
              <a:t>p:Person</a:t>
            </a:r>
            <a:r>
              <a:rPr lang="en-US" sz="2100" dirty="0">
                <a:latin typeface="Arial" panose="020B0604020202020204" pitchFamily="34" charset="0"/>
                <a:cs typeface="Arial" panose="020B0604020202020204" pitchFamily="34" charset="0"/>
              </a:rPr>
              <a:t>) WHERE p.name = "</a:t>
            </a:r>
            <a:r>
              <a:rPr lang="en-US" sz="2100" dirty="0" err="1">
                <a:latin typeface="Arial" panose="020B0604020202020204" pitchFamily="34" charset="0"/>
                <a:cs typeface="Arial" panose="020B0604020202020204" pitchFamily="34" charset="0"/>
              </a:rPr>
              <a:t>Théo</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Gauchoux</a:t>
            </a:r>
            <a:r>
              <a:rPr lang="en-US" sz="2100" dirty="0">
                <a:latin typeface="Arial" panose="020B0604020202020204" pitchFamily="34" charset="0"/>
                <a:cs typeface="Arial" panose="020B0604020202020204" pitchFamily="34" charset="0"/>
              </a:rPr>
              <a:t>" REMOVE </a:t>
            </a:r>
            <a:r>
              <a:rPr lang="en-US" sz="2100" dirty="0" err="1">
                <a:latin typeface="Arial" panose="020B0604020202020204" pitchFamily="34" charset="0"/>
                <a:cs typeface="Arial" panose="020B0604020202020204" pitchFamily="34" charset="0"/>
              </a:rPr>
              <a:t>p.age</a:t>
            </a:r>
            <a:r>
              <a:rPr lang="en-US" sz="2100" dirty="0">
                <a:latin typeface="Arial" panose="020B0604020202020204" pitchFamily="34" charset="0"/>
                <a:cs typeface="Arial" panose="020B0604020202020204" pitchFamily="34" charset="0"/>
              </a:rPr>
              <a:t> Pay attention to the </a:t>
            </a:r>
            <a:r>
              <a:rPr lang="en-US" sz="2100" dirty="0" err="1">
                <a:latin typeface="Arial" panose="020B0604020202020204" pitchFamily="34" charset="0"/>
                <a:cs typeface="Arial" panose="020B0604020202020204" pitchFamily="34" charset="0"/>
              </a:rPr>
              <a:t>REMOVEkeyword</a:t>
            </a:r>
            <a:r>
              <a:rPr lang="en-US" sz="2100" dirty="0">
                <a:latin typeface="Arial" panose="020B0604020202020204" pitchFamily="34" charset="0"/>
                <a:cs typeface="Arial" panose="020B0604020202020204" pitchFamily="34" charset="0"/>
              </a:rPr>
              <a:t>, it’s not DELETE !</a:t>
            </a:r>
          </a:p>
          <a:p>
            <a:pPr marL="0" indent="0">
              <a:lnSpc>
                <a:spcPct val="120000"/>
              </a:lnSpc>
              <a:spcBef>
                <a:spcPts val="0"/>
              </a:spcBef>
              <a:buNone/>
            </a:pPr>
            <a:endParaRPr lang="en-US" sz="2100" dirty="0">
              <a:latin typeface="Arial" panose="020B0604020202020204" pitchFamily="34" charset="0"/>
              <a:cs typeface="Arial" panose="020B0604020202020204" pitchFamily="34" charset="0"/>
            </a:endParaRPr>
          </a:p>
          <a:p>
            <a:pPr marL="0" indent="0">
              <a:lnSpc>
                <a:spcPct val="120000"/>
              </a:lnSpc>
              <a:spcBef>
                <a:spcPts val="0"/>
              </a:spcBef>
              <a:buNone/>
            </a:pPr>
            <a:r>
              <a:rPr lang="en-US" sz="2100" dirty="0">
                <a:latin typeface="Arial" panose="020B0604020202020204" pitchFamily="34" charset="0"/>
                <a:cs typeface="Arial" panose="020B0604020202020204" pitchFamily="34" charset="0"/>
              </a:rPr>
              <a:t>Remove a label from a specific node </a:t>
            </a:r>
          </a:p>
          <a:p>
            <a:pPr marL="895350" indent="0">
              <a:lnSpc>
                <a:spcPct val="120000"/>
              </a:lnSpc>
              <a:spcBef>
                <a:spcPts val="0"/>
              </a:spcBef>
              <a:buNone/>
            </a:pPr>
            <a:r>
              <a:rPr lang="en-US" sz="2100" dirty="0">
                <a:latin typeface="Arial" panose="020B0604020202020204" pitchFamily="34" charset="0"/>
                <a:cs typeface="Arial" panose="020B0604020202020204" pitchFamily="34" charset="0"/>
              </a:rPr>
              <a:t>MATCH (</a:t>
            </a:r>
            <a:r>
              <a:rPr lang="en-US" sz="2100" dirty="0" err="1">
                <a:latin typeface="Arial" panose="020B0604020202020204" pitchFamily="34" charset="0"/>
                <a:cs typeface="Arial" panose="020B0604020202020204" pitchFamily="34" charset="0"/>
              </a:rPr>
              <a:t>p:Person</a:t>
            </a:r>
            <a:r>
              <a:rPr lang="en-US" sz="2100" dirty="0">
                <a:latin typeface="Arial" panose="020B0604020202020204" pitchFamily="34" charset="0"/>
                <a:cs typeface="Arial" panose="020B0604020202020204" pitchFamily="34" charset="0"/>
              </a:rPr>
              <a:t>) WHERE p.name = "</a:t>
            </a:r>
            <a:r>
              <a:rPr lang="en-US" sz="2100" dirty="0" err="1">
                <a:latin typeface="Arial" panose="020B0604020202020204" pitchFamily="34" charset="0"/>
                <a:cs typeface="Arial" panose="020B0604020202020204" pitchFamily="34" charset="0"/>
              </a:rPr>
              <a:t>Théo</a:t>
            </a:r>
            <a:r>
              <a:rPr lang="en-US" sz="2100" dirty="0">
                <a:latin typeface="Arial" panose="020B0604020202020204" pitchFamily="34" charset="0"/>
                <a:cs typeface="Arial" panose="020B0604020202020204" pitchFamily="34" charset="0"/>
              </a:rPr>
              <a:t> </a:t>
            </a:r>
            <a:r>
              <a:rPr lang="en-US" sz="2100" dirty="0" err="1">
                <a:latin typeface="Arial" panose="020B0604020202020204" pitchFamily="34" charset="0"/>
                <a:cs typeface="Arial" panose="020B0604020202020204" pitchFamily="34" charset="0"/>
              </a:rPr>
              <a:t>Gauchoux</a:t>
            </a:r>
            <a:r>
              <a:rPr lang="en-US" sz="2100" dirty="0">
                <a:latin typeface="Arial" panose="020B0604020202020204" pitchFamily="34" charset="0"/>
                <a:cs typeface="Arial" panose="020B0604020202020204" pitchFamily="34" charset="0"/>
              </a:rPr>
              <a:t>" DELETE p:Person</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33</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9197142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Neo4j - Overview</a:t>
            </a:r>
          </a:p>
        </p:txBody>
      </p:sp>
      <p:sp>
        <p:nvSpPr>
          <p:cNvPr id="3" name="Content Placeholder 2"/>
          <p:cNvSpPr>
            <a:spLocks noGrp="1"/>
          </p:cNvSpPr>
          <p:nvPr>
            <p:ph idx="1"/>
          </p:nvPr>
        </p:nvSpPr>
        <p:spPr>
          <a:xfrm>
            <a:off x="838199" y="1690688"/>
            <a:ext cx="10515601" cy="4486275"/>
          </a:xfrm>
        </p:spPr>
        <p:txBody>
          <a:bodyPr>
            <a:noAutofit/>
          </a:bodyPr>
          <a:lstStyle/>
          <a:p>
            <a:pPr marL="0" indent="0">
              <a:lnSpc>
                <a:spcPct val="120000"/>
              </a:lnSpc>
              <a:spcBef>
                <a:spcPts val="0"/>
              </a:spcBef>
              <a:buNone/>
            </a:pPr>
            <a:r>
              <a:rPr lang="en-US" sz="2400" dirty="0">
                <a:latin typeface="Arial" panose="020B0604020202020204" pitchFamily="34" charset="0"/>
                <a:cs typeface="Arial" panose="020B0604020202020204" pitchFamily="34" charset="0"/>
              </a:rPr>
              <a:t>Delete entire database </a:t>
            </a:r>
          </a:p>
          <a:p>
            <a:pPr marL="895350" indent="0">
              <a:lnSpc>
                <a:spcPct val="120000"/>
              </a:lnSpc>
              <a:spcBef>
                <a:spcPts val="0"/>
              </a:spcBef>
              <a:buNone/>
            </a:pPr>
            <a:r>
              <a:rPr lang="en-US" sz="2400" dirty="0">
                <a:latin typeface="Arial" panose="020B0604020202020204" pitchFamily="34" charset="0"/>
                <a:cs typeface="Arial" panose="020B0604020202020204" pitchFamily="34" charset="0"/>
              </a:rPr>
              <a:t>MATCH (n) OPTIONAL MATCH (n)-[r]-() DELETE n, r</a:t>
            </a:r>
          </a:p>
          <a:p>
            <a:pPr marL="895350" indent="0">
              <a:lnSpc>
                <a:spcPct val="120000"/>
              </a:lnSpc>
              <a:spcBef>
                <a:spcPts val="0"/>
              </a:spcBef>
              <a:buNone/>
            </a:pPr>
            <a:r>
              <a:rPr lang="en-US" sz="2400" dirty="0">
                <a:latin typeface="Arial" panose="020B0604020202020204" pitchFamily="34" charset="0"/>
                <a:cs typeface="Arial" panose="020B0604020202020204" pitchFamily="34" charset="0"/>
              </a:rPr>
              <a:t>OR</a:t>
            </a:r>
          </a:p>
          <a:p>
            <a:pPr marL="895350" indent="0">
              <a:lnSpc>
                <a:spcPct val="120000"/>
              </a:lnSpc>
              <a:spcBef>
                <a:spcPts val="0"/>
              </a:spcBef>
              <a:buNone/>
            </a:pPr>
            <a:r>
              <a:rPr lang="en-US" sz="2400" dirty="0">
                <a:latin typeface="Arial" panose="020B0604020202020204" pitchFamily="34" charset="0"/>
                <a:cs typeface="Arial" panose="020B0604020202020204" pitchFamily="34" charset="0"/>
              </a:rPr>
              <a:t>MATCH(n) DETACH DELETE(n)</a:t>
            </a: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2F25C4A8-1BA0-468A-B855-2EFA71CD0C96}"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34</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843129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b="1" u="sng" dirty="0">
                <a:solidFill>
                  <a:srgbClr val="0070C0"/>
                </a:solidFill>
                <a:latin typeface="Arial" panose="020B0604020202020204" pitchFamily="34" charset="0"/>
                <a:cs typeface="Arial" panose="020B0604020202020204" pitchFamily="34" charset="0"/>
              </a:rPr>
              <a:t>Summary</a:t>
            </a:r>
          </a:p>
        </p:txBody>
      </p:sp>
      <p:sp>
        <p:nvSpPr>
          <p:cNvPr id="3" name="Content Placeholder 2"/>
          <p:cNvSpPr>
            <a:spLocks noGrp="1"/>
          </p:cNvSpPr>
          <p:nvPr>
            <p:ph idx="1"/>
          </p:nvPr>
        </p:nvSpPr>
        <p:spPr>
          <a:xfrm>
            <a:off x="838200" y="1690688"/>
            <a:ext cx="10515600" cy="4486275"/>
          </a:xfrm>
        </p:spPr>
        <p:txBody>
          <a:bodyPr>
            <a:normAutofit/>
          </a:bodyPr>
          <a:lstStyle/>
          <a:p>
            <a:pPr marL="0" indent="0">
              <a:lnSpc>
                <a:spcPct val="120000"/>
              </a:lnSpc>
              <a:spcBef>
                <a:spcPts val="600"/>
              </a:spcBef>
              <a:spcAft>
                <a:spcPts val="600"/>
              </a:spcAft>
              <a:buNone/>
            </a:pPr>
            <a:r>
              <a:rPr lang="en-IN" sz="2400" dirty="0">
                <a:latin typeface="Arial" panose="020B0604020202020204" pitchFamily="34" charset="0"/>
                <a:cs typeface="Arial" panose="020B0604020202020204" pitchFamily="34" charset="0"/>
              </a:rPr>
              <a:t>This session will give the knowledge about</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Neo4j CQL General Clauses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Neo4j CQL Functions</a:t>
            </a:r>
          </a:p>
          <a:p>
            <a:pPr marL="996950" lvl="1" indent="-539750">
              <a:lnSpc>
                <a:spcPct val="120000"/>
              </a:lnSpc>
              <a:spcBef>
                <a:spcPts val="600"/>
              </a:spcBef>
              <a:spcAft>
                <a:spcPts val="600"/>
              </a:spcAft>
            </a:pPr>
            <a:r>
              <a:rPr lang="en-IN" dirty="0">
                <a:latin typeface="Arial" panose="020B0604020202020204" pitchFamily="34" charset="0"/>
                <a:cs typeface="Arial" panose="020B0604020202020204" pitchFamily="34" charset="0"/>
              </a:rPr>
              <a:t>Neo4j CQL Admin</a:t>
            </a:r>
          </a:p>
          <a:p>
            <a:pPr marL="996950" lvl="1" indent="-539750">
              <a:lnSpc>
                <a:spcPct val="120000"/>
              </a:lnSpc>
              <a:spcBef>
                <a:spcPts val="600"/>
              </a:spcBef>
              <a:spcAft>
                <a:spcPts val="600"/>
              </a:spcAft>
            </a:pPr>
            <a:endParaRPr lang="en-IN" dirty="0">
              <a:latin typeface="Arial" panose="020B0604020202020204" pitchFamily="34" charset="0"/>
              <a:cs typeface="Arial" panose="020B0604020202020204" pitchFamily="34" charset="0"/>
            </a:endParaRPr>
          </a:p>
          <a:p>
            <a:pPr marL="0" indent="0">
              <a:lnSpc>
                <a:spcPct val="120000"/>
              </a:lnSpc>
              <a:spcBef>
                <a:spcPts val="600"/>
              </a:spcBef>
              <a:spcAft>
                <a:spcPts val="600"/>
              </a:spcAft>
              <a:buNone/>
            </a:pPr>
            <a:endParaRPr lang="en-IN" sz="2400" dirty="0">
              <a:latin typeface="Arial" panose="020B0604020202020204" pitchFamily="34" charset="0"/>
              <a:cs typeface="Arial" panose="020B0604020202020204" pitchFamily="34" charset="0"/>
            </a:endParaRPr>
          </a:p>
        </p:txBody>
      </p:sp>
      <p:pic>
        <p:nvPicPr>
          <p:cNvPr id="4" name="Picture 2" descr="Image result for vit ap logo"/>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546183" y="275303"/>
            <a:ext cx="1324835" cy="610419"/>
          </a:xfrm>
          <a:prstGeom prst="rect">
            <a:avLst/>
          </a:prstGeom>
          <a:noFill/>
          <a:extLst>
            <a:ext uri="{909E8E84-426E-40DD-AFC4-6F175D3DCCD1}">
              <a14:hiddenFill xmlns:a14="http://schemas.microsoft.com/office/drawing/2010/main">
                <a:solidFill>
                  <a:srgbClr val="FFFFFF"/>
                </a:solidFill>
              </a14:hiddenFill>
            </a:ext>
          </a:extLst>
        </p:spPr>
      </p:pic>
      <p:sp>
        <p:nvSpPr>
          <p:cNvPr id="7" name="Date Placeholder 6"/>
          <p:cNvSpPr>
            <a:spLocks noGrp="1"/>
          </p:cNvSpPr>
          <p:nvPr>
            <p:ph type="dt" sz="half" idx="10"/>
          </p:nvPr>
        </p:nvSpPr>
        <p:spPr/>
        <p:txBody>
          <a:bodyPr/>
          <a:lstStyle/>
          <a:p>
            <a:fld id="{1E4FA2B1-6748-41D8-AB75-02C9BD84395F}" type="datetime1">
              <a:rPr lang="en-IN" smtClean="0">
                <a:latin typeface="Arial" panose="020B0604020202020204" pitchFamily="34" charset="0"/>
                <a:cs typeface="Arial" panose="020B0604020202020204" pitchFamily="34" charset="0"/>
              </a:rPr>
              <a:t>06-05-2023</a:t>
            </a:fld>
            <a:endParaRPr lang="en-IN" dirty="0">
              <a:latin typeface="Arial" panose="020B0604020202020204" pitchFamily="34" charset="0"/>
              <a:cs typeface="Arial" panose="020B0604020202020204" pitchFamily="34" charset="0"/>
            </a:endParaRPr>
          </a:p>
        </p:txBody>
      </p:sp>
      <p:sp>
        <p:nvSpPr>
          <p:cNvPr id="8" name="Footer Placeholder 7"/>
          <p:cNvSpPr>
            <a:spLocks noGrp="1"/>
          </p:cNvSpPr>
          <p:nvPr>
            <p:ph type="ftr" sz="quarter" idx="11"/>
          </p:nvPr>
        </p:nvSpPr>
        <p:spPr/>
        <p:txBody>
          <a:bodyPr/>
          <a:lstStyle/>
          <a:p>
            <a:r>
              <a:rPr lang="en-IN" dirty="0" err="1">
                <a:latin typeface="Arial" panose="020B0604020202020204" pitchFamily="34" charset="0"/>
                <a:cs typeface="Arial" panose="020B0604020202020204" pitchFamily="34" charset="0"/>
              </a:rPr>
              <a:t>Dr.</a:t>
            </a:r>
            <a:r>
              <a:rPr lang="en-IN" dirty="0">
                <a:latin typeface="Arial" panose="020B0604020202020204" pitchFamily="34" charset="0"/>
                <a:cs typeface="Arial" panose="020B0604020202020204" pitchFamily="34" charset="0"/>
              </a:rPr>
              <a:t> S. </a:t>
            </a:r>
            <a:r>
              <a:rPr lang="en-IN" dirty="0" err="1">
                <a:latin typeface="Arial" panose="020B0604020202020204" pitchFamily="34" charset="0"/>
                <a:cs typeface="Arial" panose="020B0604020202020204" pitchFamily="34" charset="0"/>
              </a:rPr>
              <a:t>Gopikrishnan</a:t>
            </a:r>
            <a:endParaRPr lang="en-IN" dirty="0">
              <a:latin typeface="Arial" panose="020B0604020202020204" pitchFamily="34" charset="0"/>
              <a:cs typeface="Arial" panose="020B0604020202020204" pitchFamily="34" charset="0"/>
            </a:endParaRPr>
          </a:p>
        </p:txBody>
      </p:sp>
      <p:sp>
        <p:nvSpPr>
          <p:cNvPr id="9" name="Slide Number Placeholder 8"/>
          <p:cNvSpPr>
            <a:spLocks noGrp="1"/>
          </p:cNvSpPr>
          <p:nvPr>
            <p:ph type="sldNum" sz="quarter" idx="12"/>
          </p:nvPr>
        </p:nvSpPr>
        <p:spPr/>
        <p:txBody>
          <a:bodyPr/>
          <a:lstStyle/>
          <a:p>
            <a:fld id="{C2011AD3-8200-41C9-B135-CD8425EA2F68}" type="slidenum">
              <a:rPr lang="en-IN" smtClean="0">
                <a:latin typeface="Arial" panose="020B0604020202020204" pitchFamily="34" charset="0"/>
                <a:cs typeface="Arial" panose="020B0604020202020204" pitchFamily="34" charset="0"/>
              </a:rPr>
              <a:t>35</a:t>
            </a:fld>
            <a:endParaRPr lang="en-IN"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9057809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IT PPT Template.pptx" id="{54091FC3-898D-497D-92ED-2AD4019B5909}" vid="{614E3B1B-8E84-45D1-BB2E-2BDD1EEBD47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VIT PPT Template</Template>
  <TotalTime>4824</TotalTime>
  <Words>2834</Words>
  <Application>Microsoft Office PowerPoint</Application>
  <PresentationFormat>Widescreen</PresentationFormat>
  <Paragraphs>414</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Calibri (Body)</vt:lpstr>
      <vt:lpstr>Calibri Light</vt:lpstr>
      <vt:lpstr>Office Theme</vt:lpstr>
      <vt:lpstr>Course code : CSE3009 Course title  : No SQL Data Bases Module  : 6     Topic   : 5</vt:lpstr>
      <vt:lpstr>Objectives</vt:lpstr>
      <vt:lpstr>Return Clause</vt:lpstr>
      <vt:lpstr>Return Clause</vt:lpstr>
      <vt:lpstr>Return Clause</vt:lpstr>
      <vt:lpstr>Return Clause</vt:lpstr>
      <vt:lpstr>Order By Clause</vt:lpstr>
      <vt:lpstr>Limit Clause</vt:lpstr>
      <vt:lpstr>Skip Clause</vt:lpstr>
      <vt:lpstr>With Clause</vt:lpstr>
      <vt:lpstr>UNWIND Clause</vt:lpstr>
      <vt:lpstr>String Functions</vt:lpstr>
      <vt:lpstr>String Functions</vt:lpstr>
      <vt:lpstr>Aggregate Functions</vt:lpstr>
      <vt:lpstr>Count Function</vt:lpstr>
      <vt:lpstr>Count Function</vt:lpstr>
      <vt:lpstr>Count Function</vt:lpstr>
      <vt:lpstr>Aggregation Function</vt:lpstr>
      <vt:lpstr>Predicate functions</vt:lpstr>
      <vt:lpstr>Predicate functions</vt:lpstr>
      <vt:lpstr>Predicate functions</vt:lpstr>
      <vt:lpstr>Predicate functions</vt:lpstr>
      <vt:lpstr>Neo4j - Backup</vt:lpstr>
      <vt:lpstr>Neo4j Database Restore</vt:lpstr>
      <vt:lpstr>Neo4j - Index</vt:lpstr>
      <vt:lpstr>Neo4j - Index</vt:lpstr>
      <vt:lpstr>UNIQUE Constraint</vt:lpstr>
      <vt:lpstr>Neo4j - Drop Unique</vt:lpstr>
      <vt:lpstr>Neo4j - Overview</vt:lpstr>
      <vt:lpstr>Neo4j - Overview</vt:lpstr>
      <vt:lpstr>Neo4j - Overview</vt:lpstr>
      <vt:lpstr>Neo4j - Overview</vt:lpstr>
      <vt:lpstr>Neo4j - Overview</vt:lpstr>
      <vt:lpstr>Neo4j - Overview</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code : CSE1004 Course title  : Database Management System</dc:title>
  <dc:creator>gopikrishnan sundaram</dc:creator>
  <cp:lastModifiedBy>Dr. Gopikrishnan S</cp:lastModifiedBy>
  <cp:revision>224</cp:revision>
  <dcterms:created xsi:type="dcterms:W3CDTF">2019-11-30T05:18:24Z</dcterms:created>
  <dcterms:modified xsi:type="dcterms:W3CDTF">2023-05-06T05:07:34Z</dcterms:modified>
</cp:coreProperties>
</file>