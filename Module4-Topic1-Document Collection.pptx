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6" r:id="rId2"/>
    <p:sldId id="258" r:id="rId3"/>
    <p:sldId id="332" r:id="rId4"/>
    <p:sldId id="454" r:id="rId5"/>
    <p:sldId id="455" r:id="rId6"/>
    <p:sldId id="453" r:id="rId7"/>
    <p:sldId id="443" r:id="rId8"/>
    <p:sldId id="444" r:id="rId9"/>
    <p:sldId id="445" r:id="rId10"/>
    <p:sldId id="446" r:id="rId11"/>
    <p:sldId id="447" r:id="rId12"/>
    <p:sldId id="448" r:id="rId13"/>
    <p:sldId id="449" r:id="rId14"/>
    <p:sldId id="450" r:id="rId15"/>
    <p:sldId id="451" r:id="rId16"/>
    <p:sldId id="452" r:id="rId17"/>
    <p:sldId id="456" r:id="rId18"/>
    <p:sldId id="457" r:id="rId19"/>
    <p:sldId id="458" r:id="rId20"/>
    <p:sldId id="459" r:id="rId21"/>
    <p:sldId id="460" r:id="rId22"/>
    <p:sldId id="461" r:id="rId23"/>
    <p:sldId id="462" r:id="rId24"/>
    <p:sldId id="463" r:id="rId25"/>
    <p:sldId id="464" r:id="rId26"/>
    <p:sldId id="465" r:id="rId27"/>
    <p:sldId id="466" r:id="rId28"/>
    <p:sldId id="467" r:id="rId29"/>
    <p:sldId id="468" r:id="rId30"/>
    <p:sldId id="469" r:id="rId31"/>
    <p:sldId id="470" r:id="rId32"/>
    <p:sldId id="471" r:id="rId33"/>
    <p:sldId id="472" r:id="rId34"/>
    <p:sldId id="473" r:id="rId35"/>
    <p:sldId id="474" r:id="rId36"/>
    <p:sldId id="475" r:id="rId37"/>
    <p:sldId id="477" r:id="rId38"/>
    <p:sldId id="476" r:id="rId39"/>
    <p:sldId id="259"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CC00"/>
    <a:srgbClr val="2102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643"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F716F9-1CCB-412E-807B-54E78A47C39C}" type="datetimeFigureOut">
              <a:rPr lang="en-IN" smtClean="0"/>
              <a:t>01-09-2025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070DDA-CF3D-48BA-A0B0-D24E17EB7419}" type="slidenum">
              <a:rPr lang="en-IN" smtClean="0"/>
              <a:t>‹#›</a:t>
            </a:fld>
            <a:endParaRPr lang="en-IN"/>
          </a:p>
        </p:txBody>
      </p:sp>
    </p:spTree>
    <p:extLst>
      <p:ext uri="{BB962C8B-B14F-4D97-AF65-F5344CB8AC3E}">
        <p14:creationId xmlns:p14="http://schemas.microsoft.com/office/powerpoint/2010/main" val="2542869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18207AF-BBE6-41CB-838F-3B91C45E6842}" type="datetime1">
              <a:rPr lang="en-IN" smtClean="0"/>
              <a:t>01-09-2025</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4120577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42001CB-2F0D-4565-974A-BB3B4237F7A0}" type="datetime1">
              <a:rPr lang="en-IN" smtClean="0"/>
              <a:t>01-09-2025</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pic>
        <p:nvPicPr>
          <p:cNvPr id="7" name="Picture 6">
            <a:extLst>
              <a:ext uri="{FF2B5EF4-FFF2-40B4-BE49-F238E27FC236}">
                <a16:creationId xmlns:a16="http://schemas.microsoft.com/office/drawing/2014/main" id="{4078F5D7-02CB-C57F-CB6D-52E7486C00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2200" y="276043"/>
            <a:ext cx="1918795" cy="594091"/>
          </a:xfrm>
          <a:prstGeom prst="rect">
            <a:avLst/>
          </a:prstGeom>
        </p:spPr>
      </p:pic>
    </p:spTree>
    <p:extLst>
      <p:ext uri="{BB962C8B-B14F-4D97-AF65-F5344CB8AC3E}">
        <p14:creationId xmlns:p14="http://schemas.microsoft.com/office/powerpoint/2010/main" val="242886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325E08F-6321-4732-8935-8B18B4878320}" type="datetime1">
              <a:rPr lang="en-IN" smtClean="0"/>
              <a:t>01-09-2025</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pic>
        <p:nvPicPr>
          <p:cNvPr id="7" name="Picture 6">
            <a:extLst>
              <a:ext uri="{FF2B5EF4-FFF2-40B4-BE49-F238E27FC236}">
                <a16:creationId xmlns:a16="http://schemas.microsoft.com/office/drawing/2014/main" id="{A22FDC0E-7866-43D3-D2E5-D2D5BC50678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2200" y="276043"/>
            <a:ext cx="1918795" cy="594091"/>
          </a:xfrm>
          <a:prstGeom prst="rect">
            <a:avLst/>
          </a:prstGeom>
        </p:spPr>
      </p:pic>
    </p:spTree>
    <p:extLst>
      <p:ext uri="{BB962C8B-B14F-4D97-AF65-F5344CB8AC3E}">
        <p14:creationId xmlns:p14="http://schemas.microsoft.com/office/powerpoint/2010/main" val="1870895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FAE6CD2-53BA-43CE-85B2-BECBEC79BED8}" type="datetime1">
              <a:rPr lang="en-IN" smtClean="0"/>
              <a:t>01-09-2025</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pic>
        <p:nvPicPr>
          <p:cNvPr id="8" name="Picture 7">
            <a:extLst>
              <a:ext uri="{FF2B5EF4-FFF2-40B4-BE49-F238E27FC236}">
                <a16:creationId xmlns:a16="http://schemas.microsoft.com/office/drawing/2014/main" id="{1E18FD4C-C3FF-58F8-8E6A-4FA699672C0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2200" y="276043"/>
            <a:ext cx="1918795" cy="594091"/>
          </a:xfrm>
          <a:prstGeom prst="rect">
            <a:avLst/>
          </a:prstGeom>
        </p:spPr>
      </p:pic>
    </p:spTree>
    <p:extLst>
      <p:ext uri="{BB962C8B-B14F-4D97-AF65-F5344CB8AC3E}">
        <p14:creationId xmlns:p14="http://schemas.microsoft.com/office/powerpoint/2010/main" val="11329585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010AD05-A4E4-4CA4-974B-F265446B2FC3}" type="datetime1">
              <a:rPr lang="en-IN" smtClean="0"/>
              <a:t>01-09-2025</a:t>
            </a:fld>
            <a:endParaRPr lang="en-IN"/>
          </a:p>
        </p:txBody>
      </p:sp>
      <p:sp>
        <p:nvSpPr>
          <p:cNvPr id="8" name="Footer Placeholder 7"/>
          <p:cNvSpPr>
            <a:spLocks noGrp="1"/>
          </p:cNvSpPr>
          <p:nvPr>
            <p:ph type="ftr" sz="quarter" idx="11"/>
          </p:nvPr>
        </p:nvSpPr>
        <p:spPr/>
        <p:txBody>
          <a:bodyPr/>
          <a:lstStyle/>
          <a:p>
            <a:r>
              <a:rPr lang="en-IN"/>
              <a:t>Dr. S. Gopikrishnan</a:t>
            </a:r>
          </a:p>
        </p:txBody>
      </p:sp>
      <p:sp>
        <p:nvSpPr>
          <p:cNvPr id="9" name="Slide Number Placeholder 8"/>
          <p:cNvSpPr>
            <a:spLocks noGrp="1"/>
          </p:cNvSpPr>
          <p:nvPr>
            <p:ph type="sldNum" sz="quarter" idx="12"/>
          </p:nvPr>
        </p:nvSpPr>
        <p:spPr/>
        <p:txBody>
          <a:bodyPr/>
          <a:lstStyle/>
          <a:p>
            <a:fld id="{E02F8B39-E037-49D7-848F-F055834E3AA1}" type="slidenum">
              <a:rPr lang="en-IN" smtClean="0"/>
              <a:t>‹#›</a:t>
            </a:fld>
            <a:endParaRPr lang="en-IN"/>
          </a:p>
        </p:txBody>
      </p:sp>
      <p:pic>
        <p:nvPicPr>
          <p:cNvPr id="10" name="Picture 9">
            <a:extLst>
              <a:ext uri="{FF2B5EF4-FFF2-40B4-BE49-F238E27FC236}">
                <a16:creationId xmlns:a16="http://schemas.microsoft.com/office/drawing/2014/main" id="{62D34081-028F-6FF2-1CC4-4317ACD6286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2200" y="276043"/>
            <a:ext cx="1918795" cy="594091"/>
          </a:xfrm>
          <a:prstGeom prst="rect">
            <a:avLst/>
          </a:prstGeom>
        </p:spPr>
      </p:pic>
    </p:spTree>
    <p:extLst>
      <p:ext uri="{BB962C8B-B14F-4D97-AF65-F5344CB8AC3E}">
        <p14:creationId xmlns:p14="http://schemas.microsoft.com/office/powerpoint/2010/main" val="1855418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28D32E8-1E32-4E2A-B217-B612998A856C}" type="datetime1">
              <a:rPr lang="en-IN" smtClean="0"/>
              <a:t>01-09-2025</a:t>
            </a:fld>
            <a:endParaRPr lang="en-IN"/>
          </a:p>
        </p:txBody>
      </p:sp>
      <p:sp>
        <p:nvSpPr>
          <p:cNvPr id="4" name="Footer Placeholder 3"/>
          <p:cNvSpPr>
            <a:spLocks noGrp="1"/>
          </p:cNvSpPr>
          <p:nvPr>
            <p:ph type="ftr" sz="quarter" idx="11"/>
          </p:nvPr>
        </p:nvSpPr>
        <p:spPr/>
        <p:txBody>
          <a:bodyPr/>
          <a:lstStyle/>
          <a:p>
            <a:r>
              <a:rPr lang="en-IN"/>
              <a:t>Dr. S. Gopikrishnan</a:t>
            </a:r>
          </a:p>
        </p:txBody>
      </p:sp>
      <p:sp>
        <p:nvSpPr>
          <p:cNvPr id="5" name="Slide Number Placeholder 4"/>
          <p:cNvSpPr>
            <a:spLocks noGrp="1"/>
          </p:cNvSpPr>
          <p:nvPr>
            <p:ph type="sldNum" sz="quarter" idx="12"/>
          </p:nvPr>
        </p:nvSpPr>
        <p:spPr/>
        <p:txBody>
          <a:bodyPr/>
          <a:lstStyle/>
          <a:p>
            <a:fld id="{E02F8B39-E037-49D7-848F-F055834E3AA1}" type="slidenum">
              <a:rPr lang="en-IN" smtClean="0"/>
              <a:t>‹#›</a:t>
            </a:fld>
            <a:endParaRPr lang="en-IN"/>
          </a:p>
        </p:txBody>
      </p:sp>
      <p:pic>
        <p:nvPicPr>
          <p:cNvPr id="6" name="Picture 5">
            <a:extLst>
              <a:ext uri="{FF2B5EF4-FFF2-40B4-BE49-F238E27FC236}">
                <a16:creationId xmlns:a16="http://schemas.microsoft.com/office/drawing/2014/main" id="{65BA41E0-76A8-3B00-D458-F87B96B0FE3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2200" y="276043"/>
            <a:ext cx="1918795" cy="594091"/>
          </a:xfrm>
          <a:prstGeom prst="rect">
            <a:avLst/>
          </a:prstGeom>
        </p:spPr>
      </p:pic>
    </p:spTree>
    <p:extLst>
      <p:ext uri="{BB962C8B-B14F-4D97-AF65-F5344CB8AC3E}">
        <p14:creationId xmlns:p14="http://schemas.microsoft.com/office/powerpoint/2010/main" val="2777863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CE7F75-E219-4A7A-86AA-8B901170D2FE}" type="datetime1">
              <a:rPr lang="en-IN" smtClean="0"/>
              <a:t>01-09-2025</a:t>
            </a:fld>
            <a:endParaRPr lang="en-IN"/>
          </a:p>
        </p:txBody>
      </p:sp>
      <p:sp>
        <p:nvSpPr>
          <p:cNvPr id="3" name="Footer Placeholder 2"/>
          <p:cNvSpPr>
            <a:spLocks noGrp="1"/>
          </p:cNvSpPr>
          <p:nvPr>
            <p:ph type="ftr" sz="quarter" idx="11"/>
          </p:nvPr>
        </p:nvSpPr>
        <p:spPr/>
        <p:txBody>
          <a:bodyPr/>
          <a:lstStyle/>
          <a:p>
            <a:r>
              <a:rPr lang="en-IN"/>
              <a:t>Dr. S. Gopikrishnan</a:t>
            </a:r>
          </a:p>
        </p:txBody>
      </p:sp>
      <p:sp>
        <p:nvSpPr>
          <p:cNvPr id="4" name="Slide Number Placeholder 3"/>
          <p:cNvSpPr>
            <a:spLocks noGrp="1"/>
          </p:cNvSpPr>
          <p:nvPr>
            <p:ph type="sldNum" sz="quarter" idx="12"/>
          </p:nvPr>
        </p:nvSpPr>
        <p:spPr/>
        <p:txBody>
          <a:bodyPr/>
          <a:lstStyle/>
          <a:p>
            <a:fld id="{E02F8B39-E037-49D7-848F-F055834E3AA1}" type="slidenum">
              <a:rPr lang="en-IN" smtClean="0"/>
              <a:t>‹#›</a:t>
            </a:fld>
            <a:endParaRPr lang="en-IN"/>
          </a:p>
        </p:txBody>
      </p:sp>
      <p:pic>
        <p:nvPicPr>
          <p:cNvPr id="5" name="Picture 4">
            <a:extLst>
              <a:ext uri="{FF2B5EF4-FFF2-40B4-BE49-F238E27FC236}">
                <a16:creationId xmlns:a16="http://schemas.microsoft.com/office/drawing/2014/main" id="{A80B0938-8C94-B31E-8FF1-FDE1972A437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2200" y="276043"/>
            <a:ext cx="1918795" cy="594091"/>
          </a:xfrm>
          <a:prstGeom prst="rect">
            <a:avLst/>
          </a:prstGeom>
        </p:spPr>
      </p:pic>
    </p:spTree>
    <p:extLst>
      <p:ext uri="{BB962C8B-B14F-4D97-AF65-F5344CB8AC3E}">
        <p14:creationId xmlns:p14="http://schemas.microsoft.com/office/powerpoint/2010/main" val="1262413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6F16AFA-FDBE-49F0-A857-020340421B04}" type="datetime1">
              <a:rPr lang="en-IN" smtClean="0"/>
              <a:t>01-09-2025</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441355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F176920-F609-41C5-957C-A5E46109118D}" type="datetime1">
              <a:rPr lang="en-IN" smtClean="0"/>
              <a:t>01-09-2025</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397715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8908AA1-2BEE-4CB8-A992-73CF63948E2E}" type="datetime1">
              <a:rPr lang="en-IN" smtClean="0"/>
              <a:t>01-09-2025</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2486892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957EAF6-71C1-4CCC-BB0E-BC6703073DD8}" type="datetime1">
              <a:rPr lang="en-IN" smtClean="0"/>
              <a:t>01-09-2025</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98657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A101D-20D2-4D81-A838-9588DFC7E809}" type="datetime1">
              <a:rPr lang="en-IN" smtClean="0"/>
              <a:t>01-09-2025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Dr. S. Gopikrishnan</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2F8B39-E037-49D7-848F-F055834E3AA1}" type="slidenum">
              <a:rPr lang="en-IN" smtClean="0"/>
              <a:t>‹#›</a:t>
            </a:fld>
            <a:endParaRPr lang="en-IN"/>
          </a:p>
        </p:txBody>
      </p:sp>
    </p:spTree>
    <p:extLst>
      <p:ext uri="{BB962C8B-B14F-4D97-AF65-F5344CB8AC3E}">
        <p14:creationId xmlns:p14="http://schemas.microsoft.com/office/powerpoint/2010/main" val="37427917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ctrTitle"/>
          </p:nvPr>
        </p:nvSpPr>
        <p:spPr>
          <a:xfrm>
            <a:off x="1524000" y="2178260"/>
            <a:ext cx="9144000" cy="953575"/>
          </a:xfrm>
        </p:spPr>
        <p:txBody>
          <a:bodyPr>
            <a:noAutofit/>
          </a:bodyPr>
          <a:lstStyle/>
          <a:p>
            <a:pPr algn="l">
              <a:lnSpc>
                <a:spcPct val="100000"/>
              </a:lnSpc>
            </a:pPr>
            <a:r>
              <a:rPr lang="en-IN" sz="2800" dirty="0">
                <a:solidFill>
                  <a:srgbClr val="00B050"/>
                </a:solidFill>
                <a:latin typeface="Arial" panose="020B0604020202020204" pitchFamily="34" charset="0"/>
                <a:cs typeface="Arial" panose="020B0604020202020204" pitchFamily="34" charset="0"/>
              </a:rPr>
              <a:t>Course code	: </a:t>
            </a:r>
            <a:r>
              <a:rPr lang="en-IN" sz="2800" b="1" dirty="0">
                <a:solidFill>
                  <a:srgbClr val="00B050"/>
                </a:solidFill>
                <a:latin typeface="Arial" panose="020B0604020202020204" pitchFamily="34" charset="0"/>
                <a:cs typeface="Arial" panose="020B0604020202020204" pitchFamily="34" charset="0"/>
              </a:rPr>
              <a:t>CSE3009</a:t>
            </a:r>
            <a:br>
              <a:rPr lang="en-IN" sz="2800"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Course title		: </a:t>
            </a:r>
            <a:r>
              <a:rPr lang="en-IN" sz="2800" b="1" dirty="0">
                <a:solidFill>
                  <a:srgbClr val="00B050"/>
                </a:solidFill>
                <a:latin typeface="Arial" panose="020B0604020202020204" pitchFamily="34" charset="0"/>
                <a:cs typeface="Arial" panose="020B0604020202020204" pitchFamily="34" charset="0"/>
              </a:rPr>
              <a:t>No SQL Data Bases</a:t>
            </a:r>
            <a:br>
              <a:rPr lang="en-IN" sz="2800" b="1"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Module		: </a:t>
            </a:r>
            <a:r>
              <a:rPr lang="en-IN" sz="2800" b="1" dirty="0">
                <a:solidFill>
                  <a:srgbClr val="00B050"/>
                </a:solidFill>
                <a:latin typeface="Arial" panose="020B0604020202020204" pitchFamily="34" charset="0"/>
                <a:cs typeface="Arial" panose="020B0604020202020204" pitchFamily="34" charset="0"/>
              </a:rPr>
              <a:t>4</a:t>
            </a:r>
            <a:r>
              <a:rPr lang="en-IN" sz="2800" dirty="0">
                <a:solidFill>
                  <a:srgbClr val="00B050"/>
                </a:solidFill>
                <a:latin typeface="Arial" panose="020B0604020202020204" pitchFamily="34" charset="0"/>
                <a:cs typeface="Arial" panose="020B0604020202020204" pitchFamily="34" charset="0"/>
              </a:rPr>
              <a:t> 			</a:t>
            </a:r>
            <a:br>
              <a:rPr lang="en-IN" sz="2800"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Topic			: </a:t>
            </a:r>
            <a:r>
              <a:rPr lang="en-IN" sz="2800" b="1" dirty="0">
                <a:solidFill>
                  <a:srgbClr val="00B050"/>
                </a:solidFill>
                <a:latin typeface="Arial" panose="020B0604020202020204" pitchFamily="34" charset="0"/>
                <a:cs typeface="Arial" panose="020B0604020202020204" pitchFamily="34" charset="0"/>
              </a:rPr>
              <a:t>1</a:t>
            </a:r>
          </a:p>
        </p:txBody>
      </p:sp>
      <p:sp>
        <p:nvSpPr>
          <p:cNvPr id="6" name="Subtitle 2"/>
          <p:cNvSpPr>
            <a:spLocks noGrp="1"/>
          </p:cNvSpPr>
          <p:nvPr>
            <p:ph type="subTitle" idx="1"/>
          </p:nvPr>
        </p:nvSpPr>
        <p:spPr>
          <a:xfrm>
            <a:off x="1402183" y="3677818"/>
            <a:ext cx="9144000" cy="1655762"/>
          </a:xfrm>
        </p:spPr>
        <p:txBody>
          <a:bodyPr>
            <a:normAutofit/>
          </a:bodyPr>
          <a:lstStyle/>
          <a:p>
            <a:r>
              <a:rPr lang="en-US" sz="4000" b="1" dirty="0">
                <a:solidFill>
                  <a:srgbClr val="0070C0"/>
                </a:solidFill>
                <a:latin typeface="Arial" panose="020B0604020202020204" pitchFamily="34" charset="0"/>
                <a:cs typeface="Arial" panose="020B0604020202020204" pitchFamily="34" charset="0"/>
              </a:rPr>
              <a:t>Document Oriented Database</a:t>
            </a:r>
            <a:endParaRPr lang="en-IN" sz="4000" b="1" dirty="0">
              <a:solidFill>
                <a:srgbClr val="0070C0"/>
              </a:solidFill>
              <a:latin typeface="Arial" panose="020B0604020202020204" pitchFamily="34" charset="0"/>
              <a:cs typeface="Arial" panose="020B0604020202020204" pitchFamily="34" charset="0"/>
            </a:endParaRPr>
          </a:p>
        </p:txBody>
      </p:sp>
      <p:pic>
        <p:nvPicPr>
          <p:cNvPr id="7"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8" name="Date Placeholder 7"/>
          <p:cNvSpPr>
            <a:spLocks noGrp="1"/>
          </p:cNvSpPr>
          <p:nvPr>
            <p:ph type="dt" sz="half" idx="10"/>
          </p:nvPr>
        </p:nvSpPr>
        <p:spPr/>
        <p:txBody>
          <a:bodyPr/>
          <a:lstStyle/>
          <a:p>
            <a:fld id="{756728E3-B72D-49A5-85A2-5AE45557AE43}" type="datetime1">
              <a:rPr lang="en-IN" smtClean="0">
                <a:latin typeface="Calibri (Body)"/>
              </a:rPr>
              <a:t>01-09-2025</a:t>
            </a:fld>
            <a:endParaRPr lang="en-IN" dirty="0">
              <a:latin typeface="Calibri (Body)"/>
            </a:endParaRPr>
          </a:p>
        </p:txBody>
      </p:sp>
      <p:sp>
        <p:nvSpPr>
          <p:cNvPr id="9" name="Footer Placeholder 8"/>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Gopikrishnan</a:t>
            </a:r>
          </a:p>
        </p:txBody>
      </p:sp>
      <p:sp>
        <p:nvSpPr>
          <p:cNvPr id="10" name="Slide Number Placeholder 9"/>
          <p:cNvSpPr>
            <a:spLocks noGrp="1"/>
          </p:cNvSpPr>
          <p:nvPr>
            <p:ph type="sldNum" sz="quarter" idx="12"/>
          </p:nvPr>
        </p:nvSpPr>
        <p:spPr/>
        <p:txBody>
          <a:bodyPr/>
          <a:lstStyle/>
          <a:p>
            <a:fld id="{E02F8B39-E037-49D7-848F-F055834E3AA1}" type="slidenum">
              <a:rPr lang="en-IN" smtClean="0">
                <a:latin typeface="Arial" panose="020B0604020202020204" pitchFamily="34" charset="0"/>
                <a:cs typeface="Arial" panose="020B0604020202020204" pitchFamily="34" charset="0"/>
              </a:rPr>
              <a:t>1</a:t>
            </a:fld>
            <a:endParaRPr lang="en-IN" dirty="0">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11A732A4-F066-2EC8-D8DC-1D26125C0DF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82200" y="276043"/>
            <a:ext cx="1918795" cy="594091"/>
          </a:xfrm>
          <a:prstGeom prst="rect">
            <a:avLst/>
          </a:prstGeom>
        </p:spPr>
      </p:pic>
    </p:spTree>
    <p:extLst>
      <p:ext uri="{BB962C8B-B14F-4D97-AF65-F5344CB8AC3E}">
        <p14:creationId xmlns:p14="http://schemas.microsoft.com/office/powerpoint/2010/main" val="25589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Objectives</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600"/>
              </a:spcBef>
              <a:spcAft>
                <a:spcPts val="600"/>
              </a:spcAft>
              <a:buNone/>
            </a:pPr>
            <a:r>
              <a:rPr lang="en-IN" sz="2400" dirty="0">
                <a:latin typeface="Arial" panose="020B0604020202020204" pitchFamily="34" charset="0"/>
                <a:cs typeface="Arial" panose="020B0604020202020204" pitchFamily="34" charset="0"/>
              </a:rPr>
              <a:t>This session will give the knowledge about</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Document</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Collection</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CRUD Operations</a:t>
            </a:r>
          </a:p>
          <a:p>
            <a:pPr marL="996950" lvl="1" indent="-539750">
              <a:lnSpc>
                <a:spcPct val="120000"/>
              </a:lnSpc>
              <a:spcBef>
                <a:spcPts val="600"/>
              </a:spcBef>
              <a:spcAft>
                <a:spcPts val="600"/>
              </a:spcAft>
            </a:pPr>
            <a:endParaRPr lang="en-IN" dirty="0">
              <a:latin typeface="Arial" panose="020B0604020202020204" pitchFamily="34" charset="0"/>
              <a:cs typeface="Arial" panose="020B0604020202020204" pitchFamily="34" charset="0"/>
            </a:endParaRPr>
          </a:p>
          <a:p>
            <a:pPr marL="996950" lvl="1" indent="-539750">
              <a:lnSpc>
                <a:spcPct val="120000"/>
              </a:lnSpc>
              <a:spcBef>
                <a:spcPts val="600"/>
              </a:spcBef>
              <a:spcAft>
                <a:spcPts val="600"/>
              </a:spcAft>
            </a:pPr>
            <a:endParaRPr lang="en-IN"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01-09-2025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066111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Document Oriented Databases</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solidFill>
                  <a:srgbClr val="FF0000"/>
                </a:solidFill>
                <a:latin typeface="Arial" panose="020B0604020202020204" pitchFamily="34" charset="0"/>
                <a:cs typeface="Arial" panose="020B0604020202020204" pitchFamily="34" charset="0"/>
              </a:rPr>
              <a:t>Document databases</a:t>
            </a:r>
            <a:r>
              <a:rPr lang="en-US" sz="2400" dirty="0">
                <a:latin typeface="Arial" panose="020B0604020202020204" pitchFamily="34" charset="0"/>
                <a:cs typeface="Arial" panose="020B0604020202020204" pitchFamily="34" charset="0"/>
              </a:rPr>
              <a:t>, also called document-oriented databases, </a:t>
            </a:r>
            <a:r>
              <a:rPr lang="en-US" sz="2400" dirty="0">
                <a:solidFill>
                  <a:srgbClr val="FF0000"/>
                </a:solidFill>
                <a:latin typeface="Arial" panose="020B0604020202020204" pitchFamily="34" charset="0"/>
                <a:cs typeface="Arial" panose="020B0604020202020204" pitchFamily="34" charset="0"/>
              </a:rPr>
              <a:t>use a key-value approach to storing data </a:t>
            </a:r>
            <a:r>
              <a:rPr lang="en-US" sz="2400" dirty="0">
                <a:latin typeface="Arial" panose="020B0604020202020204" pitchFamily="34" charset="0"/>
                <a:cs typeface="Arial" panose="020B0604020202020204" pitchFamily="34" charset="0"/>
              </a:rPr>
              <a:t>but with important differences from key-value databases. </a:t>
            </a:r>
          </a:p>
          <a:p>
            <a:pPr marL="0" indent="0">
              <a:lnSpc>
                <a:spcPct val="120000"/>
              </a:lnSpc>
              <a:spcBef>
                <a:spcPts val="1800"/>
              </a:spcBef>
              <a:spcAft>
                <a:spcPts val="600"/>
              </a:spcAft>
              <a:buNone/>
            </a:pPr>
            <a:r>
              <a:rPr lang="en-US" sz="2400" dirty="0">
                <a:solidFill>
                  <a:srgbClr val="0000FF"/>
                </a:solidFill>
                <a:latin typeface="Arial" panose="020B0604020202020204" pitchFamily="34" charset="0"/>
                <a:cs typeface="Arial" panose="020B0604020202020204" pitchFamily="34" charset="0"/>
              </a:rPr>
              <a:t>A document database stores values as documents</a:t>
            </a:r>
            <a:r>
              <a:rPr lang="en-US" sz="2400" dirty="0">
                <a:latin typeface="Arial" panose="020B0604020202020204" pitchFamily="34" charset="0"/>
                <a:cs typeface="Arial" panose="020B0604020202020204" pitchFamily="34" charset="0"/>
              </a:rPr>
              <a:t>. In this case, documents are semi structured entities, typically in a standard format such as </a:t>
            </a:r>
            <a:r>
              <a:rPr lang="en-US" sz="2400" dirty="0">
                <a:solidFill>
                  <a:srgbClr val="FF0000"/>
                </a:solidFill>
                <a:latin typeface="Arial" panose="020B0604020202020204" pitchFamily="34" charset="0"/>
                <a:cs typeface="Arial" panose="020B0604020202020204" pitchFamily="34" charset="0"/>
              </a:rPr>
              <a:t>JavaScript Object Notation (JSON) or Extensible Markup Language (XML)</a:t>
            </a:r>
            <a:r>
              <a:rPr lang="en-US" sz="2400" dirty="0">
                <a:latin typeface="Arial" panose="020B0604020202020204" pitchFamily="34" charset="0"/>
                <a:cs typeface="Arial" panose="020B0604020202020204" pitchFamily="34" charset="0"/>
              </a:rPr>
              <a:t>.</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It refers to data structures that are stored as strings or binary representations of strings.</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01-09-2025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92243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Document Oriented Databases</a:t>
            </a:r>
          </a:p>
        </p:txBody>
      </p:sp>
      <p:sp>
        <p:nvSpPr>
          <p:cNvPr id="3" name="Content Placeholder 2"/>
          <p:cNvSpPr>
            <a:spLocks noGrp="1"/>
          </p:cNvSpPr>
          <p:nvPr>
            <p:ph idx="1"/>
          </p:nvPr>
        </p:nvSpPr>
        <p:spPr>
          <a:xfrm>
            <a:off x="838200" y="1690688"/>
            <a:ext cx="10515600" cy="4486275"/>
          </a:xfrm>
        </p:spPr>
        <p:txBody>
          <a:bodyPr>
            <a:normAutofit fontScale="92500" lnSpcReduction="10000"/>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Instead of storing each attribute of an entity with a separate key, document databases store multiple attributes in a single document. Here is a simple example of a document in </a:t>
            </a:r>
            <a:r>
              <a:rPr lang="en-US" sz="2400" dirty="0">
                <a:solidFill>
                  <a:srgbClr val="FF0000"/>
                </a:solidFill>
                <a:latin typeface="Arial" panose="020B0604020202020204" pitchFamily="34" charset="0"/>
                <a:cs typeface="Arial" panose="020B0604020202020204" pitchFamily="34" charset="0"/>
              </a:rPr>
              <a:t>JSON format</a:t>
            </a:r>
            <a:r>
              <a:rPr lang="en-US" sz="2400" dirty="0">
                <a:latin typeface="Arial" panose="020B0604020202020204" pitchFamily="34" charset="0"/>
                <a:cs typeface="Arial" panose="020B0604020202020204" pitchFamily="34" charset="0"/>
              </a:rPr>
              <a:t>:</a:t>
            </a:r>
          </a:p>
          <a:p>
            <a:pPr marL="722313" indent="0">
              <a:lnSpc>
                <a:spcPct val="130000"/>
              </a:lnSpc>
              <a:spcBef>
                <a:spcPts val="1800"/>
              </a:spcBef>
              <a:buNone/>
            </a:pPr>
            <a:r>
              <a:rPr lang="en-US" sz="2400" dirty="0">
                <a:latin typeface="Arial" panose="020B0604020202020204" pitchFamily="34" charset="0"/>
                <a:cs typeface="Arial" panose="020B0604020202020204" pitchFamily="34" charset="0"/>
              </a:rPr>
              <a:t>{</a:t>
            </a:r>
          </a:p>
          <a:p>
            <a:pPr marL="722313" indent="0">
              <a:lnSpc>
                <a:spcPct val="130000"/>
              </a:lnSpc>
              <a:spcBef>
                <a:spcPts val="0"/>
              </a:spcBef>
              <a:buNone/>
            </a:pPr>
            <a:r>
              <a:rPr lang="en-US" sz="2400" dirty="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firstName</a:t>
            </a:r>
            <a:r>
              <a:rPr lang="en-US" sz="2400" dirty="0">
                <a:latin typeface="Arial" panose="020B0604020202020204" pitchFamily="34" charset="0"/>
                <a:cs typeface="Arial" panose="020B0604020202020204" pitchFamily="34" charset="0"/>
              </a:rPr>
              <a:t>”: “Alice”,</a:t>
            </a:r>
          </a:p>
          <a:p>
            <a:pPr marL="722313" indent="0">
              <a:lnSpc>
                <a:spcPct val="130000"/>
              </a:lnSpc>
              <a:spcBef>
                <a:spcPts val="0"/>
              </a:spcBef>
              <a:buNone/>
            </a:pPr>
            <a:r>
              <a:rPr lang="en-US" sz="2400" dirty="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lastName</a:t>
            </a:r>
            <a:r>
              <a:rPr lang="en-US" sz="2400" dirty="0">
                <a:latin typeface="Arial" panose="020B0604020202020204" pitchFamily="34" charset="0"/>
                <a:cs typeface="Arial" panose="020B0604020202020204" pitchFamily="34" charset="0"/>
              </a:rPr>
              <a:t>”: “Johnson”,</a:t>
            </a:r>
          </a:p>
          <a:p>
            <a:pPr marL="722313" indent="0">
              <a:lnSpc>
                <a:spcPct val="130000"/>
              </a:lnSpc>
              <a:spcBef>
                <a:spcPts val="0"/>
              </a:spcBef>
              <a:buNone/>
            </a:pPr>
            <a:r>
              <a:rPr lang="en-US" sz="2400" dirty="0">
                <a:latin typeface="Arial" panose="020B0604020202020204" pitchFamily="34" charset="0"/>
                <a:cs typeface="Arial" panose="020B0604020202020204" pitchFamily="34" charset="0"/>
              </a:rPr>
              <a:t>“position”: “CFO”,</a:t>
            </a:r>
          </a:p>
          <a:p>
            <a:pPr marL="722313" indent="0">
              <a:lnSpc>
                <a:spcPct val="130000"/>
              </a:lnSpc>
              <a:spcBef>
                <a:spcPts val="0"/>
              </a:spcBef>
              <a:buNone/>
            </a:pPr>
            <a:r>
              <a:rPr lang="en-US" sz="2400" dirty="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officeNumber</a:t>
            </a:r>
            <a:r>
              <a:rPr lang="en-US" sz="2400" dirty="0">
                <a:latin typeface="Arial" panose="020B0604020202020204" pitchFamily="34" charset="0"/>
                <a:cs typeface="Arial" panose="020B0604020202020204" pitchFamily="34" charset="0"/>
              </a:rPr>
              <a:t>”: “2-120”,</a:t>
            </a:r>
          </a:p>
          <a:p>
            <a:pPr marL="722313" indent="0">
              <a:lnSpc>
                <a:spcPct val="130000"/>
              </a:lnSpc>
              <a:spcBef>
                <a:spcPts val="0"/>
              </a:spcBef>
              <a:buNone/>
            </a:pPr>
            <a:r>
              <a:rPr lang="en-US" sz="2400" dirty="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officePhone</a:t>
            </a:r>
            <a:r>
              <a:rPr lang="en-US" sz="240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“555-222-3456”,</a:t>
            </a:r>
          </a:p>
          <a:p>
            <a:pPr marL="722313" indent="0">
              <a:lnSpc>
                <a:spcPct val="130000"/>
              </a:lnSpc>
              <a:spcBef>
                <a:spcPts val="0"/>
              </a:spcBef>
              <a:buNone/>
            </a:pPr>
            <a:r>
              <a:rPr lang="en-US" sz="2400" dirty="0">
                <a:latin typeface="Arial" panose="020B0604020202020204" pitchFamily="34" charset="0"/>
                <a:cs typeface="Arial" panose="020B0604020202020204" pitchFamily="34" charset="0"/>
              </a:rPr>
              <a:t>}</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01-09-2025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4</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61947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Document Oriented Databases</a:t>
            </a:r>
          </a:p>
        </p:txBody>
      </p:sp>
      <p:sp>
        <p:nvSpPr>
          <p:cNvPr id="3" name="Content Placeholder 2"/>
          <p:cNvSpPr>
            <a:spLocks noGrp="1"/>
          </p:cNvSpPr>
          <p:nvPr>
            <p:ph idx="1"/>
          </p:nvPr>
        </p:nvSpPr>
        <p:spPr>
          <a:xfrm>
            <a:off x="838200" y="1690688"/>
            <a:ext cx="10515600" cy="4486275"/>
          </a:xfrm>
        </p:spPr>
        <p:txBody>
          <a:bodyPr>
            <a:normAutofit fontScale="92500"/>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One of the most important characteristics of document databases is </a:t>
            </a:r>
            <a:r>
              <a:rPr lang="en-US" sz="2400" dirty="0">
                <a:solidFill>
                  <a:srgbClr val="FF0000"/>
                </a:solidFill>
                <a:latin typeface="Arial" panose="020B0604020202020204" pitchFamily="34" charset="0"/>
                <a:cs typeface="Arial" panose="020B0604020202020204" pitchFamily="34" charset="0"/>
              </a:rPr>
              <a:t>you do not have to define a fixed schema before you add data to the database</a:t>
            </a:r>
            <a:r>
              <a:rPr lang="en-US" sz="2400" dirty="0">
                <a:latin typeface="Arial" panose="020B0604020202020204" pitchFamily="34" charset="0"/>
                <a:cs typeface="Arial" panose="020B0604020202020204" pitchFamily="34" charset="0"/>
              </a:rPr>
              <a:t>.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Simply adding a document to the database creates the underlying data structures needed to support the document.</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 lack of a fixed schema gives developers </a:t>
            </a:r>
            <a:r>
              <a:rPr lang="en-US" sz="2400" dirty="0">
                <a:solidFill>
                  <a:srgbClr val="FF0000"/>
                </a:solidFill>
                <a:latin typeface="Arial" panose="020B0604020202020204" pitchFamily="34" charset="0"/>
                <a:cs typeface="Arial" panose="020B0604020202020204" pitchFamily="34" charset="0"/>
              </a:rPr>
              <a:t>more flexibility </a:t>
            </a:r>
            <a:r>
              <a:rPr lang="en-US" sz="2400" dirty="0">
                <a:latin typeface="Arial" panose="020B0604020202020204" pitchFamily="34" charset="0"/>
                <a:cs typeface="Arial" panose="020B0604020202020204" pitchFamily="34" charset="0"/>
              </a:rPr>
              <a:t>with document databases than they have with relational databases.</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Document databases </a:t>
            </a:r>
            <a:r>
              <a:rPr lang="en-US" sz="2400" dirty="0">
                <a:solidFill>
                  <a:srgbClr val="FF0000"/>
                </a:solidFill>
                <a:latin typeface="Arial" panose="020B0604020202020204" pitchFamily="34" charset="0"/>
                <a:cs typeface="Arial" panose="020B0604020202020204" pitchFamily="34" charset="0"/>
              </a:rPr>
              <a:t>provide application programming interfaces (APIs) or query languages</a:t>
            </a:r>
            <a:r>
              <a:rPr lang="en-US" sz="2400" dirty="0">
                <a:latin typeface="Arial" panose="020B0604020202020204" pitchFamily="34" charset="0"/>
                <a:cs typeface="Arial" panose="020B0604020202020204" pitchFamily="34" charset="0"/>
              </a:rPr>
              <a:t> that enable you to retrieve documents based on attribute values.</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01-09-2025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5</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930631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Document</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solidFill>
                  <a:srgbClr val="FF0000"/>
                </a:solidFill>
                <a:latin typeface="Arial" panose="020B0604020202020204" pitchFamily="34" charset="0"/>
                <a:cs typeface="Arial" panose="020B0604020202020204" pitchFamily="34" charset="0"/>
              </a:rPr>
              <a:t>Documents and collections are the basic data structures </a:t>
            </a:r>
            <a:r>
              <a:rPr lang="en-US" sz="2400" dirty="0">
                <a:latin typeface="Arial" panose="020B0604020202020204" pitchFamily="34" charset="0"/>
                <a:cs typeface="Arial" panose="020B0604020202020204" pitchFamily="34" charset="0"/>
              </a:rPr>
              <a:t>of a document database. They are somewhat analogous to rows and tables in relational databases.</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A document is a set of ordered key-value pairs. A key value is a data structure that consists of two parts called, the key and the value.</a:t>
            </a:r>
          </a:p>
          <a:p>
            <a:pPr marL="0" indent="0">
              <a:lnSpc>
                <a:spcPct val="120000"/>
              </a:lnSpc>
              <a:spcBef>
                <a:spcPts val="1800"/>
              </a:spcBef>
              <a:spcAft>
                <a:spcPts val="600"/>
              </a:spcAft>
              <a:buNone/>
            </a:pPr>
            <a:r>
              <a:rPr lang="en-US" sz="2400" dirty="0">
                <a:solidFill>
                  <a:srgbClr val="FF0000"/>
                </a:solidFill>
                <a:latin typeface="Arial" panose="020B0604020202020204" pitchFamily="34" charset="0"/>
                <a:cs typeface="Arial" panose="020B0604020202020204" pitchFamily="34" charset="0"/>
              </a:rPr>
              <a:t>A key is a unique identifier used to look up a value</a:t>
            </a:r>
            <a:r>
              <a:rPr lang="en-US" sz="2400" dirty="0">
                <a:latin typeface="Arial" panose="020B0604020202020204" pitchFamily="34" charset="0"/>
                <a:cs typeface="Arial" panose="020B0604020202020204" pitchFamily="34" charset="0"/>
              </a:rPr>
              <a:t>. </a:t>
            </a:r>
            <a:r>
              <a:rPr lang="en-US" sz="2400" dirty="0">
                <a:solidFill>
                  <a:srgbClr val="0000FF"/>
                </a:solidFill>
                <a:latin typeface="Arial" panose="020B0604020202020204" pitchFamily="34" charset="0"/>
                <a:cs typeface="Arial" panose="020B0604020202020204" pitchFamily="34" charset="0"/>
              </a:rPr>
              <a:t>A value is an instance of any supported data type, such as a string, number, array, or list</a:t>
            </a:r>
            <a:r>
              <a:rPr lang="en-US" sz="2400" dirty="0">
                <a:latin typeface="Arial" panose="020B0604020202020204" pitchFamily="34" charset="0"/>
                <a:cs typeface="Arial" panose="020B0604020202020204" pitchFamily="34" charset="0"/>
              </a:rPr>
              <a:t>.</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01-09-2025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6</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714516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Document: </a:t>
            </a:r>
            <a:r>
              <a:rPr lang="en-US" sz="3200" b="1" u="sng" dirty="0">
                <a:solidFill>
                  <a:srgbClr val="0070C0"/>
                </a:solidFill>
                <a:latin typeface="Arial" panose="020B0604020202020204" pitchFamily="34" charset="0"/>
                <a:cs typeface="Arial" panose="020B0604020202020204" pitchFamily="34" charset="0"/>
              </a:rPr>
              <a:t>Ordered Sets of Key-Value Pairs</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Because a document is a set, it has one instance of each member. Members are key-value pairs. For example,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 ‘foo’: ‘a’, ‘bar’: ‘b’, ‘</a:t>
            </a:r>
            <a:r>
              <a:rPr lang="en-US" sz="2400" dirty="0" err="1">
                <a:latin typeface="Arial" panose="020B0604020202020204" pitchFamily="34" charset="0"/>
                <a:cs typeface="Arial" panose="020B0604020202020204" pitchFamily="34" charset="0"/>
              </a:rPr>
              <a:t>baz</a:t>
            </a:r>
            <a:r>
              <a:rPr lang="en-US" sz="2400" dirty="0">
                <a:latin typeface="Arial" panose="020B0604020202020204" pitchFamily="34" charset="0"/>
                <a:cs typeface="Arial" panose="020B0604020202020204" pitchFamily="34" charset="0"/>
              </a:rPr>
              <a:t>’: ‘c’} is also equivalent to</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baz</a:t>
            </a:r>
            <a:r>
              <a:rPr lang="en-US" sz="2400" dirty="0">
                <a:latin typeface="Arial" panose="020B0604020202020204" pitchFamily="34" charset="0"/>
                <a:cs typeface="Arial" panose="020B0604020202020204" pitchFamily="34" charset="0"/>
              </a:rPr>
              <a:t>’: ‘c’, ‘foo’: ‘a’, ‘bar’: ‘b’}</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A slight change turns this set into a </a:t>
            </a:r>
            <a:r>
              <a:rPr lang="en-US" sz="2400" dirty="0" err="1">
                <a:latin typeface="Arial" panose="020B0604020202020204" pitchFamily="34" charset="0"/>
                <a:cs typeface="Arial" panose="020B0604020202020204" pitchFamily="34" charset="0"/>
              </a:rPr>
              <a:t>nonset</a:t>
            </a:r>
            <a:r>
              <a:rPr lang="en-US" sz="2400" dirty="0">
                <a:latin typeface="Arial" panose="020B0604020202020204" pitchFamily="34" charset="0"/>
                <a:cs typeface="Arial" panose="020B0604020202020204" pitchFamily="34" charset="0"/>
              </a:rPr>
              <a:t> (also known as a bag):</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a:t>
            </a:r>
            <a:r>
              <a:rPr lang="en-US" sz="2400" dirty="0">
                <a:solidFill>
                  <a:srgbClr val="0000FF"/>
                </a:solidFill>
                <a:latin typeface="Arial" panose="020B0604020202020204" pitchFamily="34" charset="0"/>
                <a:cs typeface="Arial" panose="020B0604020202020204" pitchFamily="34" charset="0"/>
              </a:rPr>
              <a:t>foo</a:t>
            </a:r>
            <a:r>
              <a:rPr lang="en-US" sz="2400" dirty="0">
                <a:latin typeface="Arial" panose="020B0604020202020204" pitchFamily="34" charset="0"/>
                <a:cs typeface="Arial" panose="020B0604020202020204" pitchFamily="34" charset="0"/>
              </a:rPr>
              <a:t>’: ‘a’, ‘bar’: ‘b’, ‘</a:t>
            </a:r>
            <a:r>
              <a:rPr lang="en-US" sz="2400" dirty="0" err="1">
                <a:latin typeface="Arial" panose="020B0604020202020204" pitchFamily="34" charset="0"/>
                <a:cs typeface="Arial" panose="020B0604020202020204" pitchFamily="34" charset="0"/>
              </a:rPr>
              <a:t>baz</a:t>
            </a:r>
            <a:r>
              <a:rPr lang="en-US" sz="2400" dirty="0">
                <a:latin typeface="Arial" panose="020B0604020202020204" pitchFamily="34" charset="0"/>
                <a:cs typeface="Arial" panose="020B0604020202020204" pitchFamily="34" charset="0"/>
              </a:rPr>
              <a:t>’: ‘c’, ‘</a:t>
            </a:r>
            <a:r>
              <a:rPr lang="en-US" sz="2400" dirty="0">
                <a:solidFill>
                  <a:srgbClr val="0000FF"/>
                </a:solidFill>
                <a:latin typeface="Arial" panose="020B0604020202020204" pitchFamily="34" charset="0"/>
                <a:cs typeface="Arial" panose="020B0604020202020204" pitchFamily="34" charset="0"/>
              </a:rPr>
              <a:t>foo</a:t>
            </a:r>
            <a:r>
              <a:rPr lang="en-US" sz="2400" dirty="0">
                <a:latin typeface="Arial" panose="020B0604020202020204" pitchFamily="34" charset="0"/>
                <a:cs typeface="Arial" panose="020B0604020202020204" pitchFamily="34" charset="0"/>
              </a:rPr>
              <a:t>’: ‘a’}</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01-09-2025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7</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39616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Document: </a:t>
            </a:r>
            <a:r>
              <a:rPr lang="en-US" sz="3200" b="1" u="sng" dirty="0">
                <a:solidFill>
                  <a:srgbClr val="0070C0"/>
                </a:solidFill>
                <a:latin typeface="Arial" panose="020B0604020202020204" pitchFamily="34" charset="0"/>
                <a:cs typeface="Arial" panose="020B0604020202020204" pitchFamily="34" charset="0"/>
              </a:rPr>
              <a:t>Ordered Sets of Key-Value Pairs</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However, for the purposes of designing document databases, these are different documents. </a:t>
            </a:r>
            <a:r>
              <a:rPr lang="en-US" sz="2400" dirty="0">
                <a:solidFill>
                  <a:srgbClr val="0000FF"/>
                </a:solidFill>
                <a:latin typeface="Arial" panose="020B0604020202020204" pitchFamily="34" charset="0"/>
                <a:cs typeface="Arial" panose="020B0604020202020204" pitchFamily="34" charset="0"/>
              </a:rPr>
              <a:t>The order of key-value pairs matters in determining the identity of a document</a:t>
            </a:r>
            <a:r>
              <a:rPr lang="en-US" sz="2400" dirty="0">
                <a:latin typeface="Arial" panose="020B0604020202020204" pitchFamily="34" charset="0"/>
                <a:cs typeface="Arial" panose="020B0604020202020204" pitchFamily="34" charset="0"/>
              </a:rPr>
              <a:t>.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 document { 'foo': 'a', 'bar': 'b', '</a:t>
            </a:r>
            <a:r>
              <a:rPr lang="en-US" sz="2400" dirty="0" err="1">
                <a:latin typeface="Arial" panose="020B0604020202020204" pitchFamily="34" charset="0"/>
                <a:cs typeface="Arial" panose="020B0604020202020204" pitchFamily="34" charset="0"/>
              </a:rPr>
              <a:t>baz</a:t>
            </a:r>
            <a:r>
              <a:rPr lang="en-US" sz="2400" dirty="0">
                <a:latin typeface="Arial" panose="020B0604020202020204" pitchFamily="34" charset="0"/>
                <a:cs typeface="Arial" panose="020B0604020202020204" pitchFamily="34" charset="0"/>
              </a:rPr>
              <a:t>': 'c'} is not the same document as {'</a:t>
            </a:r>
            <a:r>
              <a:rPr lang="en-US" sz="2400" dirty="0" err="1">
                <a:latin typeface="Arial" panose="020B0604020202020204" pitchFamily="34" charset="0"/>
                <a:cs typeface="Arial" panose="020B0604020202020204" pitchFamily="34" charset="0"/>
              </a:rPr>
              <a:t>baz</a:t>
            </a:r>
            <a:r>
              <a:rPr lang="en-US" sz="2400" dirty="0">
                <a:latin typeface="Arial" panose="020B0604020202020204" pitchFamily="34" charset="0"/>
                <a:cs typeface="Arial" panose="020B0604020202020204" pitchFamily="34" charset="0"/>
              </a:rPr>
              <a:t>': 'c', 'foo': 'a', 'bar': 'b'}.</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01-09-2025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8</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860897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Document</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solidFill>
                  <a:srgbClr val="0000FF"/>
                </a:solidFill>
                <a:latin typeface="Arial" panose="020B0604020202020204" pitchFamily="34" charset="0"/>
                <a:cs typeface="Arial" panose="020B0604020202020204" pitchFamily="34" charset="0"/>
              </a:rPr>
              <a:t>Keys are generally strings</a:t>
            </a:r>
            <a:r>
              <a:rPr lang="en-US" sz="2400" dirty="0">
                <a:latin typeface="Arial" panose="020B0604020202020204" pitchFamily="34" charset="0"/>
                <a:cs typeface="Arial" panose="020B0604020202020204" pitchFamily="34" charset="0"/>
              </a:rPr>
              <a:t>. Some key-value databases support a more extensive set of key data types, so </a:t>
            </a:r>
            <a:r>
              <a:rPr lang="en-US" sz="2400" dirty="0">
                <a:solidFill>
                  <a:srgbClr val="FF0000"/>
                </a:solidFill>
                <a:latin typeface="Arial" panose="020B0604020202020204" pitchFamily="34" charset="0"/>
                <a:cs typeface="Arial" panose="020B0604020202020204" pitchFamily="34" charset="0"/>
              </a:rPr>
              <a:t>document databases</a:t>
            </a:r>
            <a:r>
              <a:rPr lang="en-US" sz="2400" dirty="0">
                <a:latin typeface="Arial" panose="020B0604020202020204" pitchFamily="34" charset="0"/>
                <a:cs typeface="Arial" panose="020B0604020202020204" pitchFamily="34" charset="0"/>
              </a:rPr>
              <a:t> could, in principle, </a:t>
            </a:r>
            <a:r>
              <a:rPr lang="en-US" sz="2400" dirty="0">
                <a:solidFill>
                  <a:srgbClr val="FF0000"/>
                </a:solidFill>
                <a:latin typeface="Arial" panose="020B0604020202020204" pitchFamily="34" charset="0"/>
                <a:cs typeface="Arial" panose="020B0604020202020204" pitchFamily="34" charset="0"/>
              </a:rPr>
              <a:t>support multiple data types as well</a:t>
            </a:r>
            <a:r>
              <a:rPr lang="en-US" sz="2400" dirty="0">
                <a:latin typeface="Arial" panose="020B0604020202020204" pitchFamily="34" charset="0"/>
                <a:cs typeface="Arial" panose="020B0604020202020204" pitchFamily="34" charset="0"/>
              </a:rPr>
              <a:t>.</a:t>
            </a:r>
          </a:p>
          <a:p>
            <a:pPr marL="0" indent="0">
              <a:lnSpc>
                <a:spcPct val="120000"/>
              </a:lnSpc>
              <a:spcBef>
                <a:spcPts val="1800"/>
              </a:spcBef>
              <a:spcAft>
                <a:spcPts val="600"/>
              </a:spcAft>
              <a:buNone/>
            </a:pPr>
            <a:r>
              <a:rPr lang="en-US" sz="2400" dirty="0">
                <a:solidFill>
                  <a:srgbClr val="FF0000"/>
                </a:solidFill>
                <a:latin typeface="Arial" panose="020B0604020202020204" pitchFamily="34" charset="0"/>
                <a:cs typeface="Arial" panose="020B0604020202020204" pitchFamily="34" charset="0"/>
              </a:rPr>
              <a:t>Values can be a variety of data types</a:t>
            </a:r>
            <a:r>
              <a:rPr lang="en-US" sz="2400" dirty="0">
                <a:latin typeface="Arial" panose="020B0604020202020204" pitchFamily="34" charset="0"/>
                <a:cs typeface="Arial" panose="020B0604020202020204" pitchFamily="34" charset="0"/>
              </a:rPr>
              <a:t>. As you might expect, document databases support values of numbers and strings. </a:t>
            </a:r>
            <a:r>
              <a:rPr lang="en-US" sz="2400" dirty="0">
                <a:solidFill>
                  <a:srgbClr val="0000FF"/>
                </a:solidFill>
                <a:latin typeface="Arial" panose="020B0604020202020204" pitchFamily="34" charset="0"/>
                <a:cs typeface="Arial" panose="020B0604020202020204" pitchFamily="34" charset="0"/>
              </a:rPr>
              <a:t>They also support more structured data types</a:t>
            </a:r>
            <a:r>
              <a:rPr lang="en-US" sz="2400" dirty="0">
                <a:latin typeface="Arial" panose="020B0604020202020204" pitchFamily="34" charset="0"/>
                <a:cs typeface="Arial" panose="020B0604020202020204" pitchFamily="34" charset="0"/>
              </a:rPr>
              <a:t>, such as arrays and other documents.</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Arrays are useful when you want to track multiple instances of a value and the values are all of one type.</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01-09-2025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9</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519701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Document</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0"/>
              </a:spcBef>
              <a:buNone/>
            </a:pPr>
            <a:r>
              <a:rPr lang="en-US" sz="2400" dirty="0">
                <a:latin typeface="Arial" panose="020B0604020202020204" pitchFamily="34" charset="0"/>
                <a:cs typeface="Arial" panose="020B0604020202020204" pitchFamily="34" charset="0"/>
              </a:rPr>
              <a:t>{ </a:t>
            </a:r>
          </a:p>
          <a:p>
            <a:pPr marL="0" indent="0">
              <a:lnSpc>
                <a:spcPct val="120000"/>
              </a:lnSpc>
              <a:spcBef>
                <a:spcPts val="0"/>
              </a:spcBef>
              <a:buNone/>
            </a:pPr>
            <a:r>
              <a:rPr lang="en-US" sz="2400" dirty="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employeeName</a:t>
            </a:r>
            <a:r>
              <a:rPr lang="en-US" sz="2400" dirty="0">
                <a:latin typeface="Arial" panose="020B0604020202020204" pitchFamily="34" charset="0"/>
                <a:cs typeface="Arial" panose="020B0604020202020204" pitchFamily="34" charset="0"/>
              </a:rPr>
              <a:t>’ : ‘Janice Collins’,</a:t>
            </a:r>
          </a:p>
          <a:p>
            <a:pPr marL="0" indent="0">
              <a:lnSpc>
                <a:spcPct val="120000"/>
              </a:lnSpc>
              <a:spcBef>
                <a:spcPts val="0"/>
              </a:spcBef>
              <a:buNone/>
            </a:pPr>
            <a:r>
              <a:rPr lang="en-US" sz="2400" dirty="0">
                <a:latin typeface="Arial" panose="020B0604020202020204" pitchFamily="34" charset="0"/>
                <a:cs typeface="Arial" panose="020B0604020202020204" pitchFamily="34" charset="0"/>
              </a:rPr>
              <a:t>‘department’ : ‘Software engineering’</a:t>
            </a:r>
          </a:p>
          <a:p>
            <a:pPr marL="0" indent="0">
              <a:lnSpc>
                <a:spcPct val="120000"/>
              </a:lnSpc>
              <a:spcBef>
                <a:spcPts val="0"/>
              </a:spcBef>
              <a:buNone/>
            </a:pPr>
            <a:r>
              <a:rPr lang="en-US" sz="2400" dirty="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startDate</a:t>
            </a:r>
            <a:r>
              <a:rPr lang="en-US" sz="2400" dirty="0">
                <a:latin typeface="Arial" panose="020B0604020202020204" pitchFamily="34" charset="0"/>
                <a:cs typeface="Arial" panose="020B0604020202020204" pitchFamily="34" charset="0"/>
              </a:rPr>
              <a:t>’ : ‘10-Feb-2010’,</a:t>
            </a:r>
          </a:p>
          <a:p>
            <a:pPr marL="0" indent="0">
              <a:lnSpc>
                <a:spcPct val="120000"/>
              </a:lnSpc>
              <a:spcBef>
                <a:spcPts val="0"/>
              </a:spcBef>
              <a:buNone/>
            </a:pPr>
            <a:r>
              <a:rPr lang="en-US" sz="2400" dirty="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pastProjectCodes</a:t>
            </a:r>
            <a:r>
              <a:rPr lang="en-US" sz="2400" dirty="0">
                <a:latin typeface="Arial" panose="020B0604020202020204" pitchFamily="34" charset="0"/>
                <a:cs typeface="Arial" panose="020B0604020202020204" pitchFamily="34" charset="0"/>
              </a:rPr>
              <a:t>’ : [ 189847, 187731, 176533, 154812]</a:t>
            </a:r>
          </a:p>
          <a:p>
            <a:pPr marL="0" indent="0">
              <a:lnSpc>
                <a:spcPct val="120000"/>
              </a:lnSpc>
              <a:spcBef>
                <a:spcPts val="0"/>
              </a:spcBef>
              <a:buNone/>
            </a:pPr>
            <a:r>
              <a:rPr lang="en-US" sz="2400" dirty="0">
                <a:latin typeface="Arial" panose="020B0604020202020204" pitchFamily="34" charset="0"/>
                <a:cs typeface="Arial" panose="020B0604020202020204" pitchFamily="34" charset="0"/>
              </a:rPr>
              <a:t>}</a:t>
            </a:r>
          </a:p>
          <a:p>
            <a:pPr marL="0" indent="0">
              <a:lnSpc>
                <a:spcPct val="120000"/>
              </a:lnSpc>
              <a:spcBef>
                <a:spcPts val="0"/>
              </a:spcBef>
              <a:buNone/>
            </a:pPr>
            <a:endParaRPr lang="en-US" sz="2400" dirty="0">
              <a:latin typeface="Arial" panose="020B0604020202020204" pitchFamily="34" charset="0"/>
              <a:cs typeface="Arial" panose="020B0604020202020204" pitchFamily="34" charset="0"/>
            </a:endParaRPr>
          </a:p>
          <a:p>
            <a:pPr marL="0" indent="0">
              <a:lnSpc>
                <a:spcPct val="120000"/>
              </a:lnSpc>
              <a:spcBef>
                <a:spcPts val="0"/>
              </a:spcBef>
              <a:buNone/>
            </a:pPr>
            <a:r>
              <a:rPr lang="en-US" sz="2400" dirty="0">
                <a:latin typeface="Arial" panose="020B0604020202020204" pitchFamily="34" charset="0"/>
                <a:cs typeface="Arial" panose="020B0604020202020204" pitchFamily="34" charset="0"/>
              </a:rPr>
              <a:t>The key </a:t>
            </a:r>
            <a:r>
              <a:rPr lang="en-US" sz="2400" dirty="0" err="1">
                <a:latin typeface="Arial" panose="020B0604020202020204" pitchFamily="34" charset="0"/>
                <a:cs typeface="Arial" panose="020B0604020202020204" pitchFamily="34" charset="0"/>
              </a:rPr>
              <a:t>pastProjectCodes</a:t>
            </a:r>
            <a:r>
              <a:rPr lang="en-US" sz="2400" dirty="0">
                <a:latin typeface="Arial" panose="020B0604020202020204" pitchFamily="34" charset="0"/>
                <a:cs typeface="Arial" panose="020B0604020202020204" pitchFamily="34" charset="0"/>
              </a:rPr>
              <a:t> is a list of project code numbers. All project codes are numbers, so it is appropriate to use an array.</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01-09-2025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10</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693785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Document</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01-09-2025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11</a:t>
            </a:fld>
            <a:endParaRPr lang="en-IN"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2472013" y="1700186"/>
            <a:ext cx="7247974" cy="4656164"/>
          </a:xfrm>
          <a:prstGeom prst="rect">
            <a:avLst/>
          </a:prstGeom>
        </p:spPr>
      </p:pic>
    </p:spTree>
    <p:extLst>
      <p:ext uri="{BB962C8B-B14F-4D97-AF65-F5344CB8AC3E}">
        <p14:creationId xmlns:p14="http://schemas.microsoft.com/office/powerpoint/2010/main" val="18175260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Collection</a:t>
            </a:r>
          </a:p>
        </p:txBody>
      </p:sp>
      <p:sp>
        <p:nvSpPr>
          <p:cNvPr id="3" name="Content Placeholder 2"/>
          <p:cNvSpPr>
            <a:spLocks noGrp="1"/>
          </p:cNvSpPr>
          <p:nvPr>
            <p:ph idx="1"/>
          </p:nvPr>
        </p:nvSpPr>
        <p:spPr>
          <a:xfrm>
            <a:off x="838200" y="1690688"/>
            <a:ext cx="10515600" cy="4486275"/>
          </a:xfrm>
        </p:spPr>
        <p:txBody>
          <a:bodyPr>
            <a:normAutofit lnSpcReduction="10000"/>
          </a:bodyPr>
          <a:lstStyle/>
          <a:p>
            <a:pPr marL="0" indent="0">
              <a:lnSpc>
                <a:spcPct val="120000"/>
              </a:lnSpc>
              <a:spcBef>
                <a:spcPts val="1800"/>
              </a:spcBef>
              <a:spcAft>
                <a:spcPts val="600"/>
              </a:spcAft>
              <a:buNone/>
            </a:pPr>
            <a:r>
              <a:rPr lang="en-US" sz="2400" dirty="0">
                <a:solidFill>
                  <a:srgbClr val="0000FF"/>
                </a:solidFill>
                <a:latin typeface="Arial" panose="020B0604020202020204" pitchFamily="34" charset="0"/>
                <a:cs typeface="Arial" panose="020B0604020202020204" pitchFamily="34" charset="0"/>
              </a:rPr>
              <a:t>A collection is a group of documents</a:t>
            </a:r>
            <a:r>
              <a:rPr lang="en-US" sz="2400" dirty="0">
                <a:latin typeface="Arial" panose="020B0604020202020204" pitchFamily="34" charset="0"/>
                <a:cs typeface="Arial" panose="020B0604020202020204" pitchFamily="34" charset="0"/>
              </a:rPr>
              <a:t>. The documents within a collection are usually related to the same subject entity, such as employees, products, logged events, or customer profiles. </a:t>
            </a:r>
          </a:p>
          <a:p>
            <a:pPr marL="0" indent="0">
              <a:lnSpc>
                <a:spcPct val="120000"/>
              </a:lnSpc>
              <a:spcBef>
                <a:spcPts val="1800"/>
              </a:spcBef>
              <a:spcAft>
                <a:spcPts val="600"/>
              </a:spcAft>
              <a:buNone/>
            </a:pPr>
            <a:r>
              <a:rPr lang="en-US" sz="2400" dirty="0">
                <a:solidFill>
                  <a:srgbClr val="0000FF"/>
                </a:solidFill>
                <a:latin typeface="Arial" panose="020B0604020202020204" pitchFamily="34" charset="0"/>
                <a:cs typeface="Arial" panose="020B0604020202020204" pitchFamily="34" charset="0"/>
              </a:rPr>
              <a:t>It is possible to store unrelated documents in a collection</a:t>
            </a:r>
            <a:r>
              <a:rPr lang="en-US" sz="2400" dirty="0">
                <a:latin typeface="Arial" panose="020B0604020202020204" pitchFamily="34" charset="0"/>
                <a:cs typeface="Arial" panose="020B0604020202020204" pitchFamily="34" charset="0"/>
              </a:rPr>
              <a:t>, but this is not advised. At the most basic level, collections allow you to operate on groups of related documents.</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In addition to allowing you to </a:t>
            </a:r>
            <a:r>
              <a:rPr lang="en-US" sz="2400" dirty="0">
                <a:solidFill>
                  <a:srgbClr val="FF0000"/>
                </a:solidFill>
                <a:latin typeface="Arial" panose="020B0604020202020204" pitchFamily="34" charset="0"/>
                <a:cs typeface="Arial" panose="020B0604020202020204" pitchFamily="34" charset="0"/>
              </a:rPr>
              <a:t>easily operate on groups of documents</a:t>
            </a:r>
            <a:r>
              <a:rPr lang="en-US" sz="2400" dirty="0">
                <a:latin typeface="Arial" panose="020B0604020202020204" pitchFamily="34" charset="0"/>
                <a:cs typeface="Arial" panose="020B0604020202020204" pitchFamily="34" charset="0"/>
              </a:rPr>
              <a:t>, collections support additional data structures that make such operations more efficient.</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01-09-2025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12</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314082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Collection - Index</a:t>
            </a:r>
          </a:p>
        </p:txBody>
      </p:sp>
      <p:sp>
        <p:nvSpPr>
          <p:cNvPr id="3" name="Content Placeholder 2"/>
          <p:cNvSpPr>
            <a:spLocks noGrp="1"/>
          </p:cNvSpPr>
          <p:nvPr>
            <p:ph idx="1"/>
          </p:nvPr>
        </p:nvSpPr>
        <p:spPr>
          <a:xfrm>
            <a:off x="838200" y="1690688"/>
            <a:ext cx="6091989" cy="4486275"/>
          </a:xfrm>
        </p:spPr>
        <p:txBody>
          <a:bodyPr>
            <a:normAutofit fontScale="92500" lnSpcReduction="20000"/>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A  </a:t>
            </a:r>
            <a:r>
              <a:rPr lang="en-US" sz="2400" dirty="0">
                <a:solidFill>
                  <a:srgbClr val="FF0000"/>
                </a:solidFill>
                <a:latin typeface="Arial" panose="020B0604020202020204" pitchFamily="34" charset="0"/>
                <a:cs typeface="Arial" panose="020B0604020202020204" pitchFamily="34" charset="0"/>
              </a:rPr>
              <a:t>more efficient approach to scanning all documents in a collection is to use an index</a:t>
            </a:r>
            <a:r>
              <a:rPr lang="en-US" sz="2400" dirty="0">
                <a:latin typeface="Arial" panose="020B0604020202020204" pitchFamily="34" charset="0"/>
                <a:cs typeface="Arial" panose="020B0604020202020204" pitchFamily="34" charset="0"/>
              </a:rPr>
              <a:t>.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Indexes on collections are like indexes in the back of book: a structured set of information that maps from one attribute, such as a key term, to related information, such as a list of page numbers.</a:t>
            </a:r>
          </a:p>
          <a:p>
            <a:pPr marL="0" indent="0">
              <a:lnSpc>
                <a:spcPct val="120000"/>
              </a:lnSpc>
              <a:spcBef>
                <a:spcPts val="1800"/>
              </a:spcBef>
              <a:spcAft>
                <a:spcPts val="600"/>
              </a:spcAft>
              <a:buNone/>
            </a:pPr>
            <a:r>
              <a:rPr lang="en-US" sz="2400" dirty="0">
                <a:solidFill>
                  <a:srgbClr val="FF0000"/>
                </a:solidFill>
                <a:latin typeface="Arial" panose="020B0604020202020204" pitchFamily="34" charset="0"/>
                <a:cs typeface="Arial" panose="020B0604020202020204" pitchFamily="34" charset="0"/>
              </a:rPr>
              <a:t>Indexes map attributes, such as key terms, to related information</a:t>
            </a:r>
            <a:r>
              <a:rPr lang="en-US" sz="2400" dirty="0">
                <a:latin typeface="Arial" panose="020B0604020202020204" pitchFamily="34" charset="0"/>
                <a:cs typeface="Arial" panose="020B0604020202020204" pitchFamily="34" charset="0"/>
              </a:rPr>
              <a:t>, such as page numbers. Using an index is faster than scanning an entire book for key terms.</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01-09-2025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13</a:t>
            </a:fld>
            <a:endParaRPr lang="en-IN"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6930189" y="2001859"/>
            <a:ext cx="4401252" cy="3624560"/>
          </a:xfrm>
          <a:prstGeom prst="rect">
            <a:avLst/>
          </a:prstGeom>
        </p:spPr>
      </p:pic>
    </p:spTree>
    <p:extLst>
      <p:ext uri="{BB962C8B-B14F-4D97-AF65-F5344CB8AC3E}">
        <p14:creationId xmlns:p14="http://schemas.microsoft.com/office/powerpoint/2010/main" val="30273355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Embedded Document</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One of the advantages of document databases is that they allow developers to store related data in more flexible ways than typically done in relational databases.</a:t>
            </a:r>
          </a:p>
          <a:p>
            <a:pPr marL="0" indent="0">
              <a:lnSpc>
                <a:spcPct val="120000"/>
              </a:lnSpc>
              <a:spcBef>
                <a:spcPts val="1800"/>
              </a:spcBef>
              <a:spcAft>
                <a:spcPts val="600"/>
              </a:spcAft>
              <a:buNone/>
            </a:pPr>
            <a:r>
              <a:rPr lang="en-US" sz="2400" dirty="0">
                <a:solidFill>
                  <a:srgbClr val="FF0000"/>
                </a:solidFill>
                <a:latin typeface="Arial" panose="020B0604020202020204" pitchFamily="34" charset="0"/>
                <a:cs typeface="Arial" panose="020B0604020202020204" pitchFamily="34" charset="0"/>
              </a:rPr>
              <a:t>Relational data models separate data about different entities into separate tables</a:t>
            </a:r>
            <a:r>
              <a:rPr lang="en-US" sz="2400" dirty="0">
                <a:latin typeface="Arial" panose="020B0604020202020204" pitchFamily="34" charset="0"/>
                <a:cs typeface="Arial" panose="020B0604020202020204" pitchFamily="34" charset="0"/>
              </a:rPr>
              <a:t>. This requires looking up information in both tables using a process known as joining.</a:t>
            </a:r>
          </a:p>
          <a:p>
            <a:pPr marL="0" indent="0">
              <a:lnSpc>
                <a:spcPct val="120000"/>
              </a:lnSpc>
              <a:spcBef>
                <a:spcPts val="1800"/>
              </a:spcBef>
              <a:spcAft>
                <a:spcPts val="600"/>
              </a:spcAft>
              <a:buNone/>
            </a:pPr>
            <a:r>
              <a:rPr lang="en-US" sz="2400" dirty="0">
                <a:solidFill>
                  <a:srgbClr val="FF0000"/>
                </a:solidFill>
                <a:latin typeface="Arial" panose="020B0604020202020204" pitchFamily="34" charset="0"/>
                <a:cs typeface="Arial" panose="020B0604020202020204" pitchFamily="34" charset="0"/>
              </a:rPr>
              <a:t>Joining two large tables can be potentially time consuming </a:t>
            </a:r>
            <a:r>
              <a:rPr lang="en-US" sz="2400" dirty="0">
                <a:latin typeface="Arial" panose="020B0604020202020204" pitchFamily="34" charset="0"/>
                <a:cs typeface="Arial" panose="020B0604020202020204" pitchFamily="34" charset="0"/>
              </a:rPr>
              <a:t>and require a significant number of read operations from disk.</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01-09-2025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14</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8263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Embedded Document</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solidFill>
                  <a:srgbClr val="FF0000"/>
                </a:solidFill>
                <a:latin typeface="Arial" panose="020B0604020202020204" pitchFamily="34" charset="0"/>
                <a:cs typeface="Arial" panose="020B0604020202020204" pitchFamily="34" charset="0"/>
              </a:rPr>
              <a:t>An embedded document enables document database users to store related data in a single document</a:t>
            </a:r>
            <a:r>
              <a:rPr lang="en-US" sz="2400" dirty="0">
                <a:latin typeface="Arial" panose="020B0604020202020204" pitchFamily="34" charset="0"/>
                <a:cs typeface="Arial" panose="020B0604020202020204" pitchFamily="34" charset="0"/>
              </a:rPr>
              <a:t>.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This allows the document database to avoid a process called joining in which data from one table, called the foreign key, is used to look up data in another table.</a:t>
            </a:r>
          </a:p>
          <a:p>
            <a:pPr marL="0" indent="0">
              <a:lnSpc>
                <a:spcPct val="120000"/>
              </a:lnSpc>
              <a:spcBef>
                <a:spcPts val="1800"/>
              </a:spcBef>
              <a:spcAft>
                <a:spcPts val="600"/>
              </a:spcAft>
              <a:buNone/>
            </a:pPr>
            <a:r>
              <a:rPr lang="en-US" sz="2400" dirty="0">
                <a:solidFill>
                  <a:srgbClr val="FF0000"/>
                </a:solidFill>
                <a:latin typeface="Arial" panose="020B0604020202020204" pitchFamily="34" charset="0"/>
                <a:cs typeface="Arial" panose="020B0604020202020204" pitchFamily="34" charset="0"/>
              </a:rPr>
              <a:t>Embedded documents allow related data to be stored together</a:t>
            </a:r>
            <a:r>
              <a:rPr lang="en-US" sz="2400" dirty="0">
                <a:latin typeface="Arial" panose="020B0604020202020204" pitchFamily="34" charset="0"/>
                <a:cs typeface="Arial" panose="020B0604020202020204" pitchFamily="34" charset="0"/>
              </a:rPr>
              <a:t>. When the document is read from disk, both the primary and the related information are read without the need for a join operation.</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01-09-2025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15</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834946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Embedded Document</a:t>
            </a:r>
          </a:p>
        </p:txBody>
      </p:sp>
      <p:sp>
        <p:nvSpPr>
          <p:cNvPr id="3" name="Content Placeholder 2"/>
          <p:cNvSpPr>
            <a:spLocks noGrp="1"/>
          </p:cNvSpPr>
          <p:nvPr>
            <p:ph idx="1"/>
          </p:nvPr>
        </p:nvSpPr>
        <p:spPr>
          <a:xfrm>
            <a:off x="838200" y="1690688"/>
            <a:ext cx="5293093" cy="4486275"/>
          </a:xfrm>
        </p:spPr>
        <p:txBody>
          <a:bodyPr>
            <a:normAutofit/>
          </a:bodyPr>
          <a:lstStyle/>
          <a:p>
            <a:pPr marL="0" indent="0">
              <a:lnSpc>
                <a:spcPct val="120000"/>
              </a:lnSpc>
              <a:spcBef>
                <a:spcPts val="1800"/>
              </a:spcBef>
              <a:spcAft>
                <a:spcPts val="600"/>
              </a:spcAft>
              <a:buNone/>
            </a:pPr>
            <a:r>
              <a:rPr lang="en-US" sz="2400" dirty="0">
                <a:solidFill>
                  <a:srgbClr val="FF0000"/>
                </a:solidFill>
                <a:latin typeface="Arial" panose="020B0604020202020204" pitchFamily="34" charset="0"/>
                <a:cs typeface="Arial" panose="020B0604020202020204" pitchFamily="34" charset="0"/>
              </a:rPr>
              <a:t>Embedded documents are documents within a document</a:t>
            </a:r>
            <a:r>
              <a:rPr lang="en-US" sz="2400" dirty="0">
                <a:latin typeface="Arial" panose="020B0604020202020204" pitchFamily="34" charset="0"/>
                <a:cs typeface="Arial" panose="020B0604020202020204" pitchFamily="34" charset="0"/>
              </a:rPr>
              <a:t>. Embedding is used to efficiently store and retrieve data that is frequently used together.</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01-09-2025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16</a:t>
            </a:fld>
            <a:endParaRPr lang="en-IN"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6462820" y="1523565"/>
            <a:ext cx="4559452" cy="4486275"/>
          </a:xfrm>
          <a:prstGeom prst="rect">
            <a:avLst/>
          </a:prstGeom>
        </p:spPr>
      </p:pic>
    </p:spTree>
    <p:extLst>
      <p:ext uri="{BB962C8B-B14F-4D97-AF65-F5344CB8AC3E}">
        <p14:creationId xmlns:p14="http://schemas.microsoft.com/office/powerpoint/2010/main" val="29022443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Mongo DB</a:t>
            </a:r>
          </a:p>
        </p:txBody>
      </p:sp>
      <p:sp>
        <p:nvSpPr>
          <p:cNvPr id="3" name="Content Placeholder 2"/>
          <p:cNvSpPr>
            <a:spLocks noGrp="1"/>
          </p:cNvSpPr>
          <p:nvPr>
            <p:ph idx="1"/>
          </p:nvPr>
        </p:nvSpPr>
        <p:spPr>
          <a:xfrm>
            <a:off x="838200" y="1690688"/>
            <a:ext cx="10515600" cy="4486275"/>
          </a:xfrm>
        </p:spPr>
        <p:txBody>
          <a:bodyPr>
            <a:normAutofit fontScale="92500" lnSpcReduction="10000"/>
          </a:bodyPr>
          <a:lstStyle/>
          <a:p>
            <a:pPr marL="539750" indent="-357188">
              <a:lnSpc>
                <a:spcPct val="130000"/>
              </a:lnSpc>
              <a:spcBef>
                <a:spcPts val="600"/>
              </a:spcBef>
              <a:spcAft>
                <a:spcPts val="600"/>
              </a:spcAft>
            </a:pPr>
            <a:r>
              <a:rPr lang="en-US" sz="2400" dirty="0">
                <a:latin typeface="Arial" panose="020B0604020202020204" pitchFamily="34" charset="0"/>
                <a:cs typeface="Arial" panose="020B0604020202020204" pitchFamily="34" charset="0"/>
              </a:rPr>
              <a:t>A document-oriented, NoSQL database developed by 10gen (Founded Year : 2007)</a:t>
            </a:r>
          </a:p>
          <a:p>
            <a:pPr marL="539750" indent="-357188">
              <a:lnSpc>
                <a:spcPct val="130000"/>
              </a:lnSpc>
              <a:spcBef>
                <a:spcPts val="600"/>
              </a:spcBef>
              <a:spcAft>
                <a:spcPts val="600"/>
              </a:spcAft>
            </a:pPr>
            <a:r>
              <a:rPr lang="en-US" sz="2400" dirty="0">
                <a:latin typeface="Arial" panose="020B0604020202020204" pitchFamily="34" charset="0"/>
                <a:cs typeface="Arial" panose="020B0604020202020204" pitchFamily="34" charset="0"/>
              </a:rPr>
              <a:t>Hash-based, schema-less database </a:t>
            </a:r>
          </a:p>
          <a:p>
            <a:pPr marL="539750" indent="-357188">
              <a:lnSpc>
                <a:spcPct val="130000"/>
              </a:lnSpc>
              <a:spcBef>
                <a:spcPts val="600"/>
              </a:spcBef>
              <a:spcAft>
                <a:spcPts val="600"/>
              </a:spcAft>
            </a:pPr>
            <a:r>
              <a:rPr lang="en-US" sz="2400" dirty="0">
                <a:latin typeface="Arial" panose="020B0604020202020204" pitchFamily="34" charset="0"/>
                <a:cs typeface="Arial" panose="020B0604020202020204" pitchFamily="34" charset="0"/>
              </a:rPr>
              <a:t>No Data Definition Language - you can store hashes with any keys and values that you choose</a:t>
            </a:r>
          </a:p>
          <a:p>
            <a:pPr marL="539750" indent="-357188">
              <a:lnSpc>
                <a:spcPct val="130000"/>
              </a:lnSpc>
              <a:spcBef>
                <a:spcPts val="600"/>
              </a:spcBef>
              <a:spcAft>
                <a:spcPts val="600"/>
              </a:spcAft>
            </a:pPr>
            <a:r>
              <a:rPr lang="en-US" sz="2400" dirty="0">
                <a:latin typeface="Arial" panose="020B0604020202020204" pitchFamily="34" charset="0"/>
                <a:cs typeface="Arial" panose="020B0604020202020204" pitchFamily="34" charset="0"/>
              </a:rPr>
              <a:t>Uses BSON format - Based on JSON – B stands for Binary </a:t>
            </a:r>
          </a:p>
          <a:p>
            <a:pPr marL="539750" indent="-357188">
              <a:lnSpc>
                <a:spcPct val="130000"/>
              </a:lnSpc>
              <a:spcBef>
                <a:spcPts val="600"/>
              </a:spcBef>
              <a:spcAft>
                <a:spcPts val="600"/>
              </a:spcAft>
            </a:pPr>
            <a:r>
              <a:rPr lang="en-US" sz="2400" dirty="0">
                <a:latin typeface="Arial" panose="020B0604020202020204" pitchFamily="34" charset="0"/>
                <a:cs typeface="Arial" panose="020B0604020202020204" pitchFamily="34" charset="0"/>
              </a:rPr>
              <a:t>Written in C++ </a:t>
            </a:r>
          </a:p>
          <a:p>
            <a:pPr marL="539750" indent="-357188">
              <a:lnSpc>
                <a:spcPct val="130000"/>
              </a:lnSpc>
              <a:spcBef>
                <a:spcPts val="600"/>
              </a:spcBef>
              <a:spcAft>
                <a:spcPts val="600"/>
              </a:spcAft>
            </a:pPr>
            <a:r>
              <a:rPr lang="en-US" sz="2400" dirty="0">
                <a:latin typeface="Arial" panose="020B0604020202020204" pitchFamily="34" charset="0"/>
                <a:cs typeface="Arial" panose="020B0604020202020204" pitchFamily="34" charset="0"/>
              </a:rPr>
              <a:t>Supports APIs (drivers) in many computer languages - JavaScript, Python, Ruby, Perl, Java, Java Scala, C#, C++, Haskell, </a:t>
            </a:r>
            <a:r>
              <a:rPr lang="en-US" sz="2400" dirty="0" err="1">
                <a:latin typeface="Arial" panose="020B0604020202020204" pitchFamily="34" charset="0"/>
                <a:cs typeface="Arial" panose="020B0604020202020204" pitchFamily="34" charset="0"/>
              </a:rPr>
              <a:t>Erlang</a:t>
            </a:r>
            <a:endParaRPr lang="en-US"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01-09-2025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17</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347534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MongoDB Terminology</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01-09-2025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18</a:t>
            </a:fld>
            <a:endParaRPr lang="en-IN" dirty="0">
              <a:latin typeface="Arial" panose="020B0604020202020204" pitchFamily="34" charset="0"/>
              <a:cs typeface="Arial" panose="020B0604020202020204" pitchFamily="34" charset="0"/>
            </a:endParaRPr>
          </a:p>
        </p:txBody>
      </p:sp>
      <p:graphicFrame>
        <p:nvGraphicFramePr>
          <p:cNvPr id="11" name="Táblázat 1"/>
          <p:cNvGraphicFramePr>
            <a:graphicFrameLocks noGrp="1"/>
          </p:cNvGraphicFramePr>
          <p:nvPr>
            <p:extLst>
              <p:ext uri="{D42A27DB-BD31-4B8C-83A1-F6EECF244321}">
                <p14:modId xmlns:p14="http://schemas.microsoft.com/office/powerpoint/2010/main" val="4263410350"/>
              </p:ext>
            </p:extLst>
          </p:nvPr>
        </p:nvGraphicFramePr>
        <p:xfrm>
          <a:off x="2885917" y="1995720"/>
          <a:ext cx="6420166" cy="4055598"/>
        </p:xfrm>
        <a:graphic>
          <a:graphicData uri="http://schemas.openxmlformats.org/drawingml/2006/table">
            <a:tbl>
              <a:tblPr firstRow="1" bandRow="1">
                <a:tableStyleId>{5C22544A-7EE6-4342-B048-85BDC9FD1C3A}</a:tableStyleId>
              </a:tblPr>
              <a:tblGrid>
                <a:gridCol w="2589311">
                  <a:extLst>
                    <a:ext uri="{9D8B030D-6E8A-4147-A177-3AD203B41FA5}">
                      <a16:colId xmlns:a16="http://schemas.microsoft.com/office/drawing/2014/main" val="20000"/>
                    </a:ext>
                  </a:extLst>
                </a:gridCol>
                <a:gridCol w="3830855">
                  <a:extLst>
                    <a:ext uri="{9D8B030D-6E8A-4147-A177-3AD203B41FA5}">
                      <a16:colId xmlns:a16="http://schemas.microsoft.com/office/drawing/2014/main" val="20002"/>
                    </a:ext>
                  </a:extLst>
                </a:gridCol>
              </a:tblGrid>
              <a:tr h="450622">
                <a:tc>
                  <a:txBody>
                    <a:bodyPr/>
                    <a:lstStyle/>
                    <a:p>
                      <a:pPr algn="ctr"/>
                      <a:r>
                        <a:rPr lang="hu-HU" sz="2200" dirty="0">
                          <a:solidFill>
                            <a:schemeClr val="tx1"/>
                          </a:solidFill>
                          <a:latin typeface="Arial" panose="020B0604020202020204" pitchFamily="34" charset="0"/>
                          <a:cs typeface="Arial" panose="020B0604020202020204" pitchFamily="34" charset="0"/>
                        </a:rPr>
                        <a:t>RDBMS</a:t>
                      </a:r>
                    </a:p>
                  </a:txBody>
                  <a:tcPr marL="91427" marR="91427"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hu-HU" sz="2200" dirty="0" err="1">
                          <a:solidFill>
                            <a:schemeClr val="tx1"/>
                          </a:solidFill>
                          <a:latin typeface="Arial" panose="020B0604020202020204" pitchFamily="34" charset="0"/>
                          <a:cs typeface="Arial" panose="020B0604020202020204" pitchFamily="34" charset="0"/>
                        </a:rPr>
                        <a:t>MongoDB</a:t>
                      </a:r>
                      <a:endParaRPr lang="hu-HU" sz="2200" dirty="0">
                        <a:solidFill>
                          <a:schemeClr val="tx1"/>
                        </a:solidFill>
                        <a:latin typeface="Arial" panose="020B0604020202020204" pitchFamily="34" charset="0"/>
                        <a:cs typeface="Arial" panose="020B0604020202020204" pitchFamily="34" charset="0"/>
                      </a:endParaRPr>
                    </a:p>
                  </a:txBody>
                  <a:tcPr marL="91427" marR="91427"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50622">
                <a:tc>
                  <a:txBody>
                    <a:bodyPr/>
                    <a:lstStyle/>
                    <a:p>
                      <a:pPr algn="ctr"/>
                      <a:r>
                        <a:rPr lang="hu-HU" sz="2200" dirty="0" err="1">
                          <a:solidFill>
                            <a:schemeClr val="tx1"/>
                          </a:solidFill>
                          <a:latin typeface="Arial" panose="020B0604020202020204" pitchFamily="34" charset="0"/>
                          <a:cs typeface="Arial" panose="020B0604020202020204" pitchFamily="34" charset="0"/>
                        </a:rPr>
                        <a:t>Database</a:t>
                      </a:r>
                      <a:endParaRPr lang="hu-HU" sz="2200" dirty="0">
                        <a:solidFill>
                          <a:schemeClr val="tx1"/>
                        </a:solidFill>
                        <a:latin typeface="Arial" panose="020B0604020202020204" pitchFamily="34" charset="0"/>
                        <a:cs typeface="Arial" panose="020B0604020202020204" pitchFamily="34" charset="0"/>
                      </a:endParaRPr>
                    </a:p>
                  </a:txBody>
                  <a:tcPr marL="91427" marR="91427"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hu-HU" sz="2200" dirty="0" err="1">
                          <a:solidFill>
                            <a:schemeClr val="tx1"/>
                          </a:solidFill>
                          <a:latin typeface="Arial" panose="020B0604020202020204" pitchFamily="34" charset="0"/>
                          <a:cs typeface="Arial" panose="020B0604020202020204" pitchFamily="34" charset="0"/>
                        </a:rPr>
                        <a:t>Database</a:t>
                      </a:r>
                      <a:endParaRPr lang="hu-HU" sz="2200" dirty="0">
                        <a:solidFill>
                          <a:schemeClr val="tx1"/>
                        </a:solidFill>
                        <a:latin typeface="Arial" panose="020B0604020202020204" pitchFamily="34" charset="0"/>
                        <a:cs typeface="Arial" panose="020B0604020202020204" pitchFamily="34" charset="0"/>
                      </a:endParaRPr>
                    </a:p>
                  </a:txBody>
                  <a:tcPr marL="91427" marR="91427"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50622">
                <a:tc>
                  <a:txBody>
                    <a:bodyPr/>
                    <a:lstStyle/>
                    <a:p>
                      <a:pPr algn="ctr"/>
                      <a:r>
                        <a:rPr lang="hu-HU" sz="2200" dirty="0">
                          <a:solidFill>
                            <a:schemeClr val="tx1"/>
                          </a:solidFill>
                          <a:latin typeface="Arial" panose="020B0604020202020204" pitchFamily="34" charset="0"/>
                          <a:cs typeface="Arial" panose="020B0604020202020204" pitchFamily="34" charset="0"/>
                        </a:rPr>
                        <a:t>Table</a:t>
                      </a:r>
                    </a:p>
                  </a:txBody>
                  <a:tcPr marL="91427" marR="91427"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hu-HU" sz="2200" dirty="0" err="1">
                          <a:solidFill>
                            <a:schemeClr val="tx1"/>
                          </a:solidFill>
                          <a:latin typeface="Arial" panose="020B0604020202020204" pitchFamily="34" charset="0"/>
                          <a:cs typeface="Arial" panose="020B0604020202020204" pitchFamily="34" charset="0"/>
                        </a:rPr>
                        <a:t>Collection</a:t>
                      </a:r>
                      <a:endParaRPr lang="hu-HU" sz="2200" dirty="0">
                        <a:solidFill>
                          <a:schemeClr val="tx1"/>
                        </a:solidFill>
                        <a:latin typeface="Arial" panose="020B0604020202020204" pitchFamily="34" charset="0"/>
                        <a:cs typeface="Arial" panose="020B0604020202020204" pitchFamily="34" charset="0"/>
                      </a:endParaRPr>
                    </a:p>
                  </a:txBody>
                  <a:tcPr marL="91427" marR="91427"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50622">
                <a:tc>
                  <a:txBody>
                    <a:bodyPr/>
                    <a:lstStyle/>
                    <a:p>
                      <a:pPr algn="ctr"/>
                      <a:r>
                        <a:rPr lang="hu-HU" sz="2200" dirty="0" err="1">
                          <a:solidFill>
                            <a:schemeClr val="tx1"/>
                          </a:solidFill>
                          <a:latin typeface="Arial" panose="020B0604020202020204" pitchFamily="34" charset="0"/>
                          <a:cs typeface="Arial" panose="020B0604020202020204" pitchFamily="34" charset="0"/>
                        </a:rPr>
                        <a:t>Row</a:t>
                      </a:r>
                      <a:endParaRPr lang="hu-HU" sz="2200" dirty="0">
                        <a:solidFill>
                          <a:schemeClr val="tx1"/>
                        </a:solidFill>
                        <a:latin typeface="Arial" panose="020B0604020202020204" pitchFamily="34" charset="0"/>
                        <a:cs typeface="Arial" panose="020B0604020202020204" pitchFamily="34" charset="0"/>
                      </a:endParaRPr>
                    </a:p>
                  </a:txBody>
                  <a:tcPr marL="91427" marR="91427"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hu-HU" sz="2200" dirty="0" err="1">
                          <a:solidFill>
                            <a:schemeClr val="tx1"/>
                          </a:solidFill>
                          <a:latin typeface="Arial" panose="020B0604020202020204" pitchFamily="34" charset="0"/>
                          <a:cs typeface="Arial" panose="020B0604020202020204" pitchFamily="34" charset="0"/>
                        </a:rPr>
                        <a:t>Document</a:t>
                      </a:r>
                      <a:r>
                        <a:rPr lang="hu-HU" sz="2200" dirty="0">
                          <a:solidFill>
                            <a:schemeClr val="tx1"/>
                          </a:solidFill>
                          <a:latin typeface="Arial" panose="020B0604020202020204" pitchFamily="34" charset="0"/>
                          <a:cs typeface="Arial" panose="020B0604020202020204" pitchFamily="34" charset="0"/>
                        </a:rPr>
                        <a:t> (JSON, BSON)</a:t>
                      </a:r>
                    </a:p>
                  </a:txBody>
                  <a:tcPr marL="91427" marR="91427"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50622">
                <a:tc>
                  <a:txBody>
                    <a:bodyPr/>
                    <a:lstStyle/>
                    <a:p>
                      <a:pPr algn="ctr"/>
                      <a:r>
                        <a:rPr lang="hu-HU" sz="2200" dirty="0" err="1">
                          <a:solidFill>
                            <a:schemeClr val="tx1"/>
                          </a:solidFill>
                          <a:latin typeface="Arial" panose="020B0604020202020204" pitchFamily="34" charset="0"/>
                          <a:cs typeface="Arial" panose="020B0604020202020204" pitchFamily="34" charset="0"/>
                        </a:rPr>
                        <a:t>Column</a:t>
                      </a:r>
                      <a:endParaRPr lang="hu-HU" sz="2200" dirty="0">
                        <a:solidFill>
                          <a:schemeClr val="tx1"/>
                        </a:solidFill>
                        <a:latin typeface="Arial" panose="020B0604020202020204" pitchFamily="34" charset="0"/>
                        <a:cs typeface="Arial" panose="020B0604020202020204" pitchFamily="34" charset="0"/>
                      </a:endParaRPr>
                    </a:p>
                  </a:txBody>
                  <a:tcPr marL="91427" marR="91427"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hu-HU" sz="2200" dirty="0" err="1">
                          <a:solidFill>
                            <a:schemeClr val="tx1"/>
                          </a:solidFill>
                          <a:latin typeface="Arial" panose="020B0604020202020204" pitchFamily="34" charset="0"/>
                          <a:cs typeface="Arial" panose="020B0604020202020204" pitchFamily="34" charset="0"/>
                        </a:rPr>
                        <a:t>Field</a:t>
                      </a:r>
                      <a:endParaRPr lang="hu-HU" sz="2200" dirty="0">
                        <a:solidFill>
                          <a:schemeClr val="tx1"/>
                        </a:solidFill>
                        <a:latin typeface="Arial" panose="020B0604020202020204" pitchFamily="34" charset="0"/>
                        <a:cs typeface="Arial" panose="020B0604020202020204" pitchFamily="34" charset="0"/>
                      </a:endParaRPr>
                    </a:p>
                  </a:txBody>
                  <a:tcPr marL="91427" marR="91427"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450622">
                <a:tc>
                  <a:txBody>
                    <a:bodyPr/>
                    <a:lstStyle/>
                    <a:p>
                      <a:pPr algn="ctr"/>
                      <a:r>
                        <a:rPr lang="hu-HU" sz="2200" dirty="0">
                          <a:solidFill>
                            <a:schemeClr val="tx1"/>
                          </a:solidFill>
                          <a:latin typeface="Arial" panose="020B0604020202020204" pitchFamily="34" charset="0"/>
                          <a:cs typeface="Arial" panose="020B0604020202020204" pitchFamily="34" charset="0"/>
                        </a:rPr>
                        <a:t>Index</a:t>
                      </a:r>
                    </a:p>
                  </a:txBody>
                  <a:tcPr marL="91427" marR="91427"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hu-HU" sz="2200" dirty="0">
                          <a:solidFill>
                            <a:schemeClr val="tx1"/>
                          </a:solidFill>
                          <a:latin typeface="Arial" panose="020B0604020202020204" pitchFamily="34" charset="0"/>
                          <a:cs typeface="Arial" panose="020B0604020202020204" pitchFamily="34" charset="0"/>
                        </a:rPr>
                        <a:t>Index</a:t>
                      </a:r>
                    </a:p>
                  </a:txBody>
                  <a:tcPr marL="91427" marR="91427"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450622">
                <a:tc>
                  <a:txBody>
                    <a:bodyPr/>
                    <a:lstStyle/>
                    <a:p>
                      <a:pPr algn="ctr"/>
                      <a:r>
                        <a:rPr lang="hu-HU" sz="2200" b="0" dirty="0" err="1">
                          <a:solidFill>
                            <a:schemeClr val="tx1"/>
                          </a:solidFill>
                          <a:latin typeface="Arial" panose="020B0604020202020204" pitchFamily="34" charset="0"/>
                          <a:cs typeface="Arial" panose="020B0604020202020204" pitchFamily="34" charset="0"/>
                        </a:rPr>
                        <a:t>Join</a:t>
                      </a:r>
                      <a:endParaRPr lang="hu-HU" sz="2200" b="0" dirty="0">
                        <a:solidFill>
                          <a:schemeClr val="tx1"/>
                        </a:solidFill>
                        <a:latin typeface="Arial" panose="020B0604020202020204" pitchFamily="34" charset="0"/>
                        <a:cs typeface="Arial" panose="020B0604020202020204" pitchFamily="34" charset="0"/>
                      </a:endParaRPr>
                    </a:p>
                  </a:txBody>
                  <a:tcPr marL="91427" marR="91427"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hu-HU" sz="2200" b="0" dirty="0" err="1">
                          <a:solidFill>
                            <a:schemeClr val="tx1"/>
                          </a:solidFill>
                          <a:latin typeface="Arial" panose="020B0604020202020204" pitchFamily="34" charset="0"/>
                          <a:cs typeface="Arial" panose="020B0604020202020204" pitchFamily="34" charset="0"/>
                        </a:rPr>
                        <a:t>Embedded</a:t>
                      </a:r>
                      <a:r>
                        <a:rPr lang="hu-HU" sz="2200" b="0" dirty="0">
                          <a:solidFill>
                            <a:schemeClr val="tx1"/>
                          </a:solidFill>
                          <a:latin typeface="Arial" panose="020B0604020202020204" pitchFamily="34" charset="0"/>
                          <a:cs typeface="Arial" panose="020B0604020202020204" pitchFamily="34" charset="0"/>
                        </a:rPr>
                        <a:t> </a:t>
                      </a:r>
                      <a:r>
                        <a:rPr lang="hu-HU" sz="2200" b="0" dirty="0" err="1">
                          <a:solidFill>
                            <a:schemeClr val="tx1"/>
                          </a:solidFill>
                          <a:latin typeface="Arial" panose="020B0604020202020204" pitchFamily="34" charset="0"/>
                          <a:cs typeface="Arial" panose="020B0604020202020204" pitchFamily="34" charset="0"/>
                        </a:rPr>
                        <a:t>Document</a:t>
                      </a:r>
                      <a:endParaRPr lang="hu-HU" sz="2200" b="0" dirty="0">
                        <a:solidFill>
                          <a:schemeClr val="tx1"/>
                        </a:solidFill>
                        <a:latin typeface="Arial" panose="020B0604020202020204" pitchFamily="34" charset="0"/>
                        <a:cs typeface="Arial" panose="020B0604020202020204" pitchFamily="34" charset="0"/>
                      </a:endParaRPr>
                    </a:p>
                  </a:txBody>
                  <a:tcPr marL="91427" marR="91427"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450622">
                <a:tc>
                  <a:txBody>
                    <a:bodyPr/>
                    <a:lstStyle/>
                    <a:p>
                      <a:pPr algn="ctr"/>
                      <a:r>
                        <a:rPr lang="hu-HU" sz="2200" dirty="0" err="1">
                          <a:solidFill>
                            <a:schemeClr val="tx1"/>
                          </a:solidFill>
                          <a:latin typeface="Arial" panose="020B0604020202020204" pitchFamily="34" charset="0"/>
                          <a:cs typeface="Arial" panose="020B0604020202020204" pitchFamily="34" charset="0"/>
                        </a:rPr>
                        <a:t>Foreign</a:t>
                      </a:r>
                      <a:r>
                        <a:rPr lang="hu-HU" sz="2200" dirty="0">
                          <a:solidFill>
                            <a:schemeClr val="tx1"/>
                          </a:solidFill>
                          <a:latin typeface="Arial" panose="020B0604020202020204" pitchFamily="34" charset="0"/>
                          <a:cs typeface="Arial" panose="020B0604020202020204" pitchFamily="34" charset="0"/>
                        </a:rPr>
                        <a:t> Key</a:t>
                      </a:r>
                    </a:p>
                  </a:txBody>
                  <a:tcPr marL="91427" marR="91427"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hu-HU" sz="2200" dirty="0" err="1">
                          <a:solidFill>
                            <a:schemeClr val="tx1"/>
                          </a:solidFill>
                          <a:latin typeface="Arial" panose="020B0604020202020204" pitchFamily="34" charset="0"/>
                          <a:cs typeface="Arial" panose="020B0604020202020204" pitchFamily="34" charset="0"/>
                        </a:rPr>
                        <a:t>Reference</a:t>
                      </a:r>
                      <a:endParaRPr lang="hu-HU" sz="2200" dirty="0">
                        <a:solidFill>
                          <a:schemeClr val="tx1"/>
                        </a:solidFill>
                        <a:latin typeface="Arial" panose="020B0604020202020204" pitchFamily="34" charset="0"/>
                        <a:cs typeface="Arial" panose="020B0604020202020204" pitchFamily="34" charset="0"/>
                      </a:endParaRPr>
                    </a:p>
                  </a:txBody>
                  <a:tcPr marL="91427" marR="91427"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450622">
                <a:tc>
                  <a:txBody>
                    <a:bodyPr/>
                    <a:lstStyle/>
                    <a:p>
                      <a:pPr algn="ctr"/>
                      <a:r>
                        <a:rPr lang="hu-HU" sz="2200" dirty="0" err="1">
                          <a:solidFill>
                            <a:schemeClr val="tx1"/>
                          </a:solidFill>
                          <a:latin typeface="Arial" panose="020B0604020202020204" pitchFamily="34" charset="0"/>
                          <a:cs typeface="Arial" panose="020B0604020202020204" pitchFamily="34" charset="0"/>
                        </a:rPr>
                        <a:t>Partition</a:t>
                      </a:r>
                      <a:endParaRPr lang="hu-HU" sz="2200" dirty="0">
                        <a:solidFill>
                          <a:schemeClr val="tx1"/>
                        </a:solidFill>
                        <a:latin typeface="Arial" panose="020B0604020202020204" pitchFamily="34" charset="0"/>
                        <a:cs typeface="Arial" panose="020B0604020202020204" pitchFamily="34" charset="0"/>
                      </a:endParaRPr>
                    </a:p>
                  </a:txBody>
                  <a:tcPr marL="91427" marR="91427"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hu-HU" sz="2200" dirty="0" err="1">
                          <a:solidFill>
                            <a:schemeClr val="tx1"/>
                          </a:solidFill>
                          <a:latin typeface="Arial" panose="020B0604020202020204" pitchFamily="34" charset="0"/>
                          <a:cs typeface="Arial" panose="020B0604020202020204" pitchFamily="34" charset="0"/>
                        </a:rPr>
                        <a:t>Shard</a:t>
                      </a:r>
                      <a:endParaRPr lang="hu-HU" sz="2200" dirty="0">
                        <a:solidFill>
                          <a:schemeClr val="tx1"/>
                        </a:solidFill>
                        <a:latin typeface="Arial" panose="020B0604020202020204" pitchFamily="34" charset="0"/>
                        <a:cs typeface="Arial" panose="020B0604020202020204" pitchFamily="34" charset="0"/>
                      </a:endParaRPr>
                    </a:p>
                  </a:txBody>
                  <a:tcPr marL="91427" marR="91427"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2482523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MongoDB: Hierarchical Objects</a:t>
            </a:r>
          </a:p>
        </p:txBody>
      </p:sp>
      <p:sp>
        <p:nvSpPr>
          <p:cNvPr id="3" name="Content Placeholder 2"/>
          <p:cNvSpPr>
            <a:spLocks noGrp="1"/>
          </p:cNvSpPr>
          <p:nvPr>
            <p:ph idx="1"/>
          </p:nvPr>
        </p:nvSpPr>
        <p:spPr>
          <a:xfrm>
            <a:off x="838200" y="1690688"/>
            <a:ext cx="5735855" cy="4486275"/>
          </a:xfrm>
        </p:spPr>
        <p:txBody>
          <a:bodyPr>
            <a:normAutofit/>
          </a:bodyPr>
          <a:lstStyle/>
          <a:p>
            <a:pPr marL="539750" indent="-357188">
              <a:lnSpc>
                <a:spcPct val="130000"/>
              </a:lnSpc>
              <a:spcBef>
                <a:spcPts val="600"/>
              </a:spcBef>
              <a:spcAft>
                <a:spcPts val="600"/>
              </a:spcAft>
            </a:pPr>
            <a:r>
              <a:rPr lang="en-US" sz="2400" dirty="0">
                <a:latin typeface="Arial" panose="020B0604020202020204" pitchFamily="34" charset="0"/>
                <a:cs typeface="Arial" panose="020B0604020202020204" pitchFamily="34" charset="0"/>
              </a:rPr>
              <a:t>A database may have zero or more ‘collections’.</a:t>
            </a:r>
          </a:p>
          <a:p>
            <a:pPr marL="539750" indent="-357188">
              <a:lnSpc>
                <a:spcPct val="130000"/>
              </a:lnSpc>
              <a:spcBef>
                <a:spcPts val="600"/>
              </a:spcBef>
              <a:spcAft>
                <a:spcPts val="600"/>
              </a:spcAft>
            </a:pPr>
            <a:r>
              <a:rPr lang="en-US" sz="2400" dirty="0">
                <a:latin typeface="Arial" panose="020B0604020202020204" pitchFamily="34" charset="0"/>
                <a:cs typeface="Arial" panose="020B0604020202020204" pitchFamily="34" charset="0"/>
              </a:rPr>
              <a:t> A collection may have zero or more ‘documents’.</a:t>
            </a:r>
          </a:p>
          <a:p>
            <a:pPr marL="539750" indent="-357188">
              <a:lnSpc>
                <a:spcPct val="130000"/>
              </a:lnSpc>
              <a:spcBef>
                <a:spcPts val="600"/>
              </a:spcBef>
              <a:spcAft>
                <a:spcPts val="600"/>
              </a:spcAft>
            </a:pPr>
            <a:r>
              <a:rPr lang="en-US" sz="2400" dirty="0">
                <a:latin typeface="Arial" panose="020B0604020202020204" pitchFamily="34" charset="0"/>
                <a:cs typeface="Arial" panose="020B0604020202020204" pitchFamily="34" charset="0"/>
              </a:rPr>
              <a:t>A document may have one or more ‘fields’.</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01-09-2025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19</a:t>
            </a:fld>
            <a:endParaRPr lang="en-IN" dirty="0">
              <a:latin typeface="Arial" panose="020B0604020202020204" pitchFamily="34" charset="0"/>
              <a:cs typeface="Arial" panose="020B0604020202020204" pitchFamily="34" charset="0"/>
            </a:endParaRPr>
          </a:p>
        </p:txBody>
      </p:sp>
      <p:pic>
        <p:nvPicPr>
          <p:cNvPr id="10" name="Content Placeholder 4"/>
          <p:cNvPicPr>
            <a:picLocks noChangeAspect="1"/>
          </p:cNvPicPr>
          <p:nvPr/>
        </p:nvPicPr>
        <p:blipFill>
          <a:blip r:embed="rId2"/>
          <a:stretch>
            <a:fillRect/>
          </a:stretch>
        </p:blipFill>
        <p:spPr>
          <a:xfrm>
            <a:off x="7567959" y="1690688"/>
            <a:ext cx="3640641" cy="4351338"/>
          </a:xfrm>
          <a:prstGeom prst="rect">
            <a:avLst/>
          </a:prstGeom>
        </p:spPr>
      </p:pic>
    </p:spTree>
    <p:extLst>
      <p:ext uri="{BB962C8B-B14F-4D97-AF65-F5344CB8AC3E}">
        <p14:creationId xmlns:p14="http://schemas.microsoft.com/office/powerpoint/2010/main" val="20112350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The use Command</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30000"/>
              </a:lnSpc>
              <a:spcBef>
                <a:spcPts val="600"/>
              </a:spcBef>
              <a:spcAft>
                <a:spcPts val="600"/>
              </a:spcAft>
              <a:buNone/>
            </a:pPr>
            <a:r>
              <a:rPr lang="en-US" sz="2000" dirty="0">
                <a:latin typeface="Arial" panose="020B0604020202020204" pitchFamily="34" charset="0"/>
                <a:cs typeface="Arial" panose="020B0604020202020204" pitchFamily="34" charset="0"/>
              </a:rPr>
              <a:t>MongoDB use DATABASE_NAME is used to create database. The command will create a new database if it doesn't exist, otherwise it will return the existing database.</a:t>
            </a:r>
          </a:p>
          <a:p>
            <a:pPr marL="0" indent="0">
              <a:lnSpc>
                <a:spcPct val="130000"/>
              </a:lnSpc>
              <a:spcBef>
                <a:spcPts val="600"/>
              </a:spcBef>
              <a:spcAft>
                <a:spcPts val="600"/>
              </a:spcAft>
              <a:buNone/>
            </a:pPr>
            <a:r>
              <a:rPr lang="en-US" sz="2000" b="1" dirty="0">
                <a:latin typeface="Arial" panose="020B0604020202020204" pitchFamily="34" charset="0"/>
                <a:cs typeface="Arial" panose="020B0604020202020204" pitchFamily="34" charset="0"/>
              </a:rPr>
              <a:t>Syntax:	</a:t>
            </a:r>
            <a:r>
              <a:rPr lang="en-US" sz="2000" b="1" dirty="0">
                <a:solidFill>
                  <a:srgbClr val="FF0000"/>
                </a:solidFill>
                <a:latin typeface="Arial" panose="020B0604020202020204" pitchFamily="34" charset="0"/>
                <a:cs typeface="Arial" panose="020B0604020202020204" pitchFamily="34" charset="0"/>
              </a:rPr>
              <a:t>use DATABASE_NAME</a:t>
            </a:r>
          </a:p>
          <a:p>
            <a:pPr marL="0" indent="0">
              <a:lnSpc>
                <a:spcPct val="130000"/>
              </a:lnSpc>
              <a:spcBef>
                <a:spcPts val="600"/>
              </a:spcBef>
              <a:spcAft>
                <a:spcPts val="600"/>
              </a:spcAft>
              <a:buNone/>
            </a:pPr>
            <a:r>
              <a:rPr lang="en-US" sz="2000" b="1" dirty="0">
                <a:latin typeface="Arial" panose="020B0604020202020204" pitchFamily="34" charset="0"/>
                <a:cs typeface="Arial" panose="020B0604020202020204" pitchFamily="34" charset="0"/>
              </a:rPr>
              <a:t>Example</a:t>
            </a:r>
          </a:p>
          <a:p>
            <a:pPr marL="0" indent="0">
              <a:lnSpc>
                <a:spcPct val="130000"/>
              </a:lnSpc>
              <a:spcBef>
                <a:spcPts val="600"/>
              </a:spcBef>
              <a:spcAft>
                <a:spcPts val="600"/>
              </a:spcAft>
              <a:buNone/>
            </a:pPr>
            <a:r>
              <a:rPr lang="en-US" sz="2000" dirty="0">
                <a:latin typeface="Arial" panose="020B0604020202020204" pitchFamily="34" charset="0"/>
                <a:cs typeface="Arial" panose="020B0604020202020204" pitchFamily="34" charset="0"/>
              </a:rPr>
              <a:t>Create a database called ‘movies’ and write a MongoDB query to select database as ‘movies’</a:t>
            </a:r>
          </a:p>
          <a:p>
            <a:pPr marL="457200" lvl="1" indent="0">
              <a:lnSpc>
                <a:spcPct val="130000"/>
              </a:lnSpc>
              <a:spcBef>
                <a:spcPts val="600"/>
              </a:spcBef>
              <a:spcAft>
                <a:spcPts val="600"/>
              </a:spcAft>
              <a:buNone/>
            </a:pPr>
            <a:r>
              <a:rPr lang="en-US" sz="2000" b="1" dirty="0">
                <a:latin typeface="Arial" panose="020B0604020202020204" pitchFamily="34" charset="0"/>
                <a:cs typeface="Arial" panose="020B0604020202020204" pitchFamily="34" charset="0"/>
              </a:rPr>
              <a:t>&gt;</a:t>
            </a:r>
            <a:r>
              <a:rPr lang="en-US" sz="2000" b="1" dirty="0">
                <a:solidFill>
                  <a:srgbClr val="FF0000"/>
                </a:solidFill>
                <a:latin typeface="Arial" panose="020B0604020202020204" pitchFamily="34" charset="0"/>
                <a:cs typeface="Arial" panose="020B0604020202020204" pitchFamily="34" charset="0"/>
              </a:rPr>
              <a:t>use movies</a:t>
            </a:r>
          </a:p>
          <a:p>
            <a:pPr marL="457200" lvl="1" indent="0">
              <a:lnSpc>
                <a:spcPct val="130000"/>
              </a:lnSpc>
              <a:spcBef>
                <a:spcPts val="600"/>
              </a:spcBef>
              <a:spcAft>
                <a:spcPts val="600"/>
              </a:spcAft>
              <a:buNone/>
            </a:pPr>
            <a:r>
              <a:rPr lang="en-US" sz="2000" b="1" dirty="0">
                <a:latin typeface="Arial" panose="020B0604020202020204" pitchFamily="34" charset="0"/>
                <a:cs typeface="Arial" panose="020B0604020202020204" pitchFamily="34" charset="0"/>
              </a:rPr>
              <a:t>&gt;</a:t>
            </a:r>
            <a:r>
              <a:rPr lang="en-US" sz="2000" b="1" dirty="0">
                <a:solidFill>
                  <a:srgbClr val="FF0000"/>
                </a:solidFill>
                <a:latin typeface="Arial" panose="020B0604020202020204" pitchFamily="34" charset="0"/>
                <a:cs typeface="Arial" panose="020B0604020202020204" pitchFamily="34" charset="0"/>
              </a:rPr>
              <a:t>switched to </a:t>
            </a:r>
            <a:r>
              <a:rPr lang="en-US" sz="2000" b="1" dirty="0" err="1">
                <a:solidFill>
                  <a:srgbClr val="FF0000"/>
                </a:solidFill>
                <a:latin typeface="Arial" panose="020B0604020202020204" pitchFamily="34" charset="0"/>
                <a:cs typeface="Arial" panose="020B0604020202020204" pitchFamily="34" charset="0"/>
              </a:rPr>
              <a:t>db</a:t>
            </a:r>
            <a:r>
              <a:rPr lang="en-US" sz="2000" b="1" dirty="0">
                <a:solidFill>
                  <a:srgbClr val="FF0000"/>
                </a:solidFill>
                <a:latin typeface="Arial" panose="020B0604020202020204" pitchFamily="34" charset="0"/>
                <a:cs typeface="Arial" panose="020B0604020202020204" pitchFamily="34" charset="0"/>
              </a:rPr>
              <a:t> movies</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01-09-2025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20</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06214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show </a:t>
            </a:r>
            <a:r>
              <a:rPr lang="en-IN" sz="3200" b="1" u="sng" dirty="0" err="1">
                <a:solidFill>
                  <a:srgbClr val="0070C0"/>
                </a:solidFill>
                <a:latin typeface="Arial" panose="020B0604020202020204" pitchFamily="34" charset="0"/>
                <a:cs typeface="Arial" panose="020B0604020202020204" pitchFamily="34" charset="0"/>
              </a:rPr>
              <a:t>dbs</a:t>
            </a:r>
            <a:r>
              <a:rPr lang="en-IN" sz="3200" b="1" u="sng" dirty="0">
                <a:solidFill>
                  <a:srgbClr val="0070C0"/>
                </a:solidFill>
                <a:latin typeface="Arial" panose="020B0604020202020204" pitchFamily="34" charset="0"/>
                <a:cs typeface="Arial" panose="020B0604020202020204" pitchFamily="34" charset="0"/>
              </a:rPr>
              <a:t> command</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10000"/>
              </a:lnSpc>
              <a:spcBef>
                <a:spcPts val="0"/>
              </a:spcBef>
              <a:buNone/>
            </a:pPr>
            <a:r>
              <a:rPr lang="en-US" sz="2000" dirty="0">
                <a:latin typeface="Arial" panose="020B0604020202020204" pitchFamily="34" charset="0"/>
                <a:cs typeface="Arial" panose="020B0604020202020204" pitchFamily="34" charset="0"/>
              </a:rPr>
              <a:t>To check your currently selected database, use the command </a:t>
            </a:r>
            <a:r>
              <a:rPr lang="en-US" sz="2000" dirty="0" err="1">
                <a:latin typeface="Arial" panose="020B0604020202020204" pitchFamily="34" charset="0"/>
                <a:cs typeface="Arial" panose="020B0604020202020204" pitchFamily="34" charset="0"/>
              </a:rPr>
              <a:t>db</a:t>
            </a:r>
            <a:endParaRPr lang="en-US" sz="2000" dirty="0">
              <a:latin typeface="Arial" panose="020B0604020202020204" pitchFamily="34" charset="0"/>
              <a:cs typeface="Arial" panose="020B0604020202020204" pitchFamily="34" charset="0"/>
            </a:endParaRPr>
          </a:p>
          <a:p>
            <a:pPr marL="539750" indent="0">
              <a:lnSpc>
                <a:spcPct val="110000"/>
              </a:lnSpc>
              <a:spcBef>
                <a:spcPts val="0"/>
              </a:spcBef>
              <a:buNone/>
            </a:pPr>
            <a:r>
              <a:rPr lang="en-US" sz="2000" dirty="0">
                <a:solidFill>
                  <a:srgbClr val="FF0000"/>
                </a:solidFill>
                <a:latin typeface="Arial" panose="020B0604020202020204" pitchFamily="34" charset="0"/>
                <a:cs typeface="Arial" panose="020B0604020202020204" pitchFamily="34" charset="0"/>
              </a:rPr>
              <a:t>&gt;</a:t>
            </a:r>
            <a:r>
              <a:rPr lang="en-US" sz="2000" dirty="0" err="1">
                <a:solidFill>
                  <a:srgbClr val="FF0000"/>
                </a:solidFill>
                <a:latin typeface="Arial" panose="020B0604020202020204" pitchFamily="34" charset="0"/>
                <a:cs typeface="Arial" panose="020B0604020202020204" pitchFamily="34" charset="0"/>
              </a:rPr>
              <a:t>db</a:t>
            </a:r>
            <a:endParaRPr lang="en-US" sz="2000" dirty="0">
              <a:solidFill>
                <a:srgbClr val="FF0000"/>
              </a:solidFill>
              <a:latin typeface="Arial" panose="020B0604020202020204" pitchFamily="34" charset="0"/>
              <a:cs typeface="Arial" panose="020B0604020202020204" pitchFamily="34" charset="0"/>
            </a:endParaRPr>
          </a:p>
          <a:p>
            <a:pPr marL="539750" indent="0">
              <a:lnSpc>
                <a:spcPct val="110000"/>
              </a:lnSpc>
              <a:spcBef>
                <a:spcPts val="0"/>
              </a:spcBef>
              <a:buNone/>
            </a:pPr>
            <a:r>
              <a:rPr lang="en-US" sz="2000" dirty="0">
                <a:latin typeface="Arial" panose="020B0604020202020204" pitchFamily="34" charset="0"/>
                <a:cs typeface="Arial" panose="020B0604020202020204" pitchFamily="34" charset="0"/>
              </a:rPr>
              <a:t>movies</a:t>
            </a:r>
          </a:p>
          <a:p>
            <a:pPr marL="0" indent="0">
              <a:lnSpc>
                <a:spcPct val="110000"/>
              </a:lnSpc>
              <a:spcBef>
                <a:spcPts val="0"/>
              </a:spcBef>
              <a:buNone/>
            </a:pPr>
            <a:endParaRPr lang="en-US" sz="2000" dirty="0">
              <a:latin typeface="Arial" panose="020B0604020202020204" pitchFamily="34" charset="0"/>
              <a:cs typeface="Arial" panose="020B0604020202020204" pitchFamily="34" charset="0"/>
            </a:endParaRPr>
          </a:p>
          <a:p>
            <a:pPr marL="0" indent="0">
              <a:lnSpc>
                <a:spcPct val="110000"/>
              </a:lnSpc>
              <a:spcBef>
                <a:spcPts val="0"/>
              </a:spcBef>
              <a:buNone/>
            </a:pPr>
            <a:r>
              <a:rPr lang="en-US" sz="2000" dirty="0">
                <a:latin typeface="Arial" panose="020B0604020202020204" pitchFamily="34" charset="0"/>
                <a:cs typeface="Arial" panose="020B0604020202020204" pitchFamily="34" charset="0"/>
              </a:rPr>
              <a:t>If you want to check your databases list, use the command show dbs.</a:t>
            </a:r>
          </a:p>
          <a:p>
            <a:pPr marL="539750" indent="0">
              <a:lnSpc>
                <a:spcPct val="110000"/>
              </a:lnSpc>
              <a:spcBef>
                <a:spcPts val="0"/>
              </a:spcBef>
              <a:buNone/>
            </a:pPr>
            <a:r>
              <a:rPr lang="en-US" sz="2000" dirty="0">
                <a:solidFill>
                  <a:srgbClr val="FF0000"/>
                </a:solidFill>
                <a:latin typeface="Arial" panose="020B0604020202020204" pitchFamily="34" charset="0"/>
                <a:cs typeface="Arial" panose="020B0604020202020204" pitchFamily="34" charset="0"/>
              </a:rPr>
              <a:t>&gt;show </a:t>
            </a:r>
            <a:r>
              <a:rPr lang="en-US" sz="2000" dirty="0" err="1">
                <a:solidFill>
                  <a:srgbClr val="FF0000"/>
                </a:solidFill>
                <a:latin typeface="Arial" panose="020B0604020202020204" pitchFamily="34" charset="0"/>
                <a:cs typeface="Arial" panose="020B0604020202020204" pitchFamily="34" charset="0"/>
              </a:rPr>
              <a:t>dbs</a:t>
            </a:r>
            <a:endParaRPr lang="en-US" sz="2000" dirty="0">
              <a:solidFill>
                <a:srgbClr val="FF0000"/>
              </a:solidFill>
              <a:latin typeface="Arial" panose="020B0604020202020204" pitchFamily="34" charset="0"/>
              <a:cs typeface="Arial" panose="020B0604020202020204" pitchFamily="34" charset="0"/>
            </a:endParaRPr>
          </a:p>
          <a:p>
            <a:pPr marL="539750" indent="0">
              <a:lnSpc>
                <a:spcPct val="110000"/>
              </a:lnSpc>
              <a:spcBef>
                <a:spcPts val="0"/>
              </a:spcBef>
              <a:buNone/>
            </a:pPr>
            <a:r>
              <a:rPr lang="en-US" sz="2000" dirty="0">
                <a:latin typeface="Arial" panose="020B0604020202020204" pitchFamily="34" charset="0"/>
                <a:cs typeface="Arial" panose="020B0604020202020204" pitchFamily="34" charset="0"/>
              </a:rPr>
              <a:t>local     0.78125GB</a:t>
            </a:r>
          </a:p>
          <a:p>
            <a:pPr marL="539750" indent="0">
              <a:lnSpc>
                <a:spcPct val="110000"/>
              </a:lnSpc>
              <a:spcBef>
                <a:spcPts val="0"/>
              </a:spcBef>
              <a:buNone/>
            </a:pPr>
            <a:r>
              <a:rPr lang="en-US" sz="2000" dirty="0">
                <a:latin typeface="Arial" panose="020B0604020202020204" pitchFamily="34" charset="0"/>
                <a:cs typeface="Arial" panose="020B0604020202020204" pitchFamily="34" charset="0"/>
              </a:rPr>
              <a:t>test      0.23012GB</a:t>
            </a:r>
          </a:p>
          <a:p>
            <a:pPr marL="0" indent="0">
              <a:lnSpc>
                <a:spcPct val="110000"/>
              </a:lnSpc>
              <a:spcBef>
                <a:spcPts val="0"/>
              </a:spcBef>
              <a:buNone/>
            </a:pPr>
            <a:endParaRPr lang="en-US" sz="2000" dirty="0">
              <a:latin typeface="Arial" panose="020B0604020202020204" pitchFamily="34" charset="0"/>
              <a:cs typeface="Arial" panose="020B0604020202020204" pitchFamily="34" charset="0"/>
            </a:endParaRPr>
          </a:p>
          <a:p>
            <a:pPr marL="0" indent="0">
              <a:lnSpc>
                <a:spcPct val="110000"/>
              </a:lnSpc>
              <a:spcBef>
                <a:spcPts val="0"/>
              </a:spcBef>
              <a:buNone/>
            </a:pPr>
            <a:r>
              <a:rPr lang="en-US" sz="2000" dirty="0">
                <a:latin typeface="Arial" panose="020B0604020202020204" pitchFamily="34" charset="0"/>
                <a:cs typeface="Arial" panose="020B0604020202020204" pitchFamily="34" charset="0"/>
              </a:rPr>
              <a:t>Your created database (</a:t>
            </a:r>
            <a:r>
              <a:rPr lang="en-US" sz="2000" dirty="0" err="1">
                <a:latin typeface="Arial" panose="020B0604020202020204" pitchFamily="34" charset="0"/>
                <a:cs typeface="Arial" panose="020B0604020202020204" pitchFamily="34" charset="0"/>
              </a:rPr>
              <a:t>mydb</a:t>
            </a:r>
            <a:r>
              <a:rPr lang="en-US" sz="2000" dirty="0">
                <a:latin typeface="Arial" panose="020B0604020202020204" pitchFamily="34" charset="0"/>
                <a:cs typeface="Arial" panose="020B0604020202020204" pitchFamily="34" charset="0"/>
              </a:rPr>
              <a:t>) is not present in list. To display database, you need to insert at least one document into it.</a:t>
            </a:r>
          </a:p>
          <a:p>
            <a:pPr marL="539750" indent="0">
              <a:lnSpc>
                <a:spcPct val="110000"/>
              </a:lnSpc>
              <a:spcBef>
                <a:spcPts val="0"/>
              </a:spcBef>
              <a:buNone/>
            </a:pPr>
            <a:r>
              <a:rPr lang="en-US" sz="2000" dirty="0">
                <a:solidFill>
                  <a:srgbClr val="FF0000"/>
                </a:solidFill>
                <a:latin typeface="Arial" panose="020B0604020202020204" pitchFamily="34" charset="0"/>
                <a:cs typeface="Arial" panose="020B0604020202020204" pitchFamily="34" charset="0"/>
              </a:rPr>
              <a:t>&gt;</a:t>
            </a:r>
            <a:r>
              <a:rPr lang="en-US" sz="2000" dirty="0" err="1">
                <a:solidFill>
                  <a:srgbClr val="FF0000"/>
                </a:solidFill>
                <a:latin typeface="Arial" panose="020B0604020202020204" pitchFamily="34" charset="0"/>
                <a:cs typeface="Arial" panose="020B0604020202020204" pitchFamily="34" charset="0"/>
              </a:rPr>
              <a:t>db.movie.insert</a:t>
            </a:r>
            <a:r>
              <a:rPr lang="en-US" sz="2000" dirty="0">
                <a:solidFill>
                  <a:srgbClr val="FF0000"/>
                </a:solidFill>
                <a:latin typeface="Arial" panose="020B0604020202020204" pitchFamily="34" charset="0"/>
                <a:cs typeface="Arial" panose="020B0604020202020204" pitchFamily="34" charset="0"/>
              </a:rPr>
              <a:t>({"</a:t>
            </a:r>
            <a:r>
              <a:rPr lang="en-US" sz="2000" dirty="0" err="1">
                <a:solidFill>
                  <a:srgbClr val="FF0000"/>
                </a:solidFill>
                <a:latin typeface="Arial" panose="020B0604020202020204" pitchFamily="34" charset="0"/>
                <a:cs typeface="Arial" panose="020B0604020202020204" pitchFamily="34" charset="0"/>
              </a:rPr>
              <a:t>name":"tutorials</a:t>
            </a:r>
            <a:r>
              <a:rPr lang="en-US" sz="2000" dirty="0">
                <a:solidFill>
                  <a:srgbClr val="FF0000"/>
                </a:solidFill>
                <a:latin typeface="Arial" panose="020B0604020202020204" pitchFamily="34" charset="0"/>
                <a:cs typeface="Arial" panose="020B0604020202020204" pitchFamily="34" charset="0"/>
              </a:rPr>
              <a:t> point"})</a:t>
            </a:r>
          </a:p>
          <a:p>
            <a:pPr marL="539750" indent="0">
              <a:lnSpc>
                <a:spcPct val="110000"/>
              </a:lnSpc>
              <a:spcBef>
                <a:spcPts val="0"/>
              </a:spcBef>
              <a:buNone/>
            </a:pPr>
            <a:r>
              <a:rPr lang="en-US" sz="2000" dirty="0">
                <a:solidFill>
                  <a:srgbClr val="FF0000"/>
                </a:solidFill>
                <a:latin typeface="Arial" panose="020B0604020202020204" pitchFamily="34" charset="0"/>
                <a:cs typeface="Arial" panose="020B0604020202020204" pitchFamily="34" charset="0"/>
              </a:rPr>
              <a:t>&gt;show </a:t>
            </a:r>
            <a:r>
              <a:rPr lang="en-US" sz="2000" dirty="0" err="1">
                <a:solidFill>
                  <a:srgbClr val="FF0000"/>
                </a:solidFill>
                <a:latin typeface="Arial" panose="020B0604020202020204" pitchFamily="34" charset="0"/>
                <a:cs typeface="Arial" panose="020B0604020202020204" pitchFamily="34" charset="0"/>
              </a:rPr>
              <a:t>dbs</a:t>
            </a:r>
            <a:endParaRPr lang="en-US" sz="2000" dirty="0">
              <a:solidFill>
                <a:srgbClr val="FF0000"/>
              </a:solidFill>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01-09-2025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449116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err="1">
                <a:solidFill>
                  <a:srgbClr val="0070C0"/>
                </a:solidFill>
                <a:latin typeface="Arial" panose="020B0604020202020204" pitchFamily="34" charset="0"/>
                <a:cs typeface="Arial" panose="020B0604020202020204" pitchFamily="34" charset="0"/>
              </a:rPr>
              <a:t>db.dropDatabase</a:t>
            </a:r>
            <a:r>
              <a:rPr lang="en-IN" sz="3200" b="1" u="sng" dirty="0">
                <a:solidFill>
                  <a:srgbClr val="0070C0"/>
                </a:solidFill>
                <a:latin typeface="Arial" panose="020B0604020202020204" pitchFamily="34" charset="0"/>
                <a:cs typeface="Arial" panose="020B0604020202020204" pitchFamily="34" charset="0"/>
              </a:rPr>
              <a:t>() command </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10000"/>
              </a:lnSpc>
              <a:spcBef>
                <a:spcPts val="0"/>
              </a:spcBef>
              <a:buNone/>
            </a:pPr>
            <a:r>
              <a:rPr lang="en-US" sz="2000" dirty="0">
                <a:latin typeface="Arial" panose="020B0604020202020204" pitchFamily="34" charset="0"/>
                <a:cs typeface="Arial" panose="020B0604020202020204" pitchFamily="34" charset="0"/>
              </a:rPr>
              <a:t>MongoDB </a:t>
            </a:r>
            <a:r>
              <a:rPr lang="en-US" sz="2000" dirty="0" err="1">
                <a:latin typeface="Arial" panose="020B0604020202020204" pitchFamily="34" charset="0"/>
                <a:cs typeface="Arial" panose="020B0604020202020204" pitchFamily="34" charset="0"/>
              </a:rPr>
              <a:t>db.dropDatabase</a:t>
            </a:r>
            <a:r>
              <a:rPr lang="en-US" sz="2000" dirty="0">
                <a:latin typeface="Arial" panose="020B0604020202020204" pitchFamily="34" charset="0"/>
                <a:cs typeface="Arial" panose="020B0604020202020204" pitchFamily="34" charset="0"/>
              </a:rPr>
              <a:t>() command is used to drop a existing database.</a:t>
            </a:r>
          </a:p>
          <a:p>
            <a:pPr marL="0" indent="0">
              <a:lnSpc>
                <a:spcPct val="110000"/>
              </a:lnSpc>
              <a:spcBef>
                <a:spcPts val="0"/>
              </a:spcBef>
              <a:buNone/>
            </a:pPr>
            <a:endParaRPr lang="en-US" sz="2000" dirty="0">
              <a:latin typeface="Arial" panose="020B0604020202020204" pitchFamily="34" charset="0"/>
              <a:cs typeface="Arial" panose="020B0604020202020204" pitchFamily="34" charset="0"/>
            </a:endParaRPr>
          </a:p>
          <a:p>
            <a:pPr marL="0" indent="0">
              <a:lnSpc>
                <a:spcPct val="110000"/>
              </a:lnSpc>
              <a:spcBef>
                <a:spcPts val="0"/>
              </a:spcBef>
              <a:buNone/>
            </a:pPr>
            <a:r>
              <a:rPr lang="en-US" sz="2000" dirty="0">
                <a:latin typeface="Arial" panose="020B0604020202020204" pitchFamily="34" charset="0"/>
                <a:cs typeface="Arial" panose="020B0604020202020204" pitchFamily="34" charset="0"/>
              </a:rPr>
              <a:t>Syntax</a:t>
            </a:r>
          </a:p>
          <a:p>
            <a:pPr marL="0" indent="0">
              <a:lnSpc>
                <a:spcPct val="110000"/>
              </a:lnSpc>
              <a:spcBef>
                <a:spcPts val="0"/>
              </a:spcBef>
              <a:buNone/>
            </a:pPr>
            <a:r>
              <a:rPr lang="en-US" sz="2000" dirty="0">
                <a:latin typeface="Arial" panose="020B0604020202020204" pitchFamily="34" charset="0"/>
                <a:cs typeface="Arial" panose="020B0604020202020204" pitchFamily="34" charset="0"/>
              </a:rPr>
              <a:t>Basic syntax of </a:t>
            </a:r>
            <a:r>
              <a:rPr lang="en-US" sz="2000" dirty="0" err="1">
                <a:latin typeface="Arial" panose="020B0604020202020204" pitchFamily="34" charset="0"/>
                <a:cs typeface="Arial" panose="020B0604020202020204" pitchFamily="34" charset="0"/>
              </a:rPr>
              <a:t>dropDatabase</a:t>
            </a:r>
            <a:r>
              <a:rPr lang="en-US" sz="2000" dirty="0">
                <a:latin typeface="Arial" panose="020B0604020202020204" pitchFamily="34" charset="0"/>
                <a:cs typeface="Arial" panose="020B0604020202020204" pitchFamily="34" charset="0"/>
              </a:rPr>
              <a:t>() command is as follows:</a:t>
            </a:r>
          </a:p>
          <a:p>
            <a:pPr marL="722313" indent="0">
              <a:lnSpc>
                <a:spcPct val="110000"/>
              </a:lnSpc>
              <a:spcBef>
                <a:spcPts val="0"/>
              </a:spcBef>
              <a:buNone/>
            </a:pPr>
            <a:r>
              <a:rPr lang="en-US" sz="2000" dirty="0" err="1">
                <a:solidFill>
                  <a:srgbClr val="FF0000"/>
                </a:solidFill>
                <a:latin typeface="Arial" panose="020B0604020202020204" pitchFamily="34" charset="0"/>
                <a:cs typeface="Arial" panose="020B0604020202020204" pitchFamily="34" charset="0"/>
              </a:rPr>
              <a:t>db.dropDatabase</a:t>
            </a:r>
            <a:r>
              <a:rPr lang="en-US" sz="2000" dirty="0">
                <a:solidFill>
                  <a:srgbClr val="FF0000"/>
                </a:solidFill>
                <a:latin typeface="Arial" panose="020B0604020202020204" pitchFamily="34" charset="0"/>
                <a:cs typeface="Arial" panose="020B0604020202020204" pitchFamily="34" charset="0"/>
              </a:rPr>
              <a:t>()</a:t>
            </a:r>
          </a:p>
          <a:p>
            <a:pPr marL="0" indent="0">
              <a:lnSpc>
                <a:spcPct val="110000"/>
              </a:lnSpc>
              <a:spcBef>
                <a:spcPts val="0"/>
              </a:spcBef>
              <a:buNone/>
            </a:pPr>
            <a:endParaRPr lang="en-US" sz="2000" dirty="0">
              <a:latin typeface="Arial" panose="020B0604020202020204" pitchFamily="34" charset="0"/>
              <a:cs typeface="Arial" panose="020B0604020202020204" pitchFamily="34" charset="0"/>
            </a:endParaRPr>
          </a:p>
          <a:p>
            <a:pPr marL="0" indent="0">
              <a:lnSpc>
                <a:spcPct val="110000"/>
              </a:lnSpc>
              <a:spcBef>
                <a:spcPts val="0"/>
              </a:spcBef>
              <a:buNone/>
            </a:pPr>
            <a:r>
              <a:rPr lang="en-US" sz="2000" dirty="0">
                <a:latin typeface="Arial" panose="020B0604020202020204" pitchFamily="34" charset="0"/>
                <a:cs typeface="Arial" panose="020B0604020202020204" pitchFamily="34" charset="0"/>
              </a:rPr>
              <a:t>This will delete the selected database. If you have not selected any database, then it will delete default 'test' database.</a:t>
            </a:r>
          </a:p>
          <a:p>
            <a:pPr marL="0" indent="0">
              <a:lnSpc>
                <a:spcPct val="110000"/>
              </a:lnSpc>
              <a:spcBef>
                <a:spcPts val="0"/>
              </a:spcBef>
              <a:buNone/>
            </a:pPr>
            <a:r>
              <a:rPr lang="en-US" sz="2000" dirty="0">
                <a:solidFill>
                  <a:srgbClr val="FF0000"/>
                </a:solidFill>
                <a:latin typeface="Arial" panose="020B0604020202020204" pitchFamily="34" charset="0"/>
                <a:cs typeface="Arial" panose="020B0604020202020204" pitchFamily="34" charset="0"/>
              </a:rPr>
              <a:t>Example</a:t>
            </a:r>
          </a:p>
          <a:p>
            <a:pPr marL="722313" indent="0">
              <a:lnSpc>
                <a:spcPct val="110000"/>
              </a:lnSpc>
              <a:spcBef>
                <a:spcPts val="0"/>
              </a:spcBef>
              <a:buNone/>
            </a:pPr>
            <a:r>
              <a:rPr lang="en-US" sz="2000" dirty="0">
                <a:solidFill>
                  <a:srgbClr val="FF0000"/>
                </a:solidFill>
                <a:latin typeface="Arial" panose="020B0604020202020204" pitchFamily="34" charset="0"/>
                <a:cs typeface="Arial" panose="020B0604020202020204" pitchFamily="34" charset="0"/>
              </a:rPr>
              <a:t>&gt;use </a:t>
            </a:r>
            <a:r>
              <a:rPr lang="en-US" sz="2000" dirty="0" err="1">
                <a:solidFill>
                  <a:srgbClr val="FF0000"/>
                </a:solidFill>
                <a:latin typeface="Arial" panose="020B0604020202020204" pitchFamily="34" charset="0"/>
                <a:cs typeface="Arial" panose="020B0604020202020204" pitchFamily="34" charset="0"/>
              </a:rPr>
              <a:t>mydb</a:t>
            </a:r>
            <a:endParaRPr lang="en-US" sz="2000" dirty="0">
              <a:solidFill>
                <a:srgbClr val="FF0000"/>
              </a:solidFill>
              <a:latin typeface="Arial" panose="020B0604020202020204" pitchFamily="34" charset="0"/>
              <a:cs typeface="Arial" panose="020B0604020202020204" pitchFamily="34" charset="0"/>
            </a:endParaRPr>
          </a:p>
          <a:p>
            <a:pPr marL="722313" indent="0">
              <a:lnSpc>
                <a:spcPct val="110000"/>
              </a:lnSpc>
              <a:spcBef>
                <a:spcPts val="0"/>
              </a:spcBef>
              <a:buNone/>
            </a:pPr>
            <a:r>
              <a:rPr lang="en-US" sz="2000" dirty="0">
                <a:solidFill>
                  <a:srgbClr val="FF0000"/>
                </a:solidFill>
                <a:latin typeface="Arial" panose="020B0604020202020204" pitchFamily="34" charset="0"/>
                <a:cs typeface="Arial" panose="020B0604020202020204" pitchFamily="34" charset="0"/>
              </a:rPr>
              <a:t>switched to </a:t>
            </a:r>
            <a:r>
              <a:rPr lang="en-US" sz="2000" dirty="0" err="1">
                <a:solidFill>
                  <a:srgbClr val="FF0000"/>
                </a:solidFill>
                <a:latin typeface="Arial" panose="020B0604020202020204" pitchFamily="34" charset="0"/>
                <a:cs typeface="Arial" panose="020B0604020202020204" pitchFamily="34" charset="0"/>
              </a:rPr>
              <a:t>db</a:t>
            </a:r>
            <a:r>
              <a:rPr lang="en-US" sz="2000" dirty="0">
                <a:solidFill>
                  <a:srgbClr val="FF0000"/>
                </a:solidFill>
                <a:latin typeface="Arial" panose="020B0604020202020204" pitchFamily="34" charset="0"/>
                <a:cs typeface="Arial" panose="020B0604020202020204" pitchFamily="34" charset="0"/>
              </a:rPr>
              <a:t> </a:t>
            </a:r>
            <a:r>
              <a:rPr lang="en-US" sz="2000" dirty="0" err="1">
                <a:solidFill>
                  <a:srgbClr val="FF0000"/>
                </a:solidFill>
                <a:latin typeface="Arial" panose="020B0604020202020204" pitchFamily="34" charset="0"/>
                <a:cs typeface="Arial" panose="020B0604020202020204" pitchFamily="34" charset="0"/>
              </a:rPr>
              <a:t>mydb</a:t>
            </a:r>
            <a:endParaRPr lang="en-US" sz="2000" dirty="0">
              <a:solidFill>
                <a:srgbClr val="FF0000"/>
              </a:solidFill>
              <a:latin typeface="Arial" panose="020B0604020202020204" pitchFamily="34" charset="0"/>
              <a:cs typeface="Arial" panose="020B0604020202020204" pitchFamily="34" charset="0"/>
            </a:endParaRPr>
          </a:p>
          <a:p>
            <a:pPr marL="722313" indent="0">
              <a:lnSpc>
                <a:spcPct val="110000"/>
              </a:lnSpc>
              <a:spcBef>
                <a:spcPts val="0"/>
              </a:spcBef>
              <a:buNone/>
            </a:pPr>
            <a:r>
              <a:rPr lang="en-US" sz="2000" dirty="0">
                <a:solidFill>
                  <a:srgbClr val="FF0000"/>
                </a:solidFill>
                <a:latin typeface="Arial" panose="020B0604020202020204" pitchFamily="34" charset="0"/>
                <a:cs typeface="Arial" panose="020B0604020202020204" pitchFamily="34" charset="0"/>
              </a:rPr>
              <a:t>&gt;</a:t>
            </a:r>
            <a:r>
              <a:rPr lang="en-US" sz="2000" dirty="0" err="1">
                <a:solidFill>
                  <a:srgbClr val="FF0000"/>
                </a:solidFill>
                <a:latin typeface="Arial" panose="020B0604020202020204" pitchFamily="34" charset="0"/>
                <a:cs typeface="Arial" panose="020B0604020202020204" pitchFamily="34" charset="0"/>
              </a:rPr>
              <a:t>db.dropDatabase</a:t>
            </a:r>
            <a:r>
              <a:rPr lang="en-US" sz="2000" dirty="0">
                <a:solidFill>
                  <a:srgbClr val="FF0000"/>
                </a:solidFill>
                <a:latin typeface="Arial" panose="020B0604020202020204" pitchFamily="34" charset="0"/>
                <a:cs typeface="Arial" panose="020B0604020202020204" pitchFamily="34" charset="0"/>
              </a:rPr>
              <a:t>()</a:t>
            </a:r>
          </a:p>
          <a:p>
            <a:pPr marL="722313" indent="0">
              <a:lnSpc>
                <a:spcPct val="110000"/>
              </a:lnSpc>
              <a:spcBef>
                <a:spcPts val="0"/>
              </a:spcBef>
              <a:buNone/>
            </a:pPr>
            <a:r>
              <a:rPr lang="en-US" sz="2000" dirty="0">
                <a:solidFill>
                  <a:srgbClr val="FF0000"/>
                </a:solidFill>
                <a:latin typeface="Arial" panose="020B0604020202020204" pitchFamily="34" charset="0"/>
                <a:cs typeface="Arial" panose="020B0604020202020204" pitchFamily="34" charset="0"/>
              </a:rPr>
              <a:t>&gt;{ "dropped" : "</a:t>
            </a:r>
            <a:r>
              <a:rPr lang="en-US" sz="2000" dirty="0" err="1">
                <a:solidFill>
                  <a:srgbClr val="FF0000"/>
                </a:solidFill>
                <a:latin typeface="Arial" panose="020B0604020202020204" pitchFamily="34" charset="0"/>
                <a:cs typeface="Arial" panose="020B0604020202020204" pitchFamily="34" charset="0"/>
              </a:rPr>
              <a:t>mydb</a:t>
            </a:r>
            <a:r>
              <a:rPr lang="en-US" sz="2000" dirty="0">
                <a:solidFill>
                  <a:srgbClr val="FF0000"/>
                </a:solidFill>
                <a:latin typeface="Arial" panose="020B0604020202020204" pitchFamily="34" charset="0"/>
                <a:cs typeface="Arial" panose="020B0604020202020204" pitchFamily="34" charset="0"/>
              </a:rPr>
              <a:t>", "ok" : 1 }</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01-09-2025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22</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055271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err="1">
                <a:solidFill>
                  <a:srgbClr val="0070C0"/>
                </a:solidFill>
                <a:latin typeface="Arial" panose="020B0604020202020204" pitchFamily="34" charset="0"/>
                <a:cs typeface="Arial" panose="020B0604020202020204" pitchFamily="34" charset="0"/>
              </a:rPr>
              <a:t>createCollection</a:t>
            </a:r>
            <a:r>
              <a:rPr lang="en-IN" sz="3200" b="1" u="sng" dirty="0">
                <a:solidFill>
                  <a:srgbClr val="0070C0"/>
                </a:solidFill>
                <a:latin typeface="Arial" panose="020B0604020202020204" pitchFamily="34" charset="0"/>
                <a:cs typeface="Arial" panose="020B0604020202020204" pitchFamily="34" charset="0"/>
              </a:rPr>
              <a:t>() Method</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10000"/>
              </a:lnSpc>
              <a:spcBef>
                <a:spcPts val="0"/>
              </a:spcBef>
              <a:buNone/>
            </a:pPr>
            <a:r>
              <a:rPr lang="en-US" sz="2000" dirty="0">
                <a:latin typeface="Arial" panose="020B0604020202020204" pitchFamily="34" charset="0"/>
                <a:cs typeface="Arial" panose="020B0604020202020204" pitchFamily="34" charset="0"/>
              </a:rPr>
              <a:t>MongoDB </a:t>
            </a:r>
            <a:r>
              <a:rPr lang="en-US" sz="2000" dirty="0" err="1">
                <a:latin typeface="Arial" panose="020B0604020202020204" pitchFamily="34" charset="0"/>
                <a:cs typeface="Arial" panose="020B0604020202020204" pitchFamily="34" charset="0"/>
              </a:rPr>
              <a:t>db.createCollection</a:t>
            </a:r>
            <a:r>
              <a:rPr lang="en-US" sz="2000" dirty="0">
                <a:latin typeface="Arial" panose="020B0604020202020204" pitchFamily="34" charset="0"/>
                <a:cs typeface="Arial" panose="020B0604020202020204" pitchFamily="34" charset="0"/>
              </a:rPr>
              <a:t>(name, options) is used to create collection.</a:t>
            </a:r>
          </a:p>
          <a:p>
            <a:pPr marL="0" indent="0">
              <a:lnSpc>
                <a:spcPct val="110000"/>
              </a:lnSpc>
              <a:spcBef>
                <a:spcPts val="0"/>
              </a:spcBef>
              <a:buNone/>
            </a:pPr>
            <a:endParaRPr lang="en-US" sz="2000" dirty="0">
              <a:latin typeface="Arial" panose="020B0604020202020204" pitchFamily="34" charset="0"/>
              <a:cs typeface="Arial" panose="020B0604020202020204" pitchFamily="34" charset="0"/>
            </a:endParaRPr>
          </a:p>
          <a:p>
            <a:pPr marL="0" indent="0">
              <a:lnSpc>
                <a:spcPct val="110000"/>
              </a:lnSpc>
              <a:spcBef>
                <a:spcPts val="0"/>
              </a:spcBef>
              <a:buNone/>
            </a:pPr>
            <a:r>
              <a:rPr lang="en-US" sz="2000" dirty="0">
                <a:latin typeface="Arial" panose="020B0604020202020204" pitchFamily="34" charset="0"/>
                <a:cs typeface="Arial" panose="020B0604020202020204" pitchFamily="34" charset="0"/>
              </a:rPr>
              <a:t>Syntax</a:t>
            </a:r>
          </a:p>
          <a:p>
            <a:pPr marL="0" indent="0">
              <a:lnSpc>
                <a:spcPct val="110000"/>
              </a:lnSpc>
              <a:spcBef>
                <a:spcPts val="0"/>
              </a:spcBef>
              <a:buNone/>
            </a:pPr>
            <a:r>
              <a:rPr lang="en-US" sz="2000" dirty="0">
                <a:latin typeface="Arial" panose="020B0604020202020204" pitchFamily="34" charset="0"/>
                <a:cs typeface="Arial" panose="020B0604020202020204" pitchFamily="34" charset="0"/>
              </a:rPr>
              <a:t>Basic syntax of </a:t>
            </a:r>
            <a:r>
              <a:rPr lang="en-US" sz="2000" dirty="0" err="1">
                <a:latin typeface="Arial" panose="020B0604020202020204" pitchFamily="34" charset="0"/>
                <a:cs typeface="Arial" panose="020B0604020202020204" pitchFamily="34" charset="0"/>
              </a:rPr>
              <a:t>createCollection</a:t>
            </a:r>
            <a:r>
              <a:rPr lang="en-US" sz="2000" dirty="0">
                <a:latin typeface="Arial" panose="020B0604020202020204" pitchFamily="34" charset="0"/>
                <a:cs typeface="Arial" panose="020B0604020202020204" pitchFamily="34" charset="0"/>
              </a:rPr>
              <a:t>() command is as follows:</a:t>
            </a:r>
          </a:p>
          <a:p>
            <a:pPr marL="0" indent="0">
              <a:lnSpc>
                <a:spcPct val="110000"/>
              </a:lnSpc>
              <a:spcBef>
                <a:spcPts val="0"/>
              </a:spcBef>
              <a:buNone/>
            </a:pPr>
            <a:r>
              <a:rPr lang="en-US" sz="2000" dirty="0">
                <a:latin typeface="Arial" panose="020B0604020202020204" pitchFamily="34" charset="0"/>
                <a:cs typeface="Arial" panose="020B0604020202020204" pitchFamily="34" charset="0"/>
              </a:rPr>
              <a:t>	</a:t>
            </a:r>
            <a:r>
              <a:rPr lang="en-US" sz="2000" dirty="0" err="1">
                <a:solidFill>
                  <a:srgbClr val="FF0000"/>
                </a:solidFill>
                <a:latin typeface="Arial" panose="020B0604020202020204" pitchFamily="34" charset="0"/>
                <a:cs typeface="Arial" panose="020B0604020202020204" pitchFamily="34" charset="0"/>
              </a:rPr>
              <a:t>db.createCollection</a:t>
            </a:r>
            <a:r>
              <a:rPr lang="en-US" sz="2000" dirty="0">
                <a:solidFill>
                  <a:srgbClr val="FF0000"/>
                </a:solidFill>
                <a:latin typeface="Arial" panose="020B0604020202020204" pitchFamily="34" charset="0"/>
                <a:cs typeface="Arial" panose="020B0604020202020204" pitchFamily="34" charset="0"/>
              </a:rPr>
              <a:t>(name, options)</a:t>
            </a:r>
          </a:p>
          <a:p>
            <a:pPr marL="0" indent="0">
              <a:lnSpc>
                <a:spcPct val="110000"/>
              </a:lnSpc>
              <a:spcBef>
                <a:spcPts val="0"/>
              </a:spcBef>
              <a:buNone/>
            </a:pPr>
            <a:endParaRPr lang="en-US" sz="2000" dirty="0">
              <a:latin typeface="Arial" panose="020B0604020202020204" pitchFamily="34" charset="0"/>
              <a:cs typeface="Arial" panose="020B0604020202020204" pitchFamily="34" charset="0"/>
            </a:endParaRPr>
          </a:p>
          <a:p>
            <a:pPr marL="0" indent="0">
              <a:lnSpc>
                <a:spcPct val="110000"/>
              </a:lnSpc>
              <a:spcBef>
                <a:spcPts val="0"/>
              </a:spcBef>
              <a:buNone/>
            </a:pPr>
            <a:r>
              <a:rPr lang="en-US" sz="2000" dirty="0">
                <a:latin typeface="Arial" panose="020B0604020202020204" pitchFamily="34" charset="0"/>
                <a:cs typeface="Arial" panose="020B0604020202020204" pitchFamily="34" charset="0"/>
              </a:rPr>
              <a:t>In the command, name is name of collection to be created. Options is a document and is used to specify configuration of collection.</a:t>
            </a:r>
          </a:p>
          <a:p>
            <a:pPr marL="0" indent="0">
              <a:lnSpc>
                <a:spcPct val="110000"/>
              </a:lnSpc>
              <a:spcBef>
                <a:spcPts val="0"/>
              </a:spcBef>
              <a:buNone/>
            </a:pPr>
            <a:r>
              <a:rPr lang="en-US" sz="2000" dirty="0">
                <a:solidFill>
                  <a:srgbClr val="FF0000"/>
                </a:solidFill>
                <a:latin typeface="Arial" panose="020B0604020202020204" pitchFamily="34" charset="0"/>
                <a:cs typeface="Arial" panose="020B0604020202020204" pitchFamily="34" charset="0"/>
              </a:rPr>
              <a:t>Examples</a:t>
            </a:r>
          </a:p>
          <a:p>
            <a:pPr marL="895350" indent="0">
              <a:lnSpc>
                <a:spcPct val="110000"/>
              </a:lnSpc>
              <a:spcBef>
                <a:spcPts val="0"/>
              </a:spcBef>
              <a:buNone/>
            </a:pPr>
            <a:r>
              <a:rPr lang="en-US" sz="2000" dirty="0">
                <a:solidFill>
                  <a:srgbClr val="FF0000"/>
                </a:solidFill>
                <a:latin typeface="Arial" panose="020B0604020202020204" pitchFamily="34" charset="0"/>
                <a:cs typeface="Arial" panose="020B0604020202020204" pitchFamily="34" charset="0"/>
              </a:rPr>
              <a:t>&gt;use test</a:t>
            </a:r>
          </a:p>
          <a:p>
            <a:pPr marL="895350" indent="0">
              <a:lnSpc>
                <a:spcPct val="110000"/>
              </a:lnSpc>
              <a:spcBef>
                <a:spcPts val="0"/>
              </a:spcBef>
              <a:buNone/>
            </a:pPr>
            <a:r>
              <a:rPr lang="en-US" sz="2000" dirty="0">
                <a:solidFill>
                  <a:srgbClr val="FF0000"/>
                </a:solidFill>
                <a:latin typeface="Arial" panose="020B0604020202020204" pitchFamily="34" charset="0"/>
                <a:cs typeface="Arial" panose="020B0604020202020204" pitchFamily="34" charset="0"/>
              </a:rPr>
              <a:t>switched to </a:t>
            </a:r>
            <a:r>
              <a:rPr lang="en-US" sz="2000" dirty="0" err="1">
                <a:solidFill>
                  <a:srgbClr val="FF0000"/>
                </a:solidFill>
                <a:latin typeface="Arial" panose="020B0604020202020204" pitchFamily="34" charset="0"/>
                <a:cs typeface="Arial" panose="020B0604020202020204" pitchFamily="34" charset="0"/>
              </a:rPr>
              <a:t>db</a:t>
            </a:r>
            <a:r>
              <a:rPr lang="en-US" sz="2000" dirty="0">
                <a:solidFill>
                  <a:srgbClr val="FF0000"/>
                </a:solidFill>
                <a:latin typeface="Arial" panose="020B0604020202020204" pitchFamily="34" charset="0"/>
                <a:cs typeface="Arial" panose="020B0604020202020204" pitchFamily="34" charset="0"/>
              </a:rPr>
              <a:t> test</a:t>
            </a:r>
          </a:p>
          <a:p>
            <a:pPr marL="895350" indent="0">
              <a:lnSpc>
                <a:spcPct val="110000"/>
              </a:lnSpc>
              <a:spcBef>
                <a:spcPts val="0"/>
              </a:spcBef>
              <a:buNone/>
            </a:pPr>
            <a:r>
              <a:rPr lang="en-US" sz="2000" dirty="0">
                <a:solidFill>
                  <a:srgbClr val="FF0000"/>
                </a:solidFill>
                <a:latin typeface="Arial" panose="020B0604020202020204" pitchFamily="34" charset="0"/>
                <a:cs typeface="Arial" panose="020B0604020202020204" pitchFamily="34" charset="0"/>
              </a:rPr>
              <a:t>&gt;</a:t>
            </a:r>
            <a:r>
              <a:rPr lang="en-US" sz="2000" dirty="0" err="1">
                <a:solidFill>
                  <a:srgbClr val="FF0000"/>
                </a:solidFill>
                <a:latin typeface="Arial" panose="020B0604020202020204" pitchFamily="34" charset="0"/>
                <a:cs typeface="Arial" panose="020B0604020202020204" pitchFamily="34" charset="0"/>
              </a:rPr>
              <a:t>db.createCollection</a:t>
            </a:r>
            <a:r>
              <a:rPr lang="en-US" sz="2000" dirty="0">
                <a:solidFill>
                  <a:srgbClr val="FF0000"/>
                </a:solidFill>
                <a:latin typeface="Arial" panose="020B0604020202020204" pitchFamily="34" charset="0"/>
                <a:cs typeface="Arial" panose="020B0604020202020204" pitchFamily="34" charset="0"/>
              </a:rPr>
              <a:t>("</a:t>
            </a:r>
            <a:r>
              <a:rPr lang="en-US" sz="2000" dirty="0" err="1">
                <a:solidFill>
                  <a:srgbClr val="FF0000"/>
                </a:solidFill>
                <a:latin typeface="Arial" panose="020B0604020202020204" pitchFamily="34" charset="0"/>
                <a:cs typeface="Arial" panose="020B0604020202020204" pitchFamily="34" charset="0"/>
              </a:rPr>
              <a:t>mycollection</a:t>
            </a:r>
            <a:r>
              <a:rPr lang="en-US" sz="2000" dirty="0">
                <a:solidFill>
                  <a:srgbClr val="FF0000"/>
                </a:solidFill>
                <a:latin typeface="Arial" panose="020B0604020202020204" pitchFamily="34" charset="0"/>
                <a:cs typeface="Arial" panose="020B0604020202020204" pitchFamily="34" charset="0"/>
              </a:rPr>
              <a:t>")</a:t>
            </a:r>
          </a:p>
          <a:p>
            <a:pPr marL="895350" indent="0">
              <a:lnSpc>
                <a:spcPct val="110000"/>
              </a:lnSpc>
              <a:spcBef>
                <a:spcPts val="0"/>
              </a:spcBef>
              <a:buNone/>
            </a:pPr>
            <a:r>
              <a:rPr lang="en-US" sz="2000" dirty="0">
                <a:solidFill>
                  <a:srgbClr val="FF0000"/>
                </a:solidFill>
                <a:latin typeface="Arial" panose="020B0604020202020204" pitchFamily="34" charset="0"/>
                <a:cs typeface="Arial" panose="020B0604020202020204" pitchFamily="34" charset="0"/>
              </a:rPr>
              <a:t>{ "ok" : 1 }</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01-09-2025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429090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err="1">
                <a:solidFill>
                  <a:srgbClr val="0070C0"/>
                </a:solidFill>
                <a:latin typeface="Arial" panose="020B0604020202020204" pitchFamily="34" charset="0"/>
                <a:cs typeface="Arial" panose="020B0604020202020204" pitchFamily="34" charset="0"/>
              </a:rPr>
              <a:t>createCollection</a:t>
            </a:r>
            <a:r>
              <a:rPr lang="en-IN" sz="3200" b="1" u="sng" dirty="0">
                <a:solidFill>
                  <a:srgbClr val="0070C0"/>
                </a:solidFill>
                <a:latin typeface="Arial" panose="020B0604020202020204" pitchFamily="34" charset="0"/>
                <a:cs typeface="Arial" panose="020B0604020202020204" pitchFamily="34" charset="0"/>
              </a:rPr>
              <a:t>() Method</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01-09-2025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24</a:t>
            </a:fld>
            <a:endParaRPr lang="en-IN" dirty="0">
              <a:latin typeface="Arial" panose="020B0604020202020204" pitchFamily="34" charset="0"/>
              <a:cs typeface="Arial" panose="020B06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1115230722"/>
              </p:ext>
            </p:extLst>
          </p:nvPr>
        </p:nvGraphicFramePr>
        <p:xfrm>
          <a:off x="1049155" y="1825625"/>
          <a:ext cx="10183528" cy="4053037"/>
        </p:xfrm>
        <a:graphic>
          <a:graphicData uri="http://schemas.openxmlformats.org/drawingml/2006/table">
            <a:tbl>
              <a:tblPr/>
              <a:tblGrid>
                <a:gridCol w="1491914">
                  <a:extLst>
                    <a:ext uri="{9D8B030D-6E8A-4147-A177-3AD203B41FA5}">
                      <a16:colId xmlns:a16="http://schemas.microsoft.com/office/drawing/2014/main" val="428050620"/>
                    </a:ext>
                  </a:extLst>
                </a:gridCol>
                <a:gridCol w="1193533">
                  <a:extLst>
                    <a:ext uri="{9D8B030D-6E8A-4147-A177-3AD203B41FA5}">
                      <a16:colId xmlns:a16="http://schemas.microsoft.com/office/drawing/2014/main" val="3099470463"/>
                    </a:ext>
                  </a:extLst>
                </a:gridCol>
                <a:gridCol w="7498081">
                  <a:extLst>
                    <a:ext uri="{9D8B030D-6E8A-4147-A177-3AD203B41FA5}">
                      <a16:colId xmlns:a16="http://schemas.microsoft.com/office/drawing/2014/main" val="4174042997"/>
                    </a:ext>
                  </a:extLst>
                </a:gridCol>
              </a:tblGrid>
              <a:tr h="345367">
                <a:tc>
                  <a:txBody>
                    <a:bodyPr/>
                    <a:lstStyle/>
                    <a:p>
                      <a:pPr algn="ctr" fontAlgn="t"/>
                      <a:r>
                        <a:rPr lang="en-IN" sz="2000">
                          <a:solidFill>
                            <a:schemeClr val="tx1"/>
                          </a:solidFill>
                          <a:effectLst/>
                          <a:latin typeface="Arial" panose="020B0604020202020204" pitchFamily="34" charset="0"/>
                          <a:cs typeface="Arial" panose="020B0604020202020204" pitchFamily="34" charset="0"/>
                        </a:rPr>
                        <a:t>Field</a:t>
                      </a:r>
                    </a:p>
                  </a:txBody>
                  <a:tcPr marL="31170" marR="31170" marT="31170" marB="311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t"/>
                      <a:r>
                        <a:rPr lang="en-IN" sz="2000">
                          <a:solidFill>
                            <a:schemeClr val="tx1"/>
                          </a:solidFill>
                          <a:effectLst/>
                          <a:latin typeface="Arial" panose="020B0604020202020204" pitchFamily="34" charset="0"/>
                          <a:cs typeface="Arial" panose="020B0604020202020204" pitchFamily="34" charset="0"/>
                        </a:rPr>
                        <a:t>Type</a:t>
                      </a:r>
                    </a:p>
                  </a:txBody>
                  <a:tcPr marL="31170" marR="31170" marT="31170" marB="311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t"/>
                      <a:r>
                        <a:rPr lang="en-IN" sz="2000">
                          <a:solidFill>
                            <a:schemeClr val="tx1"/>
                          </a:solidFill>
                          <a:effectLst/>
                          <a:latin typeface="Arial" panose="020B0604020202020204" pitchFamily="34" charset="0"/>
                          <a:cs typeface="Arial" panose="020B0604020202020204" pitchFamily="34" charset="0"/>
                        </a:rPr>
                        <a:t>Description</a:t>
                      </a:r>
                    </a:p>
                  </a:txBody>
                  <a:tcPr marL="31170" marR="31170" marT="31170" marB="311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67568817"/>
                  </a:ext>
                </a:extLst>
              </a:tr>
              <a:tr h="1365277">
                <a:tc>
                  <a:txBody>
                    <a:bodyPr/>
                    <a:lstStyle/>
                    <a:p>
                      <a:pPr algn="ctr" fontAlgn="ctr"/>
                      <a:r>
                        <a:rPr lang="en-IN" sz="2000" dirty="0">
                          <a:solidFill>
                            <a:schemeClr val="tx1"/>
                          </a:solidFill>
                          <a:effectLst/>
                          <a:latin typeface="Arial" panose="020B0604020202020204" pitchFamily="34" charset="0"/>
                          <a:cs typeface="Arial" panose="020B0604020202020204" pitchFamily="34" charset="0"/>
                        </a:rPr>
                        <a:t>capped</a:t>
                      </a:r>
                    </a:p>
                  </a:txBody>
                  <a:tcPr marL="31170" marR="31170" marT="31170" marB="31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2000">
                          <a:solidFill>
                            <a:schemeClr val="tx1"/>
                          </a:solidFill>
                          <a:effectLst/>
                          <a:latin typeface="Arial" panose="020B0604020202020204" pitchFamily="34" charset="0"/>
                          <a:cs typeface="Arial" panose="020B0604020202020204" pitchFamily="34" charset="0"/>
                        </a:rPr>
                        <a:t>Boolean</a:t>
                      </a:r>
                    </a:p>
                  </a:txBody>
                  <a:tcPr marL="31170" marR="31170" marT="31170" marB="31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2000" dirty="0">
                          <a:solidFill>
                            <a:schemeClr val="tx1"/>
                          </a:solidFill>
                          <a:effectLst/>
                          <a:latin typeface="Arial" panose="020B0604020202020204" pitchFamily="34" charset="0"/>
                          <a:cs typeface="Arial" panose="020B0604020202020204" pitchFamily="34" charset="0"/>
                        </a:rPr>
                        <a:t>(Optional) If true, enables a capped collection. Capped collection is a fixed size collection that automatically overwrites its oldest entries when it reaches its maximum size. </a:t>
                      </a:r>
                      <a:r>
                        <a:rPr lang="en-US" sz="2000" b="1" dirty="0">
                          <a:solidFill>
                            <a:schemeClr val="tx1"/>
                          </a:solidFill>
                          <a:effectLst/>
                          <a:latin typeface="Arial" panose="020B0604020202020204" pitchFamily="34" charset="0"/>
                          <a:cs typeface="Arial" panose="020B0604020202020204" pitchFamily="34" charset="0"/>
                        </a:rPr>
                        <a:t>If you specify true, you need to specify size parameter also.</a:t>
                      </a:r>
                      <a:endParaRPr lang="en-US" sz="2000" dirty="0">
                        <a:solidFill>
                          <a:schemeClr val="tx1"/>
                        </a:solidFill>
                        <a:effectLst/>
                        <a:latin typeface="Arial" panose="020B0604020202020204" pitchFamily="34" charset="0"/>
                        <a:cs typeface="Arial" panose="020B0604020202020204" pitchFamily="34" charset="0"/>
                      </a:endParaRPr>
                    </a:p>
                  </a:txBody>
                  <a:tcPr marL="31170" marR="31170" marT="31170" marB="311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0091372"/>
                  </a:ext>
                </a:extLst>
              </a:tr>
              <a:tr h="636769">
                <a:tc>
                  <a:txBody>
                    <a:bodyPr/>
                    <a:lstStyle/>
                    <a:p>
                      <a:pPr algn="ctr" fontAlgn="ctr"/>
                      <a:r>
                        <a:rPr lang="en-IN" sz="2000" dirty="0" err="1">
                          <a:solidFill>
                            <a:schemeClr val="tx1"/>
                          </a:solidFill>
                          <a:effectLst/>
                          <a:latin typeface="Arial" panose="020B0604020202020204" pitchFamily="34" charset="0"/>
                          <a:cs typeface="Arial" panose="020B0604020202020204" pitchFamily="34" charset="0"/>
                        </a:rPr>
                        <a:t>autoIndexId</a:t>
                      </a:r>
                      <a:endParaRPr lang="en-IN" sz="2000" dirty="0">
                        <a:solidFill>
                          <a:schemeClr val="tx1"/>
                        </a:solidFill>
                        <a:effectLst/>
                        <a:latin typeface="Arial" panose="020B0604020202020204" pitchFamily="34" charset="0"/>
                        <a:cs typeface="Arial" panose="020B0604020202020204" pitchFamily="34" charset="0"/>
                      </a:endParaRPr>
                    </a:p>
                  </a:txBody>
                  <a:tcPr marL="31170" marR="31170" marT="31170" marB="31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2000">
                          <a:solidFill>
                            <a:schemeClr val="tx1"/>
                          </a:solidFill>
                          <a:effectLst/>
                          <a:latin typeface="Arial" panose="020B0604020202020204" pitchFamily="34" charset="0"/>
                          <a:cs typeface="Arial" panose="020B0604020202020204" pitchFamily="34" charset="0"/>
                        </a:rPr>
                        <a:t>Boolean</a:t>
                      </a:r>
                    </a:p>
                  </a:txBody>
                  <a:tcPr marL="31170" marR="31170" marT="31170" marB="31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2000" dirty="0">
                          <a:solidFill>
                            <a:schemeClr val="tx1"/>
                          </a:solidFill>
                          <a:effectLst/>
                          <a:latin typeface="Arial" panose="020B0604020202020204" pitchFamily="34" charset="0"/>
                          <a:cs typeface="Arial" panose="020B0604020202020204" pitchFamily="34" charset="0"/>
                        </a:rPr>
                        <a:t>(Optional) If true, automatically create index on _id </a:t>
                      </a:r>
                      <a:r>
                        <a:rPr lang="en-US" sz="2000" dirty="0" err="1">
                          <a:solidFill>
                            <a:schemeClr val="tx1"/>
                          </a:solidFill>
                          <a:effectLst/>
                          <a:latin typeface="Arial" panose="020B0604020202020204" pitchFamily="34" charset="0"/>
                          <a:cs typeface="Arial" panose="020B0604020202020204" pitchFamily="34" charset="0"/>
                        </a:rPr>
                        <a:t>field.s</a:t>
                      </a:r>
                      <a:r>
                        <a:rPr lang="en-US" sz="2000" dirty="0">
                          <a:solidFill>
                            <a:schemeClr val="tx1"/>
                          </a:solidFill>
                          <a:effectLst/>
                          <a:latin typeface="Arial" panose="020B0604020202020204" pitchFamily="34" charset="0"/>
                          <a:cs typeface="Arial" panose="020B0604020202020204" pitchFamily="34" charset="0"/>
                        </a:rPr>
                        <a:t> Default value is false.</a:t>
                      </a:r>
                    </a:p>
                  </a:txBody>
                  <a:tcPr marL="31170" marR="31170" marT="31170" marB="311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7510406"/>
                  </a:ext>
                </a:extLst>
              </a:tr>
              <a:tr h="782471">
                <a:tc>
                  <a:txBody>
                    <a:bodyPr/>
                    <a:lstStyle/>
                    <a:p>
                      <a:pPr algn="ctr" fontAlgn="ctr"/>
                      <a:r>
                        <a:rPr lang="en-IN" sz="2000" dirty="0">
                          <a:solidFill>
                            <a:schemeClr val="tx1"/>
                          </a:solidFill>
                          <a:effectLst/>
                          <a:latin typeface="Arial" panose="020B0604020202020204" pitchFamily="34" charset="0"/>
                          <a:cs typeface="Arial" panose="020B0604020202020204" pitchFamily="34" charset="0"/>
                        </a:rPr>
                        <a:t>size</a:t>
                      </a:r>
                    </a:p>
                  </a:txBody>
                  <a:tcPr marL="31170" marR="31170" marT="31170" marB="31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2000">
                          <a:solidFill>
                            <a:schemeClr val="tx1"/>
                          </a:solidFill>
                          <a:effectLst/>
                          <a:latin typeface="Arial" panose="020B0604020202020204" pitchFamily="34" charset="0"/>
                          <a:cs typeface="Arial" panose="020B0604020202020204" pitchFamily="34" charset="0"/>
                        </a:rPr>
                        <a:t>number</a:t>
                      </a:r>
                    </a:p>
                  </a:txBody>
                  <a:tcPr marL="31170" marR="31170" marT="31170" marB="31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2000" dirty="0">
                          <a:solidFill>
                            <a:schemeClr val="tx1"/>
                          </a:solidFill>
                          <a:effectLst/>
                          <a:latin typeface="Arial" panose="020B0604020202020204" pitchFamily="34" charset="0"/>
                          <a:cs typeface="Arial" panose="020B0604020202020204" pitchFamily="34" charset="0"/>
                        </a:rPr>
                        <a:t>(Optional) Specifies a maximum size in bytes for a capped collection. </a:t>
                      </a:r>
                      <a:r>
                        <a:rPr lang="en-US" sz="2000" b="1" dirty="0">
                          <a:solidFill>
                            <a:schemeClr val="tx1"/>
                          </a:solidFill>
                          <a:effectLst/>
                          <a:latin typeface="Arial" panose="020B0604020202020204" pitchFamily="34" charset="0"/>
                          <a:cs typeface="Arial" panose="020B0604020202020204" pitchFamily="34" charset="0"/>
                        </a:rPr>
                        <a:t>If capped is true, then you need to specify this field also.</a:t>
                      </a:r>
                      <a:endParaRPr lang="en-US" sz="2000" dirty="0">
                        <a:solidFill>
                          <a:schemeClr val="tx1"/>
                        </a:solidFill>
                        <a:effectLst/>
                        <a:latin typeface="Arial" panose="020B0604020202020204" pitchFamily="34" charset="0"/>
                        <a:cs typeface="Arial" panose="020B0604020202020204" pitchFamily="34" charset="0"/>
                      </a:endParaRPr>
                    </a:p>
                  </a:txBody>
                  <a:tcPr marL="31170" marR="31170" marT="31170" marB="311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8671170"/>
                  </a:ext>
                </a:extLst>
              </a:tr>
              <a:tr h="636769">
                <a:tc>
                  <a:txBody>
                    <a:bodyPr/>
                    <a:lstStyle/>
                    <a:p>
                      <a:pPr algn="ctr" fontAlgn="ctr"/>
                      <a:r>
                        <a:rPr lang="en-IN" sz="2000" dirty="0">
                          <a:solidFill>
                            <a:schemeClr val="tx1"/>
                          </a:solidFill>
                          <a:effectLst/>
                          <a:latin typeface="Arial" panose="020B0604020202020204" pitchFamily="34" charset="0"/>
                          <a:cs typeface="Arial" panose="020B0604020202020204" pitchFamily="34" charset="0"/>
                        </a:rPr>
                        <a:t>max</a:t>
                      </a:r>
                    </a:p>
                  </a:txBody>
                  <a:tcPr marL="31170" marR="31170" marT="31170" marB="31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2000">
                          <a:solidFill>
                            <a:schemeClr val="tx1"/>
                          </a:solidFill>
                          <a:effectLst/>
                          <a:latin typeface="Arial" panose="020B0604020202020204" pitchFamily="34" charset="0"/>
                          <a:cs typeface="Arial" panose="020B0604020202020204" pitchFamily="34" charset="0"/>
                        </a:rPr>
                        <a:t>number</a:t>
                      </a:r>
                    </a:p>
                  </a:txBody>
                  <a:tcPr marL="31170" marR="31170" marT="31170" marB="31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2000" dirty="0">
                          <a:solidFill>
                            <a:schemeClr val="tx1"/>
                          </a:solidFill>
                          <a:effectLst/>
                          <a:latin typeface="Arial" panose="020B0604020202020204" pitchFamily="34" charset="0"/>
                          <a:cs typeface="Arial" panose="020B0604020202020204" pitchFamily="34" charset="0"/>
                        </a:rPr>
                        <a:t>(Optional) Specifies the maximum number of documents allowed in the capped collection.</a:t>
                      </a:r>
                    </a:p>
                  </a:txBody>
                  <a:tcPr marL="31170" marR="31170" marT="31170" marB="311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4579120"/>
                  </a:ext>
                </a:extLst>
              </a:tr>
            </a:tbl>
          </a:graphicData>
        </a:graphic>
      </p:graphicFrame>
    </p:spTree>
    <p:extLst>
      <p:ext uri="{BB962C8B-B14F-4D97-AF65-F5344CB8AC3E}">
        <p14:creationId xmlns:p14="http://schemas.microsoft.com/office/powerpoint/2010/main" val="20895293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drop() Method</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10000"/>
              </a:lnSpc>
              <a:spcBef>
                <a:spcPts val="0"/>
              </a:spcBef>
              <a:buNone/>
            </a:pPr>
            <a:r>
              <a:rPr lang="en-US" sz="2000" dirty="0" err="1">
                <a:latin typeface="Arial" panose="020B0604020202020204" pitchFamily="34" charset="0"/>
                <a:cs typeface="Arial" panose="020B0604020202020204" pitchFamily="34" charset="0"/>
              </a:rPr>
              <a:t>db.createCollection</a:t>
            </a:r>
            <a:r>
              <a:rPr lang="en-US" sz="2000" dirty="0">
                <a:latin typeface="Arial" panose="020B0604020202020204" pitchFamily="34" charset="0"/>
                <a:cs typeface="Arial" panose="020B0604020202020204" pitchFamily="34" charset="0"/>
              </a:rPr>
              <a:t>("</a:t>
            </a:r>
            <a:r>
              <a:rPr lang="en-US" sz="2000" dirty="0" err="1">
                <a:latin typeface="Arial" panose="020B0604020202020204" pitchFamily="34" charset="0"/>
                <a:cs typeface="Arial" panose="020B0604020202020204" pitchFamily="34" charset="0"/>
              </a:rPr>
              <a:t>mycol</a:t>
            </a:r>
            <a:r>
              <a:rPr lang="en-US" sz="2000" dirty="0">
                <a:latin typeface="Arial" panose="020B0604020202020204" pitchFamily="34" charset="0"/>
                <a:cs typeface="Arial" panose="020B0604020202020204" pitchFamily="34" charset="0"/>
              </a:rPr>
              <a:t>", { capped : true, </a:t>
            </a:r>
            <a:r>
              <a:rPr lang="en-US" sz="2000" dirty="0" err="1">
                <a:latin typeface="Arial" panose="020B0604020202020204" pitchFamily="34" charset="0"/>
                <a:cs typeface="Arial" panose="020B0604020202020204" pitchFamily="34" charset="0"/>
              </a:rPr>
              <a:t>autoIndexID</a:t>
            </a:r>
            <a:r>
              <a:rPr lang="en-US" sz="2000" dirty="0">
                <a:latin typeface="Arial" panose="020B0604020202020204" pitchFamily="34" charset="0"/>
                <a:cs typeface="Arial" panose="020B0604020202020204" pitchFamily="34" charset="0"/>
              </a:rPr>
              <a:t> : true, size : 6142800, max : 10000 } )</a:t>
            </a:r>
          </a:p>
          <a:p>
            <a:pPr marL="0" indent="0">
              <a:lnSpc>
                <a:spcPct val="110000"/>
              </a:lnSpc>
              <a:spcBef>
                <a:spcPts val="0"/>
              </a:spcBef>
              <a:buNone/>
            </a:pPr>
            <a:endParaRPr lang="en-US" sz="2000" dirty="0">
              <a:latin typeface="Arial" panose="020B0604020202020204" pitchFamily="34" charset="0"/>
              <a:cs typeface="Arial" panose="020B0604020202020204" pitchFamily="34" charset="0"/>
            </a:endParaRPr>
          </a:p>
          <a:p>
            <a:pPr marL="0" indent="0">
              <a:lnSpc>
                <a:spcPct val="110000"/>
              </a:lnSpc>
              <a:spcBef>
                <a:spcPts val="0"/>
              </a:spcBef>
              <a:buNone/>
            </a:pPr>
            <a:endParaRPr lang="en-US" sz="2000" dirty="0">
              <a:latin typeface="Arial" panose="020B0604020202020204" pitchFamily="34" charset="0"/>
              <a:cs typeface="Arial" panose="020B0604020202020204" pitchFamily="34" charset="0"/>
            </a:endParaRPr>
          </a:p>
          <a:p>
            <a:pPr marL="0" indent="0">
              <a:lnSpc>
                <a:spcPct val="110000"/>
              </a:lnSpc>
              <a:spcBef>
                <a:spcPts val="0"/>
              </a:spcBef>
              <a:buNone/>
            </a:pPr>
            <a:r>
              <a:rPr lang="en-US" sz="2000" dirty="0">
                <a:latin typeface="Arial" panose="020B0604020202020204" pitchFamily="34" charset="0"/>
                <a:cs typeface="Arial" panose="020B0604020202020204" pitchFamily="34" charset="0"/>
              </a:rPr>
              <a:t>MongoDB's </a:t>
            </a:r>
            <a:r>
              <a:rPr lang="en-US" sz="2000" dirty="0" err="1">
                <a:latin typeface="Arial" panose="020B0604020202020204" pitchFamily="34" charset="0"/>
                <a:cs typeface="Arial" panose="020B0604020202020204" pitchFamily="34" charset="0"/>
              </a:rPr>
              <a:t>db.collection.drop</a:t>
            </a:r>
            <a:r>
              <a:rPr lang="en-US" sz="2000" dirty="0">
                <a:latin typeface="Arial" panose="020B0604020202020204" pitchFamily="34" charset="0"/>
                <a:cs typeface="Arial" panose="020B0604020202020204" pitchFamily="34" charset="0"/>
              </a:rPr>
              <a:t>() is used to drop a collection from the database.</a:t>
            </a:r>
          </a:p>
          <a:p>
            <a:pPr marL="0" indent="0">
              <a:lnSpc>
                <a:spcPct val="110000"/>
              </a:lnSpc>
              <a:spcBef>
                <a:spcPts val="0"/>
              </a:spcBef>
              <a:buNone/>
            </a:pPr>
            <a:endParaRPr lang="en-US" sz="2000" dirty="0">
              <a:latin typeface="Arial" panose="020B0604020202020204" pitchFamily="34" charset="0"/>
              <a:cs typeface="Arial" panose="020B0604020202020204" pitchFamily="34" charset="0"/>
            </a:endParaRPr>
          </a:p>
          <a:p>
            <a:pPr marL="0" indent="0">
              <a:lnSpc>
                <a:spcPct val="110000"/>
              </a:lnSpc>
              <a:spcBef>
                <a:spcPts val="0"/>
              </a:spcBef>
              <a:buNone/>
            </a:pPr>
            <a:r>
              <a:rPr lang="en-US" sz="2000" dirty="0">
                <a:latin typeface="Arial" panose="020B0604020202020204" pitchFamily="34" charset="0"/>
                <a:cs typeface="Arial" panose="020B0604020202020204" pitchFamily="34" charset="0"/>
              </a:rPr>
              <a:t>Syntax</a:t>
            </a:r>
          </a:p>
          <a:p>
            <a:pPr marL="0" indent="0">
              <a:lnSpc>
                <a:spcPct val="110000"/>
              </a:lnSpc>
              <a:spcBef>
                <a:spcPts val="0"/>
              </a:spcBef>
              <a:buNone/>
            </a:pPr>
            <a:r>
              <a:rPr lang="en-US" sz="2000" dirty="0">
                <a:latin typeface="Arial" panose="020B0604020202020204" pitchFamily="34" charset="0"/>
                <a:cs typeface="Arial" panose="020B0604020202020204" pitchFamily="34" charset="0"/>
              </a:rPr>
              <a:t>Basic syntax of drop() command is as follows:</a:t>
            </a:r>
          </a:p>
          <a:p>
            <a:pPr marL="0" indent="0">
              <a:lnSpc>
                <a:spcPct val="110000"/>
              </a:lnSpc>
              <a:spcBef>
                <a:spcPts val="0"/>
              </a:spcBef>
              <a:buNone/>
            </a:pPr>
            <a:r>
              <a:rPr lang="en-US" sz="2000" dirty="0">
                <a:latin typeface="Arial" panose="020B0604020202020204" pitchFamily="34" charset="0"/>
                <a:cs typeface="Arial" panose="020B0604020202020204" pitchFamily="34" charset="0"/>
              </a:rPr>
              <a:t>	</a:t>
            </a:r>
            <a:r>
              <a:rPr lang="en-US" sz="2000" dirty="0" err="1">
                <a:solidFill>
                  <a:srgbClr val="FF0000"/>
                </a:solidFill>
                <a:latin typeface="Arial" panose="020B0604020202020204" pitchFamily="34" charset="0"/>
                <a:cs typeface="Arial" panose="020B0604020202020204" pitchFamily="34" charset="0"/>
              </a:rPr>
              <a:t>db.COLLECTION_NAME.drop</a:t>
            </a:r>
            <a:r>
              <a:rPr lang="en-US" sz="2000" dirty="0">
                <a:solidFill>
                  <a:srgbClr val="FF0000"/>
                </a:solidFill>
                <a:latin typeface="Arial" panose="020B0604020202020204" pitchFamily="34" charset="0"/>
                <a:cs typeface="Arial" panose="020B0604020202020204" pitchFamily="34" charset="0"/>
              </a:rPr>
              <a:t>()</a:t>
            </a:r>
          </a:p>
          <a:p>
            <a:pPr marL="0" indent="0">
              <a:lnSpc>
                <a:spcPct val="110000"/>
              </a:lnSpc>
              <a:spcBef>
                <a:spcPts val="0"/>
              </a:spcBef>
              <a:buNone/>
            </a:pPr>
            <a:endParaRPr lang="en-US" sz="2000" dirty="0">
              <a:latin typeface="Arial" panose="020B0604020202020204" pitchFamily="34" charset="0"/>
              <a:cs typeface="Arial" panose="020B0604020202020204" pitchFamily="34" charset="0"/>
            </a:endParaRPr>
          </a:p>
          <a:p>
            <a:pPr marL="0" indent="0">
              <a:lnSpc>
                <a:spcPct val="110000"/>
              </a:lnSpc>
              <a:spcBef>
                <a:spcPts val="0"/>
              </a:spcBef>
              <a:buNone/>
            </a:pPr>
            <a:r>
              <a:rPr lang="en-US" sz="2000" dirty="0">
                <a:latin typeface="Arial" panose="020B0604020202020204" pitchFamily="34" charset="0"/>
                <a:cs typeface="Arial" panose="020B0604020202020204" pitchFamily="34" charset="0"/>
              </a:rPr>
              <a:t>Example</a:t>
            </a:r>
          </a:p>
          <a:p>
            <a:pPr marL="0" indent="0">
              <a:lnSpc>
                <a:spcPct val="110000"/>
              </a:lnSpc>
              <a:spcBef>
                <a:spcPts val="0"/>
              </a:spcBef>
              <a:buNone/>
            </a:pPr>
            <a:r>
              <a:rPr lang="en-US" sz="2000" dirty="0">
                <a:latin typeface="Arial" panose="020B0604020202020204" pitchFamily="34" charset="0"/>
                <a:cs typeface="Arial" panose="020B0604020202020204" pitchFamily="34" charset="0"/>
              </a:rPr>
              <a:t>	&gt;</a:t>
            </a:r>
            <a:r>
              <a:rPr lang="en-US" sz="2000" dirty="0" err="1">
                <a:solidFill>
                  <a:srgbClr val="FF0000"/>
                </a:solidFill>
                <a:latin typeface="Arial" panose="020B0604020202020204" pitchFamily="34" charset="0"/>
                <a:cs typeface="Arial" panose="020B0604020202020204" pitchFamily="34" charset="0"/>
              </a:rPr>
              <a:t>db.mycollection.drop</a:t>
            </a:r>
            <a:r>
              <a:rPr lang="en-US" sz="2000" dirty="0">
                <a:solidFill>
                  <a:srgbClr val="FF0000"/>
                </a:solidFill>
                <a:latin typeface="Arial" panose="020B0604020202020204" pitchFamily="34" charset="0"/>
                <a:cs typeface="Arial" panose="020B0604020202020204" pitchFamily="34" charset="0"/>
              </a:rPr>
              <a:t>()</a:t>
            </a:r>
          </a:p>
          <a:p>
            <a:pPr marL="0" indent="0">
              <a:lnSpc>
                <a:spcPct val="110000"/>
              </a:lnSpc>
              <a:spcBef>
                <a:spcPts val="0"/>
              </a:spcBef>
              <a:buNone/>
            </a:pPr>
            <a:r>
              <a:rPr lang="en-US" sz="2000" dirty="0">
                <a:latin typeface="Arial" panose="020B0604020202020204" pitchFamily="34" charset="0"/>
                <a:cs typeface="Arial" panose="020B0604020202020204" pitchFamily="34" charset="0"/>
              </a:rPr>
              <a:t>	true</a:t>
            </a:r>
            <a:endParaRPr lang="en-US" sz="2000" dirty="0">
              <a:solidFill>
                <a:srgbClr val="FF0000"/>
              </a:solidFill>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01-09-2025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25</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478471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Mongo DB Datatypes</a:t>
            </a:r>
          </a:p>
        </p:txBody>
      </p:sp>
      <p:sp>
        <p:nvSpPr>
          <p:cNvPr id="3" name="Content Placeholder 2"/>
          <p:cNvSpPr>
            <a:spLocks noGrp="1"/>
          </p:cNvSpPr>
          <p:nvPr>
            <p:ph idx="1"/>
          </p:nvPr>
        </p:nvSpPr>
        <p:spPr>
          <a:xfrm>
            <a:off x="838200" y="1690688"/>
            <a:ext cx="10515600" cy="4486275"/>
          </a:xfrm>
        </p:spPr>
        <p:txBody>
          <a:bodyPr>
            <a:noAutofit/>
          </a:bodyPr>
          <a:lstStyle/>
          <a:p>
            <a:pPr marL="539750" indent="-357188">
              <a:lnSpc>
                <a:spcPct val="110000"/>
              </a:lnSpc>
              <a:spcBef>
                <a:spcPts val="0"/>
              </a:spcBef>
            </a:pPr>
            <a:r>
              <a:rPr lang="en-US" sz="2000" dirty="0">
                <a:solidFill>
                  <a:srgbClr val="0000FF"/>
                </a:solidFill>
                <a:latin typeface="Arial" panose="020B0604020202020204" pitchFamily="34" charset="0"/>
                <a:cs typeface="Arial" panose="020B0604020202020204" pitchFamily="34" charset="0"/>
              </a:rPr>
              <a:t>String</a:t>
            </a:r>
            <a:r>
              <a:rPr lang="en-US" sz="2000" dirty="0">
                <a:latin typeface="Arial" panose="020B0604020202020204" pitchFamily="34" charset="0"/>
                <a:cs typeface="Arial" panose="020B0604020202020204" pitchFamily="34" charset="0"/>
              </a:rPr>
              <a:t> − This is the most commonly used datatype to store the data. String in MongoDB must be UTF-8 valid.</a:t>
            </a:r>
          </a:p>
          <a:p>
            <a:pPr marL="539750" indent="-357188">
              <a:lnSpc>
                <a:spcPct val="110000"/>
              </a:lnSpc>
              <a:spcBef>
                <a:spcPts val="0"/>
              </a:spcBef>
            </a:pPr>
            <a:endParaRPr lang="en-US" sz="2000" dirty="0">
              <a:latin typeface="Arial" panose="020B0604020202020204" pitchFamily="34" charset="0"/>
              <a:cs typeface="Arial" panose="020B0604020202020204" pitchFamily="34" charset="0"/>
            </a:endParaRPr>
          </a:p>
          <a:p>
            <a:pPr marL="539750" indent="-357188">
              <a:lnSpc>
                <a:spcPct val="110000"/>
              </a:lnSpc>
              <a:spcBef>
                <a:spcPts val="0"/>
              </a:spcBef>
            </a:pPr>
            <a:r>
              <a:rPr lang="en-US" sz="2000" dirty="0">
                <a:solidFill>
                  <a:srgbClr val="0000FF"/>
                </a:solidFill>
                <a:latin typeface="Arial" panose="020B0604020202020204" pitchFamily="34" charset="0"/>
                <a:cs typeface="Arial" panose="020B0604020202020204" pitchFamily="34" charset="0"/>
              </a:rPr>
              <a:t>Integer</a:t>
            </a:r>
            <a:r>
              <a:rPr lang="en-US" sz="2000" dirty="0">
                <a:latin typeface="Arial" panose="020B0604020202020204" pitchFamily="34" charset="0"/>
                <a:cs typeface="Arial" panose="020B0604020202020204" pitchFamily="34" charset="0"/>
              </a:rPr>
              <a:t> − This type is used to store a numerical value. Integer can be 32 bit or 64 bit depending upon your server.</a:t>
            </a:r>
          </a:p>
          <a:p>
            <a:pPr marL="539750" indent="-357188">
              <a:lnSpc>
                <a:spcPct val="110000"/>
              </a:lnSpc>
              <a:spcBef>
                <a:spcPts val="0"/>
              </a:spcBef>
            </a:pPr>
            <a:endParaRPr lang="en-US" sz="2000" dirty="0">
              <a:latin typeface="Arial" panose="020B0604020202020204" pitchFamily="34" charset="0"/>
              <a:cs typeface="Arial" panose="020B0604020202020204" pitchFamily="34" charset="0"/>
            </a:endParaRPr>
          </a:p>
          <a:p>
            <a:pPr marL="539750" indent="-357188">
              <a:lnSpc>
                <a:spcPct val="110000"/>
              </a:lnSpc>
              <a:spcBef>
                <a:spcPts val="0"/>
              </a:spcBef>
            </a:pPr>
            <a:r>
              <a:rPr lang="en-US" sz="2000" dirty="0">
                <a:solidFill>
                  <a:srgbClr val="0000FF"/>
                </a:solidFill>
                <a:latin typeface="Arial" panose="020B0604020202020204" pitchFamily="34" charset="0"/>
                <a:cs typeface="Arial" panose="020B0604020202020204" pitchFamily="34" charset="0"/>
              </a:rPr>
              <a:t>Boolean</a:t>
            </a:r>
            <a:r>
              <a:rPr lang="en-US" sz="2000" dirty="0">
                <a:latin typeface="Arial" panose="020B0604020202020204" pitchFamily="34" charset="0"/>
                <a:cs typeface="Arial" panose="020B0604020202020204" pitchFamily="34" charset="0"/>
              </a:rPr>
              <a:t> − This type is used to store a boolean (true/ false) value.</a:t>
            </a:r>
          </a:p>
          <a:p>
            <a:pPr marL="539750" indent="-357188">
              <a:lnSpc>
                <a:spcPct val="110000"/>
              </a:lnSpc>
              <a:spcBef>
                <a:spcPts val="0"/>
              </a:spcBef>
            </a:pPr>
            <a:endParaRPr lang="en-US" sz="2000" dirty="0">
              <a:latin typeface="Arial" panose="020B0604020202020204" pitchFamily="34" charset="0"/>
              <a:cs typeface="Arial" panose="020B0604020202020204" pitchFamily="34" charset="0"/>
            </a:endParaRPr>
          </a:p>
          <a:p>
            <a:pPr marL="539750" indent="-357188">
              <a:lnSpc>
                <a:spcPct val="110000"/>
              </a:lnSpc>
              <a:spcBef>
                <a:spcPts val="0"/>
              </a:spcBef>
            </a:pPr>
            <a:r>
              <a:rPr lang="en-US" sz="2000" dirty="0">
                <a:solidFill>
                  <a:srgbClr val="0000FF"/>
                </a:solidFill>
                <a:latin typeface="Arial" panose="020B0604020202020204" pitchFamily="34" charset="0"/>
                <a:cs typeface="Arial" panose="020B0604020202020204" pitchFamily="34" charset="0"/>
              </a:rPr>
              <a:t>Double</a:t>
            </a:r>
            <a:r>
              <a:rPr lang="en-US" sz="2000" dirty="0">
                <a:latin typeface="Arial" panose="020B0604020202020204" pitchFamily="34" charset="0"/>
                <a:cs typeface="Arial" panose="020B0604020202020204" pitchFamily="34" charset="0"/>
              </a:rPr>
              <a:t> − This type is used to store floating point values.</a:t>
            </a:r>
          </a:p>
          <a:p>
            <a:pPr marL="539750" indent="-357188">
              <a:lnSpc>
                <a:spcPct val="110000"/>
              </a:lnSpc>
              <a:spcBef>
                <a:spcPts val="0"/>
              </a:spcBef>
            </a:pPr>
            <a:endParaRPr lang="en-US" sz="2000" dirty="0">
              <a:latin typeface="Arial" panose="020B0604020202020204" pitchFamily="34" charset="0"/>
              <a:cs typeface="Arial" panose="020B0604020202020204" pitchFamily="34" charset="0"/>
            </a:endParaRPr>
          </a:p>
          <a:p>
            <a:pPr marL="539750" indent="-357188">
              <a:lnSpc>
                <a:spcPct val="110000"/>
              </a:lnSpc>
              <a:spcBef>
                <a:spcPts val="0"/>
              </a:spcBef>
            </a:pPr>
            <a:r>
              <a:rPr lang="en-US" sz="2000" dirty="0">
                <a:solidFill>
                  <a:srgbClr val="0000FF"/>
                </a:solidFill>
                <a:latin typeface="Arial" panose="020B0604020202020204" pitchFamily="34" charset="0"/>
                <a:cs typeface="Arial" panose="020B0604020202020204" pitchFamily="34" charset="0"/>
              </a:rPr>
              <a:t>Min/ Max keys </a:t>
            </a:r>
            <a:r>
              <a:rPr lang="en-US" sz="2000" dirty="0">
                <a:latin typeface="Arial" panose="020B0604020202020204" pitchFamily="34" charset="0"/>
                <a:cs typeface="Arial" panose="020B0604020202020204" pitchFamily="34" charset="0"/>
              </a:rPr>
              <a:t>− This type is used to compare a value against the lowest and highest BSON elements.</a:t>
            </a:r>
            <a:endParaRPr lang="en-US" sz="2000" dirty="0">
              <a:solidFill>
                <a:srgbClr val="FF0000"/>
              </a:solidFill>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01-09-2025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26</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263945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Mongo DB Datatypes</a:t>
            </a:r>
          </a:p>
        </p:txBody>
      </p:sp>
      <p:sp>
        <p:nvSpPr>
          <p:cNvPr id="3" name="Content Placeholder 2"/>
          <p:cNvSpPr>
            <a:spLocks noGrp="1"/>
          </p:cNvSpPr>
          <p:nvPr>
            <p:ph idx="1"/>
          </p:nvPr>
        </p:nvSpPr>
        <p:spPr>
          <a:xfrm>
            <a:off x="838200" y="1690688"/>
            <a:ext cx="10515600" cy="4486275"/>
          </a:xfrm>
        </p:spPr>
        <p:txBody>
          <a:bodyPr>
            <a:noAutofit/>
          </a:bodyPr>
          <a:lstStyle/>
          <a:p>
            <a:pPr marL="539750" indent="-357188">
              <a:lnSpc>
                <a:spcPct val="110000"/>
              </a:lnSpc>
              <a:spcBef>
                <a:spcPts val="0"/>
              </a:spcBef>
            </a:pPr>
            <a:r>
              <a:rPr lang="en-US" sz="2000" dirty="0">
                <a:solidFill>
                  <a:srgbClr val="0000FF"/>
                </a:solidFill>
                <a:latin typeface="Arial" panose="020B0604020202020204" pitchFamily="34" charset="0"/>
                <a:cs typeface="Arial" panose="020B0604020202020204" pitchFamily="34" charset="0"/>
              </a:rPr>
              <a:t>Arrays</a:t>
            </a:r>
            <a:r>
              <a:rPr lang="en-US" sz="2000" dirty="0">
                <a:latin typeface="Arial" panose="020B0604020202020204" pitchFamily="34" charset="0"/>
                <a:cs typeface="Arial" panose="020B0604020202020204" pitchFamily="34" charset="0"/>
              </a:rPr>
              <a:t> − This type is used to store arrays or list or multiple values into one key.</a:t>
            </a:r>
          </a:p>
          <a:p>
            <a:pPr marL="539750" indent="-357188">
              <a:lnSpc>
                <a:spcPct val="110000"/>
              </a:lnSpc>
              <a:spcBef>
                <a:spcPts val="0"/>
              </a:spcBef>
            </a:pPr>
            <a:endParaRPr lang="en-US" sz="2000" dirty="0">
              <a:latin typeface="Arial" panose="020B0604020202020204" pitchFamily="34" charset="0"/>
              <a:cs typeface="Arial" panose="020B0604020202020204" pitchFamily="34" charset="0"/>
            </a:endParaRPr>
          </a:p>
          <a:p>
            <a:pPr marL="539750" indent="-357188">
              <a:lnSpc>
                <a:spcPct val="110000"/>
              </a:lnSpc>
              <a:spcBef>
                <a:spcPts val="0"/>
              </a:spcBef>
            </a:pPr>
            <a:r>
              <a:rPr lang="en-US" sz="2000" dirty="0">
                <a:solidFill>
                  <a:srgbClr val="0000FF"/>
                </a:solidFill>
                <a:latin typeface="Arial" panose="020B0604020202020204" pitchFamily="34" charset="0"/>
                <a:cs typeface="Arial" panose="020B0604020202020204" pitchFamily="34" charset="0"/>
              </a:rPr>
              <a:t>Timestamp</a:t>
            </a:r>
            <a:r>
              <a:rPr lang="en-US" sz="2000" dirty="0">
                <a:latin typeface="Arial" panose="020B0604020202020204" pitchFamily="34" charset="0"/>
                <a:cs typeface="Arial" panose="020B0604020202020204" pitchFamily="34" charset="0"/>
              </a:rPr>
              <a:t> − </a:t>
            </a:r>
            <a:r>
              <a:rPr lang="en-US" sz="2000" dirty="0" err="1">
                <a:latin typeface="Arial" panose="020B0604020202020204" pitchFamily="34" charset="0"/>
                <a:cs typeface="Arial" panose="020B0604020202020204" pitchFamily="34" charset="0"/>
              </a:rPr>
              <a:t>ctimestamp</a:t>
            </a:r>
            <a:r>
              <a:rPr lang="en-US" sz="2000" dirty="0">
                <a:latin typeface="Arial" panose="020B0604020202020204" pitchFamily="34" charset="0"/>
                <a:cs typeface="Arial" panose="020B0604020202020204" pitchFamily="34" charset="0"/>
              </a:rPr>
              <a:t>. This can be handy for recording when a document has been modified or added.</a:t>
            </a:r>
          </a:p>
          <a:p>
            <a:pPr marL="539750" indent="-357188">
              <a:lnSpc>
                <a:spcPct val="110000"/>
              </a:lnSpc>
              <a:spcBef>
                <a:spcPts val="0"/>
              </a:spcBef>
            </a:pPr>
            <a:endParaRPr lang="en-US" sz="2000" dirty="0">
              <a:latin typeface="Arial" panose="020B0604020202020204" pitchFamily="34" charset="0"/>
              <a:cs typeface="Arial" panose="020B0604020202020204" pitchFamily="34" charset="0"/>
            </a:endParaRPr>
          </a:p>
          <a:p>
            <a:pPr marL="539750" indent="-357188">
              <a:lnSpc>
                <a:spcPct val="110000"/>
              </a:lnSpc>
              <a:spcBef>
                <a:spcPts val="0"/>
              </a:spcBef>
            </a:pPr>
            <a:r>
              <a:rPr lang="en-US" sz="2000" dirty="0">
                <a:solidFill>
                  <a:srgbClr val="0000FF"/>
                </a:solidFill>
                <a:latin typeface="Arial" panose="020B0604020202020204" pitchFamily="34" charset="0"/>
                <a:cs typeface="Arial" panose="020B0604020202020204" pitchFamily="34" charset="0"/>
              </a:rPr>
              <a:t>Object</a:t>
            </a:r>
            <a:r>
              <a:rPr lang="en-US" sz="2000" dirty="0">
                <a:latin typeface="Arial" panose="020B0604020202020204" pitchFamily="34" charset="0"/>
                <a:cs typeface="Arial" panose="020B0604020202020204" pitchFamily="34" charset="0"/>
              </a:rPr>
              <a:t> − This datatype is used for embedded documents.</a:t>
            </a:r>
          </a:p>
          <a:p>
            <a:pPr marL="539750" indent="-357188">
              <a:lnSpc>
                <a:spcPct val="110000"/>
              </a:lnSpc>
              <a:spcBef>
                <a:spcPts val="0"/>
              </a:spcBef>
            </a:pPr>
            <a:endParaRPr lang="en-US" sz="2000" dirty="0">
              <a:latin typeface="Arial" panose="020B0604020202020204" pitchFamily="34" charset="0"/>
              <a:cs typeface="Arial" panose="020B0604020202020204" pitchFamily="34" charset="0"/>
            </a:endParaRPr>
          </a:p>
          <a:p>
            <a:pPr marL="539750" indent="-357188">
              <a:lnSpc>
                <a:spcPct val="110000"/>
              </a:lnSpc>
              <a:spcBef>
                <a:spcPts val="0"/>
              </a:spcBef>
            </a:pPr>
            <a:r>
              <a:rPr lang="en-US" sz="2000" dirty="0">
                <a:solidFill>
                  <a:srgbClr val="0000FF"/>
                </a:solidFill>
                <a:latin typeface="Arial" panose="020B0604020202020204" pitchFamily="34" charset="0"/>
                <a:cs typeface="Arial" panose="020B0604020202020204" pitchFamily="34" charset="0"/>
              </a:rPr>
              <a:t>Null</a:t>
            </a:r>
            <a:r>
              <a:rPr lang="en-US" sz="2000" dirty="0">
                <a:latin typeface="Arial" panose="020B0604020202020204" pitchFamily="34" charset="0"/>
                <a:cs typeface="Arial" panose="020B0604020202020204" pitchFamily="34" charset="0"/>
              </a:rPr>
              <a:t> − This type is used to store a Null value.</a:t>
            </a:r>
          </a:p>
          <a:p>
            <a:pPr marL="539750" indent="-357188">
              <a:lnSpc>
                <a:spcPct val="110000"/>
              </a:lnSpc>
              <a:spcBef>
                <a:spcPts val="0"/>
              </a:spcBef>
            </a:pPr>
            <a:endParaRPr lang="en-US" sz="2000" dirty="0">
              <a:latin typeface="Arial" panose="020B0604020202020204" pitchFamily="34" charset="0"/>
              <a:cs typeface="Arial" panose="020B0604020202020204" pitchFamily="34" charset="0"/>
            </a:endParaRPr>
          </a:p>
          <a:p>
            <a:pPr marL="539750" indent="-357188">
              <a:lnSpc>
                <a:spcPct val="110000"/>
              </a:lnSpc>
              <a:spcBef>
                <a:spcPts val="0"/>
              </a:spcBef>
            </a:pPr>
            <a:r>
              <a:rPr lang="en-US" sz="2000" dirty="0">
                <a:solidFill>
                  <a:srgbClr val="0000FF"/>
                </a:solidFill>
                <a:latin typeface="Arial" panose="020B0604020202020204" pitchFamily="34" charset="0"/>
                <a:cs typeface="Arial" panose="020B0604020202020204" pitchFamily="34" charset="0"/>
              </a:rPr>
              <a:t>Symbol</a:t>
            </a:r>
            <a:r>
              <a:rPr lang="en-US" sz="2000" dirty="0">
                <a:latin typeface="Arial" panose="020B0604020202020204" pitchFamily="34" charset="0"/>
                <a:cs typeface="Arial" panose="020B0604020202020204" pitchFamily="34" charset="0"/>
              </a:rPr>
              <a:t> − This datatype is used identically to a string; however, it's generally reserved for languages that use a specific symbol type.</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01-09-2025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27</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475305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Mongo DB Datatypes</a:t>
            </a:r>
          </a:p>
        </p:txBody>
      </p:sp>
      <p:sp>
        <p:nvSpPr>
          <p:cNvPr id="3" name="Content Placeholder 2"/>
          <p:cNvSpPr>
            <a:spLocks noGrp="1"/>
          </p:cNvSpPr>
          <p:nvPr>
            <p:ph idx="1"/>
          </p:nvPr>
        </p:nvSpPr>
        <p:spPr>
          <a:xfrm>
            <a:off x="838200" y="1690688"/>
            <a:ext cx="10515600" cy="4486275"/>
          </a:xfrm>
        </p:spPr>
        <p:txBody>
          <a:bodyPr>
            <a:noAutofit/>
          </a:bodyPr>
          <a:lstStyle/>
          <a:p>
            <a:pPr marL="539750" indent="-357188">
              <a:lnSpc>
                <a:spcPct val="110000"/>
              </a:lnSpc>
              <a:spcBef>
                <a:spcPts val="0"/>
              </a:spcBef>
            </a:pPr>
            <a:r>
              <a:rPr lang="en-US" sz="2000" dirty="0">
                <a:solidFill>
                  <a:srgbClr val="0000FF"/>
                </a:solidFill>
                <a:latin typeface="Arial" panose="020B0604020202020204" pitchFamily="34" charset="0"/>
                <a:cs typeface="Arial" panose="020B0604020202020204" pitchFamily="34" charset="0"/>
              </a:rPr>
              <a:t>Date</a:t>
            </a:r>
            <a:r>
              <a:rPr lang="en-US" sz="2000" dirty="0">
                <a:latin typeface="Arial" panose="020B0604020202020204" pitchFamily="34" charset="0"/>
                <a:cs typeface="Arial" panose="020B0604020202020204" pitchFamily="34" charset="0"/>
              </a:rPr>
              <a:t> − This datatype is used to store the current date or time in UNIX time format. You can specify your own date time by creating object of Date and passing day, month, year into it.</a:t>
            </a:r>
          </a:p>
          <a:p>
            <a:pPr marL="539750" indent="-357188">
              <a:lnSpc>
                <a:spcPct val="110000"/>
              </a:lnSpc>
              <a:spcBef>
                <a:spcPts val="0"/>
              </a:spcBef>
            </a:pPr>
            <a:endParaRPr lang="en-US" sz="2000" dirty="0">
              <a:latin typeface="Arial" panose="020B0604020202020204" pitchFamily="34" charset="0"/>
              <a:cs typeface="Arial" panose="020B0604020202020204" pitchFamily="34" charset="0"/>
            </a:endParaRPr>
          </a:p>
          <a:p>
            <a:pPr marL="539750" indent="-357188">
              <a:lnSpc>
                <a:spcPct val="110000"/>
              </a:lnSpc>
              <a:spcBef>
                <a:spcPts val="0"/>
              </a:spcBef>
            </a:pPr>
            <a:r>
              <a:rPr lang="en-US" sz="2000" dirty="0">
                <a:solidFill>
                  <a:srgbClr val="0000FF"/>
                </a:solidFill>
                <a:latin typeface="Arial" panose="020B0604020202020204" pitchFamily="34" charset="0"/>
                <a:cs typeface="Arial" panose="020B0604020202020204" pitchFamily="34" charset="0"/>
              </a:rPr>
              <a:t>Object ID </a:t>
            </a:r>
            <a:r>
              <a:rPr lang="en-US" sz="2000" dirty="0">
                <a:latin typeface="Arial" panose="020B0604020202020204" pitchFamily="34" charset="0"/>
                <a:cs typeface="Arial" panose="020B0604020202020204" pitchFamily="34" charset="0"/>
              </a:rPr>
              <a:t>− This datatype is used to store the document’s ID.</a:t>
            </a:r>
          </a:p>
          <a:p>
            <a:pPr marL="539750" indent="-357188">
              <a:lnSpc>
                <a:spcPct val="110000"/>
              </a:lnSpc>
              <a:spcBef>
                <a:spcPts val="0"/>
              </a:spcBef>
            </a:pPr>
            <a:endParaRPr lang="en-US" sz="2000" dirty="0">
              <a:latin typeface="Arial" panose="020B0604020202020204" pitchFamily="34" charset="0"/>
              <a:cs typeface="Arial" panose="020B0604020202020204" pitchFamily="34" charset="0"/>
            </a:endParaRPr>
          </a:p>
          <a:p>
            <a:pPr marL="539750" indent="-357188">
              <a:lnSpc>
                <a:spcPct val="110000"/>
              </a:lnSpc>
              <a:spcBef>
                <a:spcPts val="0"/>
              </a:spcBef>
            </a:pPr>
            <a:r>
              <a:rPr lang="en-US" sz="2000" dirty="0">
                <a:solidFill>
                  <a:srgbClr val="0000FF"/>
                </a:solidFill>
                <a:latin typeface="Arial" panose="020B0604020202020204" pitchFamily="34" charset="0"/>
                <a:cs typeface="Arial" panose="020B0604020202020204" pitchFamily="34" charset="0"/>
              </a:rPr>
              <a:t>Binary data </a:t>
            </a:r>
            <a:r>
              <a:rPr lang="en-US" sz="2000" dirty="0">
                <a:latin typeface="Arial" panose="020B0604020202020204" pitchFamily="34" charset="0"/>
                <a:cs typeface="Arial" panose="020B0604020202020204" pitchFamily="34" charset="0"/>
              </a:rPr>
              <a:t>− This datatype is used to store binary data.</a:t>
            </a:r>
          </a:p>
          <a:p>
            <a:pPr marL="539750" indent="-357188">
              <a:lnSpc>
                <a:spcPct val="110000"/>
              </a:lnSpc>
              <a:spcBef>
                <a:spcPts val="0"/>
              </a:spcBef>
            </a:pPr>
            <a:endParaRPr lang="en-US" sz="2000" dirty="0">
              <a:latin typeface="Arial" panose="020B0604020202020204" pitchFamily="34" charset="0"/>
              <a:cs typeface="Arial" panose="020B0604020202020204" pitchFamily="34" charset="0"/>
            </a:endParaRPr>
          </a:p>
          <a:p>
            <a:pPr marL="539750" indent="-357188">
              <a:lnSpc>
                <a:spcPct val="110000"/>
              </a:lnSpc>
              <a:spcBef>
                <a:spcPts val="0"/>
              </a:spcBef>
            </a:pPr>
            <a:r>
              <a:rPr lang="en-US" sz="2000" dirty="0">
                <a:solidFill>
                  <a:srgbClr val="0000FF"/>
                </a:solidFill>
                <a:latin typeface="Arial" panose="020B0604020202020204" pitchFamily="34" charset="0"/>
                <a:cs typeface="Arial" panose="020B0604020202020204" pitchFamily="34" charset="0"/>
              </a:rPr>
              <a:t>Code</a:t>
            </a:r>
            <a:r>
              <a:rPr lang="en-US" sz="2000" dirty="0">
                <a:latin typeface="Arial" panose="020B0604020202020204" pitchFamily="34" charset="0"/>
                <a:cs typeface="Arial" panose="020B0604020202020204" pitchFamily="34" charset="0"/>
              </a:rPr>
              <a:t> − This datatype is used to store JavaScript code into the document.</a:t>
            </a:r>
          </a:p>
          <a:p>
            <a:pPr marL="539750" indent="-357188">
              <a:lnSpc>
                <a:spcPct val="110000"/>
              </a:lnSpc>
              <a:spcBef>
                <a:spcPts val="0"/>
              </a:spcBef>
            </a:pPr>
            <a:endParaRPr lang="en-US" sz="2000" dirty="0">
              <a:latin typeface="Arial" panose="020B0604020202020204" pitchFamily="34" charset="0"/>
              <a:cs typeface="Arial" panose="020B0604020202020204" pitchFamily="34" charset="0"/>
            </a:endParaRPr>
          </a:p>
          <a:p>
            <a:pPr marL="539750" indent="-357188">
              <a:lnSpc>
                <a:spcPct val="110000"/>
              </a:lnSpc>
              <a:spcBef>
                <a:spcPts val="0"/>
              </a:spcBef>
            </a:pPr>
            <a:r>
              <a:rPr lang="en-US" sz="2000" dirty="0">
                <a:solidFill>
                  <a:srgbClr val="0000FF"/>
                </a:solidFill>
                <a:latin typeface="Arial" panose="020B0604020202020204" pitchFamily="34" charset="0"/>
                <a:cs typeface="Arial" panose="020B0604020202020204" pitchFamily="34" charset="0"/>
              </a:rPr>
              <a:t>Regular expression </a:t>
            </a:r>
            <a:r>
              <a:rPr lang="en-US" sz="2000" dirty="0">
                <a:latin typeface="Arial" panose="020B0604020202020204" pitchFamily="34" charset="0"/>
                <a:cs typeface="Arial" panose="020B0604020202020204" pitchFamily="34" charset="0"/>
              </a:rPr>
              <a:t>− This datatype is used to store regular expression.</a:t>
            </a:r>
            <a:endParaRPr lang="en-US" sz="2000" dirty="0">
              <a:solidFill>
                <a:srgbClr val="FF0000"/>
              </a:solidFill>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01-09-2025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28</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928156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insert() Method</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10000"/>
              </a:lnSpc>
              <a:spcBef>
                <a:spcPts val="0"/>
              </a:spcBef>
              <a:buNone/>
            </a:pPr>
            <a:r>
              <a:rPr lang="en-US" sz="2000" dirty="0">
                <a:latin typeface="Arial" panose="020B0604020202020204" pitchFamily="34" charset="0"/>
                <a:cs typeface="Arial" panose="020B0604020202020204" pitchFamily="34" charset="0"/>
              </a:rPr>
              <a:t>To insert data into MongoDB collection, you need to use MongoDB's insert() or save() method.</a:t>
            </a:r>
          </a:p>
          <a:p>
            <a:pPr marL="0" indent="0">
              <a:lnSpc>
                <a:spcPct val="110000"/>
              </a:lnSpc>
              <a:spcBef>
                <a:spcPts val="0"/>
              </a:spcBef>
              <a:buNone/>
            </a:pPr>
            <a:endParaRPr lang="en-US" sz="2000" dirty="0">
              <a:latin typeface="Arial" panose="020B0604020202020204" pitchFamily="34" charset="0"/>
              <a:cs typeface="Arial" panose="020B0604020202020204" pitchFamily="34" charset="0"/>
            </a:endParaRPr>
          </a:p>
          <a:p>
            <a:pPr marL="0" indent="0">
              <a:lnSpc>
                <a:spcPct val="110000"/>
              </a:lnSpc>
              <a:spcBef>
                <a:spcPts val="0"/>
              </a:spcBef>
              <a:buNone/>
            </a:pPr>
            <a:r>
              <a:rPr lang="en-US" sz="2000" dirty="0">
                <a:latin typeface="Arial" panose="020B0604020202020204" pitchFamily="34" charset="0"/>
                <a:cs typeface="Arial" panose="020B0604020202020204" pitchFamily="34" charset="0"/>
              </a:rPr>
              <a:t>Syntax</a:t>
            </a:r>
          </a:p>
          <a:p>
            <a:pPr marL="0" indent="0">
              <a:lnSpc>
                <a:spcPct val="110000"/>
              </a:lnSpc>
              <a:spcBef>
                <a:spcPts val="0"/>
              </a:spcBef>
              <a:buNone/>
            </a:pPr>
            <a:r>
              <a:rPr lang="en-US" sz="2000" dirty="0">
                <a:latin typeface="Arial" panose="020B0604020202020204" pitchFamily="34" charset="0"/>
                <a:cs typeface="Arial" panose="020B0604020202020204" pitchFamily="34" charset="0"/>
              </a:rPr>
              <a:t>The basic syntax of insert() command is as follows:</a:t>
            </a:r>
          </a:p>
          <a:p>
            <a:pPr marL="0" indent="0">
              <a:lnSpc>
                <a:spcPct val="110000"/>
              </a:lnSpc>
              <a:spcBef>
                <a:spcPts val="0"/>
              </a:spcBef>
              <a:buNone/>
            </a:pPr>
            <a:r>
              <a:rPr lang="en-US" sz="2000" dirty="0">
                <a:latin typeface="Arial" panose="020B0604020202020204" pitchFamily="34" charset="0"/>
                <a:cs typeface="Arial" panose="020B0604020202020204" pitchFamily="34" charset="0"/>
              </a:rPr>
              <a:t>	</a:t>
            </a:r>
            <a:r>
              <a:rPr lang="en-US" sz="2000" dirty="0">
                <a:solidFill>
                  <a:srgbClr val="FF0000"/>
                </a:solidFill>
                <a:latin typeface="Arial" panose="020B0604020202020204" pitchFamily="34" charset="0"/>
                <a:cs typeface="Arial" panose="020B0604020202020204" pitchFamily="34" charset="0"/>
              </a:rPr>
              <a:t>&gt;</a:t>
            </a:r>
            <a:r>
              <a:rPr lang="en-US" sz="2000" dirty="0" err="1">
                <a:solidFill>
                  <a:srgbClr val="FF0000"/>
                </a:solidFill>
                <a:latin typeface="Arial" panose="020B0604020202020204" pitchFamily="34" charset="0"/>
                <a:cs typeface="Arial" panose="020B0604020202020204" pitchFamily="34" charset="0"/>
              </a:rPr>
              <a:t>db.COLLECTION_NAME.insert</a:t>
            </a:r>
            <a:r>
              <a:rPr lang="en-US" sz="2000" dirty="0">
                <a:solidFill>
                  <a:srgbClr val="FF0000"/>
                </a:solidFill>
                <a:latin typeface="Arial" panose="020B0604020202020204" pitchFamily="34" charset="0"/>
                <a:cs typeface="Arial" panose="020B0604020202020204" pitchFamily="34" charset="0"/>
              </a:rPr>
              <a:t>(document)</a:t>
            </a:r>
          </a:p>
          <a:p>
            <a:pPr marL="0" indent="0">
              <a:lnSpc>
                <a:spcPct val="110000"/>
              </a:lnSpc>
              <a:spcBef>
                <a:spcPts val="0"/>
              </a:spcBef>
              <a:buNone/>
            </a:pPr>
            <a:endParaRPr lang="en-US" sz="2000" dirty="0">
              <a:latin typeface="Arial" panose="020B0604020202020204" pitchFamily="34" charset="0"/>
              <a:cs typeface="Arial" panose="020B0604020202020204" pitchFamily="34" charset="0"/>
            </a:endParaRPr>
          </a:p>
          <a:p>
            <a:pPr marL="0" indent="0">
              <a:lnSpc>
                <a:spcPct val="110000"/>
              </a:lnSpc>
              <a:spcBef>
                <a:spcPts val="0"/>
              </a:spcBef>
              <a:buNone/>
            </a:pPr>
            <a:r>
              <a:rPr lang="en-US" sz="2000" dirty="0">
                <a:latin typeface="Arial" panose="020B0604020202020204" pitchFamily="34" charset="0"/>
                <a:cs typeface="Arial" panose="020B0604020202020204" pitchFamily="34" charset="0"/>
              </a:rPr>
              <a:t>Example</a:t>
            </a:r>
          </a:p>
          <a:p>
            <a:pPr marL="0" indent="0">
              <a:lnSpc>
                <a:spcPct val="110000"/>
              </a:lnSpc>
              <a:spcBef>
                <a:spcPts val="0"/>
              </a:spcBef>
              <a:buNone/>
            </a:pPr>
            <a:endParaRPr lang="en-US" sz="2000" dirty="0">
              <a:solidFill>
                <a:srgbClr val="FF0000"/>
              </a:solidFill>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z="2000" smtClean="0">
                <a:latin typeface="Arial" panose="020B0604020202020204" pitchFamily="34" charset="0"/>
                <a:cs typeface="Arial" panose="020B0604020202020204" pitchFamily="34" charset="0"/>
              </a:rPr>
              <a:t>01-09-2025</a:t>
            </a:fld>
            <a:endParaRPr lang="en-IN" sz="2000"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sz="2000" dirty="0" err="1">
                <a:latin typeface="Arial" panose="020B0604020202020204" pitchFamily="34" charset="0"/>
                <a:cs typeface="Arial" panose="020B0604020202020204" pitchFamily="34" charset="0"/>
              </a:rPr>
              <a:t>Dr.</a:t>
            </a:r>
            <a:r>
              <a:rPr lang="en-IN" sz="2000" dirty="0">
                <a:latin typeface="Arial" panose="020B0604020202020204" pitchFamily="34" charset="0"/>
                <a:cs typeface="Arial" panose="020B0604020202020204" pitchFamily="34" charset="0"/>
              </a:rPr>
              <a:t> S. </a:t>
            </a:r>
            <a:r>
              <a:rPr lang="en-IN" sz="2000" dirty="0" err="1">
                <a:latin typeface="Arial" panose="020B0604020202020204" pitchFamily="34" charset="0"/>
                <a:cs typeface="Arial" panose="020B0604020202020204" pitchFamily="34" charset="0"/>
              </a:rPr>
              <a:t>Gopikrishnan</a:t>
            </a:r>
            <a:endParaRPr lang="en-IN" sz="2000"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z="2000" smtClean="0">
                <a:latin typeface="Arial" panose="020B0604020202020204" pitchFamily="34" charset="0"/>
                <a:cs typeface="Arial" panose="020B0604020202020204" pitchFamily="34" charset="0"/>
              </a:rPr>
              <a:t>29</a:t>
            </a:fld>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661072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insert() Method</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10000"/>
              </a:lnSpc>
              <a:spcBef>
                <a:spcPts val="0"/>
              </a:spcBef>
              <a:buNone/>
            </a:pPr>
            <a:endParaRPr lang="en-US" sz="2000" dirty="0">
              <a:latin typeface="Arial" panose="020B0604020202020204" pitchFamily="34" charset="0"/>
              <a:cs typeface="Arial" panose="020B0604020202020204" pitchFamily="34" charset="0"/>
            </a:endParaRPr>
          </a:p>
          <a:p>
            <a:pPr marL="0" indent="0">
              <a:lnSpc>
                <a:spcPct val="110000"/>
              </a:lnSpc>
              <a:spcBef>
                <a:spcPts val="0"/>
              </a:spcBef>
              <a:buNone/>
            </a:pPr>
            <a:endParaRPr lang="en-US" sz="2000" dirty="0">
              <a:latin typeface="Arial" panose="020B0604020202020204" pitchFamily="34" charset="0"/>
              <a:cs typeface="Arial" panose="020B0604020202020204" pitchFamily="34" charset="0"/>
            </a:endParaRPr>
          </a:p>
          <a:p>
            <a:pPr marL="0" indent="0">
              <a:lnSpc>
                <a:spcPct val="110000"/>
              </a:lnSpc>
              <a:spcBef>
                <a:spcPts val="0"/>
              </a:spcBef>
              <a:buNone/>
            </a:pPr>
            <a:endParaRPr lang="en-US" sz="2000" dirty="0">
              <a:latin typeface="Arial" panose="020B0604020202020204" pitchFamily="34" charset="0"/>
              <a:cs typeface="Arial" panose="020B0604020202020204" pitchFamily="34" charset="0"/>
            </a:endParaRPr>
          </a:p>
          <a:p>
            <a:pPr marL="0" indent="0">
              <a:lnSpc>
                <a:spcPct val="110000"/>
              </a:lnSpc>
              <a:spcBef>
                <a:spcPts val="0"/>
              </a:spcBef>
              <a:buNone/>
            </a:pPr>
            <a:endParaRPr lang="en-US" sz="2000" dirty="0">
              <a:latin typeface="Arial" panose="020B0604020202020204" pitchFamily="34" charset="0"/>
              <a:cs typeface="Arial" panose="020B0604020202020204" pitchFamily="34" charset="0"/>
            </a:endParaRPr>
          </a:p>
          <a:p>
            <a:pPr marL="0" indent="0">
              <a:lnSpc>
                <a:spcPct val="110000"/>
              </a:lnSpc>
              <a:spcBef>
                <a:spcPts val="0"/>
              </a:spcBef>
              <a:buNone/>
            </a:pPr>
            <a:endParaRPr lang="en-US" sz="2000" dirty="0">
              <a:latin typeface="Arial" panose="020B0604020202020204" pitchFamily="34" charset="0"/>
              <a:cs typeface="Arial" panose="020B0604020202020204" pitchFamily="34" charset="0"/>
            </a:endParaRPr>
          </a:p>
          <a:p>
            <a:pPr marL="0" indent="0">
              <a:lnSpc>
                <a:spcPct val="110000"/>
              </a:lnSpc>
              <a:spcBef>
                <a:spcPts val="0"/>
              </a:spcBef>
              <a:buNone/>
            </a:pPr>
            <a:endParaRPr lang="en-US" sz="2000" dirty="0">
              <a:latin typeface="Arial" panose="020B0604020202020204" pitchFamily="34" charset="0"/>
              <a:cs typeface="Arial" panose="020B0604020202020204" pitchFamily="34" charset="0"/>
            </a:endParaRPr>
          </a:p>
          <a:p>
            <a:pPr marL="0" indent="0">
              <a:lnSpc>
                <a:spcPct val="110000"/>
              </a:lnSpc>
              <a:spcBef>
                <a:spcPts val="0"/>
              </a:spcBef>
              <a:buNone/>
            </a:pPr>
            <a:endParaRPr lang="en-US" sz="2000" dirty="0">
              <a:latin typeface="Arial" panose="020B0604020202020204" pitchFamily="34" charset="0"/>
              <a:cs typeface="Arial" panose="020B0604020202020204" pitchFamily="34" charset="0"/>
            </a:endParaRPr>
          </a:p>
          <a:p>
            <a:pPr marL="0" indent="0">
              <a:lnSpc>
                <a:spcPct val="110000"/>
              </a:lnSpc>
              <a:spcBef>
                <a:spcPts val="0"/>
              </a:spcBef>
              <a:buNone/>
            </a:pPr>
            <a:endParaRPr lang="en-US" sz="2000" dirty="0">
              <a:latin typeface="Arial" panose="020B0604020202020204" pitchFamily="34" charset="0"/>
              <a:cs typeface="Arial" panose="020B0604020202020204" pitchFamily="34" charset="0"/>
            </a:endParaRPr>
          </a:p>
          <a:p>
            <a:pPr marL="0" indent="0">
              <a:lnSpc>
                <a:spcPct val="110000"/>
              </a:lnSpc>
              <a:spcBef>
                <a:spcPts val="0"/>
              </a:spcBef>
              <a:buNone/>
            </a:pPr>
            <a:r>
              <a:rPr lang="en-US" sz="2000" dirty="0">
                <a:latin typeface="Arial" panose="020B0604020202020204" pitchFamily="34" charset="0"/>
                <a:cs typeface="Arial" panose="020B0604020202020204" pitchFamily="34" charset="0"/>
              </a:rPr>
              <a:t>_id is 12 bytes hexadecimal number unique for every document in a collection. 12 bytes are divided as follows −</a:t>
            </a:r>
          </a:p>
          <a:p>
            <a:pPr marL="0" indent="0">
              <a:lnSpc>
                <a:spcPct val="110000"/>
              </a:lnSpc>
              <a:spcBef>
                <a:spcPts val="0"/>
              </a:spcBef>
              <a:buNone/>
            </a:pPr>
            <a:endParaRPr lang="en-US" sz="2000" dirty="0">
              <a:latin typeface="Arial" panose="020B0604020202020204" pitchFamily="34" charset="0"/>
              <a:cs typeface="Arial" panose="020B0604020202020204" pitchFamily="34" charset="0"/>
            </a:endParaRPr>
          </a:p>
          <a:p>
            <a:pPr marL="0" indent="0">
              <a:lnSpc>
                <a:spcPct val="110000"/>
              </a:lnSpc>
              <a:spcBef>
                <a:spcPts val="0"/>
              </a:spcBef>
              <a:buNone/>
            </a:pPr>
            <a:r>
              <a:rPr lang="en-US" sz="2000" dirty="0">
                <a:latin typeface="Arial" panose="020B0604020202020204" pitchFamily="34" charset="0"/>
                <a:cs typeface="Arial" panose="020B0604020202020204" pitchFamily="34" charset="0"/>
              </a:rPr>
              <a:t>_id: </a:t>
            </a:r>
            <a:r>
              <a:rPr lang="en-US" sz="2000" dirty="0" err="1">
                <a:latin typeface="Arial" panose="020B0604020202020204" pitchFamily="34" charset="0"/>
                <a:cs typeface="Arial" panose="020B0604020202020204" pitchFamily="34" charset="0"/>
              </a:rPr>
              <a:t>ObjectId</a:t>
            </a:r>
            <a:r>
              <a:rPr lang="en-US" sz="2000" dirty="0">
                <a:latin typeface="Arial" panose="020B0604020202020204" pitchFamily="34" charset="0"/>
                <a:cs typeface="Arial" panose="020B0604020202020204" pitchFamily="34" charset="0"/>
              </a:rPr>
              <a:t>(4 bytes timestamp, 3 bytes machine id, 2 bytes process id, </a:t>
            </a:r>
          </a:p>
          <a:p>
            <a:pPr marL="0" indent="0">
              <a:lnSpc>
                <a:spcPct val="110000"/>
              </a:lnSpc>
              <a:spcBef>
                <a:spcPts val="0"/>
              </a:spcBef>
              <a:buNone/>
            </a:pPr>
            <a:r>
              <a:rPr lang="en-US" sz="2000" dirty="0">
                <a:latin typeface="Arial" panose="020B0604020202020204" pitchFamily="34" charset="0"/>
                <a:cs typeface="Arial" panose="020B0604020202020204" pitchFamily="34" charset="0"/>
              </a:rPr>
              <a:t>   3 bytes </a:t>
            </a:r>
            <a:r>
              <a:rPr lang="en-US" sz="2000" dirty="0" err="1">
                <a:latin typeface="Arial" panose="020B0604020202020204" pitchFamily="34" charset="0"/>
                <a:cs typeface="Arial" panose="020B0604020202020204" pitchFamily="34" charset="0"/>
              </a:rPr>
              <a:t>incrementer</a:t>
            </a:r>
            <a:r>
              <a:rPr lang="en-US" sz="2000" dirty="0">
                <a:latin typeface="Arial" panose="020B0604020202020204" pitchFamily="34" charset="0"/>
                <a:cs typeface="Arial" panose="020B0604020202020204" pitchFamily="34" charset="0"/>
              </a:rPr>
              <a:t>)</a:t>
            </a:r>
            <a:endParaRPr lang="en-US" sz="2000" dirty="0">
              <a:solidFill>
                <a:srgbClr val="FF0000"/>
              </a:solidFill>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z="2000" smtClean="0">
                <a:latin typeface="Arial" panose="020B0604020202020204" pitchFamily="34" charset="0"/>
                <a:cs typeface="Arial" panose="020B0604020202020204" pitchFamily="34" charset="0"/>
              </a:rPr>
              <a:t>01-09-2025</a:t>
            </a:fld>
            <a:endParaRPr lang="en-IN" sz="2000"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sz="2000" dirty="0" err="1">
                <a:latin typeface="Arial" panose="020B0604020202020204" pitchFamily="34" charset="0"/>
                <a:cs typeface="Arial" panose="020B0604020202020204" pitchFamily="34" charset="0"/>
              </a:rPr>
              <a:t>Dr.</a:t>
            </a:r>
            <a:r>
              <a:rPr lang="en-IN" sz="2000" dirty="0">
                <a:latin typeface="Arial" panose="020B0604020202020204" pitchFamily="34" charset="0"/>
                <a:cs typeface="Arial" panose="020B0604020202020204" pitchFamily="34" charset="0"/>
              </a:rPr>
              <a:t> S. </a:t>
            </a:r>
            <a:r>
              <a:rPr lang="en-IN" sz="2000" dirty="0" err="1">
                <a:latin typeface="Arial" panose="020B0604020202020204" pitchFamily="34" charset="0"/>
                <a:cs typeface="Arial" panose="020B0604020202020204" pitchFamily="34" charset="0"/>
              </a:rPr>
              <a:t>Gopikrishnan</a:t>
            </a:r>
            <a:endParaRPr lang="en-IN" sz="2000"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z="2000" smtClean="0">
                <a:latin typeface="Arial" panose="020B0604020202020204" pitchFamily="34" charset="0"/>
                <a:cs typeface="Arial" panose="020B0604020202020204" pitchFamily="34" charset="0"/>
              </a:rPr>
              <a:t>30</a:t>
            </a:fld>
            <a:endParaRPr lang="en-IN" sz="2000" dirty="0">
              <a:latin typeface="Arial" panose="020B0604020202020204" pitchFamily="34" charset="0"/>
              <a:cs typeface="Arial" panose="020B0604020202020204" pitchFamily="34" charset="0"/>
            </a:endParaRPr>
          </a:p>
        </p:txBody>
      </p:sp>
      <p:sp>
        <p:nvSpPr>
          <p:cNvPr id="6" name="Rectangle 2"/>
          <p:cNvSpPr>
            <a:spLocks noChangeArrowheads="1"/>
          </p:cNvSpPr>
          <p:nvPr/>
        </p:nvSpPr>
        <p:spPr bwMode="auto">
          <a:xfrm>
            <a:off x="2636649" y="1690688"/>
            <a:ext cx="6918702" cy="247632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3174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&gt;</a:t>
            </a:r>
            <a:r>
              <a:rPr kumimoji="0" lang="en-US" altLang="en-US" sz="20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db</a:t>
            </a:r>
            <a:r>
              <a:rPr kumimoji="0" lang="en-US" altLang="en-US" sz="2000" b="0" i="0" u="none" strike="noStrike" cap="none" normalizeH="0" baseline="0" dirty="0" err="1">
                <a:ln>
                  <a:noFill/>
                </a:ln>
                <a:solidFill>
                  <a:srgbClr val="666600"/>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mycol</a:t>
            </a:r>
            <a:r>
              <a:rPr kumimoji="0" lang="en-US" altLang="en-US" sz="2000" b="0" i="0" u="none" strike="noStrike" cap="none" normalizeH="0" baseline="0" dirty="0" err="1">
                <a:ln>
                  <a:noFill/>
                </a:ln>
                <a:solidFill>
                  <a:srgbClr val="666600"/>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insert</a:t>
            </a:r>
            <a:r>
              <a:rPr kumimoji="0" lang="en-US" altLang="en-US" sz="2000"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_id</a:t>
            </a:r>
            <a:r>
              <a:rPr kumimoji="0" lang="en-US" altLang="en-US" sz="2000"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err="1">
                <a:ln>
                  <a:noFill/>
                </a:ln>
                <a:solidFill>
                  <a:srgbClr val="660066"/>
                </a:solidFill>
                <a:effectLst/>
                <a:latin typeface="Courier New" panose="02070309020205020404" pitchFamily="49" charset="0"/>
                <a:cs typeface="Courier New" panose="02070309020205020404" pitchFamily="49" charset="0"/>
              </a:rPr>
              <a:t>ObjectId</a:t>
            </a:r>
            <a:r>
              <a:rPr kumimoji="0" lang="en-US" altLang="en-US" sz="2000"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6666"/>
                </a:solidFill>
                <a:effectLst/>
                <a:latin typeface="Courier New" panose="02070309020205020404" pitchFamily="49" charset="0"/>
                <a:cs typeface="Courier New" panose="02070309020205020404" pitchFamily="49" charset="0"/>
              </a:rPr>
              <a:t>7df78ad8902c</a:t>
            </a:r>
            <a:r>
              <a:rPr kumimoji="0" lang="en-US" altLang="en-US" sz="2000"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p>
          <a:p>
            <a:pPr lvl="0" eaLnBrk="0" fontAlgn="base" hangingPunct="0">
              <a:spcBef>
                <a:spcPct val="0"/>
              </a:spcBef>
              <a:spcAft>
                <a:spcPct val="0"/>
              </a:spcAft>
            </a:pPr>
            <a:r>
              <a:rPr kumimoji="0" lang="en-US" altLang="en-US" sz="20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eid</a:t>
            </a:r>
            <a:r>
              <a:rPr kumimoji="0" lang="en-US" altLang="en-US" sz="2000"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lang="en-US" altLang="en-US" sz="2000" dirty="0">
                <a:solidFill>
                  <a:srgbClr val="008800"/>
                </a:solidFill>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8800"/>
                </a:solidFill>
                <a:effectLst/>
                <a:latin typeface="Courier New" panose="02070309020205020404" pitchFamily="49" charset="0"/>
                <a:cs typeface="Courier New" panose="02070309020205020404" pitchFamily="49" charset="0"/>
              </a:rPr>
              <a:t>12e123'</a:t>
            </a:r>
            <a:r>
              <a:rPr kumimoji="0" lang="en-US" altLang="en-US" sz="2000"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p>
          <a:p>
            <a:pPr lvl="0" eaLnBrk="0" fontAlgn="base" hangingPunct="0">
              <a:spcBef>
                <a:spcPct val="0"/>
              </a:spcBef>
              <a:spcAft>
                <a:spcPct val="0"/>
              </a:spcAft>
            </a:pP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name</a:t>
            </a:r>
            <a:r>
              <a:rPr kumimoji="0" lang="en-US" altLang="en-US" sz="2000"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lang="en-US" altLang="en-US" sz="2000" dirty="0">
                <a:solidFill>
                  <a:srgbClr val="008800"/>
                </a:solidFill>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8800"/>
                </a:solidFill>
                <a:effectLst/>
                <a:latin typeface="Courier New" panose="02070309020205020404" pitchFamily="49" charset="0"/>
                <a:cs typeface="Courier New" panose="02070309020205020404" pitchFamily="49" charset="0"/>
              </a:rPr>
              <a:t>Krishnan'</a:t>
            </a:r>
            <a:r>
              <a:rPr kumimoji="0" lang="en-US" altLang="en-US" sz="2000"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Salary</a:t>
            </a:r>
            <a:r>
              <a:rPr kumimoji="0" lang="en-US" altLang="en-US" sz="2000"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lang="en-US" altLang="en-US" sz="2000" dirty="0">
                <a:solidFill>
                  <a:srgbClr val="006666"/>
                </a:solidFill>
                <a:latin typeface="Courier New" panose="02070309020205020404" pitchFamily="49" charset="0"/>
                <a:cs typeface="Courier New" panose="02070309020205020404" pitchFamily="49" charset="0"/>
              </a:rPr>
              <a:t>50000</a:t>
            </a:r>
            <a:r>
              <a:rPr kumimoji="0" lang="en-US" altLang="en-US" sz="2000"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p>
          <a:p>
            <a:pPr lvl="0" eaLnBrk="0" fontAlgn="base" hangingPunct="0">
              <a:spcBef>
                <a:spcPct val="0"/>
              </a:spcBef>
              <a:spcAft>
                <a:spcPct val="0"/>
              </a:spcAft>
            </a:pP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tags</a:t>
            </a:r>
            <a:r>
              <a:rPr kumimoji="0" lang="en-US" altLang="en-US" sz="2000"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r>
              <a:rPr lang="en-US" altLang="en-US" sz="2000" dirty="0">
                <a:solidFill>
                  <a:srgbClr val="008800"/>
                </a:solidFill>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8800"/>
                </a:solidFill>
                <a:effectLst/>
                <a:latin typeface="Courier New" panose="02070309020205020404" pitchFamily="49" charset="0"/>
                <a:cs typeface="Courier New" panose="02070309020205020404" pitchFamily="49" charset="0"/>
              </a:rPr>
              <a:t>faculty'</a:t>
            </a:r>
            <a:r>
              <a:rPr kumimoji="0" lang="en-US" altLang="en-US" sz="2000"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008800"/>
                </a:solidFill>
                <a:effectLst/>
                <a:latin typeface="Courier New" panose="02070309020205020404" pitchFamily="49" charset="0"/>
                <a:cs typeface="Courier New" panose="02070309020205020404" pitchFamily="49" charset="0"/>
              </a:rPr>
              <a:t>'database'</a:t>
            </a:r>
            <a:r>
              <a:rPr kumimoji="0" lang="en-US" altLang="en-US" sz="2000"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008800"/>
                </a:solidFill>
                <a:effectLst/>
                <a:latin typeface="Courier New" panose="02070309020205020404" pitchFamily="49" charset="0"/>
                <a:cs typeface="Courier New" panose="02070309020205020404" pitchFamily="49" charset="0"/>
              </a:rPr>
              <a:t>'NoSQL'</a:t>
            </a:r>
            <a:r>
              <a:rPr kumimoji="0" lang="en-US" altLang="en-US" sz="2000"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likes</a:t>
            </a:r>
            <a:r>
              <a:rPr kumimoji="0" lang="en-US" altLang="en-US" sz="2000"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006666"/>
                </a:solidFill>
                <a:effectLst/>
                <a:latin typeface="Courier New" panose="02070309020205020404" pitchFamily="49" charset="0"/>
                <a:cs typeface="Courier New" panose="02070309020205020404" pitchFamily="49" charset="0"/>
              </a:rPr>
              <a:t>100</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chemeClr val="tx1"/>
                </a:solidFill>
                <a:effectLst/>
              </a:rPr>
              <a:t> </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98446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insert() Method</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10000"/>
              </a:lnSpc>
              <a:spcBef>
                <a:spcPts val="0"/>
              </a:spcBef>
              <a:buNone/>
            </a:pPr>
            <a:r>
              <a:rPr lang="en-US" sz="2000" dirty="0">
                <a:latin typeface="Arial" panose="020B0604020202020204" pitchFamily="34" charset="0"/>
                <a:cs typeface="Arial" panose="020B0604020202020204" pitchFamily="34" charset="0"/>
              </a:rPr>
              <a:t>To insert multiple documents in a single query</a:t>
            </a:r>
            <a:endParaRPr lang="en-US" sz="2000" dirty="0">
              <a:solidFill>
                <a:srgbClr val="FF0000"/>
              </a:solidFill>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z="2000" smtClean="0">
                <a:latin typeface="Arial" panose="020B0604020202020204" pitchFamily="34" charset="0"/>
                <a:cs typeface="Arial" panose="020B0604020202020204" pitchFamily="34" charset="0"/>
              </a:rPr>
              <a:t>01-09-2025</a:t>
            </a:fld>
            <a:endParaRPr lang="en-IN" sz="2000"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sz="2000" dirty="0" err="1">
                <a:latin typeface="Arial" panose="020B0604020202020204" pitchFamily="34" charset="0"/>
                <a:cs typeface="Arial" panose="020B0604020202020204" pitchFamily="34" charset="0"/>
              </a:rPr>
              <a:t>Dr.</a:t>
            </a:r>
            <a:r>
              <a:rPr lang="en-IN" sz="2000" dirty="0">
                <a:latin typeface="Arial" panose="020B0604020202020204" pitchFamily="34" charset="0"/>
                <a:cs typeface="Arial" panose="020B0604020202020204" pitchFamily="34" charset="0"/>
              </a:rPr>
              <a:t> S. </a:t>
            </a:r>
            <a:r>
              <a:rPr lang="en-IN" sz="2000" dirty="0" err="1">
                <a:latin typeface="Arial" panose="020B0604020202020204" pitchFamily="34" charset="0"/>
                <a:cs typeface="Arial" panose="020B0604020202020204" pitchFamily="34" charset="0"/>
              </a:rPr>
              <a:t>Gopikrishnan</a:t>
            </a:r>
            <a:endParaRPr lang="en-IN" sz="2000"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z="2000" smtClean="0">
                <a:latin typeface="Arial" panose="020B0604020202020204" pitchFamily="34" charset="0"/>
                <a:cs typeface="Arial" panose="020B0604020202020204" pitchFamily="34" charset="0"/>
              </a:rPr>
              <a:t>31</a:t>
            </a:fld>
            <a:endParaRPr lang="en-IN" sz="2000" dirty="0">
              <a:latin typeface="Arial" panose="020B0604020202020204" pitchFamily="34" charset="0"/>
              <a:cs typeface="Arial" panose="020B0604020202020204" pitchFamily="34" charset="0"/>
            </a:endParaRPr>
          </a:p>
        </p:txBody>
      </p:sp>
      <p:sp>
        <p:nvSpPr>
          <p:cNvPr id="10" name="Rectangle 2"/>
          <p:cNvSpPr>
            <a:spLocks noChangeArrowheads="1"/>
          </p:cNvSpPr>
          <p:nvPr/>
        </p:nvSpPr>
        <p:spPr bwMode="auto">
          <a:xfrm>
            <a:off x="812661" y="2336894"/>
            <a:ext cx="4182852" cy="3091882"/>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3174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&gt;</a:t>
            </a:r>
            <a:r>
              <a:rPr kumimoji="0" lang="en-US" altLang="en-US" sz="20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db</a:t>
            </a:r>
            <a:r>
              <a:rPr kumimoji="0" lang="en-US" altLang="en-US" sz="2000" b="0" i="0" u="none" strike="noStrike" cap="none" normalizeH="0" baseline="0" dirty="0" err="1">
                <a:ln>
                  <a:noFill/>
                </a:ln>
                <a:solidFill>
                  <a:srgbClr val="666600"/>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mycol</a:t>
            </a:r>
            <a:r>
              <a:rPr kumimoji="0" lang="en-US" altLang="en-US" sz="2000" b="0" i="0" u="none" strike="noStrike" cap="none" normalizeH="0" baseline="0" dirty="0" err="1">
                <a:ln>
                  <a:noFill/>
                </a:ln>
                <a:solidFill>
                  <a:srgbClr val="666600"/>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insert</a:t>
            </a:r>
            <a:r>
              <a:rPr kumimoji="0" lang="en-US" altLang="en-US" sz="2000"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p>
          <a:p>
            <a:pPr lvl="0" eaLnBrk="0" fontAlgn="base" hangingPunct="0">
              <a:spcBef>
                <a:spcPct val="0"/>
              </a:spcBef>
              <a:spcAft>
                <a:spcPct val="0"/>
              </a:spcAft>
            </a:pPr>
            <a:r>
              <a:rPr kumimoji="0" lang="en-US" altLang="en-US" sz="20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eid</a:t>
            </a:r>
            <a:r>
              <a:rPr kumimoji="0" lang="en-US" altLang="en-US" sz="2000"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lang="en-US" altLang="en-US" sz="2000" dirty="0">
                <a:solidFill>
                  <a:srgbClr val="008800"/>
                </a:solidFill>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8800"/>
                </a:solidFill>
                <a:effectLst/>
                <a:latin typeface="Courier New" panose="02070309020205020404" pitchFamily="49" charset="0"/>
                <a:cs typeface="Courier New" panose="02070309020205020404" pitchFamily="49" charset="0"/>
              </a:rPr>
              <a:t>12e123'</a:t>
            </a:r>
            <a:r>
              <a:rPr kumimoji="0" lang="en-US" altLang="en-US" sz="2000"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p>
          <a:p>
            <a:pPr lvl="0" eaLnBrk="0" fontAlgn="base" hangingPunct="0">
              <a:spcBef>
                <a:spcPct val="0"/>
              </a:spcBef>
              <a:spcAft>
                <a:spcPct val="0"/>
              </a:spcAft>
            </a:pP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name</a:t>
            </a:r>
            <a:r>
              <a:rPr kumimoji="0" lang="en-US" altLang="en-US" sz="2000"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lang="en-US" altLang="en-US" sz="2000" dirty="0">
                <a:solidFill>
                  <a:srgbClr val="008800"/>
                </a:solidFill>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8800"/>
                </a:solidFill>
                <a:effectLst/>
                <a:latin typeface="Courier New" panose="02070309020205020404" pitchFamily="49" charset="0"/>
                <a:cs typeface="Courier New" panose="02070309020205020404" pitchFamily="49" charset="0"/>
              </a:rPr>
              <a:t>Krishnan'</a:t>
            </a:r>
            <a:r>
              <a:rPr kumimoji="0" lang="en-US" altLang="en-US" sz="2000"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Salary</a:t>
            </a:r>
            <a:r>
              <a:rPr kumimoji="0" lang="en-US" altLang="en-US" sz="2000"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lang="en-US" altLang="en-US" sz="2000" dirty="0">
                <a:solidFill>
                  <a:srgbClr val="006666"/>
                </a:solidFill>
                <a:latin typeface="Courier New" panose="02070309020205020404" pitchFamily="49" charset="0"/>
                <a:cs typeface="Courier New" panose="02070309020205020404" pitchFamily="49" charset="0"/>
              </a:rPr>
              <a:t>50000</a:t>
            </a:r>
            <a:r>
              <a:rPr kumimoji="0" lang="en-US" altLang="en-US" sz="2000"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p>
          <a:p>
            <a:pPr lvl="0" eaLnBrk="0" fontAlgn="base" hangingPunct="0">
              <a:spcBef>
                <a:spcPct val="0"/>
              </a:spcBef>
              <a:spcAft>
                <a:spcPct val="0"/>
              </a:spcAft>
            </a:pP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tags</a:t>
            </a:r>
            <a:r>
              <a:rPr kumimoji="0" lang="en-US" altLang="en-US" sz="2000"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r>
              <a:rPr lang="en-US" altLang="en-US" sz="2000" dirty="0">
                <a:solidFill>
                  <a:srgbClr val="008800"/>
                </a:solidFill>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8800"/>
                </a:solidFill>
                <a:effectLst/>
                <a:latin typeface="Courier New" panose="02070309020205020404" pitchFamily="49" charset="0"/>
                <a:cs typeface="Courier New" panose="02070309020205020404" pitchFamily="49" charset="0"/>
              </a:rPr>
              <a:t>faculty'</a:t>
            </a:r>
            <a:r>
              <a:rPr kumimoji="0" lang="en-US" altLang="en-US" sz="2000"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p>
          <a:p>
            <a:pPr lvl="0" eaLnBrk="0" fontAlgn="base" hangingPunct="0">
              <a:spcBef>
                <a:spcPct val="0"/>
              </a:spcBef>
              <a:spcAft>
                <a:spcPct val="0"/>
              </a:spcAft>
            </a:pPr>
            <a:r>
              <a:rPr lang="en-US" altLang="en-US" sz="2000" dirty="0">
                <a:solidFill>
                  <a:srgbClr val="000000"/>
                </a:solidFill>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008800"/>
                </a:solidFill>
                <a:effectLst/>
                <a:latin typeface="Courier New" panose="02070309020205020404" pitchFamily="49" charset="0"/>
                <a:cs typeface="Courier New" panose="02070309020205020404" pitchFamily="49" charset="0"/>
              </a:rPr>
              <a:t>'database'</a:t>
            </a:r>
            <a:r>
              <a:rPr kumimoji="0" lang="en-US" altLang="en-US" sz="2000"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p>
          <a:p>
            <a:pPr lvl="0" eaLnBrk="0" fontAlgn="base" hangingPunct="0">
              <a:spcBef>
                <a:spcPct val="0"/>
              </a:spcBef>
              <a:spcAft>
                <a:spcPct val="0"/>
              </a:spcAft>
            </a:pPr>
            <a:r>
              <a:rPr lang="en-US" altLang="en-US" sz="2000" dirty="0">
                <a:solidFill>
                  <a:srgbClr val="000000"/>
                </a:solidFill>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008800"/>
                </a:solidFill>
                <a:effectLst/>
                <a:latin typeface="Courier New" panose="02070309020205020404" pitchFamily="49" charset="0"/>
                <a:cs typeface="Courier New" panose="02070309020205020404" pitchFamily="49" charset="0"/>
              </a:rPr>
              <a:t>'NoSQL'</a:t>
            </a:r>
            <a:r>
              <a:rPr kumimoji="0" lang="en-US" altLang="en-US" sz="2000"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likes</a:t>
            </a:r>
            <a:r>
              <a:rPr kumimoji="0" lang="en-US" altLang="en-US" sz="2000"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dirty="0">
                <a:ln>
                  <a:noFill/>
                </a:ln>
                <a:solidFill>
                  <a:srgbClr val="006666"/>
                </a:solidFill>
                <a:effectLst/>
                <a:latin typeface="Courier New" panose="02070309020205020404" pitchFamily="49" charset="0"/>
                <a:cs typeface="Courier New" panose="02070309020205020404" pitchFamily="49" charset="0"/>
              </a:rPr>
              <a:t>100</a:t>
            </a:r>
            <a:r>
              <a:rPr kumimoji="0" lang="en-US" altLang="en-US" sz="2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p>
        </p:txBody>
      </p:sp>
      <p:sp>
        <p:nvSpPr>
          <p:cNvPr id="11" name="Rectangle 2"/>
          <p:cNvSpPr>
            <a:spLocks noChangeArrowheads="1"/>
          </p:cNvSpPr>
          <p:nvPr/>
        </p:nvSpPr>
        <p:spPr bwMode="auto">
          <a:xfrm>
            <a:off x="5181727" y="2336894"/>
            <a:ext cx="6172073" cy="3091882"/>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3174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2000" dirty="0">
                <a:solidFill>
                  <a:srgbClr val="666600"/>
                </a:solidFill>
                <a:latin typeface="Courier New" panose="02070309020205020404" pitchFamily="49" charset="0"/>
                <a:cs typeface="Courier New" panose="02070309020205020404" pitchFamily="49" charset="0"/>
              </a:rPr>
              <a:t>{</a:t>
            </a:r>
            <a:r>
              <a:rPr lang="en-US" altLang="en-US" sz="2000" dirty="0">
                <a:solidFill>
                  <a:srgbClr val="000000"/>
                </a:solidFill>
                <a:latin typeface="Courier New" panose="02070309020205020404" pitchFamily="49" charset="0"/>
                <a:cs typeface="Courier New" panose="02070309020205020404" pitchFamily="49" charset="0"/>
              </a:rPr>
              <a:t> </a:t>
            </a:r>
          </a:p>
          <a:p>
            <a:pPr lvl="0" eaLnBrk="0" fontAlgn="base" hangingPunct="0">
              <a:spcBef>
                <a:spcPct val="0"/>
              </a:spcBef>
              <a:spcAft>
                <a:spcPct val="0"/>
              </a:spcAft>
            </a:pPr>
            <a:r>
              <a:rPr lang="en-US" altLang="en-US" sz="2000" dirty="0" err="1">
                <a:solidFill>
                  <a:srgbClr val="000000"/>
                </a:solidFill>
                <a:latin typeface="Courier New" panose="02070309020205020404" pitchFamily="49" charset="0"/>
                <a:cs typeface="Courier New" panose="02070309020205020404" pitchFamily="49" charset="0"/>
              </a:rPr>
              <a:t>eid</a:t>
            </a:r>
            <a:r>
              <a:rPr lang="en-US" altLang="en-US" sz="2000" dirty="0">
                <a:solidFill>
                  <a:srgbClr val="666600"/>
                </a:solidFill>
                <a:latin typeface="Courier New" panose="02070309020205020404" pitchFamily="49" charset="0"/>
                <a:cs typeface="Courier New" panose="02070309020205020404" pitchFamily="49" charset="0"/>
              </a:rPr>
              <a:t>:</a:t>
            </a: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a:solidFill>
                  <a:srgbClr val="008800"/>
                </a:solidFill>
                <a:latin typeface="Courier New" panose="02070309020205020404" pitchFamily="49" charset="0"/>
                <a:cs typeface="Courier New" panose="02070309020205020404" pitchFamily="49" charset="0"/>
              </a:rPr>
              <a:t>'12e143'</a:t>
            </a:r>
            <a:r>
              <a:rPr lang="en-US" altLang="en-US" sz="2000" dirty="0">
                <a:solidFill>
                  <a:srgbClr val="666600"/>
                </a:solidFill>
                <a:latin typeface="Courier New" panose="02070309020205020404" pitchFamily="49" charset="0"/>
                <a:cs typeface="Courier New" panose="02070309020205020404" pitchFamily="49" charset="0"/>
              </a:rPr>
              <a:t>,</a:t>
            </a:r>
            <a:r>
              <a:rPr lang="en-US" altLang="en-US" sz="2000" dirty="0">
                <a:solidFill>
                  <a:srgbClr val="000000"/>
                </a:solidFill>
                <a:latin typeface="Courier New" panose="02070309020205020404" pitchFamily="49" charset="0"/>
                <a:cs typeface="Courier New" panose="02070309020205020404" pitchFamily="49" charset="0"/>
              </a:rPr>
              <a:t> </a:t>
            </a:r>
          </a:p>
          <a:p>
            <a:pPr lvl="0" eaLnBrk="0" fontAlgn="base" hangingPunct="0">
              <a:spcBef>
                <a:spcPct val="0"/>
              </a:spcBef>
              <a:spcAft>
                <a:spcPct val="0"/>
              </a:spcAft>
            </a:pPr>
            <a:r>
              <a:rPr lang="en-US" altLang="en-US" sz="2000" dirty="0">
                <a:solidFill>
                  <a:srgbClr val="000000"/>
                </a:solidFill>
                <a:latin typeface="Courier New" panose="02070309020205020404" pitchFamily="49" charset="0"/>
                <a:cs typeface="Courier New" panose="02070309020205020404" pitchFamily="49" charset="0"/>
              </a:rPr>
              <a:t>name</a:t>
            </a:r>
            <a:r>
              <a:rPr lang="en-US" altLang="en-US" sz="2000" dirty="0">
                <a:solidFill>
                  <a:srgbClr val="666600"/>
                </a:solidFill>
                <a:latin typeface="Courier New" panose="02070309020205020404" pitchFamily="49" charset="0"/>
                <a:cs typeface="Courier New" panose="02070309020205020404" pitchFamily="49" charset="0"/>
              </a:rPr>
              <a:t>:</a:t>
            </a: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a:solidFill>
                  <a:srgbClr val="008800"/>
                </a:solidFill>
                <a:latin typeface="Courier New" panose="02070309020205020404" pitchFamily="49" charset="0"/>
                <a:cs typeface="Courier New" panose="02070309020205020404" pitchFamily="49" charset="0"/>
              </a:rPr>
              <a:t>‘</a:t>
            </a:r>
            <a:r>
              <a:rPr lang="en-US" altLang="en-US" sz="2000" dirty="0" err="1">
                <a:solidFill>
                  <a:srgbClr val="008800"/>
                </a:solidFill>
                <a:latin typeface="Courier New" panose="02070309020205020404" pitchFamily="49" charset="0"/>
                <a:cs typeface="Courier New" panose="02070309020205020404" pitchFamily="49" charset="0"/>
              </a:rPr>
              <a:t>Madhan</a:t>
            </a:r>
            <a:r>
              <a:rPr lang="en-US" altLang="en-US" sz="2000" dirty="0">
                <a:solidFill>
                  <a:srgbClr val="008800"/>
                </a:solidFill>
                <a:latin typeface="Courier New" panose="02070309020205020404" pitchFamily="49" charset="0"/>
                <a:cs typeface="Courier New" panose="02070309020205020404" pitchFamily="49" charset="0"/>
              </a:rPr>
              <a:t>'</a:t>
            </a:r>
            <a:r>
              <a:rPr lang="en-US" altLang="en-US" sz="2000" dirty="0">
                <a:solidFill>
                  <a:srgbClr val="666600"/>
                </a:solidFill>
                <a:latin typeface="Courier New" panose="02070309020205020404" pitchFamily="49" charset="0"/>
                <a:cs typeface="Courier New" panose="02070309020205020404" pitchFamily="49" charset="0"/>
              </a:rPr>
              <a:t>,</a:t>
            </a:r>
            <a:r>
              <a:rPr lang="en-US" altLang="en-US" sz="2000" dirty="0">
                <a:solidFill>
                  <a:srgbClr val="000000"/>
                </a:solidFill>
                <a:latin typeface="Courier New" panose="02070309020205020404" pitchFamily="49" charset="0"/>
                <a:cs typeface="Courier New" panose="02070309020205020404" pitchFamily="49" charset="0"/>
              </a:rPr>
              <a:t> </a:t>
            </a:r>
          </a:p>
          <a:p>
            <a:pPr lvl="0" eaLnBrk="0" fontAlgn="base" hangingPunct="0">
              <a:spcBef>
                <a:spcPct val="0"/>
              </a:spcBef>
              <a:spcAft>
                <a:spcPct val="0"/>
              </a:spcAft>
            </a:pPr>
            <a:r>
              <a:rPr lang="en-US" altLang="en-US" sz="2000" dirty="0">
                <a:solidFill>
                  <a:srgbClr val="000000"/>
                </a:solidFill>
                <a:latin typeface="Courier New" panose="02070309020205020404" pitchFamily="49" charset="0"/>
                <a:cs typeface="Courier New" panose="02070309020205020404" pitchFamily="49" charset="0"/>
              </a:rPr>
              <a:t>Salary</a:t>
            </a:r>
            <a:r>
              <a:rPr lang="en-US" altLang="en-US" sz="2000" dirty="0">
                <a:solidFill>
                  <a:srgbClr val="666600"/>
                </a:solidFill>
                <a:latin typeface="Courier New" panose="02070309020205020404" pitchFamily="49" charset="0"/>
                <a:cs typeface="Courier New" panose="02070309020205020404" pitchFamily="49" charset="0"/>
              </a:rPr>
              <a:t>:</a:t>
            </a: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a:solidFill>
                  <a:srgbClr val="006666"/>
                </a:solidFill>
                <a:latin typeface="Courier New" panose="02070309020205020404" pitchFamily="49" charset="0"/>
                <a:cs typeface="Courier New" panose="02070309020205020404" pitchFamily="49" charset="0"/>
              </a:rPr>
              <a:t>40000</a:t>
            </a:r>
            <a:r>
              <a:rPr lang="en-US" altLang="en-US" sz="2000" dirty="0">
                <a:solidFill>
                  <a:srgbClr val="666600"/>
                </a:solidFill>
                <a:latin typeface="Courier New" panose="02070309020205020404" pitchFamily="49" charset="0"/>
                <a:cs typeface="Courier New" panose="02070309020205020404" pitchFamily="49" charset="0"/>
              </a:rPr>
              <a:t>,</a:t>
            </a:r>
            <a:r>
              <a:rPr lang="en-US" altLang="en-US" sz="2000" dirty="0">
                <a:solidFill>
                  <a:srgbClr val="000000"/>
                </a:solidFill>
                <a:latin typeface="Courier New" panose="02070309020205020404" pitchFamily="49" charset="0"/>
                <a:cs typeface="Courier New" panose="02070309020205020404" pitchFamily="49" charset="0"/>
              </a:rPr>
              <a:t> </a:t>
            </a:r>
          </a:p>
          <a:p>
            <a:pPr lvl="0" eaLnBrk="0" fontAlgn="base" hangingPunct="0">
              <a:spcBef>
                <a:spcPct val="0"/>
              </a:spcBef>
              <a:spcAft>
                <a:spcPct val="0"/>
              </a:spcAft>
            </a:pPr>
            <a:r>
              <a:rPr lang="en-US" altLang="en-US" sz="2000" dirty="0">
                <a:solidFill>
                  <a:srgbClr val="000000"/>
                </a:solidFill>
                <a:latin typeface="Courier New" panose="02070309020205020404" pitchFamily="49" charset="0"/>
                <a:cs typeface="Courier New" panose="02070309020205020404" pitchFamily="49" charset="0"/>
              </a:rPr>
              <a:t>tags</a:t>
            </a:r>
            <a:r>
              <a:rPr lang="en-US" altLang="en-US" sz="2000" dirty="0">
                <a:solidFill>
                  <a:srgbClr val="666600"/>
                </a:solidFill>
                <a:latin typeface="Courier New" panose="02070309020205020404" pitchFamily="49" charset="0"/>
                <a:cs typeface="Courier New" panose="02070309020205020404" pitchFamily="49" charset="0"/>
              </a:rPr>
              <a:t>:</a:t>
            </a: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a:solidFill>
                  <a:srgbClr val="666600"/>
                </a:solidFill>
                <a:latin typeface="Courier New" panose="02070309020205020404" pitchFamily="49" charset="0"/>
                <a:cs typeface="Courier New" panose="02070309020205020404" pitchFamily="49" charset="0"/>
              </a:rPr>
              <a:t>[</a:t>
            </a:r>
            <a:r>
              <a:rPr lang="en-US" altLang="en-US" sz="2000" dirty="0">
                <a:solidFill>
                  <a:srgbClr val="008800"/>
                </a:solidFill>
                <a:latin typeface="Courier New" panose="02070309020205020404" pitchFamily="49" charset="0"/>
                <a:cs typeface="Courier New" panose="02070309020205020404" pitchFamily="49" charset="0"/>
              </a:rPr>
              <a:t>'faculty'</a:t>
            </a:r>
            <a:r>
              <a:rPr lang="en-US" altLang="en-US" sz="2000" dirty="0">
                <a:solidFill>
                  <a:srgbClr val="666600"/>
                </a:solidFill>
                <a:latin typeface="Courier New" panose="02070309020205020404" pitchFamily="49" charset="0"/>
                <a:cs typeface="Courier New" panose="02070309020205020404" pitchFamily="49" charset="0"/>
              </a:rPr>
              <a:t>,</a:t>
            </a: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a:solidFill>
                  <a:srgbClr val="008800"/>
                </a:solidFill>
                <a:latin typeface="Courier New" panose="02070309020205020404" pitchFamily="49" charset="0"/>
                <a:cs typeface="Courier New" panose="02070309020205020404" pitchFamily="49" charset="0"/>
              </a:rPr>
              <a:t>'database'</a:t>
            </a:r>
            <a:r>
              <a:rPr lang="en-US" altLang="en-US" sz="2000" dirty="0">
                <a:solidFill>
                  <a:srgbClr val="666600"/>
                </a:solidFill>
                <a:latin typeface="Courier New" panose="02070309020205020404" pitchFamily="49" charset="0"/>
                <a:cs typeface="Courier New" panose="02070309020205020404" pitchFamily="49" charset="0"/>
              </a:rPr>
              <a:t>,</a:t>
            </a: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a:solidFill>
                  <a:srgbClr val="008800"/>
                </a:solidFill>
                <a:latin typeface="Courier New" panose="02070309020205020404" pitchFamily="49" charset="0"/>
                <a:cs typeface="Courier New" panose="02070309020205020404" pitchFamily="49" charset="0"/>
              </a:rPr>
              <a:t>'NoSQL'</a:t>
            </a:r>
            <a:r>
              <a:rPr lang="en-US" altLang="en-US" sz="2000" dirty="0">
                <a:solidFill>
                  <a:srgbClr val="666600"/>
                </a:solidFill>
                <a:latin typeface="Courier New" panose="02070309020205020404" pitchFamily="49" charset="0"/>
                <a:cs typeface="Courier New" panose="02070309020205020404" pitchFamily="49" charset="0"/>
              </a:rPr>
              <a:t>],</a:t>
            </a:r>
            <a:r>
              <a:rPr lang="en-US" altLang="en-US" sz="2000" dirty="0">
                <a:solidFill>
                  <a:srgbClr val="000000"/>
                </a:solidFill>
                <a:latin typeface="Courier New" panose="02070309020205020404" pitchFamily="49" charset="0"/>
                <a:cs typeface="Courier New" panose="02070309020205020404" pitchFamily="49" charset="0"/>
              </a:rPr>
              <a:t> </a:t>
            </a:r>
          </a:p>
          <a:p>
            <a:pPr lvl="0" eaLnBrk="0" fontAlgn="base" hangingPunct="0">
              <a:spcBef>
                <a:spcPct val="0"/>
              </a:spcBef>
              <a:spcAft>
                <a:spcPct val="0"/>
              </a:spcAft>
            </a:pPr>
            <a:r>
              <a:rPr lang="en-US" altLang="en-US" sz="2000" dirty="0">
                <a:solidFill>
                  <a:srgbClr val="000000"/>
                </a:solidFill>
                <a:latin typeface="Courier New" panose="02070309020205020404" pitchFamily="49" charset="0"/>
                <a:cs typeface="Courier New" panose="02070309020205020404" pitchFamily="49" charset="0"/>
              </a:rPr>
              <a:t>address:[ {	street</a:t>
            </a:r>
            <a:r>
              <a:rPr lang="en-US" altLang="en-US" sz="2000" dirty="0">
                <a:solidFill>
                  <a:srgbClr val="666600"/>
                </a:solidFill>
                <a:latin typeface="Courier New" panose="02070309020205020404" pitchFamily="49" charset="0"/>
                <a:cs typeface="Courier New" panose="02070309020205020404" pitchFamily="49" charset="0"/>
              </a:rPr>
              <a:t>:</a:t>
            </a: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a:solidFill>
                  <a:srgbClr val="008800"/>
                </a:solidFill>
                <a:latin typeface="Courier New" panose="02070309020205020404" pitchFamily="49" charset="0"/>
                <a:cs typeface="Courier New" panose="02070309020205020404" pitchFamily="49" charset="0"/>
              </a:rPr>
              <a:t>‘</a:t>
            </a:r>
            <a:r>
              <a:rPr lang="en-US" altLang="en-US" sz="2000" dirty="0" err="1">
                <a:solidFill>
                  <a:srgbClr val="008800"/>
                </a:solidFill>
                <a:latin typeface="Courier New" panose="02070309020205020404" pitchFamily="49" charset="0"/>
                <a:cs typeface="Courier New" panose="02070309020205020404" pitchFamily="49" charset="0"/>
              </a:rPr>
              <a:t>kk</a:t>
            </a:r>
            <a:r>
              <a:rPr lang="en-US" altLang="en-US" sz="2000" dirty="0">
                <a:solidFill>
                  <a:srgbClr val="008800"/>
                </a:solidFill>
                <a:latin typeface="Courier New" panose="02070309020205020404" pitchFamily="49" charset="0"/>
                <a:cs typeface="Courier New" panose="02070309020205020404" pitchFamily="49" charset="0"/>
              </a:rPr>
              <a:t> </a:t>
            </a:r>
            <a:r>
              <a:rPr lang="en-US" altLang="en-US" sz="2000" dirty="0" err="1">
                <a:solidFill>
                  <a:srgbClr val="008800"/>
                </a:solidFill>
                <a:latin typeface="Courier New" panose="02070309020205020404" pitchFamily="49" charset="0"/>
                <a:cs typeface="Courier New" panose="02070309020205020404" pitchFamily="49" charset="0"/>
              </a:rPr>
              <a:t>nagar</a:t>
            </a:r>
            <a:r>
              <a:rPr lang="en-US" altLang="en-US" sz="2000" dirty="0">
                <a:solidFill>
                  <a:srgbClr val="008800"/>
                </a:solidFill>
                <a:latin typeface="Courier New" panose="02070309020205020404" pitchFamily="49" charset="0"/>
                <a:cs typeface="Courier New" panose="02070309020205020404" pitchFamily="49" charset="0"/>
              </a:rPr>
              <a:t>'</a:t>
            </a:r>
            <a:r>
              <a:rPr lang="en-US" altLang="en-US" sz="2000" dirty="0">
                <a:solidFill>
                  <a:srgbClr val="666600"/>
                </a:solidFill>
                <a:latin typeface="Courier New" panose="02070309020205020404" pitchFamily="49" charset="0"/>
                <a:cs typeface="Courier New" panose="02070309020205020404" pitchFamily="49" charset="0"/>
              </a:rPr>
              <a:t>,</a:t>
            </a:r>
            <a:r>
              <a:rPr lang="en-US" altLang="en-US" sz="2000" dirty="0">
                <a:solidFill>
                  <a:srgbClr val="000000"/>
                </a:solidFill>
                <a:latin typeface="Courier New" panose="02070309020205020404" pitchFamily="49" charset="0"/>
                <a:cs typeface="Courier New" panose="02070309020205020404" pitchFamily="49" charset="0"/>
              </a:rPr>
              <a:t> </a:t>
            </a:r>
          </a:p>
          <a:p>
            <a:pPr lvl="0" eaLnBrk="0" fontAlgn="base" hangingPunct="0">
              <a:spcBef>
                <a:spcPct val="0"/>
              </a:spcBef>
              <a:spcAft>
                <a:spcPct val="0"/>
              </a:spcAft>
            </a:pPr>
            <a:r>
              <a:rPr lang="en-US" altLang="en-US" sz="2000" dirty="0">
                <a:solidFill>
                  <a:srgbClr val="000000"/>
                </a:solidFill>
                <a:latin typeface="Courier New" panose="02070309020205020404" pitchFamily="49" charset="0"/>
                <a:cs typeface="Courier New" panose="02070309020205020404" pitchFamily="49" charset="0"/>
              </a:rPr>
              <a:t>		city</a:t>
            </a:r>
            <a:r>
              <a:rPr lang="en-US" altLang="en-US" sz="2000" dirty="0">
                <a:solidFill>
                  <a:srgbClr val="666600"/>
                </a:solidFill>
                <a:latin typeface="Courier New" panose="02070309020205020404" pitchFamily="49" charset="0"/>
                <a:cs typeface="Courier New" panose="02070309020205020404" pitchFamily="49" charset="0"/>
              </a:rPr>
              <a:t>:</a:t>
            </a: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a:solidFill>
                  <a:srgbClr val="008800"/>
                </a:solidFill>
                <a:latin typeface="Courier New" panose="02070309020205020404" pitchFamily="49" charset="0"/>
                <a:cs typeface="Courier New" panose="02070309020205020404" pitchFamily="49" charset="0"/>
              </a:rPr>
              <a:t>‘</a:t>
            </a:r>
            <a:r>
              <a:rPr lang="en-US" altLang="en-US" sz="2000" dirty="0" err="1">
                <a:solidFill>
                  <a:srgbClr val="008800"/>
                </a:solidFill>
                <a:latin typeface="Courier New" panose="02070309020205020404" pitchFamily="49" charset="0"/>
                <a:cs typeface="Courier New" panose="02070309020205020404" pitchFamily="49" charset="0"/>
              </a:rPr>
              <a:t>chennai</a:t>
            </a:r>
            <a:r>
              <a:rPr lang="en-US" altLang="en-US" sz="2000" dirty="0">
                <a:solidFill>
                  <a:srgbClr val="008800"/>
                </a:solidFill>
                <a:latin typeface="Courier New" panose="02070309020205020404" pitchFamily="49" charset="0"/>
                <a:cs typeface="Courier New" panose="02070309020205020404" pitchFamily="49" charset="0"/>
              </a:rPr>
              <a:t>'</a:t>
            </a:r>
            <a:r>
              <a:rPr lang="en-US" altLang="en-US" sz="2000" dirty="0">
                <a:solidFill>
                  <a:srgbClr val="666600"/>
                </a:solidFill>
                <a:latin typeface="Courier New" panose="02070309020205020404" pitchFamily="49" charset="0"/>
                <a:cs typeface="Courier New" panose="02070309020205020404" pitchFamily="49" charset="0"/>
              </a:rPr>
              <a:t>,</a:t>
            </a:r>
            <a:r>
              <a:rPr lang="en-US" altLang="en-US" sz="2000" dirty="0">
                <a:solidFill>
                  <a:srgbClr val="000000"/>
                </a:solidFill>
                <a:latin typeface="Courier New" panose="02070309020205020404" pitchFamily="49" charset="0"/>
                <a:cs typeface="Courier New" panose="02070309020205020404" pitchFamily="49" charset="0"/>
              </a:rPr>
              <a:t> </a:t>
            </a:r>
          </a:p>
          <a:p>
            <a:pPr lvl="0" eaLnBrk="0" fontAlgn="base" hangingPunct="0">
              <a:spcBef>
                <a:spcPct val="0"/>
              </a:spcBef>
              <a:spcAft>
                <a:spcPct val="0"/>
              </a:spcAft>
            </a:pPr>
            <a:r>
              <a:rPr lang="en-US" altLang="en-US" sz="2000" dirty="0">
                <a:solidFill>
                  <a:srgbClr val="000000"/>
                </a:solidFill>
                <a:latin typeface="Courier New" panose="02070309020205020404" pitchFamily="49" charset="0"/>
                <a:cs typeface="Courier New" panose="02070309020205020404" pitchFamily="49" charset="0"/>
              </a:rPr>
              <a:t>		pin</a:t>
            </a:r>
            <a:r>
              <a:rPr lang="en-US" altLang="en-US" sz="2000" dirty="0">
                <a:solidFill>
                  <a:srgbClr val="666600"/>
                </a:solidFill>
                <a:latin typeface="Courier New" panose="02070309020205020404" pitchFamily="49" charset="0"/>
                <a:cs typeface="Courier New" panose="02070309020205020404" pitchFamily="49" charset="0"/>
              </a:rPr>
              <a:t>:</a:t>
            </a: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a:solidFill>
                  <a:srgbClr val="006666"/>
                </a:solidFill>
                <a:latin typeface="Courier New" panose="02070309020205020404" pitchFamily="49" charset="0"/>
                <a:cs typeface="Courier New" panose="02070309020205020404" pitchFamily="49" charset="0"/>
              </a:rPr>
              <a:t>600045 } ]</a:t>
            </a:r>
            <a:endParaRPr lang="en-US" altLang="en-US" sz="2000" dirty="0">
              <a:solidFill>
                <a:srgbClr val="000000"/>
              </a:solidFill>
              <a:latin typeface="Courier New" panose="02070309020205020404" pitchFamily="49" charset="0"/>
              <a:cs typeface="Courier New" panose="02070309020205020404" pitchFamily="49" charset="0"/>
            </a:endParaRPr>
          </a:p>
          <a:p>
            <a:pPr lvl="0" eaLnBrk="0" fontAlgn="base" hangingPunct="0">
              <a:spcBef>
                <a:spcPct val="0"/>
              </a:spcBef>
              <a:spcAft>
                <a:spcPct val="0"/>
              </a:spcAft>
            </a:pPr>
            <a:r>
              <a:rPr lang="en-US" altLang="en-US" sz="2000" dirty="0">
                <a:solidFill>
                  <a:srgbClr val="666600"/>
                </a:solidFill>
                <a:latin typeface="Courier New" panose="02070309020205020404" pitchFamily="49" charset="0"/>
                <a:cs typeface="Courier New" panose="02070309020205020404" pitchFamily="49" charset="0"/>
              </a:rPr>
              <a:t>}</a:t>
            </a:r>
            <a:endParaRPr kumimoji="0" lang="en-US" altLang="en-US" sz="2000"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666600"/>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chemeClr val="tx1"/>
                </a:solidFill>
                <a:effectLst/>
              </a:rPr>
              <a:t> </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158266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find() Method</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10000"/>
              </a:lnSpc>
              <a:spcBef>
                <a:spcPts val="0"/>
              </a:spcBef>
              <a:buNone/>
            </a:pPr>
            <a:r>
              <a:rPr lang="en-US" sz="2000" dirty="0">
                <a:latin typeface="Arial" panose="020B0604020202020204" pitchFamily="34" charset="0"/>
                <a:cs typeface="Arial" panose="020B0604020202020204" pitchFamily="34" charset="0"/>
              </a:rPr>
              <a:t>To query data from MongoDB collection, you need to use MongoDB's find() method.</a:t>
            </a:r>
          </a:p>
          <a:p>
            <a:pPr marL="0" indent="0">
              <a:lnSpc>
                <a:spcPct val="110000"/>
              </a:lnSpc>
              <a:spcBef>
                <a:spcPts val="0"/>
              </a:spcBef>
              <a:buNone/>
            </a:pPr>
            <a:endParaRPr lang="en-US" sz="2000" dirty="0">
              <a:latin typeface="Arial" panose="020B0604020202020204" pitchFamily="34" charset="0"/>
              <a:cs typeface="Arial" panose="020B0604020202020204" pitchFamily="34" charset="0"/>
            </a:endParaRPr>
          </a:p>
          <a:p>
            <a:pPr marL="0" indent="0">
              <a:lnSpc>
                <a:spcPct val="110000"/>
              </a:lnSpc>
              <a:spcBef>
                <a:spcPts val="0"/>
              </a:spcBef>
              <a:buNone/>
            </a:pPr>
            <a:r>
              <a:rPr lang="en-US" sz="2000" dirty="0">
                <a:latin typeface="Arial" panose="020B0604020202020204" pitchFamily="34" charset="0"/>
                <a:cs typeface="Arial" panose="020B0604020202020204" pitchFamily="34" charset="0"/>
              </a:rPr>
              <a:t>Syntax</a:t>
            </a:r>
          </a:p>
          <a:p>
            <a:pPr marL="0" indent="0">
              <a:lnSpc>
                <a:spcPct val="110000"/>
              </a:lnSpc>
              <a:spcBef>
                <a:spcPts val="0"/>
              </a:spcBef>
              <a:buNone/>
            </a:pPr>
            <a:r>
              <a:rPr lang="en-US" sz="2000" dirty="0">
                <a:latin typeface="Arial" panose="020B0604020202020204" pitchFamily="34" charset="0"/>
                <a:cs typeface="Arial" panose="020B0604020202020204" pitchFamily="34" charset="0"/>
              </a:rPr>
              <a:t>The basic syntax of find() method is as follows:</a:t>
            </a:r>
          </a:p>
          <a:p>
            <a:pPr marL="0" indent="0">
              <a:lnSpc>
                <a:spcPct val="110000"/>
              </a:lnSpc>
              <a:spcBef>
                <a:spcPts val="0"/>
              </a:spcBef>
              <a:buNone/>
            </a:pPr>
            <a:r>
              <a:rPr lang="en-US" sz="2000" dirty="0">
                <a:latin typeface="Arial" panose="020B0604020202020204" pitchFamily="34" charset="0"/>
                <a:cs typeface="Arial" panose="020B0604020202020204" pitchFamily="34" charset="0"/>
              </a:rPr>
              <a:t>	</a:t>
            </a:r>
            <a:r>
              <a:rPr lang="en-US" sz="2000" dirty="0">
                <a:solidFill>
                  <a:srgbClr val="FF0000"/>
                </a:solidFill>
                <a:latin typeface="Arial" panose="020B0604020202020204" pitchFamily="34" charset="0"/>
                <a:cs typeface="Arial" panose="020B0604020202020204" pitchFamily="34" charset="0"/>
              </a:rPr>
              <a:t>&gt;</a:t>
            </a:r>
            <a:r>
              <a:rPr lang="en-US" sz="2000" dirty="0" err="1">
                <a:solidFill>
                  <a:srgbClr val="FF0000"/>
                </a:solidFill>
                <a:latin typeface="Arial" panose="020B0604020202020204" pitchFamily="34" charset="0"/>
                <a:cs typeface="Arial" panose="020B0604020202020204" pitchFamily="34" charset="0"/>
              </a:rPr>
              <a:t>db.COLLECTION_NAME.find</a:t>
            </a:r>
            <a:r>
              <a:rPr lang="en-US" sz="2000" dirty="0">
                <a:solidFill>
                  <a:srgbClr val="FF0000"/>
                </a:solidFill>
                <a:latin typeface="Arial" panose="020B0604020202020204" pitchFamily="34" charset="0"/>
                <a:cs typeface="Arial" panose="020B0604020202020204" pitchFamily="34" charset="0"/>
              </a:rPr>
              <a:t>()</a:t>
            </a:r>
          </a:p>
          <a:p>
            <a:pPr marL="0" indent="0">
              <a:lnSpc>
                <a:spcPct val="110000"/>
              </a:lnSpc>
              <a:spcBef>
                <a:spcPts val="0"/>
              </a:spcBef>
              <a:buNone/>
            </a:pPr>
            <a:endParaRPr lang="en-US" sz="2000" dirty="0">
              <a:latin typeface="Arial" panose="020B0604020202020204" pitchFamily="34" charset="0"/>
              <a:cs typeface="Arial" panose="020B0604020202020204" pitchFamily="34" charset="0"/>
            </a:endParaRPr>
          </a:p>
          <a:p>
            <a:pPr marL="0" indent="0">
              <a:lnSpc>
                <a:spcPct val="110000"/>
              </a:lnSpc>
              <a:spcBef>
                <a:spcPts val="0"/>
              </a:spcBef>
              <a:buNone/>
            </a:pPr>
            <a:r>
              <a:rPr lang="en-US" sz="2000" dirty="0">
                <a:latin typeface="Arial" panose="020B0604020202020204" pitchFamily="34" charset="0"/>
                <a:cs typeface="Arial" panose="020B0604020202020204" pitchFamily="34" charset="0"/>
              </a:rPr>
              <a:t>find() method will display all the documents in a non-structured way.</a:t>
            </a:r>
          </a:p>
          <a:p>
            <a:pPr marL="0" indent="0">
              <a:lnSpc>
                <a:spcPct val="110000"/>
              </a:lnSpc>
              <a:spcBef>
                <a:spcPts val="0"/>
              </a:spcBef>
              <a:buNone/>
            </a:pPr>
            <a:endParaRPr lang="en-US" sz="2000" b="1" dirty="0">
              <a:latin typeface="Arial" panose="020B0604020202020204" pitchFamily="34" charset="0"/>
              <a:cs typeface="Arial" panose="020B0604020202020204" pitchFamily="34" charset="0"/>
            </a:endParaRPr>
          </a:p>
          <a:p>
            <a:pPr marL="0" indent="0">
              <a:lnSpc>
                <a:spcPct val="110000"/>
              </a:lnSpc>
              <a:spcBef>
                <a:spcPts val="0"/>
              </a:spcBef>
              <a:buNone/>
            </a:pPr>
            <a:r>
              <a:rPr lang="en-US" sz="2000" b="1" dirty="0">
                <a:latin typeface="Arial" panose="020B0604020202020204" pitchFamily="34" charset="0"/>
                <a:cs typeface="Arial" panose="020B0604020202020204" pitchFamily="34" charset="0"/>
              </a:rPr>
              <a:t>The pretty() Method</a:t>
            </a:r>
          </a:p>
          <a:p>
            <a:pPr marL="0" indent="0">
              <a:lnSpc>
                <a:spcPct val="110000"/>
              </a:lnSpc>
              <a:spcBef>
                <a:spcPts val="0"/>
              </a:spcBef>
              <a:buNone/>
            </a:pPr>
            <a:r>
              <a:rPr lang="en-US" sz="2000" dirty="0">
                <a:latin typeface="Arial" panose="020B0604020202020204" pitchFamily="34" charset="0"/>
                <a:cs typeface="Arial" panose="020B0604020202020204" pitchFamily="34" charset="0"/>
              </a:rPr>
              <a:t>To display the results in a formatted way, you can use pretty() method.</a:t>
            </a:r>
          </a:p>
          <a:p>
            <a:pPr marL="0" indent="0">
              <a:lnSpc>
                <a:spcPct val="110000"/>
              </a:lnSpc>
              <a:spcBef>
                <a:spcPts val="0"/>
              </a:spcBef>
              <a:buNone/>
            </a:pPr>
            <a:endParaRPr lang="en-US" sz="2000" dirty="0">
              <a:latin typeface="Arial" panose="020B0604020202020204" pitchFamily="34" charset="0"/>
              <a:cs typeface="Arial" panose="020B0604020202020204" pitchFamily="34" charset="0"/>
            </a:endParaRPr>
          </a:p>
          <a:p>
            <a:pPr marL="0" indent="0">
              <a:lnSpc>
                <a:spcPct val="110000"/>
              </a:lnSpc>
              <a:spcBef>
                <a:spcPts val="0"/>
              </a:spcBef>
              <a:buNone/>
            </a:pPr>
            <a:r>
              <a:rPr lang="en-US" sz="2000" dirty="0">
                <a:latin typeface="Arial" panose="020B0604020202020204" pitchFamily="34" charset="0"/>
                <a:cs typeface="Arial" panose="020B0604020202020204" pitchFamily="34" charset="0"/>
              </a:rPr>
              <a:t>Syntax</a:t>
            </a:r>
          </a:p>
          <a:p>
            <a:pPr marL="0" indent="0">
              <a:lnSpc>
                <a:spcPct val="110000"/>
              </a:lnSpc>
              <a:spcBef>
                <a:spcPts val="0"/>
              </a:spcBef>
              <a:buNone/>
            </a:pPr>
            <a:r>
              <a:rPr lang="en-US" sz="2000" dirty="0">
                <a:latin typeface="Arial" panose="020B0604020202020204" pitchFamily="34" charset="0"/>
                <a:cs typeface="Arial" panose="020B0604020202020204" pitchFamily="34" charset="0"/>
              </a:rPr>
              <a:t>	</a:t>
            </a:r>
            <a:r>
              <a:rPr lang="en-US" sz="2000" dirty="0">
                <a:solidFill>
                  <a:srgbClr val="FF0000"/>
                </a:solidFill>
                <a:latin typeface="Arial" panose="020B0604020202020204" pitchFamily="34" charset="0"/>
                <a:cs typeface="Arial" panose="020B0604020202020204" pitchFamily="34" charset="0"/>
              </a:rPr>
              <a:t>&gt;</a:t>
            </a:r>
            <a:r>
              <a:rPr lang="en-US" sz="2000" dirty="0" err="1">
                <a:solidFill>
                  <a:srgbClr val="FF0000"/>
                </a:solidFill>
                <a:latin typeface="Arial" panose="020B0604020202020204" pitchFamily="34" charset="0"/>
                <a:cs typeface="Arial" panose="020B0604020202020204" pitchFamily="34" charset="0"/>
              </a:rPr>
              <a:t>db.mycol.find</a:t>
            </a:r>
            <a:r>
              <a:rPr lang="en-US" sz="2000" dirty="0">
                <a:solidFill>
                  <a:srgbClr val="FF0000"/>
                </a:solidFill>
                <a:latin typeface="Arial" panose="020B0604020202020204" pitchFamily="34" charset="0"/>
                <a:cs typeface="Arial" panose="020B0604020202020204" pitchFamily="34" charset="0"/>
              </a:rPr>
              <a:t>().pretty()</a:t>
            </a:r>
          </a:p>
        </p:txBody>
      </p:sp>
      <p:sp>
        <p:nvSpPr>
          <p:cNvPr id="7" name="Date Placeholder 6"/>
          <p:cNvSpPr>
            <a:spLocks noGrp="1"/>
          </p:cNvSpPr>
          <p:nvPr>
            <p:ph type="dt" sz="half" idx="10"/>
          </p:nvPr>
        </p:nvSpPr>
        <p:spPr/>
        <p:txBody>
          <a:bodyPr/>
          <a:lstStyle/>
          <a:p>
            <a:fld id="{2F25C4A8-1BA0-468A-B855-2EFA71CD0C96}" type="datetime1">
              <a:rPr lang="en-IN" sz="2000" smtClean="0">
                <a:latin typeface="Arial" panose="020B0604020202020204" pitchFamily="34" charset="0"/>
                <a:cs typeface="Arial" panose="020B0604020202020204" pitchFamily="34" charset="0"/>
              </a:rPr>
              <a:t>01-09-2025</a:t>
            </a:fld>
            <a:endParaRPr lang="en-IN" sz="2000"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sz="2000" dirty="0" err="1">
                <a:latin typeface="Arial" panose="020B0604020202020204" pitchFamily="34" charset="0"/>
                <a:cs typeface="Arial" panose="020B0604020202020204" pitchFamily="34" charset="0"/>
              </a:rPr>
              <a:t>Dr.</a:t>
            </a:r>
            <a:r>
              <a:rPr lang="en-IN" sz="2000" dirty="0">
                <a:latin typeface="Arial" panose="020B0604020202020204" pitchFamily="34" charset="0"/>
                <a:cs typeface="Arial" panose="020B0604020202020204" pitchFamily="34" charset="0"/>
              </a:rPr>
              <a:t> S. </a:t>
            </a:r>
            <a:r>
              <a:rPr lang="en-IN" sz="2000" dirty="0" err="1">
                <a:latin typeface="Arial" panose="020B0604020202020204" pitchFamily="34" charset="0"/>
                <a:cs typeface="Arial" panose="020B0604020202020204" pitchFamily="34" charset="0"/>
              </a:rPr>
              <a:t>Gopikrishnan</a:t>
            </a:r>
            <a:endParaRPr lang="en-IN" sz="2000"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z="2000" smtClean="0">
                <a:latin typeface="Arial" panose="020B0604020202020204" pitchFamily="34" charset="0"/>
                <a:cs typeface="Arial" panose="020B0604020202020204" pitchFamily="34" charset="0"/>
              </a:rPr>
              <a:t>32</a:t>
            </a:fld>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591069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Where Clause in MongoDB</a:t>
            </a:r>
            <a:endParaRPr lang="en-IN" sz="3200" b="1" u="sng" dirty="0">
              <a:solidFill>
                <a:srgbClr val="0070C0"/>
              </a:solidFill>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z="2000" smtClean="0">
                <a:latin typeface="Arial" panose="020B0604020202020204" pitchFamily="34" charset="0"/>
                <a:cs typeface="Arial" panose="020B0604020202020204" pitchFamily="34" charset="0"/>
              </a:rPr>
              <a:t>01-09-2025</a:t>
            </a:fld>
            <a:endParaRPr lang="en-IN" sz="2000"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sz="2000" dirty="0" err="1">
                <a:latin typeface="Arial" panose="020B0604020202020204" pitchFamily="34" charset="0"/>
                <a:cs typeface="Arial" panose="020B0604020202020204" pitchFamily="34" charset="0"/>
              </a:rPr>
              <a:t>Dr.</a:t>
            </a:r>
            <a:r>
              <a:rPr lang="en-IN" sz="2000" dirty="0">
                <a:latin typeface="Arial" panose="020B0604020202020204" pitchFamily="34" charset="0"/>
                <a:cs typeface="Arial" panose="020B0604020202020204" pitchFamily="34" charset="0"/>
              </a:rPr>
              <a:t> S. </a:t>
            </a:r>
            <a:r>
              <a:rPr lang="en-IN" sz="2000" dirty="0" err="1">
                <a:latin typeface="Arial" panose="020B0604020202020204" pitchFamily="34" charset="0"/>
                <a:cs typeface="Arial" panose="020B0604020202020204" pitchFamily="34" charset="0"/>
              </a:rPr>
              <a:t>Gopikrishnan</a:t>
            </a:r>
            <a:endParaRPr lang="en-IN" sz="2000"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z="2000" smtClean="0">
                <a:latin typeface="Arial" panose="020B0604020202020204" pitchFamily="34" charset="0"/>
                <a:cs typeface="Arial" panose="020B0604020202020204" pitchFamily="34" charset="0"/>
              </a:rPr>
              <a:t>33</a:t>
            </a:fld>
            <a:endParaRPr lang="en-IN" sz="2000" dirty="0">
              <a:latin typeface="Arial" panose="020B0604020202020204" pitchFamily="34" charset="0"/>
              <a:cs typeface="Arial" panose="020B06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1158181925"/>
              </p:ext>
            </p:extLst>
          </p:nvPr>
        </p:nvGraphicFramePr>
        <p:xfrm>
          <a:off x="838200" y="1690688"/>
          <a:ext cx="10515600" cy="4426511"/>
        </p:xfrm>
        <a:graphic>
          <a:graphicData uri="http://schemas.openxmlformats.org/drawingml/2006/table">
            <a:tbl>
              <a:tblPr/>
              <a:tblGrid>
                <a:gridCol w="1606617">
                  <a:extLst>
                    <a:ext uri="{9D8B030D-6E8A-4147-A177-3AD203B41FA5}">
                      <a16:colId xmlns:a16="http://schemas.microsoft.com/office/drawing/2014/main" val="938209267"/>
                    </a:ext>
                  </a:extLst>
                </a:gridCol>
                <a:gridCol w="2685448">
                  <a:extLst>
                    <a:ext uri="{9D8B030D-6E8A-4147-A177-3AD203B41FA5}">
                      <a16:colId xmlns:a16="http://schemas.microsoft.com/office/drawing/2014/main" val="4186574518"/>
                    </a:ext>
                  </a:extLst>
                </a:gridCol>
                <a:gridCol w="3676851">
                  <a:extLst>
                    <a:ext uri="{9D8B030D-6E8A-4147-A177-3AD203B41FA5}">
                      <a16:colId xmlns:a16="http://schemas.microsoft.com/office/drawing/2014/main" val="63808066"/>
                    </a:ext>
                  </a:extLst>
                </a:gridCol>
                <a:gridCol w="2546684">
                  <a:extLst>
                    <a:ext uri="{9D8B030D-6E8A-4147-A177-3AD203B41FA5}">
                      <a16:colId xmlns:a16="http://schemas.microsoft.com/office/drawing/2014/main" val="1391356976"/>
                    </a:ext>
                  </a:extLst>
                </a:gridCol>
              </a:tblGrid>
              <a:tr h="400781">
                <a:tc>
                  <a:txBody>
                    <a:bodyPr/>
                    <a:lstStyle/>
                    <a:p>
                      <a:pPr algn="ctr" fontAlgn="t"/>
                      <a:r>
                        <a:rPr lang="en-IN" sz="2000">
                          <a:solidFill>
                            <a:schemeClr val="tx1"/>
                          </a:solidFill>
                          <a:effectLst/>
                          <a:latin typeface="Arial" panose="020B0604020202020204" pitchFamily="34" charset="0"/>
                          <a:cs typeface="Arial" panose="020B0604020202020204" pitchFamily="34" charset="0"/>
                        </a:rPr>
                        <a:t>Operation</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t"/>
                      <a:r>
                        <a:rPr lang="en-IN" sz="2000" dirty="0">
                          <a:solidFill>
                            <a:schemeClr val="tx1"/>
                          </a:solidFill>
                          <a:effectLst/>
                          <a:latin typeface="Arial" panose="020B0604020202020204" pitchFamily="34" charset="0"/>
                          <a:cs typeface="Arial" panose="020B0604020202020204" pitchFamily="34" charset="0"/>
                        </a:rPr>
                        <a:t>Syntax</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t"/>
                      <a:r>
                        <a:rPr lang="en-IN" sz="2000">
                          <a:solidFill>
                            <a:schemeClr val="tx1"/>
                          </a:solidFill>
                          <a:effectLst/>
                          <a:latin typeface="Arial" panose="020B0604020202020204" pitchFamily="34" charset="0"/>
                          <a:cs typeface="Arial" panose="020B0604020202020204" pitchFamily="34" charset="0"/>
                        </a:rPr>
                        <a:t>Example</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t"/>
                      <a:r>
                        <a:rPr lang="en-IN" sz="2000">
                          <a:solidFill>
                            <a:schemeClr val="tx1"/>
                          </a:solidFill>
                          <a:effectLst/>
                          <a:latin typeface="Arial" panose="020B0604020202020204" pitchFamily="34" charset="0"/>
                          <a:cs typeface="Arial" panose="020B0604020202020204" pitchFamily="34" charset="0"/>
                        </a:rPr>
                        <a:t>RDBMS Equivalent</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9232471"/>
                  </a:ext>
                </a:extLst>
              </a:tr>
              <a:tr h="757520">
                <a:tc>
                  <a:txBody>
                    <a:bodyPr/>
                    <a:lstStyle/>
                    <a:p>
                      <a:pPr fontAlgn="t"/>
                      <a:r>
                        <a:rPr lang="en-IN" sz="2000">
                          <a:solidFill>
                            <a:schemeClr val="tx1"/>
                          </a:solidFill>
                          <a:effectLst/>
                          <a:latin typeface="Arial" panose="020B0604020202020204" pitchFamily="34" charset="0"/>
                          <a:cs typeface="Arial" panose="020B0604020202020204" pitchFamily="34" charset="0"/>
                        </a:rPr>
                        <a:t>Equality</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000" dirty="0">
                          <a:solidFill>
                            <a:schemeClr val="tx1"/>
                          </a:solidFill>
                          <a:effectLst/>
                          <a:latin typeface="Arial" panose="020B0604020202020204" pitchFamily="34" charset="0"/>
                          <a:cs typeface="Arial" panose="020B0604020202020204" pitchFamily="34" charset="0"/>
                        </a:rPr>
                        <a:t>{&lt;key&gt;:&lt;value&gt;}</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2000" dirty="0" err="1">
                          <a:solidFill>
                            <a:schemeClr val="tx1"/>
                          </a:solidFill>
                          <a:effectLst/>
                          <a:latin typeface="Arial" panose="020B0604020202020204" pitchFamily="34" charset="0"/>
                          <a:cs typeface="Arial" panose="020B0604020202020204" pitchFamily="34" charset="0"/>
                        </a:rPr>
                        <a:t>db.mycol.find</a:t>
                      </a:r>
                      <a:r>
                        <a:rPr lang="en-US" sz="2000" dirty="0">
                          <a:solidFill>
                            <a:schemeClr val="tx1"/>
                          </a:solidFill>
                          <a:effectLst/>
                          <a:latin typeface="Arial" panose="020B0604020202020204" pitchFamily="34" charset="0"/>
                          <a:cs typeface="Arial" panose="020B0604020202020204" pitchFamily="34" charset="0"/>
                        </a:rPr>
                        <a:t>({"</a:t>
                      </a:r>
                      <a:r>
                        <a:rPr lang="en-US" sz="2000" dirty="0" err="1">
                          <a:solidFill>
                            <a:schemeClr val="tx1"/>
                          </a:solidFill>
                          <a:effectLst/>
                          <a:latin typeface="Arial" panose="020B0604020202020204" pitchFamily="34" charset="0"/>
                          <a:cs typeface="Arial" panose="020B0604020202020204" pitchFamily="34" charset="0"/>
                        </a:rPr>
                        <a:t>by":”vit</a:t>
                      </a:r>
                      <a:r>
                        <a:rPr lang="en-US" sz="2000" dirty="0">
                          <a:solidFill>
                            <a:schemeClr val="tx1"/>
                          </a:solidFill>
                          <a:effectLst/>
                          <a:latin typeface="Arial" panose="020B0604020202020204" pitchFamily="34" charset="0"/>
                          <a:cs typeface="Arial" panose="020B0604020202020204" pitchFamily="34" charset="0"/>
                        </a:rPr>
                        <a:t>”}).pretty()</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000" dirty="0">
                          <a:solidFill>
                            <a:schemeClr val="tx1"/>
                          </a:solidFill>
                          <a:effectLst/>
                          <a:latin typeface="Arial" panose="020B0604020202020204" pitchFamily="34" charset="0"/>
                          <a:cs typeface="Arial" panose="020B0604020202020204" pitchFamily="34" charset="0"/>
                        </a:rPr>
                        <a:t>where by = ‘vit’</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8970272"/>
                  </a:ext>
                </a:extLst>
              </a:tr>
              <a:tr h="638607">
                <a:tc>
                  <a:txBody>
                    <a:bodyPr/>
                    <a:lstStyle/>
                    <a:p>
                      <a:pPr fontAlgn="t"/>
                      <a:r>
                        <a:rPr lang="en-IN" sz="2000" dirty="0">
                          <a:solidFill>
                            <a:schemeClr val="tx1"/>
                          </a:solidFill>
                          <a:effectLst/>
                          <a:latin typeface="Arial" panose="020B0604020202020204" pitchFamily="34" charset="0"/>
                          <a:cs typeface="Arial" panose="020B0604020202020204" pitchFamily="34" charset="0"/>
                        </a:rPr>
                        <a:t>Less Than</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000">
                          <a:solidFill>
                            <a:schemeClr val="tx1"/>
                          </a:solidFill>
                          <a:effectLst/>
                          <a:latin typeface="Arial" panose="020B0604020202020204" pitchFamily="34" charset="0"/>
                          <a:cs typeface="Arial" panose="020B0604020202020204" pitchFamily="34" charset="0"/>
                        </a:rPr>
                        <a:t>{&lt;key&gt;:{$lt:&lt;value&gt;}}</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000" dirty="0" err="1">
                          <a:solidFill>
                            <a:schemeClr val="tx1"/>
                          </a:solidFill>
                          <a:effectLst/>
                          <a:latin typeface="Arial" panose="020B0604020202020204" pitchFamily="34" charset="0"/>
                          <a:cs typeface="Arial" panose="020B0604020202020204" pitchFamily="34" charset="0"/>
                        </a:rPr>
                        <a:t>db.mycol.find</a:t>
                      </a:r>
                      <a:r>
                        <a:rPr lang="en-IN" sz="2000" dirty="0">
                          <a:solidFill>
                            <a:schemeClr val="tx1"/>
                          </a:solidFill>
                          <a:effectLst/>
                          <a:latin typeface="Arial" panose="020B0604020202020204" pitchFamily="34" charset="0"/>
                          <a:cs typeface="Arial" panose="020B0604020202020204" pitchFamily="34" charset="0"/>
                        </a:rPr>
                        <a:t>({"likes":{$lt:50}}).pretty()</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000">
                          <a:solidFill>
                            <a:schemeClr val="tx1"/>
                          </a:solidFill>
                          <a:effectLst/>
                          <a:latin typeface="Arial" panose="020B0604020202020204" pitchFamily="34" charset="0"/>
                          <a:cs typeface="Arial" panose="020B0604020202020204" pitchFamily="34" charset="0"/>
                        </a:rPr>
                        <a:t>where likes &lt; 50</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4198530"/>
                  </a:ext>
                </a:extLst>
              </a:tr>
              <a:tr h="638607">
                <a:tc>
                  <a:txBody>
                    <a:bodyPr/>
                    <a:lstStyle/>
                    <a:p>
                      <a:pPr fontAlgn="t"/>
                      <a:r>
                        <a:rPr lang="en-IN" sz="2000">
                          <a:solidFill>
                            <a:schemeClr val="tx1"/>
                          </a:solidFill>
                          <a:effectLst/>
                          <a:latin typeface="Arial" panose="020B0604020202020204" pitchFamily="34" charset="0"/>
                          <a:cs typeface="Arial" panose="020B0604020202020204" pitchFamily="34" charset="0"/>
                        </a:rPr>
                        <a:t>Less Than Equals</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000" dirty="0">
                          <a:solidFill>
                            <a:schemeClr val="tx1"/>
                          </a:solidFill>
                          <a:effectLst/>
                          <a:latin typeface="Arial" panose="020B0604020202020204" pitchFamily="34" charset="0"/>
                          <a:cs typeface="Arial" panose="020B0604020202020204" pitchFamily="34" charset="0"/>
                        </a:rPr>
                        <a:t>{&lt;key&gt;:{$</a:t>
                      </a:r>
                      <a:r>
                        <a:rPr lang="en-IN" sz="2000" dirty="0" err="1">
                          <a:solidFill>
                            <a:schemeClr val="tx1"/>
                          </a:solidFill>
                          <a:effectLst/>
                          <a:latin typeface="Arial" panose="020B0604020202020204" pitchFamily="34" charset="0"/>
                          <a:cs typeface="Arial" panose="020B0604020202020204" pitchFamily="34" charset="0"/>
                        </a:rPr>
                        <a:t>lte</a:t>
                      </a:r>
                      <a:r>
                        <a:rPr lang="en-IN" sz="2000" dirty="0">
                          <a:solidFill>
                            <a:schemeClr val="tx1"/>
                          </a:solidFill>
                          <a:effectLst/>
                          <a:latin typeface="Arial" panose="020B0604020202020204" pitchFamily="34" charset="0"/>
                          <a:cs typeface="Arial" panose="020B0604020202020204" pitchFamily="34" charset="0"/>
                        </a:rPr>
                        <a:t>:&lt;value&gt;}}</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000">
                          <a:solidFill>
                            <a:schemeClr val="tx1"/>
                          </a:solidFill>
                          <a:effectLst/>
                          <a:latin typeface="Arial" panose="020B0604020202020204" pitchFamily="34" charset="0"/>
                          <a:cs typeface="Arial" panose="020B0604020202020204" pitchFamily="34" charset="0"/>
                        </a:rPr>
                        <a:t>db.mycol.find({"likes":{$lte:50}}).pretty()</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000">
                          <a:solidFill>
                            <a:schemeClr val="tx1"/>
                          </a:solidFill>
                          <a:effectLst/>
                          <a:latin typeface="Arial" panose="020B0604020202020204" pitchFamily="34" charset="0"/>
                          <a:cs typeface="Arial" panose="020B0604020202020204" pitchFamily="34" charset="0"/>
                        </a:rPr>
                        <a:t>where likes &lt;= 50</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3650871"/>
                  </a:ext>
                </a:extLst>
              </a:tr>
              <a:tr h="638607">
                <a:tc>
                  <a:txBody>
                    <a:bodyPr/>
                    <a:lstStyle/>
                    <a:p>
                      <a:pPr fontAlgn="t"/>
                      <a:r>
                        <a:rPr lang="en-IN" sz="2000">
                          <a:solidFill>
                            <a:schemeClr val="tx1"/>
                          </a:solidFill>
                          <a:effectLst/>
                          <a:latin typeface="Arial" panose="020B0604020202020204" pitchFamily="34" charset="0"/>
                          <a:cs typeface="Arial" panose="020B0604020202020204" pitchFamily="34" charset="0"/>
                        </a:rPr>
                        <a:t>Greater Than</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000">
                          <a:solidFill>
                            <a:schemeClr val="tx1"/>
                          </a:solidFill>
                          <a:effectLst/>
                          <a:latin typeface="Arial" panose="020B0604020202020204" pitchFamily="34" charset="0"/>
                          <a:cs typeface="Arial" panose="020B0604020202020204" pitchFamily="34" charset="0"/>
                        </a:rPr>
                        <a:t>{&lt;key&gt;:{$gt:&lt;value&gt;}}</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000">
                          <a:solidFill>
                            <a:schemeClr val="tx1"/>
                          </a:solidFill>
                          <a:effectLst/>
                          <a:latin typeface="Arial" panose="020B0604020202020204" pitchFamily="34" charset="0"/>
                          <a:cs typeface="Arial" panose="020B0604020202020204" pitchFamily="34" charset="0"/>
                        </a:rPr>
                        <a:t>db.mycol.find({"likes":{$gt:50}}).pretty()</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000">
                          <a:solidFill>
                            <a:schemeClr val="tx1"/>
                          </a:solidFill>
                          <a:effectLst/>
                          <a:latin typeface="Arial" panose="020B0604020202020204" pitchFamily="34" charset="0"/>
                          <a:cs typeface="Arial" panose="020B0604020202020204" pitchFamily="34" charset="0"/>
                        </a:rPr>
                        <a:t>where likes &gt; 50</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2050417"/>
                  </a:ext>
                </a:extLst>
              </a:tr>
              <a:tr h="638607">
                <a:tc>
                  <a:txBody>
                    <a:bodyPr/>
                    <a:lstStyle/>
                    <a:p>
                      <a:pPr fontAlgn="t"/>
                      <a:r>
                        <a:rPr lang="en-IN" sz="2000">
                          <a:solidFill>
                            <a:schemeClr val="tx1"/>
                          </a:solidFill>
                          <a:effectLst/>
                          <a:latin typeface="Arial" panose="020B0604020202020204" pitchFamily="34" charset="0"/>
                          <a:cs typeface="Arial" panose="020B0604020202020204" pitchFamily="34" charset="0"/>
                        </a:rPr>
                        <a:t>Greater Than Equals</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000">
                          <a:solidFill>
                            <a:schemeClr val="tx1"/>
                          </a:solidFill>
                          <a:effectLst/>
                          <a:latin typeface="Arial" panose="020B0604020202020204" pitchFamily="34" charset="0"/>
                          <a:cs typeface="Arial" panose="020B0604020202020204" pitchFamily="34" charset="0"/>
                        </a:rPr>
                        <a:t>{&lt;key&gt;:{$gte:&lt;value&gt;}}</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000">
                          <a:solidFill>
                            <a:schemeClr val="tx1"/>
                          </a:solidFill>
                          <a:effectLst/>
                          <a:latin typeface="Arial" panose="020B0604020202020204" pitchFamily="34" charset="0"/>
                          <a:cs typeface="Arial" panose="020B0604020202020204" pitchFamily="34" charset="0"/>
                        </a:rPr>
                        <a:t>db.mycol.find({"likes":{$gte:50}}).pretty()</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000">
                          <a:solidFill>
                            <a:schemeClr val="tx1"/>
                          </a:solidFill>
                          <a:effectLst/>
                          <a:latin typeface="Arial" panose="020B0604020202020204" pitchFamily="34" charset="0"/>
                          <a:cs typeface="Arial" panose="020B0604020202020204" pitchFamily="34" charset="0"/>
                        </a:rPr>
                        <a:t>where likes &gt;= 50</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59787950"/>
                  </a:ext>
                </a:extLst>
              </a:tr>
              <a:tr h="638607">
                <a:tc>
                  <a:txBody>
                    <a:bodyPr/>
                    <a:lstStyle/>
                    <a:p>
                      <a:pPr fontAlgn="t"/>
                      <a:r>
                        <a:rPr lang="en-IN" sz="2000">
                          <a:solidFill>
                            <a:schemeClr val="tx1"/>
                          </a:solidFill>
                          <a:effectLst/>
                          <a:latin typeface="Arial" panose="020B0604020202020204" pitchFamily="34" charset="0"/>
                          <a:cs typeface="Arial" panose="020B0604020202020204" pitchFamily="34" charset="0"/>
                        </a:rPr>
                        <a:t>Not Equals</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000">
                          <a:solidFill>
                            <a:schemeClr val="tx1"/>
                          </a:solidFill>
                          <a:effectLst/>
                          <a:latin typeface="Arial" panose="020B0604020202020204" pitchFamily="34" charset="0"/>
                          <a:cs typeface="Arial" panose="020B0604020202020204" pitchFamily="34" charset="0"/>
                        </a:rPr>
                        <a:t>{&lt;key&gt;:{$ne:&lt;value&gt;}}</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000">
                          <a:solidFill>
                            <a:schemeClr val="tx1"/>
                          </a:solidFill>
                          <a:effectLst/>
                          <a:latin typeface="Arial" panose="020B0604020202020204" pitchFamily="34" charset="0"/>
                          <a:cs typeface="Arial" panose="020B0604020202020204" pitchFamily="34" charset="0"/>
                        </a:rPr>
                        <a:t>db.mycol.find({"likes":{$ne:50}}).pretty()</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IN" sz="2000" dirty="0">
                          <a:solidFill>
                            <a:schemeClr val="tx1"/>
                          </a:solidFill>
                          <a:effectLst/>
                          <a:latin typeface="Arial" panose="020B0604020202020204" pitchFamily="34" charset="0"/>
                          <a:cs typeface="Arial" panose="020B0604020202020204" pitchFamily="34" charset="0"/>
                        </a:rPr>
                        <a:t>where likes != 50</a:t>
                      </a:r>
                    </a:p>
                  </a:txBody>
                  <a:tcPr marL="22021" marR="22021" marT="22021" marB="2202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0621473"/>
                  </a:ext>
                </a:extLst>
              </a:tr>
            </a:tbl>
          </a:graphicData>
        </a:graphic>
      </p:graphicFrame>
    </p:spTree>
    <p:extLst>
      <p:ext uri="{BB962C8B-B14F-4D97-AF65-F5344CB8AC3E}">
        <p14:creationId xmlns:p14="http://schemas.microsoft.com/office/powerpoint/2010/main" val="12537253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AND, OR in MongoDB</a:t>
            </a:r>
          </a:p>
        </p:txBody>
      </p:sp>
      <p:sp>
        <p:nvSpPr>
          <p:cNvPr id="3" name="Content Placeholder 2"/>
          <p:cNvSpPr>
            <a:spLocks noGrp="1"/>
          </p:cNvSpPr>
          <p:nvPr>
            <p:ph idx="1"/>
          </p:nvPr>
        </p:nvSpPr>
        <p:spPr>
          <a:xfrm>
            <a:off x="838200" y="1690688"/>
            <a:ext cx="4340192" cy="4486275"/>
          </a:xfrm>
        </p:spPr>
        <p:txBody>
          <a:bodyPr>
            <a:noAutofit/>
          </a:bodyPr>
          <a:lstStyle/>
          <a:p>
            <a:pPr marL="0" indent="0">
              <a:lnSpc>
                <a:spcPct val="110000"/>
              </a:lnSpc>
              <a:spcBef>
                <a:spcPts val="0"/>
              </a:spcBef>
              <a:buNone/>
            </a:pPr>
            <a:r>
              <a:rPr lang="en-US" sz="2000" dirty="0">
                <a:latin typeface="Arial" panose="020B0604020202020204" pitchFamily="34" charset="0"/>
                <a:cs typeface="Arial" panose="020B0604020202020204" pitchFamily="34" charset="0"/>
              </a:rPr>
              <a:t>&gt;</a:t>
            </a:r>
            <a:r>
              <a:rPr lang="en-US" sz="2000" dirty="0" err="1">
                <a:latin typeface="Arial" panose="020B0604020202020204" pitchFamily="34" charset="0"/>
                <a:cs typeface="Arial" panose="020B0604020202020204" pitchFamily="34" charset="0"/>
              </a:rPr>
              <a:t>db.mycol.find</a:t>
            </a:r>
            <a:r>
              <a:rPr lang="en-US" sz="2000" dirty="0">
                <a:latin typeface="Arial" panose="020B0604020202020204" pitchFamily="34" charset="0"/>
                <a:cs typeface="Arial" panose="020B0604020202020204" pitchFamily="34" charset="0"/>
              </a:rPr>
              <a:t>(</a:t>
            </a:r>
          </a:p>
          <a:p>
            <a:pPr marL="0" indent="0">
              <a:lnSpc>
                <a:spcPct val="110000"/>
              </a:lnSpc>
              <a:spcBef>
                <a:spcPts val="0"/>
              </a:spcBef>
              <a:buNone/>
            </a:pPr>
            <a:r>
              <a:rPr lang="en-US" sz="2000" dirty="0">
                <a:latin typeface="Arial" panose="020B0604020202020204" pitchFamily="34" charset="0"/>
                <a:cs typeface="Arial" panose="020B0604020202020204" pitchFamily="34" charset="0"/>
              </a:rPr>
              <a:t>   {</a:t>
            </a:r>
          </a:p>
          <a:p>
            <a:pPr marL="0" indent="0">
              <a:lnSpc>
                <a:spcPct val="110000"/>
              </a:lnSpc>
              <a:spcBef>
                <a:spcPts val="0"/>
              </a:spcBef>
              <a:buNone/>
            </a:pPr>
            <a:r>
              <a:rPr lang="en-US" sz="2000" dirty="0">
                <a:latin typeface="Arial" panose="020B0604020202020204" pitchFamily="34" charset="0"/>
                <a:cs typeface="Arial" panose="020B0604020202020204" pitchFamily="34" charset="0"/>
              </a:rPr>
              <a:t>      $and: [</a:t>
            </a:r>
          </a:p>
          <a:p>
            <a:pPr marL="0" indent="0">
              <a:lnSpc>
                <a:spcPct val="110000"/>
              </a:lnSpc>
              <a:spcBef>
                <a:spcPts val="0"/>
              </a:spcBef>
              <a:buNone/>
            </a:pPr>
            <a:r>
              <a:rPr lang="en-US" sz="2000" dirty="0">
                <a:latin typeface="Arial" panose="020B0604020202020204" pitchFamily="34" charset="0"/>
                <a:cs typeface="Arial" panose="020B0604020202020204" pitchFamily="34" charset="0"/>
              </a:rPr>
              <a:t>         {key1: value1}, {key2:value2}</a:t>
            </a:r>
          </a:p>
          <a:p>
            <a:pPr marL="0" indent="0">
              <a:lnSpc>
                <a:spcPct val="110000"/>
              </a:lnSpc>
              <a:spcBef>
                <a:spcPts val="0"/>
              </a:spcBef>
              <a:buNone/>
            </a:pPr>
            <a:r>
              <a:rPr lang="en-US" sz="2000" dirty="0">
                <a:latin typeface="Arial" panose="020B0604020202020204" pitchFamily="34" charset="0"/>
                <a:cs typeface="Arial" panose="020B0604020202020204" pitchFamily="34" charset="0"/>
              </a:rPr>
              <a:t>      ]</a:t>
            </a:r>
          </a:p>
          <a:p>
            <a:pPr marL="0" indent="0">
              <a:lnSpc>
                <a:spcPct val="110000"/>
              </a:lnSpc>
              <a:spcBef>
                <a:spcPts val="0"/>
              </a:spcBef>
              <a:buNone/>
            </a:pPr>
            <a:r>
              <a:rPr lang="en-US" sz="2000" dirty="0">
                <a:latin typeface="Arial" panose="020B0604020202020204" pitchFamily="34" charset="0"/>
                <a:cs typeface="Arial" panose="020B0604020202020204" pitchFamily="34" charset="0"/>
              </a:rPr>
              <a:t>   }</a:t>
            </a:r>
          </a:p>
          <a:p>
            <a:pPr marL="0" indent="0">
              <a:lnSpc>
                <a:spcPct val="110000"/>
              </a:lnSpc>
              <a:spcBef>
                <a:spcPts val="0"/>
              </a:spcBef>
              <a:buNone/>
            </a:pPr>
            <a:r>
              <a:rPr lang="en-US" sz="2000" dirty="0">
                <a:latin typeface="Arial" panose="020B0604020202020204" pitchFamily="34" charset="0"/>
                <a:cs typeface="Arial" panose="020B0604020202020204" pitchFamily="34" charset="0"/>
              </a:rPr>
              <a:t>).pretty()</a:t>
            </a:r>
            <a:endParaRPr lang="en-US" sz="2000" dirty="0">
              <a:solidFill>
                <a:srgbClr val="FF0000"/>
              </a:solidFill>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z="2000" smtClean="0">
                <a:latin typeface="Arial" panose="020B0604020202020204" pitchFamily="34" charset="0"/>
                <a:cs typeface="Arial" panose="020B0604020202020204" pitchFamily="34" charset="0"/>
              </a:rPr>
              <a:t>01-09-2025</a:t>
            </a:fld>
            <a:endParaRPr lang="en-IN" sz="2000"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sz="2000" dirty="0" err="1">
                <a:latin typeface="Arial" panose="020B0604020202020204" pitchFamily="34" charset="0"/>
                <a:cs typeface="Arial" panose="020B0604020202020204" pitchFamily="34" charset="0"/>
              </a:rPr>
              <a:t>Dr.</a:t>
            </a:r>
            <a:r>
              <a:rPr lang="en-IN" sz="2000" dirty="0">
                <a:latin typeface="Arial" panose="020B0604020202020204" pitchFamily="34" charset="0"/>
                <a:cs typeface="Arial" panose="020B0604020202020204" pitchFamily="34" charset="0"/>
              </a:rPr>
              <a:t> S. </a:t>
            </a:r>
            <a:r>
              <a:rPr lang="en-IN" sz="2000" dirty="0" err="1">
                <a:latin typeface="Arial" panose="020B0604020202020204" pitchFamily="34" charset="0"/>
                <a:cs typeface="Arial" panose="020B0604020202020204" pitchFamily="34" charset="0"/>
              </a:rPr>
              <a:t>Gopikrishnan</a:t>
            </a:r>
            <a:endParaRPr lang="en-IN" sz="2000"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z="2000" smtClean="0">
                <a:latin typeface="Arial" panose="020B0604020202020204" pitchFamily="34" charset="0"/>
                <a:cs typeface="Arial" panose="020B0604020202020204" pitchFamily="34" charset="0"/>
              </a:rPr>
              <a:t>34</a:t>
            </a:fld>
            <a:endParaRPr lang="en-IN" sz="2000" dirty="0">
              <a:latin typeface="Arial" panose="020B0604020202020204" pitchFamily="34" charset="0"/>
              <a:cs typeface="Arial" panose="020B0604020202020204" pitchFamily="34" charset="0"/>
            </a:endParaRPr>
          </a:p>
        </p:txBody>
      </p:sp>
      <p:sp>
        <p:nvSpPr>
          <p:cNvPr id="10" name="Content Placeholder 2"/>
          <p:cNvSpPr txBox="1">
            <a:spLocks/>
          </p:cNvSpPr>
          <p:nvPr/>
        </p:nvSpPr>
        <p:spPr>
          <a:xfrm>
            <a:off x="6285297" y="1690687"/>
            <a:ext cx="4340192" cy="448627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0"/>
              </a:spcBef>
              <a:buNone/>
            </a:pPr>
            <a:r>
              <a:rPr lang="en-US" sz="2000" dirty="0">
                <a:latin typeface="Arial" panose="020B0604020202020204" pitchFamily="34" charset="0"/>
                <a:cs typeface="Arial" panose="020B0604020202020204" pitchFamily="34" charset="0"/>
              </a:rPr>
              <a:t>&gt;</a:t>
            </a:r>
            <a:r>
              <a:rPr lang="en-US" sz="2000" dirty="0" err="1">
                <a:latin typeface="Arial" panose="020B0604020202020204" pitchFamily="34" charset="0"/>
                <a:cs typeface="Arial" panose="020B0604020202020204" pitchFamily="34" charset="0"/>
              </a:rPr>
              <a:t>db.mycol.find</a:t>
            </a:r>
            <a:r>
              <a:rPr lang="en-US" sz="2000" dirty="0">
                <a:latin typeface="Arial" panose="020B0604020202020204" pitchFamily="34" charset="0"/>
                <a:cs typeface="Arial" panose="020B0604020202020204" pitchFamily="34" charset="0"/>
              </a:rPr>
              <a:t>(</a:t>
            </a:r>
          </a:p>
          <a:p>
            <a:pPr marL="0" indent="0">
              <a:lnSpc>
                <a:spcPct val="110000"/>
              </a:lnSpc>
              <a:spcBef>
                <a:spcPts val="0"/>
              </a:spcBef>
              <a:buNone/>
            </a:pPr>
            <a:r>
              <a:rPr lang="en-US" sz="2000" dirty="0">
                <a:latin typeface="Arial" panose="020B0604020202020204" pitchFamily="34" charset="0"/>
                <a:cs typeface="Arial" panose="020B0604020202020204" pitchFamily="34" charset="0"/>
              </a:rPr>
              <a:t>   {</a:t>
            </a:r>
          </a:p>
          <a:p>
            <a:pPr marL="0" indent="0">
              <a:lnSpc>
                <a:spcPct val="110000"/>
              </a:lnSpc>
              <a:spcBef>
                <a:spcPts val="0"/>
              </a:spcBef>
              <a:buNone/>
            </a:pPr>
            <a:r>
              <a:rPr lang="en-US" sz="2000" dirty="0">
                <a:latin typeface="Arial" panose="020B0604020202020204" pitchFamily="34" charset="0"/>
                <a:cs typeface="Arial" panose="020B0604020202020204" pitchFamily="34" charset="0"/>
              </a:rPr>
              <a:t>      $or: [</a:t>
            </a:r>
          </a:p>
          <a:p>
            <a:pPr marL="0" indent="0">
              <a:lnSpc>
                <a:spcPct val="110000"/>
              </a:lnSpc>
              <a:spcBef>
                <a:spcPts val="0"/>
              </a:spcBef>
              <a:buNone/>
            </a:pPr>
            <a:r>
              <a:rPr lang="en-US" sz="2000" dirty="0">
                <a:latin typeface="Arial" panose="020B0604020202020204" pitchFamily="34" charset="0"/>
                <a:cs typeface="Arial" panose="020B0604020202020204" pitchFamily="34" charset="0"/>
              </a:rPr>
              <a:t>         {key1: value1}, {key2:value2}</a:t>
            </a:r>
          </a:p>
          <a:p>
            <a:pPr marL="0" indent="0">
              <a:lnSpc>
                <a:spcPct val="110000"/>
              </a:lnSpc>
              <a:spcBef>
                <a:spcPts val="0"/>
              </a:spcBef>
              <a:buNone/>
            </a:pPr>
            <a:r>
              <a:rPr lang="en-US" sz="2000" dirty="0">
                <a:latin typeface="Arial" panose="020B0604020202020204" pitchFamily="34" charset="0"/>
                <a:cs typeface="Arial" panose="020B0604020202020204" pitchFamily="34" charset="0"/>
              </a:rPr>
              <a:t>      ]</a:t>
            </a:r>
          </a:p>
          <a:p>
            <a:pPr marL="0" indent="0">
              <a:lnSpc>
                <a:spcPct val="110000"/>
              </a:lnSpc>
              <a:spcBef>
                <a:spcPts val="0"/>
              </a:spcBef>
              <a:buNone/>
            </a:pPr>
            <a:r>
              <a:rPr lang="en-US" sz="2000" dirty="0">
                <a:latin typeface="Arial" panose="020B0604020202020204" pitchFamily="34" charset="0"/>
                <a:cs typeface="Arial" panose="020B0604020202020204" pitchFamily="34" charset="0"/>
              </a:rPr>
              <a:t>   }</a:t>
            </a:r>
          </a:p>
          <a:p>
            <a:pPr marL="0" indent="0">
              <a:lnSpc>
                <a:spcPct val="110000"/>
              </a:lnSpc>
              <a:spcBef>
                <a:spcPts val="0"/>
              </a:spcBef>
              <a:buNone/>
            </a:pPr>
            <a:r>
              <a:rPr lang="en-US" sz="2000" dirty="0">
                <a:latin typeface="Arial" panose="020B0604020202020204" pitchFamily="34" charset="0"/>
                <a:cs typeface="Arial" panose="020B0604020202020204" pitchFamily="34" charset="0"/>
              </a:rPr>
              <a:t>).pretty()</a:t>
            </a:r>
            <a:endParaRPr lang="en-US" sz="200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207332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Update() Method</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10000"/>
              </a:lnSpc>
              <a:spcBef>
                <a:spcPts val="0"/>
              </a:spcBef>
              <a:buNone/>
            </a:pPr>
            <a:r>
              <a:rPr lang="en-US" sz="2200" dirty="0">
                <a:latin typeface="Arial" panose="020B0604020202020204" pitchFamily="34" charset="0"/>
                <a:cs typeface="Arial" panose="020B0604020202020204" pitchFamily="34" charset="0"/>
              </a:rPr>
              <a:t>The update() method updates the values in the existing document.</a:t>
            </a:r>
          </a:p>
          <a:p>
            <a:pPr marL="0" indent="0">
              <a:lnSpc>
                <a:spcPct val="110000"/>
              </a:lnSpc>
              <a:spcBef>
                <a:spcPts val="0"/>
              </a:spcBef>
              <a:buNone/>
            </a:pPr>
            <a:endParaRPr lang="en-US" sz="2200" dirty="0">
              <a:latin typeface="Arial" panose="020B0604020202020204" pitchFamily="34" charset="0"/>
              <a:cs typeface="Arial" panose="020B0604020202020204" pitchFamily="34" charset="0"/>
            </a:endParaRPr>
          </a:p>
          <a:p>
            <a:pPr marL="0" indent="0">
              <a:lnSpc>
                <a:spcPct val="110000"/>
              </a:lnSpc>
              <a:spcBef>
                <a:spcPts val="0"/>
              </a:spcBef>
              <a:buNone/>
            </a:pPr>
            <a:r>
              <a:rPr lang="en-US" sz="2200" dirty="0">
                <a:latin typeface="Arial" panose="020B0604020202020204" pitchFamily="34" charset="0"/>
                <a:cs typeface="Arial" panose="020B0604020202020204" pitchFamily="34" charset="0"/>
              </a:rPr>
              <a:t>Syntax</a:t>
            </a:r>
          </a:p>
          <a:p>
            <a:pPr marL="0" indent="0">
              <a:lnSpc>
                <a:spcPct val="110000"/>
              </a:lnSpc>
              <a:spcBef>
                <a:spcPts val="0"/>
              </a:spcBef>
              <a:buNone/>
            </a:pPr>
            <a:r>
              <a:rPr lang="en-US" sz="2200" dirty="0">
                <a:latin typeface="Arial" panose="020B0604020202020204" pitchFamily="34" charset="0"/>
                <a:cs typeface="Arial" panose="020B0604020202020204" pitchFamily="34" charset="0"/>
              </a:rPr>
              <a:t>The basic syntax of update() method is as follows −</a:t>
            </a:r>
          </a:p>
          <a:p>
            <a:pPr marL="0" indent="0">
              <a:lnSpc>
                <a:spcPct val="110000"/>
              </a:lnSpc>
              <a:spcBef>
                <a:spcPts val="0"/>
              </a:spcBef>
              <a:buNone/>
            </a:pPr>
            <a:r>
              <a:rPr lang="en-US" sz="2200" dirty="0">
                <a:latin typeface="Arial" panose="020B0604020202020204" pitchFamily="34" charset="0"/>
                <a:cs typeface="Arial" panose="020B0604020202020204" pitchFamily="34" charset="0"/>
              </a:rPr>
              <a:t>	</a:t>
            </a:r>
            <a:r>
              <a:rPr lang="en-US" sz="2200" dirty="0">
                <a:solidFill>
                  <a:srgbClr val="FF0000"/>
                </a:solidFill>
                <a:latin typeface="Arial" panose="020B0604020202020204" pitchFamily="34" charset="0"/>
                <a:cs typeface="Arial" panose="020B0604020202020204" pitchFamily="34" charset="0"/>
              </a:rPr>
              <a:t>&gt;</a:t>
            </a:r>
            <a:r>
              <a:rPr lang="en-US" sz="2200" dirty="0" err="1">
                <a:solidFill>
                  <a:srgbClr val="FF0000"/>
                </a:solidFill>
                <a:latin typeface="Arial" panose="020B0604020202020204" pitchFamily="34" charset="0"/>
                <a:cs typeface="Arial" panose="020B0604020202020204" pitchFamily="34" charset="0"/>
              </a:rPr>
              <a:t>db.COLLECTION_NAME.update</a:t>
            </a:r>
            <a:r>
              <a:rPr lang="en-US" sz="2200" dirty="0">
                <a:solidFill>
                  <a:srgbClr val="FF0000"/>
                </a:solidFill>
                <a:latin typeface="Arial" panose="020B0604020202020204" pitchFamily="34" charset="0"/>
                <a:cs typeface="Arial" panose="020B0604020202020204" pitchFamily="34" charset="0"/>
              </a:rPr>
              <a:t>(SELECTION_CRITERIA, 			UPDATED_DATA)</a:t>
            </a:r>
          </a:p>
          <a:p>
            <a:pPr marL="0" indent="0">
              <a:lnSpc>
                <a:spcPct val="110000"/>
              </a:lnSpc>
              <a:spcBef>
                <a:spcPts val="0"/>
              </a:spcBef>
              <a:buNone/>
            </a:pPr>
            <a:endParaRPr lang="en-US" sz="2200" dirty="0">
              <a:latin typeface="Arial" panose="020B0604020202020204" pitchFamily="34" charset="0"/>
              <a:cs typeface="Arial" panose="020B0604020202020204" pitchFamily="34" charset="0"/>
            </a:endParaRPr>
          </a:p>
          <a:p>
            <a:pPr marL="0" indent="0">
              <a:lnSpc>
                <a:spcPct val="110000"/>
              </a:lnSpc>
              <a:spcBef>
                <a:spcPts val="0"/>
              </a:spcBef>
              <a:buNone/>
            </a:pPr>
            <a:r>
              <a:rPr lang="en-US" sz="2200" dirty="0">
                <a:latin typeface="Arial" panose="020B0604020202020204" pitchFamily="34" charset="0"/>
                <a:cs typeface="Arial" panose="020B0604020202020204" pitchFamily="34" charset="0"/>
              </a:rPr>
              <a:t>Example</a:t>
            </a:r>
          </a:p>
          <a:p>
            <a:pPr marL="0" indent="0">
              <a:lnSpc>
                <a:spcPct val="110000"/>
              </a:lnSpc>
              <a:spcBef>
                <a:spcPts val="0"/>
              </a:spcBef>
              <a:buNone/>
            </a:pPr>
            <a:r>
              <a:rPr lang="en-US" sz="2200" dirty="0">
                <a:latin typeface="Arial" panose="020B0604020202020204" pitchFamily="34" charset="0"/>
                <a:cs typeface="Arial" panose="020B0604020202020204" pitchFamily="34" charset="0"/>
              </a:rPr>
              <a:t>	</a:t>
            </a:r>
            <a:r>
              <a:rPr lang="en-US" sz="2200" dirty="0">
                <a:solidFill>
                  <a:srgbClr val="FF0000"/>
                </a:solidFill>
                <a:latin typeface="Arial" panose="020B0604020202020204" pitchFamily="34" charset="0"/>
                <a:cs typeface="Arial" panose="020B0604020202020204" pitchFamily="34" charset="0"/>
              </a:rPr>
              <a:t>&gt;</a:t>
            </a:r>
            <a:r>
              <a:rPr lang="en-US" sz="2200" dirty="0" err="1">
                <a:solidFill>
                  <a:srgbClr val="FF0000"/>
                </a:solidFill>
                <a:latin typeface="Arial" panose="020B0604020202020204" pitchFamily="34" charset="0"/>
                <a:cs typeface="Arial" panose="020B0604020202020204" pitchFamily="34" charset="0"/>
              </a:rPr>
              <a:t>db.mycol.update</a:t>
            </a:r>
            <a:r>
              <a:rPr lang="en-US" sz="2200" dirty="0">
                <a:solidFill>
                  <a:srgbClr val="FF0000"/>
                </a:solidFill>
                <a:latin typeface="Arial" panose="020B0604020202020204" pitchFamily="34" charset="0"/>
                <a:cs typeface="Arial" panose="020B0604020202020204" pitchFamily="34" charset="0"/>
              </a:rPr>
              <a:t>({'</a:t>
            </a:r>
            <a:r>
              <a:rPr lang="en-US" sz="2200" dirty="0" err="1">
                <a:solidFill>
                  <a:srgbClr val="FF0000"/>
                </a:solidFill>
                <a:latin typeface="Arial" panose="020B0604020202020204" pitchFamily="34" charset="0"/>
                <a:cs typeface="Arial" panose="020B0604020202020204" pitchFamily="34" charset="0"/>
              </a:rPr>
              <a:t>title':'MongoDB</a:t>
            </a:r>
            <a:r>
              <a:rPr lang="en-US" sz="2200" dirty="0">
                <a:solidFill>
                  <a:srgbClr val="FF0000"/>
                </a:solidFill>
                <a:latin typeface="Arial" panose="020B0604020202020204" pitchFamily="34" charset="0"/>
                <a:cs typeface="Arial" panose="020B0604020202020204" pitchFamily="34" charset="0"/>
              </a:rPr>
              <a:t> Overview'},</a:t>
            </a:r>
          </a:p>
          <a:p>
            <a:pPr marL="0" indent="0">
              <a:lnSpc>
                <a:spcPct val="110000"/>
              </a:lnSpc>
              <a:spcBef>
                <a:spcPts val="0"/>
              </a:spcBef>
              <a:buNone/>
            </a:pPr>
            <a:r>
              <a:rPr lang="en-US" sz="2200" dirty="0">
                <a:solidFill>
                  <a:srgbClr val="FF0000"/>
                </a:solidFill>
                <a:latin typeface="Arial" panose="020B0604020202020204" pitchFamily="34" charset="0"/>
                <a:cs typeface="Arial" panose="020B0604020202020204" pitchFamily="34" charset="0"/>
              </a:rPr>
              <a:t>   		{$set:{'</a:t>
            </a:r>
            <a:r>
              <a:rPr lang="en-US" sz="2200" dirty="0" err="1">
                <a:solidFill>
                  <a:srgbClr val="FF0000"/>
                </a:solidFill>
                <a:latin typeface="Arial" panose="020B0604020202020204" pitchFamily="34" charset="0"/>
                <a:cs typeface="Arial" panose="020B0604020202020204" pitchFamily="34" charset="0"/>
              </a:rPr>
              <a:t>title':'New</a:t>
            </a:r>
            <a:r>
              <a:rPr lang="en-US" sz="2200" dirty="0">
                <a:solidFill>
                  <a:srgbClr val="FF0000"/>
                </a:solidFill>
                <a:latin typeface="Arial" panose="020B0604020202020204" pitchFamily="34" charset="0"/>
                <a:cs typeface="Arial" panose="020B0604020202020204" pitchFamily="34" charset="0"/>
              </a:rPr>
              <a:t> MongoDB'}},{</a:t>
            </a:r>
            <a:r>
              <a:rPr lang="en-US" sz="2200" dirty="0" err="1">
                <a:solidFill>
                  <a:srgbClr val="FF0000"/>
                </a:solidFill>
                <a:latin typeface="Arial" panose="020B0604020202020204" pitchFamily="34" charset="0"/>
                <a:cs typeface="Arial" panose="020B0604020202020204" pitchFamily="34" charset="0"/>
              </a:rPr>
              <a:t>multi:true</a:t>
            </a:r>
            <a:r>
              <a:rPr lang="en-US" sz="2200" dirty="0">
                <a:solidFill>
                  <a:srgbClr val="FF0000"/>
                </a:solidFill>
                <a:latin typeface="Arial" panose="020B0604020202020204" pitchFamily="34" charset="0"/>
                <a:cs typeface="Arial" panose="020B0604020202020204" pitchFamily="34" charset="0"/>
              </a:rPr>
              <a:t>})</a:t>
            </a:r>
          </a:p>
        </p:txBody>
      </p:sp>
      <p:sp>
        <p:nvSpPr>
          <p:cNvPr id="7" name="Date Placeholder 6"/>
          <p:cNvSpPr>
            <a:spLocks noGrp="1"/>
          </p:cNvSpPr>
          <p:nvPr>
            <p:ph type="dt" sz="half" idx="10"/>
          </p:nvPr>
        </p:nvSpPr>
        <p:spPr/>
        <p:txBody>
          <a:bodyPr/>
          <a:lstStyle/>
          <a:p>
            <a:fld id="{2F25C4A8-1BA0-468A-B855-2EFA71CD0C96}" type="datetime1">
              <a:rPr lang="en-IN" sz="2000" smtClean="0">
                <a:latin typeface="Arial" panose="020B0604020202020204" pitchFamily="34" charset="0"/>
                <a:cs typeface="Arial" panose="020B0604020202020204" pitchFamily="34" charset="0"/>
              </a:rPr>
              <a:t>01-09-2025</a:t>
            </a:fld>
            <a:endParaRPr lang="en-IN" sz="2000"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sz="2000" dirty="0" err="1">
                <a:latin typeface="Arial" panose="020B0604020202020204" pitchFamily="34" charset="0"/>
                <a:cs typeface="Arial" panose="020B0604020202020204" pitchFamily="34" charset="0"/>
              </a:rPr>
              <a:t>Dr.</a:t>
            </a:r>
            <a:r>
              <a:rPr lang="en-IN" sz="2000" dirty="0">
                <a:latin typeface="Arial" panose="020B0604020202020204" pitchFamily="34" charset="0"/>
                <a:cs typeface="Arial" panose="020B0604020202020204" pitchFamily="34" charset="0"/>
              </a:rPr>
              <a:t> S. </a:t>
            </a:r>
            <a:r>
              <a:rPr lang="en-IN" sz="2000" dirty="0" err="1">
                <a:latin typeface="Arial" panose="020B0604020202020204" pitchFamily="34" charset="0"/>
                <a:cs typeface="Arial" panose="020B0604020202020204" pitchFamily="34" charset="0"/>
              </a:rPr>
              <a:t>Gopikrishnan</a:t>
            </a:r>
            <a:endParaRPr lang="en-IN" sz="2000"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z="2000" smtClean="0">
                <a:latin typeface="Arial" panose="020B0604020202020204" pitchFamily="34" charset="0"/>
                <a:cs typeface="Arial" panose="020B0604020202020204" pitchFamily="34" charset="0"/>
              </a:rPr>
              <a:t>35</a:t>
            </a:fld>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730260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Save() Method</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10000"/>
              </a:lnSpc>
              <a:spcBef>
                <a:spcPts val="0"/>
              </a:spcBef>
              <a:buNone/>
            </a:pPr>
            <a:r>
              <a:rPr lang="en-US" sz="2200" dirty="0">
                <a:latin typeface="Arial" panose="020B0604020202020204" pitchFamily="34" charset="0"/>
                <a:cs typeface="Arial" panose="020B0604020202020204" pitchFamily="34" charset="0"/>
              </a:rPr>
              <a:t>The save() method replaces the existing document with the new document passed in the save() method.</a:t>
            </a:r>
          </a:p>
          <a:p>
            <a:pPr marL="0" indent="0">
              <a:lnSpc>
                <a:spcPct val="110000"/>
              </a:lnSpc>
              <a:spcBef>
                <a:spcPts val="0"/>
              </a:spcBef>
              <a:buNone/>
            </a:pPr>
            <a:endParaRPr lang="en-US" sz="2200" dirty="0">
              <a:latin typeface="Arial" panose="020B0604020202020204" pitchFamily="34" charset="0"/>
              <a:cs typeface="Arial" panose="020B0604020202020204" pitchFamily="34" charset="0"/>
            </a:endParaRPr>
          </a:p>
          <a:p>
            <a:pPr marL="0" indent="0">
              <a:lnSpc>
                <a:spcPct val="110000"/>
              </a:lnSpc>
              <a:spcBef>
                <a:spcPts val="0"/>
              </a:spcBef>
              <a:buNone/>
            </a:pPr>
            <a:r>
              <a:rPr lang="en-US" sz="2200" dirty="0">
                <a:latin typeface="Arial" panose="020B0604020202020204" pitchFamily="34" charset="0"/>
                <a:cs typeface="Arial" panose="020B0604020202020204" pitchFamily="34" charset="0"/>
              </a:rPr>
              <a:t>Syntax</a:t>
            </a:r>
          </a:p>
          <a:p>
            <a:pPr marL="0" indent="0">
              <a:lnSpc>
                <a:spcPct val="110000"/>
              </a:lnSpc>
              <a:spcBef>
                <a:spcPts val="0"/>
              </a:spcBef>
              <a:buNone/>
            </a:pPr>
            <a:r>
              <a:rPr lang="en-US" sz="2200" dirty="0">
                <a:latin typeface="Arial" panose="020B0604020202020204" pitchFamily="34" charset="0"/>
                <a:cs typeface="Arial" panose="020B0604020202020204" pitchFamily="34" charset="0"/>
              </a:rPr>
              <a:t>The basic syntax of MongoDB save() method is shown below −</a:t>
            </a:r>
          </a:p>
          <a:p>
            <a:pPr marL="0" indent="0">
              <a:lnSpc>
                <a:spcPct val="110000"/>
              </a:lnSpc>
              <a:spcBef>
                <a:spcPts val="0"/>
              </a:spcBef>
              <a:buNone/>
            </a:pPr>
            <a:r>
              <a:rPr lang="en-US" sz="2200" dirty="0">
                <a:latin typeface="Arial" panose="020B0604020202020204" pitchFamily="34" charset="0"/>
                <a:cs typeface="Arial" panose="020B0604020202020204" pitchFamily="34" charset="0"/>
              </a:rPr>
              <a:t>	</a:t>
            </a:r>
            <a:r>
              <a:rPr lang="en-US" sz="2200" dirty="0">
                <a:solidFill>
                  <a:srgbClr val="FF0000"/>
                </a:solidFill>
                <a:latin typeface="Arial" panose="020B0604020202020204" pitchFamily="34" charset="0"/>
                <a:cs typeface="Arial" panose="020B0604020202020204" pitchFamily="34" charset="0"/>
              </a:rPr>
              <a:t>&gt;</a:t>
            </a:r>
            <a:r>
              <a:rPr lang="en-US" sz="2200" dirty="0" err="1">
                <a:solidFill>
                  <a:srgbClr val="FF0000"/>
                </a:solidFill>
                <a:latin typeface="Arial" panose="020B0604020202020204" pitchFamily="34" charset="0"/>
                <a:cs typeface="Arial" panose="020B0604020202020204" pitchFamily="34" charset="0"/>
              </a:rPr>
              <a:t>db.COLLECTION_NAME.save</a:t>
            </a:r>
            <a:r>
              <a:rPr lang="en-US" sz="2200" dirty="0">
                <a:solidFill>
                  <a:srgbClr val="FF0000"/>
                </a:solidFill>
                <a:latin typeface="Arial" panose="020B0604020202020204" pitchFamily="34" charset="0"/>
                <a:cs typeface="Arial" panose="020B0604020202020204" pitchFamily="34" charset="0"/>
              </a:rPr>
              <a:t>({_</a:t>
            </a:r>
            <a:r>
              <a:rPr lang="en-US" sz="2200" dirty="0" err="1">
                <a:solidFill>
                  <a:srgbClr val="FF0000"/>
                </a:solidFill>
                <a:latin typeface="Arial" panose="020B0604020202020204" pitchFamily="34" charset="0"/>
                <a:cs typeface="Arial" panose="020B0604020202020204" pitchFamily="34" charset="0"/>
              </a:rPr>
              <a:t>id:ObjectId</a:t>
            </a:r>
            <a:r>
              <a:rPr lang="en-US" sz="2200" dirty="0">
                <a:solidFill>
                  <a:srgbClr val="FF0000"/>
                </a:solidFill>
                <a:latin typeface="Arial" panose="020B0604020202020204" pitchFamily="34" charset="0"/>
                <a:cs typeface="Arial" panose="020B0604020202020204" pitchFamily="34" charset="0"/>
              </a:rPr>
              <a:t>(),NEW_DATA})</a:t>
            </a:r>
          </a:p>
          <a:p>
            <a:pPr marL="0" indent="0">
              <a:lnSpc>
                <a:spcPct val="110000"/>
              </a:lnSpc>
              <a:spcBef>
                <a:spcPts val="0"/>
              </a:spcBef>
              <a:buNone/>
            </a:pPr>
            <a:endParaRPr lang="en-US" sz="2200" dirty="0">
              <a:latin typeface="Arial" panose="020B0604020202020204" pitchFamily="34" charset="0"/>
              <a:cs typeface="Arial" panose="020B0604020202020204" pitchFamily="34" charset="0"/>
            </a:endParaRPr>
          </a:p>
          <a:p>
            <a:pPr marL="0" indent="0">
              <a:lnSpc>
                <a:spcPct val="110000"/>
              </a:lnSpc>
              <a:spcBef>
                <a:spcPts val="0"/>
              </a:spcBef>
              <a:buNone/>
            </a:pPr>
            <a:r>
              <a:rPr lang="en-US" sz="2200" dirty="0">
                <a:latin typeface="Arial" panose="020B0604020202020204" pitchFamily="34" charset="0"/>
                <a:cs typeface="Arial" panose="020B0604020202020204" pitchFamily="34" charset="0"/>
              </a:rPr>
              <a:t>Example</a:t>
            </a:r>
          </a:p>
          <a:p>
            <a:pPr marL="0" indent="0">
              <a:lnSpc>
                <a:spcPct val="110000"/>
              </a:lnSpc>
              <a:spcBef>
                <a:spcPts val="0"/>
              </a:spcBef>
              <a:buNone/>
            </a:pPr>
            <a:r>
              <a:rPr lang="en-US" sz="2200" dirty="0">
                <a:latin typeface="Arial" panose="020B0604020202020204" pitchFamily="34" charset="0"/>
                <a:cs typeface="Arial" panose="020B0604020202020204" pitchFamily="34" charset="0"/>
              </a:rPr>
              <a:t>	</a:t>
            </a:r>
            <a:r>
              <a:rPr lang="en-US" sz="2200" dirty="0">
                <a:solidFill>
                  <a:srgbClr val="FF0000"/>
                </a:solidFill>
                <a:latin typeface="Arial" panose="020B0604020202020204" pitchFamily="34" charset="0"/>
                <a:cs typeface="Arial" panose="020B0604020202020204" pitchFamily="34" charset="0"/>
              </a:rPr>
              <a:t>&gt;</a:t>
            </a:r>
            <a:r>
              <a:rPr lang="en-US" sz="2200" dirty="0" err="1">
                <a:solidFill>
                  <a:srgbClr val="FF0000"/>
                </a:solidFill>
                <a:latin typeface="Arial" panose="020B0604020202020204" pitchFamily="34" charset="0"/>
                <a:cs typeface="Arial" panose="020B0604020202020204" pitchFamily="34" charset="0"/>
              </a:rPr>
              <a:t>db.mycol.save</a:t>
            </a:r>
            <a:r>
              <a:rPr lang="en-US" sz="2200" dirty="0">
                <a:solidFill>
                  <a:srgbClr val="FF0000"/>
                </a:solidFill>
                <a:latin typeface="Arial" panose="020B0604020202020204" pitchFamily="34" charset="0"/>
                <a:cs typeface="Arial" panose="020B0604020202020204" pitchFamily="34" charset="0"/>
              </a:rPr>
              <a:t>( {</a:t>
            </a:r>
          </a:p>
          <a:p>
            <a:pPr marL="0" indent="0">
              <a:lnSpc>
                <a:spcPct val="110000"/>
              </a:lnSpc>
              <a:spcBef>
                <a:spcPts val="0"/>
              </a:spcBef>
              <a:buNone/>
            </a:pPr>
            <a:r>
              <a:rPr lang="en-US" sz="2200" dirty="0">
                <a:solidFill>
                  <a:srgbClr val="FF0000"/>
                </a:solidFill>
                <a:latin typeface="Arial" panose="020B0604020202020204" pitchFamily="34" charset="0"/>
                <a:cs typeface="Arial" panose="020B0604020202020204" pitchFamily="34" charset="0"/>
              </a:rPr>
              <a:t>     	 "_id" : </a:t>
            </a:r>
            <a:r>
              <a:rPr lang="en-US" sz="2200" dirty="0" err="1">
                <a:solidFill>
                  <a:srgbClr val="FF0000"/>
                </a:solidFill>
                <a:latin typeface="Arial" panose="020B0604020202020204" pitchFamily="34" charset="0"/>
                <a:cs typeface="Arial" panose="020B0604020202020204" pitchFamily="34" charset="0"/>
              </a:rPr>
              <a:t>ObjectId</a:t>
            </a:r>
            <a:r>
              <a:rPr lang="en-US" sz="2200" dirty="0">
                <a:solidFill>
                  <a:srgbClr val="FF0000"/>
                </a:solidFill>
                <a:latin typeface="Arial" panose="020B0604020202020204" pitchFamily="34" charset="0"/>
                <a:cs typeface="Arial" panose="020B0604020202020204" pitchFamily="34" charset="0"/>
              </a:rPr>
              <a:t>(5983548781331adf45ec5), "</a:t>
            </a:r>
            <a:r>
              <a:rPr lang="en-US" sz="2200" dirty="0" err="1">
                <a:solidFill>
                  <a:srgbClr val="FF0000"/>
                </a:solidFill>
                <a:latin typeface="Arial" panose="020B0604020202020204" pitchFamily="34" charset="0"/>
                <a:cs typeface="Arial" panose="020B0604020202020204" pitchFamily="34" charset="0"/>
              </a:rPr>
              <a:t>title":"Tutorials</a:t>
            </a:r>
            <a:r>
              <a:rPr lang="en-US" sz="2200" dirty="0">
                <a:solidFill>
                  <a:srgbClr val="FF0000"/>
                </a:solidFill>
                <a:latin typeface="Arial" panose="020B0604020202020204" pitchFamily="34" charset="0"/>
                <a:cs typeface="Arial" panose="020B0604020202020204" pitchFamily="34" charset="0"/>
              </a:rPr>
              <a:t> Point New 	Topic", "</a:t>
            </a:r>
            <a:r>
              <a:rPr lang="en-US" sz="2200" dirty="0" err="1">
                <a:solidFill>
                  <a:srgbClr val="FF0000"/>
                </a:solidFill>
                <a:latin typeface="Arial" panose="020B0604020202020204" pitchFamily="34" charset="0"/>
                <a:cs typeface="Arial" panose="020B0604020202020204" pitchFamily="34" charset="0"/>
              </a:rPr>
              <a:t>by":"Tutorials</a:t>
            </a:r>
            <a:r>
              <a:rPr lang="en-US" sz="2200" dirty="0">
                <a:solidFill>
                  <a:srgbClr val="FF0000"/>
                </a:solidFill>
                <a:latin typeface="Arial" panose="020B0604020202020204" pitchFamily="34" charset="0"/>
                <a:cs typeface="Arial" panose="020B0604020202020204" pitchFamily="34" charset="0"/>
              </a:rPr>
              <a:t> Point"</a:t>
            </a:r>
          </a:p>
          <a:p>
            <a:pPr marL="0" indent="0">
              <a:lnSpc>
                <a:spcPct val="110000"/>
              </a:lnSpc>
              <a:spcBef>
                <a:spcPts val="0"/>
              </a:spcBef>
              <a:buNone/>
            </a:pPr>
            <a:r>
              <a:rPr lang="en-US" sz="2200" dirty="0">
                <a:solidFill>
                  <a:srgbClr val="FF0000"/>
                </a:solidFill>
                <a:latin typeface="Arial" panose="020B0604020202020204" pitchFamily="34" charset="0"/>
                <a:cs typeface="Arial" panose="020B0604020202020204" pitchFamily="34" charset="0"/>
              </a:rPr>
              <a:t>  	} )</a:t>
            </a:r>
          </a:p>
        </p:txBody>
      </p:sp>
      <p:sp>
        <p:nvSpPr>
          <p:cNvPr id="7" name="Date Placeholder 6"/>
          <p:cNvSpPr>
            <a:spLocks noGrp="1"/>
          </p:cNvSpPr>
          <p:nvPr>
            <p:ph type="dt" sz="half" idx="10"/>
          </p:nvPr>
        </p:nvSpPr>
        <p:spPr/>
        <p:txBody>
          <a:bodyPr/>
          <a:lstStyle/>
          <a:p>
            <a:fld id="{2F25C4A8-1BA0-468A-B855-2EFA71CD0C96}" type="datetime1">
              <a:rPr lang="en-IN" sz="2000" smtClean="0">
                <a:latin typeface="Arial" panose="020B0604020202020204" pitchFamily="34" charset="0"/>
                <a:cs typeface="Arial" panose="020B0604020202020204" pitchFamily="34" charset="0"/>
              </a:rPr>
              <a:t>01-09-2025</a:t>
            </a:fld>
            <a:endParaRPr lang="en-IN" sz="2000"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sz="2000" dirty="0" err="1">
                <a:latin typeface="Arial" panose="020B0604020202020204" pitchFamily="34" charset="0"/>
                <a:cs typeface="Arial" panose="020B0604020202020204" pitchFamily="34" charset="0"/>
              </a:rPr>
              <a:t>Dr.</a:t>
            </a:r>
            <a:r>
              <a:rPr lang="en-IN" sz="2000" dirty="0">
                <a:latin typeface="Arial" panose="020B0604020202020204" pitchFamily="34" charset="0"/>
                <a:cs typeface="Arial" panose="020B0604020202020204" pitchFamily="34" charset="0"/>
              </a:rPr>
              <a:t> S. </a:t>
            </a:r>
            <a:r>
              <a:rPr lang="en-IN" sz="2000" dirty="0" err="1">
                <a:latin typeface="Arial" panose="020B0604020202020204" pitchFamily="34" charset="0"/>
                <a:cs typeface="Arial" panose="020B0604020202020204" pitchFamily="34" charset="0"/>
              </a:rPr>
              <a:t>Gopikrishnan</a:t>
            </a:r>
            <a:endParaRPr lang="en-IN" sz="2000"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z="2000" smtClean="0">
                <a:latin typeface="Arial" panose="020B0604020202020204" pitchFamily="34" charset="0"/>
                <a:cs typeface="Arial" panose="020B0604020202020204" pitchFamily="34" charset="0"/>
              </a:rPr>
              <a:t>36</a:t>
            </a:fld>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812243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remove() Method</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10000"/>
              </a:lnSpc>
              <a:spcBef>
                <a:spcPts val="0"/>
              </a:spcBef>
              <a:buNone/>
            </a:pPr>
            <a:r>
              <a:rPr lang="en-US" sz="2200" dirty="0">
                <a:latin typeface="Arial" panose="020B0604020202020204" pitchFamily="34" charset="0"/>
                <a:cs typeface="Arial" panose="020B0604020202020204" pitchFamily="34" charset="0"/>
              </a:rPr>
              <a:t>MongoDB's remove() method is used to remove a document from the collection. remove() method accepts two parameters. One is deletion criteria and second is </a:t>
            </a:r>
            <a:r>
              <a:rPr lang="en-US" sz="2200" dirty="0" err="1">
                <a:latin typeface="Arial" panose="020B0604020202020204" pitchFamily="34" charset="0"/>
                <a:cs typeface="Arial" panose="020B0604020202020204" pitchFamily="34" charset="0"/>
              </a:rPr>
              <a:t>justOne</a:t>
            </a:r>
            <a:r>
              <a:rPr lang="en-US" sz="2200" dirty="0">
                <a:latin typeface="Arial" panose="020B0604020202020204" pitchFamily="34" charset="0"/>
                <a:cs typeface="Arial" panose="020B0604020202020204" pitchFamily="34" charset="0"/>
              </a:rPr>
              <a:t> flag.</a:t>
            </a:r>
          </a:p>
          <a:p>
            <a:pPr marL="0" indent="0">
              <a:lnSpc>
                <a:spcPct val="110000"/>
              </a:lnSpc>
              <a:spcBef>
                <a:spcPts val="0"/>
              </a:spcBef>
              <a:buNone/>
            </a:pPr>
            <a:endParaRPr lang="en-US" sz="2200" dirty="0">
              <a:latin typeface="Arial" panose="020B0604020202020204" pitchFamily="34" charset="0"/>
              <a:cs typeface="Arial" panose="020B0604020202020204" pitchFamily="34" charset="0"/>
            </a:endParaRPr>
          </a:p>
          <a:p>
            <a:pPr marL="539750" indent="-357188">
              <a:lnSpc>
                <a:spcPct val="110000"/>
              </a:lnSpc>
              <a:spcBef>
                <a:spcPts val="0"/>
              </a:spcBef>
            </a:pPr>
            <a:r>
              <a:rPr lang="en-US" sz="2200" b="1" dirty="0">
                <a:latin typeface="Arial" panose="020B0604020202020204" pitchFamily="34" charset="0"/>
                <a:cs typeface="Arial" panose="020B0604020202020204" pitchFamily="34" charset="0"/>
              </a:rPr>
              <a:t>deletion criteria </a:t>
            </a:r>
            <a:r>
              <a:rPr lang="en-US" sz="2200" dirty="0">
                <a:latin typeface="Arial" panose="020B0604020202020204" pitchFamily="34" charset="0"/>
                <a:cs typeface="Arial" panose="020B0604020202020204" pitchFamily="34" charset="0"/>
              </a:rPr>
              <a:t>− (Optional) deletion criteria according to documents will be removed.</a:t>
            </a:r>
          </a:p>
          <a:p>
            <a:pPr marL="539750" indent="-357188">
              <a:lnSpc>
                <a:spcPct val="110000"/>
              </a:lnSpc>
              <a:spcBef>
                <a:spcPts val="0"/>
              </a:spcBef>
            </a:pPr>
            <a:r>
              <a:rPr lang="en-US" sz="2200" b="1" dirty="0" err="1">
                <a:latin typeface="Arial" panose="020B0604020202020204" pitchFamily="34" charset="0"/>
                <a:cs typeface="Arial" panose="020B0604020202020204" pitchFamily="34" charset="0"/>
              </a:rPr>
              <a:t>justOne</a:t>
            </a:r>
            <a:r>
              <a:rPr lang="en-US" sz="2200" dirty="0">
                <a:latin typeface="Arial" panose="020B0604020202020204" pitchFamily="34" charset="0"/>
                <a:cs typeface="Arial" panose="020B0604020202020204" pitchFamily="34" charset="0"/>
              </a:rPr>
              <a:t> − (Optional) if set to true or 1, then remove only one document.</a:t>
            </a:r>
          </a:p>
          <a:p>
            <a:pPr marL="0" indent="0">
              <a:lnSpc>
                <a:spcPct val="110000"/>
              </a:lnSpc>
              <a:spcBef>
                <a:spcPts val="0"/>
              </a:spcBef>
              <a:buNone/>
            </a:pPr>
            <a:endParaRPr lang="en-US" sz="2200" dirty="0">
              <a:latin typeface="Arial" panose="020B0604020202020204" pitchFamily="34" charset="0"/>
              <a:cs typeface="Arial" panose="020B0604020202020204" pitchFamily="34" charset="0"/>
            </a:endParaRPr>
          </a:p>
          <a:p>
            <a:pPr marL="0" indent="0">
              <a:lnSpc>
                <a:spcPct val="110000"/>
              </a:lnSpc>
              <a:spcBef>
                <a:spcPts val="0"/>
              </a:spcBef>
              <a:buNone/>
            </a:pPr>
            <a:r>
              <a:rPr lang="en-US" sz="2200" b="1" dirty="0">
                <a:latin typeface="Arial" panose="020B0604020202020204" pitchFamily="34" charset="0"/>
                <a:cs typeface="Arial" panose="020B0604020202020204" pitchFamily="34" charset="0"/>
              </a:rPr>
              <a:t>Syntax</a:t>
            </a:r>
          </a:p>
          <a:p>
            <a:pPr marL="0" indent="0">
              <a:lnSpc>
                <a:spcPct val="110000"/>
              </a:lnSpc>
              <a:spcBef>
                <a:spcPts val="0"/>
              </a:spcBef>
              <a:buNone/>
            </a:pPr>
            <a:r>
              <a:rPr lang="en-US" sz="2200" dirty="0">
                <a:latin typeface="Arial" panose="020B0604020202020204" pitchFamily="34" charset="0"/>
                <a:cs typeface="Arial" panose="020B0604020202020204" pitchFamily="34" charset="0"/>
              </a:rPr>
              <a:t>	</a:t>
            </a:r>
            <a:r>
              <a:rPr lang="en-US" sz="2200" dirty="0">
                <a:solidFill>
                  <a:srgbClr val="FF0000"/>
                </a:solidFill>
                <a:latin typeface="Arial" panose="020B0604020202020204" pitchFamily="34" charset="0"/>
                <a:cs typeface="Arial" panose="020B0604020202020204" pitchFamily="34" charset="0"/>
              </a:rPr>
              <a:t>&gt;</a:t>
            </a:r>
            <a:r>
              <a:rPr lang="en-US" sz="2200" dirty="0" err="1">
                <a:solidFill>
                  <a:srgbClr val="FF0000"/>
                </a:solidFill>
                <a:latin typeface="Arial" panose="020B0604020202020204" pitchFamily="34" charset="0"/>
                <a:cs typeface="Arial" panose="020B0604020202020204" pitchFamily="34" charset="0"/>
              </a:rPr>
              <a:t>db.COLLECTION_NAME.remove</a:t>
            </a:r>
            <a:r>
              <a:rPr lang="en-US" sz="2200" dirty="0">
                <a:solidFill>
                  <a:srgbClr val="FF0000"/>
                </a:solidFill>
                <a:latin typeface="Arial" panose="020B0604020202020204" pitchFamily="34" charset="0"/>
                <a:cs typeface="Arial" panose="020B0604020202020204" pitchFamily="34" charset="0"/>
              </a:rPr>
              <a:t>(DELLETION_CRITTERIA)</a:t>
            </a:r>
          </a:p>
        </p:txBody>
      </p:sp>
      <p:sp>
        <p:nvSpPr>
          <p:cNvPr id="7" name="Date Placeholder 6"/>
          <p:cNvSpPr>
            <a:spLocks noGrp="1"/>
          </p:cNvSpPr>
          <p:nvPr>
            <p:ph type="dt" sz="half" idx="10"/>
          </p:nvPr>
        </p:nvSpPr>
        <p:spPr/>
        <p:txBody>
          <a:bodyPr/>
          <a:lstStyle/>
          <a:p>
            <a:fld id="{2F25C4A8-1BA0-468A-B855-2EFA71CD0C96}" type="datetime1">
              <a:rPr lang="en-IN" sz="2000" smtClean="0">
                <a:latin typeface="Arial" panose="020B0604020202020204" pitchFamily="34" charset="0"/>
                <a:cs typeface="Arial" panose="020B0604020202020204" pitchFamily="34" charset="0"/>
              </a:rPr>
              <a:t>01-09-2025</a:t>
            </a:fld>
            <a:endParaRPr lang="en-IN" sz="2000"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sz="2000" dirty="0" err="1">
                <a:latin typeface="Arial" panose="020B0604020202020204" pitchFamily="34" charset="0"/>
                <a:cs typeface="Arial" panose="020B0604020202020204" pitchFamily="34" charset="0"/>
              </a:rPr>
              <a:t>Dr.</a:t>
            </a:r>
            <a:r>
              <a:rPr lang="en-IN" sz="2000" dirty="0">
                <a:latin typeface="Arial" panose="020B0604020202020204" pitchFamily="34" charset="0"/>
                <a:cs typeface="Arial" panose="020B0604020202020204" pitchFamily="34" charset="0"/>
              </a:rPr>
              <a:t> S. </a:t>
            </a:r>
            <a:r>
              <a:rPr lang="en-IN" sz="2000" dirty="0" err="1">
                <a:latin typeface="Arial" panose="020B0604020202020204" pitchFamily="34" charset="0"/>
                <a:cs typeface="Arial" panose="020B0604020202020204" pitchFamily="34" charset="0"/>
              </a:rPr>
              <a:t>Gopikrishnan</a:t>
            </a:r>
            <a:endParaRPr lang="en-IN" sz="2000"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z="2000" smtClean="0">
                <a:latin typeface="Arial" panose="020B0604020202020204" pitchFamily="34" charset="0"/>
                <a:cs typeface="Arial" panose="020B0604020202020204" pitchFamily="34" charset="0"/>
              </a:rPr>
              <a:t>37</a:t>
            </a:fld>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969596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remove() Method</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10000"/>
              </a:lnSpc>
              <a:spcBef>
                <a:spcPts val="0"/>
              </a:spcBef>
              <a:buNone/>
            </a:pPr>
            <a:r>
              <a:rPr lang="en-US" sz="2200" dirty="0">
                <a:latin typeface="Arial" panose="020B0604020202020204" pitchFamily="34" charset="0"/>
                <a:cs typeface="Arial" panose="020B0604020202020204" pitchFamily="34" charset="0"/>
              </a:rPr>
              <a:t>	</a:t>
            </a:r>
            <a:r>
              <a:rPr lang="en-US" sz="2200" dirty="0">
                <a:solidFill>
                  <a:srgbClr val="FF0000"/>
                </a:solidFill>
                <a:latin typeface="Arial" panose="020B0604020202020204" pitchFamily="34" charset="0"/>
                <a:cs typeface="Arial" panose="020B0604020202020204" pitchFamily="34" charset="0"/>
              </a:rPr>
              <a:t>&gt;</a:t>
            </a:r>
            <a:r>
              <a:rPr lang="en-US" sz="2200" dirty="0" err="1">
                <a:solidFill>
                  <a:srgbClr val="FF0000"/>
                </a:solidFill>
                <a:latin typeface="Arial" panose="020B0604020202020204" pitchFamily="34" charset="0"/>
                <a:cs typeface="Arial" panose="020B0604020202020204" pitchFamily="34" charset="0"/>
              </a:rPr>
              <a:t>db.mycol.remove</a:t>
            </a:r>
            <a:r>
              <a:rPr lang="en-US" sz="2200" dirty="0">
                <a:solidFill>
                  <a:srgbClr val="FF0000"/>
                </a:solidFill>
                <a:latin typeface="Arial" panose="020B0604020202020204" pitchFamily="34" charset="0"/>
                <a:cs typeface="Arial" panose="020B0604020202020204" pitchFamily="34" charset="0"/>
              </a:rPr>
              <a:t>({'</a:t>
            </a:r>
            <a:r>
              <a:rPr lang="en-US" sz="2200" dirty="0" err="1">
                <a:solidFill>
                  <a:srgbClr val="FF0000"/>
                </a:solidFill>
                <a:latin typeface="Arial" panose="020B0604020202020204" pitchFamily="34" charset="0"/>
                <a:cs typeface="Arial" panose="020B0604020202020204" pitchFamily="34" charset="0"/>
              </a:rPr>
              <a:t>title':'MongoDB</a:t>
            </a:r>
            <a:r>
              <a:rPr lang="en-US" sz="2200" dirty="0">
                <a:solidFill>
                  <a:srgbClr val="FF0000"/>
                </a:solidFill>
                <a:latin typeface="Arial" panose="020B0604020202020204" pitchFamily="34" charset="0"/>
                <a:cs typeface="Arial" panose="020B0604020202020204" pitchFamily="34" charset="0"/>
              </a:rPr>
              <a:t> Overview'}) </a:t>
            </a:r>
          </a:p>
          <a:p>
            <a:pPr marL="0" indent="0">
              <a:lnSpc>
                <a:spcPct val="110000"/>
              </a:lnSpc>
              <a:spcBef>
                <a:spcPts val="0"/>
              </a:spcBef>
              <a:buNone/>
            </a:pPr>
            <a:endParaRPr lang="en-US" sz="2200" dirty="0">
              <a:latin typeface="Arial" panose="020B0604020202020204" pitchFamily="34" charset="0"/>
              <a:cs typeface="Arial" panose="020B0604020202020204" pitchFamily="34" charset="0"/>
            </a:endParaRPr>
          </a:p>
          <a:p>
            <a:pPr marL="0" indent="0">
              <a:lnSpc>
                <a:spcPct val="110000"/>
              </a:lnSpc>
              <a:spcBef>
                <a:spcPts val="600"/>
              </a:spcBef>
              <a:spcAft>
                <a:spcPts val="600"/>
              </a:spcAft>
              <a:buNone/>
            </a:pPr>
            <a:r>
              <a:rPr lang="en-US" sz="2200" b="1" dirty="0">
                <a:latin typeface="Arial" panose="020B0604020202020204" pitchFamily="34" charset="0"/>
                <a:cs typeface="Arial" panose="020B0604020202020204" pitchFamily="34" charset="0"/>
              </a:rPr>
              <a:t>Remove Only One</a:t>
            </a:r>
          </a:p>
          <a:p>
            <a:pPr marL="0" indent="0">
              <a:lnSpc>
                <a:spcPct val="110000"/>
              </a:lnSpc>
              <a:spcBef>
                <a:spcPts val="0"/>
              </a:spcBef>
              <a:buNone/>
            </a:pPr>
            <a:r>
              <a:rPr lang="en-US" sz="2200" dirty="0">
                <a:latin typeface="Arial" panose="020B0604020202020204" pitchFamily="34" charset="0"/>
                <a:cs typeface="Arial" panose="020B0604020202020204" pitchFamily="34" charset="0"/>
              </a:rPr>
              <a:t>If there are multiple records and you want to delete only the first record, then set </a:t>
            </a:r>
            <a:r>
              <a:rPr lang="en-US" sz="2200" dirty="0" err="1">
                <a:latin typeface="Arial" panose="020B0604020202020204" pitchFamily="34" charset="0"/>
                <a:cs typeface="Arial" panose="020B0604020202020204" pitchFamily="34" charset="0"/>
              </a:rPr>
              <a:t>justOne</a:t>
            </a:r>
            <a:r>
              <a:rPr lang="en-US" sz="2200" dirty="0">
                <a:latin typeface="Arial" panose="020B0604020202020204" pitchFamily="34" charset="0"/>
                <a:cs typeface="Arial" panose="020B0604020202020204" pitchFamily="34" charset="0"/>
              </a:rPr>
              <a:t> parameter in remove() method.</a:t>
            </a:r>
          </a:p>
          <a:p>
            <a:pPr marL="0" indent="0">
              <a:lnSpc>
                <a:spcPct val="110000"/>
              </a:lnSpc>
              <a:spcBef>
                <a:spcPts val="600"/>
              </a:spcBef>
              <a:spcAft>
                <a:spcPts val="600"/>
              </a:spcAft>
              <a:buNone/>
            </a:pPr>
            <a:r>
              <a:rPr lang="en-US" sz="2200" dirty="0">
                <a:latin typeface="Arial" panose="020B0604020202020204" pitchFamily="34" charset="0"/>
                <a:cs typeface="Arial" panose="020B0604020202020204" pitchFamily="34" charset="0"/>
              </a:rPr>
              <a:t>	</a:t>
            </a:r>
            <a:r>
              <a:rPr lang="en-US" sz="2200" dirty="0">
                <a:solidFill>
                  <a:srgbClr val="FF0000"/>
                </a:solidFill>
                <a:latin typeface="Arial" panose="020B0604020202020204" pitchFamily="34" charset="0"/>
                <a:cs typeface="Arial" panose="020B0604020202020204" pitchFamily="34" charset="0"/>
              </a:rPr>
              <a:t>&gt;</a:t>
            </a:r>
            <a:r>
              <a:rPr lang="en-US" sz="2200" dirty="0" err="1">
                <a:solidFill>
                  <a:srgbClr val="FF0000"/>
                </a:solidFill>
                <a:latin typeface="Arial" panose="020B0604020202020204" pitchFamily="34" charset="0"/>
                <a:cs typeface="Arial" panose="020B0604020202020204" pitchFamily="34" charset="0"/>
              </a:rPr>
              <a:t>db.COLLECTION_NAME.remove</a:t>
            </a:r>
            <a:r>
              <a:rPr lang="en-US" sz="2200" dirty="0">
                <a:solidFill>
                  <a:srgbClr val="FF0000"/>
                </a:solidFill>
                <a:latin typeface="Arial" panose="020B0604020202020204" pitchFamily="34" charset="0"/>
                <a:cs typeface="Arial" panose="020B0604020202020204" pitchFamily="34" charset="0"/>
              </a:rPr>
              <a:t>(DELETION_CRITERIA,1)</a:t>
            </a:r>
          </a:p>
          <a:p>
            <a:pPr marL="0" indent="0">
              <a:lnSpc>
                <a:spcPct val="110000"/>
              </a:lnSpc>
              <a:spcBef>
                <a:spcPts val="1200"/>
              </a:spcBef>
              <a:spcAft>
                <a:spcPts val="600"/>
              </a:spcAft>
              <a:buNone/>
            </a:pPr>
            <a:r>
              <a:rPr lang="en-US" sz="2200" b="1" dirty="0">
                <a:latin typeface="Arial" panose="020B0604020202020204" pitchFamily="34" charset="0"/>
                <a:cs typeface="Arial" panose="020B0604020202020204" pitchFamily="34" charset="0"/>
              </a:rPr>
              <a:t>Remove All Documents</a:t>
            </a:r>
          </a:p>
          <a:p>
            <a:pPr marL="0" indent="0">
              <a:lnSpc>
                <a:spcPct val="110000"/>
              </a:lnSpc>
              <a:spcBef>
                <a:spcPts val="0"/>
              </a:spcBef>
              <a:buNone/>
            </a:pPr>
            <a:r>
              <a:rPr lang="en-US" sz="2200" dirty="0">
                <a:latin typeface="Arial" panose="020B0604020202020204" pitchFamily="34" charset="0"/>
                <a:cs typeface="Arial" panose="020B0604020202020204" pitchFamily="34" charset="0"/>
              </a:rPr>
              <a:t>If you don't specify deletion criteria, then MongoDB will delete whole documents from the collection. This is equivalent of SQL's truncate command.</a:t>
            </a:r>
          </a:p>
          <a:p>
            <a:pPr marL="0" indent="0">
              <a:lnSpc>
                <a:spcPct val="110000"/>
              </a:lnSpc>
              <a:spcBef>
                <a:spcPts val="600"/>
              </a:spcBef>
              <a:spcAft>
                <a:spcPts val="600"/>
              </a:spcAft>
              <a:buNone/>
            </a:pPr>
            <a:r>
              <a:rPr lang="en-US" sz="2200" dirty="0">
                <a:latin typeface="Arial" panose="020B0604020202020204" pitchFamily="34" charset="0"/>
                <a:cs typeface="Arial" panose="020B0604020202020204" pitchFamily="34" charset="0"/>
              </a:rPr>
              <a:t>	</a:t>
            </a:r>
            <a:r>
              <a:rPr lang="en-US" sz="2200" dirty="0">
                <a:solidFill>
                  <a:srgbClr val="FF0000"/>
                </a:solidFill>
                <a:latin typeface="Arial" panose="020B0604020202020204" pitchFamily="34" charset="0"/>
                <a:cs typeface="Arial" panose="020B0604020202020204" pitchFamily="34" charset="0"/>
              </a:rPr>
              <a:t>&gt;</a:t>
            </a:r>
            <a:r>
              <a:rPr lang="en-US" sz="2200" dirty="0" err="1">
                <a:solidFill>
                  <a:srgbClr val="FF0000"/>
                </a:solidFill>
                <a:latin typeface="Arial" panose="020B0604020202020204" pitchFamily="34" charset="0"/>
                <a:cs typeface="Arial" panose="020B0604020202020204" pitchFamily="34" charset="0"/>
              </a:rPr>
              <a:t>db.mycol.remove</a:t>
            </a:r>
            <a:r>
              <a:rPr lang="en-US" sz="2200" dirty="0">
                <a:solidFill>
                  <a:srgbClr val="FF0000"/>
                </a:solidFill>
                <a:latin typeface="Arial" panose="020B0604020202020204" pitchFamily="34" charset="0"/>
                <a:cs typeface="Arial" panose="020B0604020202020204" pitchFamily="34" charset="0"/>
              </a:rPr>
              <a:t>({})</a:t>
            </a:r>
          </a:p>
        </p:txBody>
      </p:sp>
      <p:sp>
        <p:nvSpPr>
          <p:cNvPr id="7" name="Date Placeholder 6"/>
          <p:cNvSpPr>
            <a:spLocks noGrp="1"/>
          </p:cNvSpPr>
          <p:nvPr>
            <p:ph type="dt" sz="half" idx="10"/>
          </p:nvPr>
        </p:nvSpPr>
        <p:spPr/>
        <p:txBody>
          <a:bodyPr/>
          <a:lstStyle/>
          <a:p>
            <a:fld id="{2F25C4A8-1BA0-468A-B855-2EFA71CD0C96}" type="datetime1">
              <a:rPr lang="en-IN" sz="2000" smtClean="0">
                <a:latin typeface="Arial" panose="020B0604020202020204" pitchFamily="34" charset="0"/>
                <a:cs typeface="Arial" panose="020B0604020202020204" pitchFamily="34" charset="0"/>
              </a:rPr>
              <a:t>01-09-2025</a:t>
            </a:fld>
            <a:endParaRPr lang="en-IN" sz="2000"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sz="2000" dirty="0" err="1">
                <a:latin typeface="Arial" panose="020B0604020202020204" pitchFamily="34" charset="0"/>
                <a:cs typeface="Arial" panose="020B0604020202020204" pitchFamily="34" charset="0"/>
              </a:rPr>
              <a:t>Dr.</a:t>
            </a:r>
            <a:r>
              <a:rPr lang="en-IN" sz="2000" dirty="0">
                <a:latin typeface="Arial" panose="020B0604020202020204" pitchFamily="34" charset="0"/>
                <a:cs typeface="Arial" panose="020B0604020202020204" pitchFamily="34" charset="0"/>
              </a:rPr>
              <a:t> S. </a:t>
            </a:r>
            <a:r>
              <a:rPr lang="en-IN" sz="2000" dirty="0" err="1">
                <a:latin typeface="Arial" panose="020B0604020202020204" pitchFamily="34" charset="0"/>
                <a:cs typeface="Arial" panose="020B0604020202020204" pitchFamily="34" charset="0"/>
              </a:rPr>
              <a:t>Gopikrishnan</a:t>
            </a:r>
            <a:endParaRPr lang="en-IN" sz="2000"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z="2000" smtClean="0">
                <a:latin typeface="Arial" panose="020B0604020202020204" pitchFamily="34" charset="0"/>
                <a:cs typeface="Arial" panose="020B0604020202020204" pitchFamily="34" charset="0"/>
              </a:rPr>
              <a:t>38</a:t>
            </a:fld>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993971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Summary</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600"/>
              </a:spcBef>
              <a:spcAft>
                <a:spcPts val="600"/>
              </a:spcAft>
              <a:buNone/>
            </a:pPr>
            <a:r>
              <a:rPr lang="en-IN" sz="2400" dirty="0">
                <a:latin typeface="Arial" panose="020B0604020202020204" pitchFamily="34" charset="0"/>
                <a:cs typeface="Arial" panose="020B0604020202020204" pitchFamily="34" charset="0"/>
              </a:rPr>
              <a:t>This session will give the knowledge about</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Document</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Collection</a:t>
            </a:r>
          </a:p>
          <a:p>
            <a:pPr marL="996950" lvl="1" indent="-539750">
              <a:lnSpc>
                <a:spcPct val="120000"/>
              </a:lnSpc>
              <a:spcBef>
                <a:spcPts val="600"/>
              </a:spcBef>
              <a:spcAft>
                <a:spcPts val="600"/>
              </a:spcAft>
            </a:pPr>
            <a:r>
              <a:rPr lang="en-IN">
                <a:latin typeface="Arial" panose="020B0604020202020204" pitchFamily="34" charset="0"/>
                <a:cs typeface="Arial" panose="020B0604020202020204" pitchFamily="34" charset="0"/>
              </a:rPr>
              <a:t>CRUD Operations</a:t>
            </a:r>
          </a:p>
          <a:p>
            <a:pPr marL="996950" lvl="1" indent="-539750">
              <a:lnSpc>
                <a:spcPct val="120000"/>
              </a:lnSpc>
              <a:spcBef>
                <a:spcPts val="600"/>
              </a:spcBef>
              <a:spcAft>
                <a:spcPts val="600"/>
              </a:spcAft>
            </a:pPr>
            <a:endParaRPr lang="en-IN" dirty="0">
              <a:latin typeface="Arial" panose="020B0604020202020204" pitchFamily="34" charset="0"/>
              <a:cs typeface="Arial" panose="020B0604020202020204" pitchFamily="34" charset="0"/>
            </a:endParaRPr>
          </a:p>
          <a:p>
            <a:pPr marL="0" indent="0">
              <a:lnSpc>
                <a:spcPct val="120000"/>
              </a:lnSpc>
              <a:spcBef>
                <a:spcPts val="600"/>
              </a:spcBef>
              <a:spcAft>
                <a:spcPts val="600"/>
              </a:spcAft>
              <a:buNone/>
            </a:pP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1E4FA2B1-6748-41D8-AB75-02C9BD84395F}" type="datetime1">
              <a:rPr lang="en-IN" smtClean="0">
                <a:latin typeface="Arial" panose="020B0604020202020204" pitchFamily="34" charset="0"/>
                <a:cs typeface="Arial" panose="020B0604020202020204" pitchFamily="34" charset="0"/>
              </a:rPr>
              <a:t>01-09-2025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39</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905780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IT PPT Template.pptx" id="{54091FC3-898D-497D-92ED-2AD4019B5909}" vid="{614E3B1B-8E84-45D1-BB2E-2BDD1EEBD4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VIT PPT Template</Template>
  <TotalTime>3681</TotalTime>
  <Words>3224</Words>
  <Application>Microsoft Office PowerPoint</Application>
  <PresentationFormat>Widescreen</PresentationFormat>
  <Paragraphs>474</Paragraphs>
  <Slides>39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Arial</vt:lpstr>
      <vt:lpstr>Calibri</vt:lpstr>
      <vt:lpstr>Calibri (Body)</vt:lpstr>
      <vt:lpstr>Calibri Light</vt:lpstr>
      <vt:lpstr>Courier New</vt:lpstr>
      <vt:lpstr>Office Theme</vt:lpstr>
      <vt:lpstr>Course code : CSE3009 Course title  : No SQL Data Bases Module  : 4     Topic   : 1</vt:lpstr>
      <vt:lpstr>Objectives</vt:lpstr>
      <vt:lpstr>Document Oriented Databases</vt:lpstr>
      <vt:lpstr>Document Oriented Databases</vt:lpstr>
      <vt:lpstr>Document Oriented Databases</vt:lpstr>
      <vt:lpstr>Document</vt:lpstr>
      <vt:lpstr>Document: Ordered Sets of Key-Value Pairs</vt:lpstr>
      <vt:lpstr>Document: Ordered Sets of Key-Value Pairs</vt:lpstr>
      <vt:lpstr>Document</vt:lpstr>
      <vt:lpstr>Document</vt:lpstr>
      <vt:lpstr>Document</vt:lpstr>
      <vt:lpstr>Collection</vt:lpstr>
      <vt:lpstr>Collection - Index</vt:lpstr>
      <vt:lpstr>Embedded Document</vt:lpstr>
      <vt:lpstr>Embedded Document</vt:lpstr>
      <vt:lpstr>Embedded Document</vt:lpstr>
      <vt:lpstr>Mongo DB</vt:lpstr>
      <vt:lpstr>MongoDB Terminology</vt:lpstr>
      <vt:lpstr>MongoDB: Hierarchical Objects</vt:lpstr>
      <vt:lpstr>The use Command</vt:lpstr>
      <vt:lpstr>show dbs command</vt:lpstr>
      <vt:lpstr>db.dropDatabase() command </vt:lpstr>
      <vt:lpstr>createCollection() Method</vt:lpstr>
      <vt:lpstr>createCollection() Method</vt:lpstr>
      <vt:lpstr>drop() Method</vt:lpstr>
      <vt:lpstr>Mongo DB Datatypes</vt:lpstr>
      <vt:lpstr>Mongo DB Datatypes</vt:lpstr>
      <vt:lpstr>Mongo DB Datatypes</vt:lpstr>
      <vt:lpstr>insert() Method</vt:lpstr>
      <vt:lpstr>insert() Method</vt:lpstr>
      <vt:lpstr>insert() Method</vt:lpstr>
      <vt:lpstr>find() Method</vt:lpstr>
      <vt:lpstr>Where Clause in MongoDB</vt:lpstr>
      <vt:lpstr>AND, OR in MongoDB</vt:lpstr>
      <vt:lpstr>Update() Method</vt:lpstr>
      <vt:lpstr>Save() Method</vt:lpstr>
      <vt:lpstr>remove() Method</vt:lpstr>
      <vt:lpstr>remove() Method</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code : CSE1004 Course title  : Database Management System</dc:title>
  <dc:creator>gopikrishnan sundaram</dc:creator>
  <cp:lastModifiedBy>Dr. Gopikrishnan S</cp:lastModifiedBy>
  <cp:revision>192</cp:revision>
  <dcterms:created xsi:type="dcterms:W3CDTF">2019-11-30T05:18:24Z</dcterms:created>
  <dcterms:modified xsi:type="dcterms:W3CDTF">2025-09-01T07:16:25Z</dcterms:modified>
</cp:coreProperties>
</file>