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8" r:id="rId3"/>
    <p:sldId id="364" r:id="rId4"/>
    <p:sldId id="365" r:id="rId5"/>
    <p:sldId id="366" r:id="rId6"/>
    <p:sldId id="368" r:id="rId7"/>
    <p:sldId id="369" r:id="rId8"/>
    <p:sldId id="370" r:id="rId9"/>
    <p:sldId id="371" r:id="rId10"/>
    <p:sldId id="372" r:id="rId11"/>
    <p:sldId id="373" r:id="rId12"/>
    <p:sldId id="374" r:id="rId13"/>
    <p:sldId id="375" r:id="rId14"/>
    <p:sldId id="376" r:id="rId15"/>
    <p:sldId id="377" r:id="rId16"/>
    <p:sldId id="378" r:id="rId17"/>
    <p:sldId id="379" r:id="rId18"/>
    <p:sldId id="380" r:id="rId19"/>
    <p:sldId id="381" r:id="rId20"/>
    <p:sldId id="382" r:id="rId21"/>
    <p:sldId id="383" r:id="rId22"/>
    <p:sldId id="25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210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6F9-1CCB-412E-807B-54E78A47C39C}" type="datetimeFigureOut">
              <a:rPr lang="en-IN" smtClean="0"/>
              <a:t>28-04-2023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0DDA-CF3D-48BA-A0B0-D24E17EB7419}" type="slidenum">
              <a:rPr lang="en-IN" smtClean="0"/>
              <a:t>‹#›</a:t>
            </a:fld>
            <a:endParaRPr lang="en-IN"/>
          </a:p>
        </p:txBody>
      </p:sp>
    </p:spTree>
    <p:extLst>
      <p:ext uri="{BB962C8B-B14F-4D97-AF65-F5344CB8AC3E}">
        <p14:creationId xmlns:p14="http://schemas.microsoft.com/office/powerpoint/2010/main" val="254286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18207AF-BBE6-41CB-838F-3B91C45E6842}" type="datetime1">
              <a:rPr lang="en-IN" smtClean="0"/>
              <a:t>28-04-2023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4120577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2001CB-2F0D-4565-974A-BB3B4237F7A0}" type="datetime1">
              <a:rPr lang="en-IN" smtClean="0"/>
              <a:t>28-04-2023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288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25E08F-6321-4732-8935-8B18B4878320}" type="datetime1">
              <a:rPr lang="en-IN" smtClean="0"/>
              <a:t>28-04-2023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7089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FAE6CD2-53BA-43CE-85B2-BECBEC79BED8}" type="datetime1">
              <a:rPr lang="en-IN" smtClean="0"/>
              <a:t>28-04-2023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132958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10AD05-A4E4-4CA4-974B-F265446B2FC3}" type="datetime1">
              <a:rPr lang="en-IN" smtClean="0"/>
              <a:t>28-04-2023</a:t>
            </a:fld>
            <a:endParaRPr lang="en-IN"/>
          </a:p>
        </p:txBody>
      </p:sp>
      <p:sp>
        <p:nvSpPr>
          <p:cNvPr id="8" name="Footer Placeholder 7"/>
          <p:cNvSpPr>
            <a:spLocks noGrp="1"/>
          </p:cNvSpPr>
          <p:nvPr>
            <p:ph type="ftr" sz="quarter" idx="11"/>
          </p:nvPr>
        </p:nvSpPr>
        <p:spPr/>
        <p:txBody>
          <a:bodyPr/>
          <a:lstStyle/>
          <a:p>
            <a:r>
              <a:rPr lang="en-IN"/>
              <a:t>Dr. S. Gopikrishnan</a:t>
            </a:r>
          </a:p>
        </p:txBody>
      </p:sp>
      <p:sp>
        <p:nvSpPr>
          <p:cNvPr id="9" name="Slide Number Placeholder 8"/>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5541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8D32E8-1E32-4E2A-B217-B612998A856C}" type="datetime1">
              <a:rPr lang="en-IN" smtClean="0"/>
              <a:t>28-04-2023</a:t>
            </a:fld>
            <a:endParaRPr lang="en-IN"/>
          </a:p>
        </p:txBody>
      </p:sp>
      <p:sp>
        <p:nvSpPr>
          <p:cNvPr id="4" name="Footer Placeholder 3"/>
          <p:cNvSpPr>
            <a:spLocks noGrp="1"/>
          </p:cNvSpPr>
          <p:nvPr>
            <p:ph type="ftr" sz="quarter" idx="11"/>
          </p:nvPr>
        </p:nvSpPr>
        <p:spPr/>
        <p:txBody>
          <a:bodyPr/>
          <a:lstStyle/>
          <a:p>
            <a:r>
              <a:rPr lang="en-IN"/>
              <a:t>Dr. S. Gopikrishnan</a:t>
            </a:r>
          </a:p>
        </p:txBody>
      </p:sp>
      <p:sp>
        <p:nvSpPr>
          <p:cNvPr id="5" name="Slide Number Placeholder 4"/>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77786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E7F75-E219-4A7A-86AA-8B901170D2FE}" type="datetime1">
              <a:rPr lang="en-IN" smtClean="0"/>
              <a:t>28-04-2023</a:t>
            </a:fld>
            <a:endParaRPr lang="en-IN"/>
          </a:p>
        </p:txBody>
      </p:sp>
      <p:sp>
        <p:nvSpPr>
          <p:cNvPr id="3" name="Footer Placeholder 2"/>
          <p:cNvSpPr>
            <a:spLocks noGrp="1"/>
          </p:cNvSpPr>
          <p:nvPr>
            <p:ph type="ftr" sz="quarter" idx="11"/>
          </p:nvPr>
        </p:nvSpPr>
        <p:spPr/>
        <p:txBody>
          <a:bodyPr/>
          <a:lstStyle/>
          <a:p>
            <a:r>
              <a:rPr lang="en-IN"/>
              <a:t>Dr. S. Gopikrishnan</a:t>
            </a:r>
          </a:p>
        </p:txBody>
      </p:sp>
      <p:sp>
        <p:nvSpPr>
          <p:cNvPr id="4" name="Slide Number Placeholder 3"/>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2624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F16AFA-FDBE-49F0-A857-020340421B04}" type="datetime1">
              <a:rPr lang="en-IN" smtClean="0"/>
              <a:t>28-04-2023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4413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176920-F609-41C5-957C-A5E46109118D}" type="datetime1">
              <a:rPr lang="en-IN" smtClean="0"/>
              <a:t>28-04-2023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3977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8908AA1-2BEE-4CB8-A992-73CF63948E2E}" type="datetime1">
              <a:rPr lang="en-IN" smtClean="0"/>
              <a:t>28-04-2023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8689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57EAF6-71C1-4CCC-BB0E-BC6703073DD8}" type="datetime1">
              <a:rPr lang="en-IN" smtClean="0"/>
              <a:t>28-04-2023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9865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A101D-20D2-4D81-A838-9588DFC7E809}" type="datetime1">
              <a:rPr lang="en-IN" smtClean="0"/>
              <a:t>28-04-2023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 Gopikrishnan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F8B39-E037-49D7-848F-F055834E3AA1}" type="slidenum">
              <a:rPr lang="en-IN" smtClean="0"/>
              <a:t>‹#›</a:t>
            </a:fld>
            <a:endParaRPr lang="en-IN"/>
          </a:p>
        </p:txBody>
      </p:sp>
    </p:spTree>
    <p:extLst>
      <p:ext uri="{BB962C8B-B14F-4D97-AF65-F5344CB8AC3E}">
        <p14:creationId xmlns:p14="http://schemas.microsoft.com/office/powerpoint/2010/main" val="374279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178260"/>
            <a:ext cx="9144000" cy="953575"/>
          </a:xfrm>
        </p:spPr>
        <p:txBody>
          <a:bodyPr>
            <a:noAutofit/>
          </a:bodyPr>
          <a:lstStyle/>
          <a:p>
            <a:pPr algn="l">
              <a:lnSpc>
                <a:spcPct val="100000"/>
              </a:lnSpc>
            </a:pPr>
            <a:r>
              <a:rPr lang="en-IN" sz="2800" dirty="0">
                <a:solidFill>
                  <a:srgbClr val="00B050"/>
                </a:solidFill>
                <a:latin typeface="Arial" panose="020B0604020202020204" pitchFamily="34" charset="0"/>
                <a:cs typeface="Arial" panose="020B0604020202020204" pitchFamily="34" charset="0"/>
              </a:rPr>
              <a:t>Course code	: </a:t>
            </a:r>
            <a:r>
              <a:rPr lang="en-IN" sz="2800" b="1" dirty="0">
                <a:solidFill>
                  <a:srgbClr val="00B050"/>
                </a:solidFill>
                <a:latin typeface="Arial" panose="020B0604020202020204" pitchFamily="34" charset="0"/>
                <a:cs typeface="Arial" panose="020B0604020202020204" pitchFamily="34" charset="0"/>
              </a:rPr>
              <a:t>CSE3009</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Course title		: </a:t>
            </a:r>
            <a:r>
              <a:rPr lang="en-IN" sz="2800" b="1" dirty="0">
                <a:solidFill>
                  <a:srgbClr val="00B050"/>
                </a:solidFill>
                <a:latin typeface="Arial" panose="020B0604020202020204" pitchFamily="34" charset="0"/>
                <a:cs typeface="Arial" panose="020B0604020202020204" pitchFamily="34" charset="0"/>
              </a:rPr>
              <a:t>No SQL Data Bases</a:t>
            </a:r>
            <a:br>
              <a:rPr lang="en-IN" sz="2800" b="1"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Module		: </a:t>
            </a:r>
            <a:r>
              <a:rPr lang="en-IN" sz="2800" b="1" dirty="0">
                <a:solidFill>
                  <a:srgbClr val="00B050"/>
                </a:solidFill>
                <a:latin typeface="Arial" panose="020B0604020202020204" pitchFamily="34" charset="0"/>
                <a:cs typeface="Arial" panose="020B0604020202020204" pitchFamily="34" charset="0"/>
              </a:rPr>
              <a:t>6</a:t>
            </a:r>
            <a:r>
              <a:rPr lang="en-IN" sz="2800" dirty="0">
                <a:solidFill>
                  <a:srgbClr val="00B050"/>
                </a:solidFill>
                <a:latin typeface="Arial" panose="020B0604020202020204" pitchFamily="34" charset="0"/>
                <a:cs typeface="Arial" panose="020B0604020202020204" pitchFamily="34" charset="0"/>
              </a:rPr>
              <a:t> 			</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Topic			: </a:t>
            </a:r>
            <a:r>
              <a:rPr lang="en-IN" sz="2800" b="1" dirty="0">
                <a:solidFill>
                  <a:srgbClr val="00B050"/>
                </a:solidFill>
                <a:latin typeface="Arial" panose="020B0604020202020204" pitchFamily="34" charset="0"/>
                <a:cs typeface="Arial" panose="020B0604020202020204" pitchFamily="34" charset="0"/>
              </a:rPr>
              <a:t>2</a:t>
            </a:r>
          </a:p>
        </p:txBody>
      </p:sp>
      <p:sp>
        <p:nvSpPr>
          <p:cNvPr id="6" name="Subtitle 2"/>
          <p:cNvSpPr>
            <a:spLocks noGrp="1"/>
          </p:cNvSpPr>
          <p:nvPr>
            <p:ph type="subTitle" idx="1"/>
          </p:nvPr>
        </p:nvSpPr>
        <p:spPr>
          <a:xfrm>
            <a:off x="1402183" y="3677818"/>
            <a:ext cx="9144000" cy="1655762"/>
          </a:xfrm>
        </p:spPr>
        <p:txBody>
          <a:bodyPr>
            <a:normAutofit/>
          </a:bodyPr>
          <a:lstStyle/>
          <a:p>
            <a:r>
              <a:rPr lang="it-IT" sz="4000" b="1" dirty="0">
                <a:solidFill>
                  <a:srgbClr val="0070C0"/>
                </a:solidFill>
                <a:latin typeface="Arial" panose="020B0604020202020204" pitchFamily="34" charset="0"/>
                <a:cs typeface="Arial" panose="020B0604020202020204" pitchFamily="34" charset="0"/>
              </a:rPr>
              <a:t>Neo4j DB Introduction</a:t>
            </a:r>
            <a:endParaRPr lang="en-IN" sz="4000" b="1" dirty="0">
              <a:solidFill>
                <a:srgbClr val="0070C0"/>
              </a:solidFill>
              <a:latin typeface="Arial" panose="020B0604020202020204" pitchFamily="34" charset="0"/>
              <a:cs typeface="Arial" panose="020B0604020202020204" pitchFamily="34" charset="0"/>
            </a:endParaRPr>
          </a:p>
        </p:txBody>
      </p:sp>
      <p:pic>
        <p:nvPicPr>
          <p:cNvPr id="7"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7"/>
          <p:cNvSpPr>
            <a:spLocks noGrp="1"/>
          </p:cNvSpPr>
          <p:nvPr>
            <p:ph type="dt" sz="half" idx="10"/>
          </p:nvPr>
        </p:nvSpPr>
        <p:spPr/>
        <p:txBody>
          <a:bodyPr/>
          <a:lstStyle/>
          <a:p>
            <a:fld id="{756728E3-B72D-49A5-85A2-5AE45557AE43}" type="datetime1">
              <a:rPr lang="en-IN" smtClean="0">
                <a:latin typeface="Calibri (Body)"/>
              </a:rPr>
              <a:t>28-04-2023</a:t>
            </a:fld>
            <a:endParaRPr lang="en-IN" dirty="0">
              <a:latin typeface="Calibri (Body)"/>
            </a:endParaRPr>
          </a:p>
        </p:txBody>
      </p:sp>
      <p:sp>
        <p:nvSpPr>
          <p:cNvPr id="9" name="Footer Placeholder 8"/>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Gopikrishnan</a:t>
            </a:r>
          </a:p>
        </p:txBody>
      </p:sp>
      <p:sp>
        <p:nvSpPr>
          <p:cNvPr id="10" name="Slide Number Placeholder 9"/>
          <p:cNvSpPr>
            <a:spLocks noGrp="1"/>
          </p:cNvSpPr>
          <p:nvPr>
            <p:ph type="sldNum" sz="quarter" idx="12"/>
          </p:nvPr>
        </p:nvSpPr>
        <p:spPr/>
        <p:txBody>
          <a:bodyPr/>
          <a:lstStyle/>
          <a:p>
            <a:fld id="{E02F8B39-E037-49D7-848F-F055834E3AA1}" type="slidenum">
              <a:rPr lang="en-IN" smtClean="0">
                <a:latin typeface="Arial" panose="020B0604020202020204" pitchFamily="34" charset="0"/>
                <a:cs typeface="Arial" panose="020B0604020202020204" pitchFamily="34" charset="0"/>
              </a:rPr>
              <a:t>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89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Neo4j Introduction</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Neo4j Windows Installation</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61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History</a:t>
            </a: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Neo4j is the world's leading open source Graph Database which is developed using Java technology. It is highly scalable and schema free (NoSQL).</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Nowadays, most of the data exists in the form of the relationship between different objects and more often, the relationship between the data is more valuable than the data itself.</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Relational databases store highly structured data which have several records storing the same type of data so they can be used to store structured data and, they do not store the relationships between the data.</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0601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RDBMS Vs Graph Database</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Following is the table which compares Relational databases and Graph databases.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a:t>
            </a:fld>
            <a:endParaRPr lang="en-IN"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262579776"/>
              </p:ext>
            </p:extLst>
          </p:nvPr>
        </p:nvGraphicFramePr>
        <p:xfrm>
          <a:off x="1268930" y="3090102"/>
          <a:ext cx="9654139" cy="2621280"/>
        </p:xfrm>
        <a:graphic>
          <a:graphicData uri="http://schemas.openxmlformats.org/drawingml/2006/table">
            <a:tbl>
              <a:tblPr/>
              <a:tblGrid>
                <a:gridCol w="1543051">
                  <a:extLst>
                    <a:ext uri="{9D8B030D-6E8A-4147-A177-3AD203B41FA5}">
                      <a16:colId xmlns:a16="http://schemas.microsoft.com/office/drawing/2014/main" val="389664511"/>
                    </a:ext>
                  </a:extLst>
                </a:gridCol>
                <a:gridCol w="3896827">
                  <a:extLst>
                    <a:ext uri="{9D8B030D-6E8A-4147-A177-3AD203B41FA5}">
                      <a16:colId xmlns:a16="http://schemas.microsoft.com/office/drawing/2014/main" val="1129066998"/>
                    </a:ext>
                  </a:extLst>
                </a:gridCol>
                <a:gridCol w="4214261">
                  <a:extLst>
                    <a:ext uri="{9D8B030D-6E8A-4147-A177-3AD203B41FA5}">
                      <a16:colId xmlns:a16="http://schemas.microsoft.com/office/drawing/2014/main" val="2103820537"/>
                    </a:ext>
                  </a:extLst>
                </a:gridCol>
              </a:tblGrid>
              <a:tr h="0">
                <a:tc>
                  <a:txBody>
                    <a:bodyPr/>
                    <a:lstStyle/>
                    <a:p>
                      <a:pPr algn="ctr" fontAlgn="t"/>
                      <a:r>
                        <a:rPr lang="en-IN" sz="2200" dirty="0" err="1">
                          <a:effectLst/>
                          <a:latin typeface="Arial" panose="020B0604020202020204" pitchFamily="34" charset="0"/>
                          <a:cs typeface="Arial" panose="020B0604020202020204" pitchFamily="34" charset="0"/>
                        </a:rPr>
                        <a:t>Sr.No</a:t>
                      </a:r>
                      <a:endParaRPr lang="en-IN" sz="2200" dirty="0">
                        <a:effectLst/>
                        <a:latin typeface="Arial" panose="020B0604020202020204" pitchFamily="34" charset="0"/>
                        <a:cs typeface="Arial" panose="020B0604020202020204" pitchFamily="34" charset="0"/>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r>
                        <a:rPr lang="en-IN" sz="2200">
                          <a:effectLst/>
                          <a:latin typeface="Arial" panose="020B0604020202020204" pitchFamily="34" charset="0"/>
                          <a:cs typeface="Arial" panose="020B0604020202020204" pitchFamily="34" charset="0"/>
                        </a:rPr>
                        <a:t>RDBMS</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r>
                        <a:rPr lang="en-IN" sz="2200">
                          <a:effectLst/>
                          <a:latin typeface="Arial" panose="020B0604020202020204" pitchFamily="34" charset="0"/>
                          <a:cs typeface="Arial" panose="020B0604020202020204" pitchFamily="34" charset="0"/>
                        </a:rPr>
                        <a:t>Graph Database</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extLst>
                  <a:ext uri="{0D108BD9-81ED-4DB2-BD59-A6C34878D82A}">
                    <a16:rowId xmlns:a16="http://schemas.microsoft.com/office/drawing/2014/main" val="3321417342"/>
                  </a:ext>
                </a:extLst>
              </a:tr>
              <a:tr h="0">
                <a:tc>
                  <a:txBody>
                    <a:bodyPr/>
                    <a:lstStyle/>
                    <a:p>
                      <a:pPr algn="ctr" fontAlgn="t"/>
                      <a:r>
                        <a:rPr lang="en-IN" sz="2200" dirty="0">
                          <a:effectLst/>
                          <a:latin typeface="Arial" panose="020B0604020202020204" pitchFamily="34" charset="0"/>
                          <a:cs typeface="Arial" panose="020B0604020202020204" pitchFamily="34" charset="0"/>
                        </a:rPr>
                        <a:t>1</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200">
                          <a:effectLst/>
                          <a:latin typeface="Arial" panose="020B0604020202020204" pitchFamily="34" charset="0"/>
                          <a:cs typeface="Arial" panose="020B0604020202020204" pitchFamily="34" charset="0"/>
                        </a:rPr>
                        <a:t>Tables</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200">
                          <a:effectLst/>
                          <a:latin typeface="Arial" panose="020B0604020202020204" pitchFamily="34" charset="0"/>
                          <a:cs typeface="Arial" panose="020B0604020202020204" pitchFamily="34" charset="0"/>
                        </a:rPr>
                        <a:t>Graphs</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4813762"/>
                  </a:ext>
                </a:extLst>
              </a:tr>
              <a:tr h="0">
                <a:tc>
                  <a:txBody>
                    <a:bodyPr/>
                    <a:lstStyle/>
                    <a:p>
                      <a:pPr algn="ctr" fontAlgn="t"/>
                      <a:r>
                        <a:rPr lang="en-IN" sz="2200" dirty="0">
                          <a:effectLst/>
                          <a:latin typeface="Arial" panose="020B0604020202020204" pitchFamily="34" charset="0"/>
                          <a:cs typeface="Arial" panose="020B0604020202020204" pitchFamily="34" charset="0"/>
                        </a:rPr>
                        <a:t>2</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200">
                          <a:effectLst/>
                          <a:latin typeface="Arial" panose="020B0604020202020204" pitchFamily="34" charset="0"/>
                          <a:cs typeface="Arial" panose="020B0604020202020204" pitchFamily="34" charset="0"/>
                        </a:rPr>
                        <a:t>Rows</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200">
                          <a:effectLst/>
                          <a:latin typeface="Arial" panose="020B0604020202020204" pitchFamily="34" charset="0"/>
                          <a:cs typeface="Arial" panose="020B0604020202020204" pitchFamily="34" charset="0"/>
                        </a:rPr>
                        <a:t>Nodes</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6085500"/>
                  </a:ext>
                </a:extLst>
              </a:tr>
              <a:tr h="0">
                <a:tc>
                  <a:txBody>
                    <a:bodyPr/>
                    <a:lstStyle/>
                    <a:p>
                      <a:pPr algn="ctr" fontAlgn="t"/>
                      <a:r>
                        <a:rPr lang="en-IN" sz="2200" dirty="0">
                          <a:effectLst/>
                          <a:latin typeface="Arial" panose="020B0604020202020204" pitchFamily="34" charset="0"/>
                          <a:cs typeface="Arial" panose="020B0604020202020204" pitchFamily="34" charset="0"/>
                        </a:rPr>
                        <a:t>3</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200" dirty="0">
                          <a:effectLst/>
                          <a:latin typeface="Arial" panose="020B0604020202020204" pitchFamily="34" charset="0"/>
                          <a:cs typeface="Arial" panose="020B0604020202020204" pitchFamily="34" charset="0"/>
                        </a:rPr>
                        <a:t>Columns and Data</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200">
                          <a:effectLst/>
                          <a:latin typeface="Arial" panose="020B0604020202020204" pitchFamily="34" charset="0"/>
                          <a:cs typeface="Arial" panose="020B0604020202020204" pitchFamily="34" charset="0"/>
                        </a:rPr>
                        <a:t>Properties and its values</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218817"/>
                  </a:ext>
                </a:extLst>
              </a:tr>
              <a:tr h="0">
                <a:tc>
                  <a:txBody>
                    <a:bodyPr/>
                    <a:lstStyle/>
                    <a:p>
                      <a:pPr algn="ctr" fontAlgn="t"/>
                      <a:r>
                        <a:rPr lang="en-IN" sz="2200" dirty="0">
                          <a:effectLst/>
                          <a:latin typeface="Arial" panose="020B0604020202020204" pitchFamily="34" charset="0"/>
                          <a:cs typeface="Arial" panose="020B0604020202020204" pitchFamily="34" charset="0"/>
                        </a:rPr>
                        <a:t>4</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200">
                          <a:effectLst/>
                          <a:latin typeface="Arial" panose="020B0604020202020204" pitchFamily="34" charset="0"/>
                          <a:cs typeface="Arial" panose="020B0604020202020204" pitchFamily="34" charset="0"/>
                        </a:rPr>
                        <a:t>Constraints</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200">
                          <a:effectLst/>
                          <a:latin typeface="Arial" panose="020B0604020202020204" pitchFamily="34" charset="0"/>
                          <a:cs typeface="Arial" panose="020B0604020202020204" pitchFamily="34" charset="0"/>
                        </a:rPr>
                        <a:t>Relationships</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0239801"/>
                  </a:ext>
                </a:extLst>
              </a:tr>
              <a:tr h="0">
                <a:tc>
                  <a:txBody>
                    <a:bodyPr/>
                    <a:lstStyle/>
                    <a:p>
                      <a:pPr algn="ctr" fontAlgn="t"/>
                      <a:r>
                        <a:rPr lang="en-IN" sz="2200" dirty="0">
                          <a:effectLst/>
                          <a:latin typeface="Arial" panose="020B0604020202020204" pitchFamily="34" charset="0"/>
                          <a:cs typeface="Arial" panose="020B0604020202020204" pitchFamily="34" charset="0"/>
                        </a:rPr>
                        <a:t>5</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200">
                          <a:effectLst/>
                          <a:latin typeface="Arial" panose="020B0604020202020204" pitchFamily="34" charset="0"/>
                          <a:cs typeface="Arial" panose="020B0604020202020204" pitchFamily="34" charset="0"/>
                        </a:rPr>
                        <a:t>Joins</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200" dirty="0">
                          <a:effectLst/>
                          <a:latin typeface="Arial" panose="020B0604020202020204" pitchFamily="34" charset="0"/>
                          <a:cs typeface="Arial" panose="020B0604020202020204" pitchFamily="34" charset="0"/>
                        </a:rPr>
                        <a:t>Traversal</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6130416"/>
                  </a:ext>
                </a:extLst>
              </a:tr>
            </a:tbl>
          </a:graphicData>
        </a:graphic>
      </p:graphicFrame>
    </p:spTree>
    <p:extLst>
      <p:ext uri="{BB962C8B-B14F-4D97-AF65-F5344CB8AC3E}">
        <p14:creationId xmlns:p14="http://schemas.microsoft.com/office/powerpoint/2010/main" val="410248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Advantages of Neo4j</a:t>
            </a: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539750" indent="-357188">
              <a:lnSpc>
                <a:spcPct val="120000"/>
              </a:lnSpc>
              <a:spcBef>
                <a:spcPts val="1800"/>
              </a:spcBef>
              <a:spcAft>
                <a:spcPts val="600"/>
              </a:spcAft>
            </a:pPr>
            <a:r>
              <a:rPr lang="en-US" sz="2400" dirty="0">
                <a:latin typeface="Arial" panose="020B0604020202020204" pitchFamily="34" charset="0"/>
                <a:cs typeface="Arial" panose="020B0604020202020204" pitchFamily="34" charset="0"/>
              </a:rPr>
              <a:t>Flexible data model − Neo4j provides a flexible simple and yet powerful data model, which can be easily changed according to the applications and industries.</a:t>
            </a:r>
          </a:p>
          <a:p>
            <a:pPr marL="539750" indent="-357188">
              <a:lnSpc>
                <a:spcPct val="120000"/>
              </a:lnSpc>
              <a:spcBef>
                <a:spcPts val="1800"/>
              </a:spcBef>
              <a:spcAft>
                <a:spcPts val="600"/>
              </a:spcAft>
            </a:pPr>
            <a:r>
              <a:rPr lang="en-US" sz="2400" dirty="0">
                <a:latin typeface="Arial" panose="020B0604020202020204" pitchFamily="34" charset="0"/>
                <a:cs typeface="Arial" panose="020B0604020202020204" pitchFamily="34" charset="0"/>
              </a:rPr>
              <a:t>Real-time insights − Neo4j provides results based on real-time data.</a:t>
            </a:r>
          </a:p>
          <a:p>
            <a:pPr marL="539750" indent="-357188">
              <a:lnSpc>
                <a:spcPct val="120000"/>
              </a:lnSpc>
              <a:spcBef>
                <a:spcPts val="1800"/>
              </a:spcBef>
              <a:spcAft>
                <a:spcPts val="600"/>
              </a:spcAft>
            </a:pPr>
            <a:r>
              <a:rPr lang="en-US" sz="2400" dirty="0">
                <a:latin typeface="Arial" panose="020B0604020202020204" pitchFamily="34" charset="0"/>
                <a:cs typeface="Arial" panose="020B0604020202020204" pitchFamily="34" charset="0"/>
              </a:rPr>
              <a:t>High availability − Neo4j is highly available for large enterprise real-time applications with transactional guarantees.</a:t>
            </a:r>
          </a:p>
          <a:p>
            <a:pPr marL="539750" indent="-357188">
              <a:lnSpc>
                <a:spcPct val="120000"/>
              </a:lnSpc>
              <a:spcBef>
                <a:spcPts val="1800"/>
              </a:spcBef>
              <a:spcAft>
                <a:spcPts val="600"/>
              </a:spcAft>
            </a:pPr>
            <a:r>
              <a:rPr lang="en-US" sz="2400" dirty="0">
                <a:latin typeface="Arial" panose="020B0604020202020204" pitchFamily="34" charset="0"/>
                <a:cs typeface="Arial" panose="020B0604020202020204" pitchFamily="34" charset="0"/>
              </a:rPr>
              <a:t>Connected and semi structures data − Using Neo4j, you can easily represent connected and semi-structured data.</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6770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Advantages of Neo4j</a:t>
            </a:r>
          </a:p>
        </p:txBody>
      </p:sp>
      <p:sp>
        <p:nvSpPr>
          <p:cNvPr id="3" name="Content Placeholder 2"/>
          <p:cNvSpPr>
            <a:spLocks noGrp="1"/>
          </p:cNvSpPr>
          <p:nvPr>
            <p:ph idx="1"/>
          </p:nvPr>
        </p:nvSpPr>
        <p:spPr>
          <a:xfrm>
            <a:off x="838200" y="1690688"/>
            <a:ext cx="10515600" cy="4486275"/>
          </a:xfrm>
        </p:spPr>
        <p:txBody>
          <a:bodyPr>
            <a:normAutofit/>
          </a:bodyPr>
          <a:lstStyle/>
          <a:p>
            <a:pPr marL="539750" indent="-357188">
              <a:lnSpc>
                <a:spcPct val="120000"/>
              </a:lnSpc>
              <a:spcBef>
                <a:spcPts val="1800"/>
              </a:spcBef>
              <a:spcAft>
                <a:spcPts val="600"/>
              </a:spcAft>
            </a:pPr>
            <a:r>
              <a:rPr lang="en-US" sz="2400" dirty="0">
                <a:latin typeface="Arial" panose="020B0604020202020204" pitchFamily="34" charset="0"/>
                <a:cs typeface="Arial" panose="020B0604020202020204" pitchFamily="34" charset="0"/>
              </a:rPr>
              <a:t>Easy retrieval − Using Neo4j, you can not only represent but also easily retrieve (traverse/navigate) connected data faster when compared to other databases.</a:t>
            </a:r>
          </a:p>
          <a:p>
            <a:pPr marL="539750" indent="-357188">
              <a:lnSpc>
                <a:spcPct val="120000"/>
              </a:lnSpc>
              <a:spcBef>
                <a:spcPts val="1800"/>
              </a:spcBef>
              <a:spcAft>
                <a:spcPts val="600"/>
              </a:spcAft>
            </a:pPr>
            <a:r>
              <a:rPr lang="en-US" sz="2400" dirty="0">
                <a:latin typeface="Arial" panose="020B0604020202020204" pitchFamily="34" charset="0"/>
                <a:cs typeface="Arial" panose="020B0604020202020204" pitchFamily="34" charset="0"/>
              </a:rPr>
              <a:t>No joins − Using Neo4j, it does NOT require complex joins to retrieve connected/related data as it is very easy to retrieve its adjacent node or relationship details without joins or indexes.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1446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Features of Neo4j</a:t>
            </a: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539750" indent="-357188">
              <a:lnSpc>
                <a:spcPct val="120000"/>
              </a:lnSpc>
              <a:spcBef>
                <a:spcPts val="1800"/>
              </a:spcBef>
              <a:spcAft>
                <a:spcPts val="600"/>
              </a:spcAft>
            </a:pPr>
            <a:r>
              <a:rPr lang="en-US" sz="2400" dirty="0">
                <a:latin typeface="Arial" panose="020B0604020202020204" pitchFamily="34" charset="0"/>
                <a:cs typeface="Arial" panose="020B0604020202020204" pitchFamily="34" charset="0"/>
              </a:rPr>
              <a:t>Data model (flexible schema) − Neo4j follows a data model named </a:t>
            </a:r>
            <a:r>
              <a:rPr lang="en-US" sz="2400" dirty="0">
                <a:solidFill>
                  <a:srgbClr val="FF0000"/>
                </a:solidFill>
                <a:latin typeface="Arial" panose="020B0604020202020204" pitchFamily="34" charset="0"/>
                <a:cs typeface="Arial" panose="020B0604020202020204" pitchFamily="34" charset="0"/>
              </a:rPr>
              <a:t>native property graph model</a:t>
            </a:r>
            <a:r>
              <a:rPr lang="en-US" sz="2400" dirty="0">
                <a:latin typeface="Arial" panose="020B0604020202020204" pitchFamily="34" charset="0"/>
                <a:cs typeface="Arial" panose="020B0604020202020204" pitchFamily="34" charset="0"/>
              </a:rPr>
              <a:t>. Here, the graph contains nodes (entities) and these nodes are connected with each other (depicted by relationships).</a:t>
            </a:r>
          </a:p>
          <a:p>
            <a:pPr marL="539750" indent="-357188">
              <a:lnSpc>
                <a:spcPct val="120000"/>
              </a:lnSpc>
              <a:spcBef>
                <a:spcPts val="1800"/>
              </a:spcBef>
              <a:spcAft>
                <a:spcPts val="600"/>
              </a:spcAft>
            </a:pPr>
            <a:r>
              <a:rPr lang="en-US" sz="2400" dirty="0">
                <a:latin typeface="Arial" panose="020B0604020202020204" pitchFamily="34" charset="0"/>
                <a:cs typeface="Arial" panose="020B0604020202020204" pitchFamily="34" charset="0"/>
              </a:rPr>
              <a:t>In Neo4j, there is no need to follow a fixed schema. You can add or remove properties as per requirement. It also provides schema constraints.</a:t>
            </a:r>
          </a:p>
          <a:p>
            <a:pPr marL="539750" indent="-357188">
              <a:lnSpc>
                <a:spcPct val="120000"/>
              </a:lnSpc>
              <a:spcBef>
                <a:spcPts val="1800"/>
              </a:spcBef>
              <a:spcAft>
                <a:spcPts val="600"/>
              </a:spcAft>
            </a:pPr>
            <a:r>
              <a:rPr lang="en-US" sz="2400" dirty="0">
                <a:latin typeface="Arial" panose="020B0604020202020204" pitchFamily="34" charset="0"/>
                <a:cs typeface="Arial" panose="020B0604020202020204" pitchFamily="34" charset="0"/>
              </a:rPr>
              <a:t>ACID properties − Neo4j </a:t>
            </a:r>
            <a:r>
              <a:rPr lang="en-US" sz="2400" dirty="0">
                <a:solidFill>
                  <a:srgbClr val="FF0000"/>
                </a:solidFill>
                <a:latin typeface="Arial" panose="020B0604020202020204" pitchFamily="34" charset="0"/>
                <a:cs typeface="Arial" panose="020B0604020202020204" pitchFamily="34" charset="0"/>
              </a:rPr>
              <a:t>supports full ACID </a:t>
            </a:r>
            <a:r>
              <a:rPr lang="en-US" sz="2400" dirty="0">
                <a:latin typeface="Arial" panose="020B0604020202020204" pitchFamily="34" charset="0"/>
                <a:cs typeface="Arial" panose="020B0604020202020204" pitchFamily="34" charset="0"/>
              </a:rPr>
              <a:t>(Atomicity, Consistency, Isolation, and Durability) rules.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5183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Features of Neo4j</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20000"/>
              </a:lnSpc>
              <a:spcBef>
                <a:spcPts val="1800"/>
              </a:spcBef>
              <a:spcAft>
                <a:spcPts val="600"/>
              </a:spcAft>
            </a:pPr>
            <a:r>
              <a:rPr lang="en-US" sz="2400" dirty="0">
                <a:latin typeface="Arial" panose="020B0604020202020204" pitchFamily="34" charset="0"/>
                <a:cs typeface="Arial" panose="020B0604020202020204" pitchFamily="34" charset="0"/>
              </a:rPr>
              <a:t>Scalability and reliability − You can scale the database by increasing the number of reads/writes, and the volume without effecting the query processing speed and data integrity. Neo4j also provides support for replication for data safety and reliability.</a:t>
            </a:r>
          </a:p>
          <a:p>
            <a:pPr marL="539750" indent="-357188">
              <a:lnSpc>
                <a:spcPct val="120000"/>
              </a:lnSpc>
              <a:spcBef>
                <a:spcPts val="1800"/>
              </a:spcBef>
              <a:spcAft>
                <a:spcPts val="600"/>
              </a:spcAft>
            </a:pPr>
            <a:r>
              <a:rPr lang="en-US" sz="2400" dirty="0">
                <a:latin typeface="Arial" panose="020B0604020202020204" pitchFamily="34" charset="0"/>
                <a:cs typeface="Arial" panose="020B0604020202020204" pitchFamily="34" charset="0"/>
              </a:rPr>
              <a:t>Cypher Query Language − Neo4j provides a powerful declarative query language known as Cypher. It uses ASCII-art for depicting graphs. </a:t>
            </a:r>
          </a:p>
          <a:p>
            <a:pPr marL="539750" indent="-357188">
              <a:lnSpc>
                <a:spcPct val="120000"/>
              </a:lnSpc>
              <a:spcBef>
                <a:spcPts val="1800"/>
              </a:spcBef>
              <a:spcAft>
                <a:spcPts val="600"/>
              </a:spcAft>
            </a:pPr>
            <a:r>
              <a:rPr lang="en-US" sz="2400" dirty="0">
                <a:latin typeface="Arial" panose="020B0604020202020204" pitchFamily="34" charset="0"/>
                <a:cs typeface="Arial" panose="020B0604020202020204" pitchFamily="34" charset="0"/>
              </a:rPr>
              <a:t>Cypher is easy to learn and can be used to create and retrieve relations between data without using the complex queries like Joins.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3194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Features of Neo4j</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20000"/>
              </a:lnSpc>
              <a:spcBef>
                <a:spcPts val="1800"/>
              </a:spcBef>
              <a:spcAft>
                <a:spcPts val="600"/>
              </a:spcAft>
            </a:pPr>
            <a:r>
              <a:rPr lang="en-US" sz="2400" dirty="0">
                <a:latin typeface="Arial" panose="020B0604020202020204" pitchFamily="34" charset="0"/>
                <a:cs typeface="Arial" panose="020B0604020202020204" pitchFamily="34" charset="0"/>
              </a:rPr>
              <a:t>Built-in web application − Neo4j provides a built-in Neo4j Browser web application. Using this, you can create and query your graph data.</a:t>
            </a:r>
          </a:p>
          <a:p>
            <a:pPr marL="539750" indent="-357188">
              <a:lnSpc>
                <a:spcPct val="120000"/>
              </a:lnSpc>
              <a:spcBef>
                <a:spcPts val="1800"/>
              </a:spcBef>
            </a:pPr>
            <a:r>
              <a:rPr lang="en-US" sz="2400" dirty="0">
                <a:latin typeface="Arial" panose="020B0604020202020204" pitchFamily="34" charset="0"/>
                <a:cs typeface="Arial" panose="020B0604020202020204" pitchFamily="34" charset="0"/>
              </a:rPr>
              <a:t>Drivers − Neo4j can work with:</a:t>
            </a:r>
          </a:p>
          <a:p>
            <a:pPr marL="996950" lvl="1" indent="-357188">
              <a:lnSpc>
                <a:spcPct val="120000"/>
              </a:lnSpc>
              <a:spcBef>
                <a:spcPts val="600"/>
              </a:spcBef>
            </a:pPr>
            <a:r>
              <a:rPr lang="en-US" dirty="0">
                <a:latin typeface="Arial" panose="020B0604020202020204" pitchFamily="34" charset="0"/>
                <a:cs typeface="Arial" panose="020B0604020202020204" pitchFamily="34" charset="0"/>
              </a:rPr>
              <a:t>REST API to work with programming languages such as Java, Spring, Scala etc.</a:t>
            </a:r>
          </a:p>
          <a:p>
            <a:pPr marL="996950" lvl="1" indent="-357188">
              <a:lnSpc>
                <a:spcPct val="120000"/>
              </a:lnSpc>
              <a:spcBef>
                <a:spcPts val="600"/>
              </a:spcBef>
            </a:pPr>
            <a:r>
              <a:rPr lang="en-US" dirty="0">
                <a:latin typeface="Arial" panose="020B0604020202020204" pitchFamily="34" charset="0"/>
                <a:cs typeface="Arial" panose="020B0604020202020204" pitchFamily="34" charset="0"/>
              </a:rPr>
              <a:t>Java Script to work with UI MVC frameworks such as Node JS.</a:t>
            </a:r>
          </a:p>
          <a:p>
            <a:pPr marL="996950" lvl="1" indent="-357188">
              <a:lnSpc>
                <a:spcPct val="120000"/>
              </a:lnSpc>
              <a:spcBef>
                <a:spcPts val="600"/>
              </a:spcBef>
              <a:spcAft>
                <a:spcPts val="600"/>
              </a:spcAft>
            </a:pPr>
            <a:r>
              <a:rPr lang="en-US" dirty="0">
                <a:latin typeface="Arial" panose="020B0604020202020204" pitchFamily="34" charset="0"/>
                <a:cs typeface="Arial" panose="020B0604020202020204" pitchFamily="34" charset="0"/>
              </a:rPr>
              <a:t>It supports two kinds of Java API</a:t>
            </a:r>
          </a:p>
          <a:p>
            <a:pPr marL="539750" lvl="1" indent="-342900">
              <a:lnSpc>
                <a:spcPct val="120000"/>
              </a:lnSpc>
              <a:spcBef>
                <a:spcPts val="1800"/>
              </a:spcBef>
              <a:spcAft>
                <a:spcPts val="600"/>
              </a:spcAft>
            </a:pPr>
            <a:r>
              <a:rPr lang="en-US" dirty="0">
                <a:latin typeface="Arial" panose="020B0604020202020204" pitchFamily="34" charset="0"/>
                <a:cs typeface="Arial" panose="020B0604020202020204" pitchFamily="34" charset="0"/>
              </a:rPr>
              <a:t>Indexing − Neo4j supports Indexes by using Apache Lucence.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1147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Property Graph Data Model</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600"/>
              </a:spcBef>
              <a:spcAft>
                <a:spcPts val="600"/>
              </a:spcAft>
              <a:buNone/>
            </a:pPr>
            <a:r>
              <a:rPr lang="en-US" sz="2150" dirty="0">
                <a:latin typeface="Arial" panose="020B0604020202020204" pitchFamily="34" charset="0"/>
                <a:cs typeface="Arial" panose="020B0604020202020204" pitchFamily="34" charset="0"/>
              </a:rPr>
              <a:t>Neo4j Graph Database follows the </a:t>
            </a:r>
            <a:r>
              <a:rPr lang="en-US" sz="2150" dirty="0">
                <a:solidFill>
                  <a:srgbClr val="FF0000"/>
                </a:solidFill>
                <a:latin typeface="Arial" panose="020B0604020202020204" pitchFamily="34" charset="0"/>
                <a:cs typeface="Arial" panose="020B0604020202020204" pitchFamily="34" charset="0"/>
              </a:rPr>
              <a:t>Property Graph Model </a:t>
            </a:r>
            <a:r>
              <a:rPr lang="en-US" sz="2150" dirty="0">
                <a:latin typeface="Arial" panose="020B0604020202020204" pitchFamily="34" charset="0"/>
                <a:cs typeface="Arial" panose="020B0604020202020204" pitchFamily="34" charset="0"/>
              </a:rPr>
              <a:t>to store and manage its data. Following are the key features of Property Graph Model −</a:t>
            </a:r>
          </a:p>
          <a:p>
            <a:pPr marL="539750" indent="-357188">
              <a:lnSpc>
                <a:spcPct val="110000"/>
              </a:lnSpc>
              <a:spcBef>
                <a:spcPts val="1200"/>
              </a:spcBef>
              <a:spcAft>
                <a:spcPts val="600"/>
              </a:spcAft>
            </a:pPr>
            <a:r>
              <a:rPr lang="en-US" sz="2150" dirty="0">
                <a:latin typeface="Arial" panose="020B0604020202020204" pitchFamily="34" charset="0"/>
                <a:cs typeface="Arial" panose="020B0604020202020204" pitchFamily="34" charset="0"/>
              </a:rPr>
              <a:t>The model represents data in Nodes, Relationships and Properties</a:t>
            </a:r>
          </a:p>
          <a:p>
            <a:pPr marL="539750" indent="-357188">
              <a:lnSpc>
                <a:spcPct val="110000"/>
              </a:lnSpc>
              <a:spcBef>
                <a:spcPts val="600"/>
              </a:spcBef>
              <a:spcAft>
                <a:spcPts val="600"/>
              </a:spcAft>
            </a:pPr>
            <a:r>
              <a:rPr lang="en-US" sz="2150" dirty="0">
                <a:latin typeface="Arial" panose="020B0604020202020204" pitchFamily="34" charset="0"/>
                <a:cs typeface="Arial" panose="020B0604020202020204" pitchFamily="34" charset="0"/>
              </a:rPr>
              <a:t>Properties are key-value pairs</a:t>
            </a:r>
          </a:p>
          <a:p>
            <a:pPr marL="539750" indent="-357188">
              <a:lnSpc>
                <a:spcPct val="110000"/>
              </a:lnSpc>
              <a:spcBef>
                <a:spcPts val="600"/>
              </a:spcBef>
              <a:spcAft>
                <a:spcPts val="600"/>
              </a:spcAft>
            </a:pPr>
            <a:r>
              <a:rPr lang="en-US" sz="2150" dirty="0">
                <a:latin typeface="Arial" panose="020B0604020202020204" pitchFamily="34" charset="0"/>
                <a:cs typeface="Arial" panose="020B0604020202020204" pitchFamily="34" charset="0"/>
              </a:rPr>
              <a:t>Nodes are represented using circle and Relationships are represented using arrow keys</a:t>
            </a:r>
          </a:p>
          <a:p>
            <a:pPr marL="539750" indent="-357188">
              <a:lnSpc>
                <a:spcPct val="110000"/>
              </a:lnSpc>
              <a:spcBef>
                <a:spcPts val="600"/>
              </a:spcBef>
              <a:spcAft>
                <a:spcPts val="600"/>
              </a:spcAft>
            </a:pPr>
            <a:r>
              <a:rPr lang="en-US" sz="2150" dirty="0">
                <a:latin typeface="Arial" panose="020B0604020202020204" pitchFamily="34" charset="0"/>
                <a:cs typeface="Arial" panose="020B0604020202020204" pitchFamily="34" charset="0"/>
              </a:rPr>
              <a:t>Relationships have directions: Unidirectional and Bidirectional. Each Relationship contains "Start Node" or "From Node" and "To Node" or "End Node"</a:t>
            </a:r>
          </a:p>
          <a:p>
            <a:pPr marL="539750" indent="-357188">
              <a:lnSpc>
                <a:spcPct val="110000"/>
              </a:lnSpc>
              <a:spcBef>
                <a:spcPts val="600"/>
              </a:spcBef>
              <a:spcAft>
                <a:spcPts val="600"/>
              </a:spcAft>
            </a:pPr>
            <a:r>
              <a:rPr lang="en-US" sz="2150" dirty="0">
                <a:latin typeface="Arial" panose="020B0604020202020204" pitchFamily="34" charset="0"/>
                <a:cs typeface="Arial" panose="020B0604020202020204" pitchFamily="34" charset="0"/>
              </a:rPr>
              <a:t>Both Nodes and Relationships contain properties. Relationships connects nodes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9453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Property Graph Data Model</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20000"/>
              </a:lnSpc>
              <a:spcBef>
                <a:spcPts val="1800"/>
              </a:spcBef>
              <a:spcAft>
                <a:spcPts val="600"/>
              </a:spcAft>
            </a:pPr>
            <a:r>
              <a:rPr lang="en-US" sz="2300" dirty="0">
                <a:latin typeface="Arial" panose="020B0604020202020204" pitchFamily="34" charset="0"/>
                <a:cs typeface="Arial" panose="020B0604020202020204" pitchFamily="34" charset="0"/>
              </a:rPr>
              <a:t>In Property Graph Data Model, relationships should be directional. If we try to create relationships without direction, then it will throw an error message.</a:t>
            </a:r>
          </a:p>
          <a:p>
            <a:pPr marL="539750" indent="-357188">
              <a:lnSpc>
                <a:spcPct val="120000"/>
              </a:lnSpc>
              <a:spcBef>
                <a:spcPts val="1800"/>
              </a:spcBef>
              <a:spcAft>
                <a:spcPts val="600"/>
              </a:spcAft>
            </a:pPr>
            <a:r>
              <a:rPr lang="en-US" sz="2300" dirty="0">
                <a:latin typeface="Arial" panose="020B0604020202020204" pitchFamily="34" charset="0"/>
                <a:cs typeface="Arial" panose="020B0604020202020204" pitchFamily="34" charset="0"/>
              </a:rPr>
              <a:t>In Neo4j too, relationships should be directional. If we try to create relationships without direction, then Neo4j will throw an error message saying that "Relationships should be directional".</a:t>
            </a:r>
          </a:p>
          <a:p>
            <a:pPr marL="539750" indent="-357188">
              <a:lnSpc>
                <a:spcPct val="120000"/>
              </a:lnSpc>
              <a:spcBef>
                <a:spcPts val="1800"/>
              </a:spcBef>
              <a:spcAft>
                <a:spcPts val="600"/>
              </a:spcAft>
            </a:pPr>
            <a:r>
              <a:rPr lang="en-US" sz="2300" dirty="0">
                <a:latin typeface="Arial" panose="020B0604020202020204" pitchFamily="34" charset="0"/>
                <a:cs typeface="Arial" panose="020B0604020202020204" pitchFamily="34" charset="0"/>
              </a:rPr>
              <a:t>Neo4j Graph Database stores all of its data in Nodes and Relationships. We neither need any additional RRBMS Database nor any SQL database to store Neo4j database data. It stores its data in terms of Graphs in its native format.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3494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Property Graph Data Model</a:t>
            </a:r>
          </a:p>
        </p:txBody>
      </p:sp>
      <p:sp>
        <p:nvSpPr>
          <p:cNvPr id="3" name="Content Placeholder 2"/>
          <p:cNvSpPr>
            <a:spLocks noGrp="1"/>
          </p:cNvSpPr>
          <p:nvPr>
            <p:ph idx="1"/>
          </p:nvPr>
        </p:nvSpPr>
        <p:spPr>
          <a:xfrm>
            <a:off x="838200" y="1690688"/>
            <a:ext cx="6024613" cy="4486275"/>
          </a:xfrm>
        </p:spPr>
        <p:txBody>
          <a:bodyPr>
            <a:normAutofit fontScale="92500" lnSpcReduction="10000"/>
          </a:bodyPr>
          <a:lstStyle/>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Neo4j uses </a:t>
            </a:r>
            <a:r>
              <a:rPr lang="en-US" sz="2400" dirty="0">
                <a:solidFill>
                  <a:srgbClr val="FF0000"/>
                </a:solidFill>
                <a:latin typeface="Arial" panose="020B0604020202020204" pitchFamily="34" charset="0"/>
                <a:cs typeface="Arial" panose="020B0604020202020204" pitchFamily="34" charset="0"/>
              </a:rPr>
              <a:t>Native GPE (Graph Processing Engine) </a:t>
            </a:r>
            <a:r>
              <a:rPr lang="en-US" sz="2400" dirty="0">
                <a:latin typeface="Arial" panose="020B0604020202020204" pitchFamily="34" charset="0"/>
                <a:cs typeface="Arial" panose="020B0604020202020204" pitchFamily="34" charset="0"/>
              </a:rPr>
              <a:t>to work with its Native graph storage format.</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The main building blocks of Graph DB Data Model are:</a:t>
            </a:r>
          </a:p>
          <a:p>
            <a:pPr marL="996950" lvl="1" indent="-357188">
              <a:lnSpc>
                <a:spcPct val="120000"/>
              </a:lnSpc>
              <a:spcBef>
                <a:spcPts val="600"/>
              </a:spcBef>
              <a:spcAft>
                <a:spcPts val="600"/>
              </a:spcAft>
            </a:pPr>
            <a:r>
              <a:rPr lang="en-US" sz="2000" dirty="0">
                <a:latin typeface="Arial" panose="020B0604020202020204" pitchFamily="34" charset="0"/>
                <a:cs typeface="Arial" panose="020B0604020202020204" pitchFamily="34" charset="0"/>
              </a:rPr>
              <a:t>Nodes</a:t>
            </a:r>
          </a:p>
          <a:p>
            <a:pPr marL="996950" lvl="1" indent="-357188">
              <a:lnSpc>
                <a:spcPct val="120000"/>
              </a:lnSpc>
              <a:spcBef>
                <a:spcPts val="600"/>
              </a:spcBef>
              <a:spcAft>
                <a:spcPts val="600"/>
              </a:spcAft>
            </a:pPr>
            <a:r>
              <a:rPr lang="en-US" sz="2000" dirty="0">
                <a:latin typeface="Arial" panose="020B0604020202020204" pitchFamily="34" charset="0"/>
                <a:cs typeface="Arial" panose="020B0604020202020204" pitchFamily="34" charset="0"/>
              </a:rPr>
              <a:t>Relationships</a:t>
            </a:r>
          </a:p>
          <a:p>
            <a:pPr marL="996950" lvl="1" indent="-357188">
              <a:lnSpc>
                <a:spcPct val="120000"/>
              </a:lnSpc>
              <a:spcBef>
                <a:spcPts val="600"/>
              </a:spcBef>
              <a:spcAft>
                <a:spcPts val="600"/>
              </a:spcAft>
            </a:pPr>
            <a:r>
              <a:rPr lang="en-US" sz="2000" dirty="0">
                <a:latin typeface="Arial" panose="020B0604020202020204" pitchFamily="34" charset="0"/>
                <a:cs typeface="Arial" panose="020B0604020202020204" pitchFamily="34" charset="0"/>
              </a:rPr>
              <a:t>Properties</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Following is a simple example of a Property Graph.</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12</a:t>
            </a:fld>
            <a:endParaRPr lang="en-IN" dirty="0">
              <a:latin typeface="Arial" panose="020B0604020202020204" pitchFamily="34" charset="0"/>
              <a:cs typeface="Arial" panose="020B0604020202020204" pitchFamily="34" charset="0"/>
            </a:endParaRPr>
          </a:p>
        </p:txBody>
      </p:sp>
      <p:pic>
        <p:nvPicPr>
          <p:cNvPr id="1026" name="Picture 2" descr="Property Grap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9576" y="2356334"/>
            <a:ext cx="4174224" cy="3101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9200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Neo4j DB Server Setup with Windows exe File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3870690" cy="4486275"/>
          </a:xfrm>
        </p:spPr>
        <p:txBody>
          <a:bodyPr>
            <a:normAutofit/>
          </a:bodyPr>
          <a:lstStyle/>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Follow the steps given below to download Neo4j into your system.</a:t>
            </a:r>
          </a:p>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Step 1 − Visit the Neo4j official site using https://neo4j.com/. On clicking, this link will take you to the homepage of neo4j website.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13</a:t>
            </a:fld>
            <a:endParaRPr lang="en-IN" dirty="0">
              <a:latin typeface="Arial" panose="020B0604020202020204" pitchFamily="34" charset="0"/>
              <a:cs typeface="Arial" panose="020B0604020202020204" pitchFamily="34" charset="0"/>
            </a:endParaRPr>
          </a:p>
        </p:txBody>
      </p:sp>
      <p:pic>
        <p:nvPicPr>
          <p:cNvPr id="2050" name="Picture 2" descr="Home P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8890" y="1790841"/>
            <a:ext cx="6644910" cy="428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6112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Neo4j DB Server Setup with Windows exe File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3870690" cy="4486275"/>
          </a:xfrm>
        </p:spPr>
        <p:txBody>
          <a:bodyPr>
            <a:normAutofit fontScale="92500" lnSpcReduction="10000"/>
          </a:bodyPr>
          <a:lstStyle/>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Step 2 − As highlighted in the above screenshot, this page has a Download button on the top right hand side. Click it.</a:t>
            </a:r>
          </a:p>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Step 3 − This will redirect you to the downloads page, where you can download the community edition and the enterprise edition of Neo4j. Download the community edition of the software by clicking the respective button.</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14</a:t>
            </a:fld>
            <a:endParaRPr lang="en-IN" dirty="0">
              <a:latin typeface="Arial" panose="020B0604020202020204" pitchFamily="34" charset="0"/>
              <a:cs typeface="Arial" panose="020B0604020202020204" pitchFamily="34" charset="0"/>
            </a:endParaRPr>
          </a:p>
        </p:txBody>
      </p:sp>
      <p:pic>
        <p:nvPicPr>
          <p:cNvPr id="3074" name="Picture 2" descr="Download P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5809" y="1913784"/>
            <a:ext cx="6498793" cy="4040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8475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Neo4j DB Server Setup with Windows exe File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3870690" cy="4486275"/>
          </a:xfrm>
        </p:spPr>
        <p:txBody>
          <a:bodyPr>
            <a:normAutofit/>
          </a:bodyPr>
          <a:lstStyle/>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Step 4 − This will take you to the page where you can download community version of Neo4j software compatible with different operating systems. Download the file respective to the desired operating system.</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15</a:t>
            </a:fld>
            <a:endParaRPr lang="en-IN" dirty="0">
              <a:latin typeface="Arial" panose="020B0604020202020204" pitchFamily="34" charset="0"/>
              <a:cs typeface="Arial" panose="020B0604020202020204" pitchFamily="34" charset="0"/>
            </a:endParaRPr>
          </a:p>
        </p:txBody>
      </p:sp>
      <p:pic>
        <p:nvPicPr>
          <p:cNvPr id="4098" name="Picture 2" descr="Respective Operating Syst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4817" y="1686182"/>
            <a:ext cx="6437165" cy="4495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7629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Neo4j DB Server Setup with Windows exe File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3870690" cy="4486275"/>
          </a:xfrm>
        </p:spPr>
        <p:txBody>
          <a:bodyPr>
            <a:normAutofit/>
          </a:bodyPr>
          <a:lstStyle/>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Step 5 − Double-click the exe file to install Neo4j Server.</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16</a:t>
            </a:fld>
            <a:endParaRPr lang="en-IN" dirty="0">
              <a:latin typeface="Arial" panose="020B0604020202020204" pitchFamily="34" charset="0"/>
              <a:cs typeface="Arial" panose="020B0604020202020204" pitchFamily="34" charset="0"/>
            </a:endParaRPr>
          </a:p>
        </p:txBody>
      </p:sp>
      <p:pic>
        <p:nvPicPr>
          <p:cNvPr id="5122" name="Picture 2" descr="Exe Fi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3832" y="1780510"/>
            <a:ext cx="5359135" cy="4485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9778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Starting the Server</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690688"/>
            <a:ext cx="6371123" cy="4486275"/>
          </a:xfrm>
        </p:spPr>
        <p:txBody>
          <a:bodyPr>
            <a:normAutofit/>
          </a:bodyPr>
          <a:lstStyle/>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Step 6 − Accept the license agreement and proceed with the installation. After completion of the process, you can observe that Neo4j is installed in your system.</a:t>
            </a:r>
          </a:p>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Starting the Server</a:t>
            </a:r>
          </a:p>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Step 1 − Click the Windows </a:t>
            </a:r>
            <a:r>
              <a:rPr lang="en-US" sz="2200" dirty="0" err="1">
                <a:latin typeface="Arial" panose="020B0604020202020204" pitchFamily="34" charset="0"/>
                <a:cs typeface="Arial" panose="020B0604020202020204" pitchFamily="34" charset="0"/>
              </a:rPr>
              <a:t>startmenu</a:t>
            </a:r>
            <a:r>
              <a:rPr lang="en-US" sz="2200" dirty="0">
                <a:latin typeface="Arial" panose="020B0604020202020204" pitchFamily="34" charset="0"/>
                <a:cs typeface="Arial" panose="020B0604020202020204" pitchFamily="34" charset="0"/>
              </a:rPr>
              <a:t> and start the Neo4j server by clicking the start menu shortcut for Neo4j.</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17</a:t>
            </a:fld>
            <a:endParaRPr lang="en-IN" dirty="0">
              <a:latin typeface="Arial" panose="020B0604020202020204" pitchFamily="34" charset="0"/>
              <a:cs typeface="Arial" panose="020B0604020202020204" pitchFamily="34" charset="0"/>
            </a:endParaRPr>
          </a:p>
        </p:txBody>
      </p:sp>
      <p:pic>
        <p:nvPicPr>
          <p:cNvPr id="6146" name="Picture 2" descr="Starting Serv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7364" y="2286952"/>
            <a:ext cx="3916436" cy="29010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13230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Starting the Server</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5418221" cy="4486275"/>
          </a:xfrm>
        </p:spPr>
        <p:txBody>
          <a:bodyPr>
            <a:normAutofit/>
          </a:bodyPr>
          <a:lstStyle/>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Step 2 − On clicking the shortcut, you will get a window for Neo4j Community edition. By default, it selects c:\Users\[username]\Documents\Neo4j\default.graphdb. If you want, you can change your path to a different directory.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18</a:t>
            </a:fld>
            <a:endParaRPr lang="en-IN" dirty="0">
              <a:latin typeface="Arial" panose="020B0604020202020204" pitchFamily="34" charset="0"/>
              <a:cs typeface="Arial" panose="020B0604020202020204" pitchFamily="34" charset="0"/>
            </a:endParaRPr>
          </a:p>
        </p:txBody>
      </p:sp>
      <p:pic>
        <p:nvPicPr>
          <p:cNvPr id="7170" name="Picture 2" descr="Shortcu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9295" y="2003925"/>
            <a:ext cx="4984505" cy="3234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7903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Starting the Server</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5418221" cy="4486275"/>
          </a:xfrm>
        </p:spPr>
        <p:txBody>
          <a:bodyPr>
            <a:normAutofit/>
          </a:bodyPr>
          <a:lstStyle/>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Step 3 − Click the "Start" button to start the Neo4j server.</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19</a:t>
            </a:fld>
            <a:endParaRPr lang="en-IN" dirty="0">
              <a:latin typeface="Arial" panose="020B0604020202020204" pitchFamily="34" charset="0"/>
              <a:cs typeface="Arial" panose="020B0604020202020204" pitchFamily="34" charset="0"/>
            </a:endParaRPr>
          </a:p>
        </p:txBody>
      </p:sp>
      <p:pic>
        <p:nvPicPr>
          <p:cNvPr id="8194" name="Picture 2" descr="Start But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4092" y="2194941"/>
            <a:ext cx="5159708" cy="3356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6972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Starting the Server</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1" y="1690688"/>
            <a:ext cx="4176562" cy="4486275"/>
          </a:xfrm>
        </p:spPr>
        <p:txBody>
          <a:bodyPr>
            <a:normAutofit/>
          </a:bodyPr>
          <a:lstStyle/>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Once the server starts, you can observe that the database directory is populated as shown in the following screenshot.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20</a:t>
            </a:fld>
            <a:endParaRPr lang="en-IN" dirty="0">
              <a:latin typeface="Arial" panose="020B0604020202020204" pitchFamily="34" charset="0"/>
              <a:cs typeface="Arial" panose="020B0604020202020204" pitchFamily="34" charset="0"/>
            </a:endParaRPr>
          </a:p>
        </p:txBody>
      </p:sp>
      <p:pic>
        <p:nvPicPr>
          <p:cNvPr id="9218" name="Picture 2" descr="Database Directo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9153" y="1870075"/>
            <a:ext cx="6234647" cy="3840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6298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Working with Neo4j</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1" y="1690688"/>
            <a:ext cx="4176562" cy="4486275"/>
          </a:xfrm>
        </p:spPr>
        <p:txBody>
          <a:bodyPr>
            <a:normAutofit/>
          </a:bodyPr>
          <a:lstStyle/>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As discussed in the previous chapters, neo4j provides an in-built browse application to work with Neo4j. You can access Neo4j using the URL http://localhost:7474/</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21</a:t>
            </a:fld>
            <a:endParaRPr lang="en-IN" dirty="0">
              <a:latin typeface="Arial" panose="020B0604020202020204" pitchFamily="34" charset="0"/>
              <a:cs typeface="Arial" panose="020B0604020202020204" pitchFamily="34" charset="0"/>
            </a:endParaRPr>
          </a:p>
        </p:txBody>
      </p:sp>
      <p:pic>
        <p:nvPicPr>
          <p:cNvPr id="10242" name="Picture 2" descr="Work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7374" y="2072205"/>
            <a:ext cx="6136426" cy="3587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0886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Neo4j Introduction</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Neo4j Windows Installation</a:t>
            </a: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28-04-2023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578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T PPT Template.pptx" id="{54091FC3-898D-497D-92ED-2AD4019B5909}" vid="{614E3B1B-8E84-45D1-BB2E-2BDD1EEBD4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VIT PPT Template</Template>
  <TotalTime>2752</TotalTime>
  <Words>1386</Words>
  <Application>Microsoft Office PowerPoint</Application>
  <PresentationFormat>Widescreen</PresentationFormat>
  <Paragraphs>163</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(Body)</vt:lpstr>
      <vt:lpstr>Calibri Light</vt:lpstr>
      <vt:lpstr>Office Theme</vt:lpstr>
      <vt:lpstr>Course code : CSE3009 Course title  : No SQL Data Bases Module  : 6     Topic   : 2</vt:lpstr>
      <vt:lpstr>Objectives</vt:lpstr>
      <vt:lpstr>Neo4j History</vt:lpstr>
      <vt:lpstr>RDBMS Vs Graph Database</vt:lpstr>
      <vt:lpstr>Advantages of Neo4j</vt:lpstr>
      <vt:lpstr>Advantages of Neo4j</vt:lpstr>
      <vt:lpstr>Features of Neo4j</vt:lpstr>
      <vt:lpstr>Features of Neo4j</vt:lpstr>
      <vt:lpstr>Features of Neo4j</vt:lpstr>
      <vt:lpstr>Neo4j Property Graph Data Model</vt:lpstr>
      <vt:lpstr>Neo4j Property Graph Data Model</vt:lpstr>
      <vt:lpstr>Neo4j Property Graph Data Model</vt:lpstr>
      <vt:lpstr>Neo4j DB Server Setup with Windows exe File</vt:lpstr>
      <vt:lpstr>Neo4j DB Server Setup with Windows exe File</vt:lpstr>
      <vt:lpstr>Neo4j DB Server Setup with Windows exe File</vt:lpstr>
      <vt:lpstr>Neo4j DB Server Setup with Windows exe File</vt:lpstr>
      <vt:lpstr>Starting the Server</vt:lpstr>
      <vt:lpstr>Starting the Server</vt:lpstr>
      <vt:lpstr>Starting the Server</vt:lpstr>
      <vt:lpstr>Starting the Server</vt:lpstr>
      <vt:lpstr>Working with Neo4j</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CSE1004 Course title  : Database Management System</dc:title>
  <dc:creator>gopikrishnan sundaram</dc:creator>
  <cp:lastModifiedBy>Dr. Gopikrishnan S</cp:lastModifiedBy>
  <cp:revision>128</cp:revision>
  <dcterms:created xsi:type="dcterms:W3CDTF">2019-11-30T05:18:24Z</dcterms:created>
  <dcterms:modified xsi:type="dcterms:W3CDTF">2023-04-27T23:49:32Z</dcterms:modified>
</cp:coreProperties>
</file>