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6" r:id="rId2"/>
    <p:sldId id="258" r:id="rId3"/>
    <p:sldId id="364" r:id="rId4"/>
    <p:sldId id="366" r:id="rId5"/>
    <p:sldId id="367" r:id="rId6"/>
    <p:sldId id="368" r:id="rId7"/>
    <p:sldId id="369" r:id="rId8"/>
    <p:sldId id="370" r:id="rId9"/>
    <p:sldId id="371" r:id="rId10"/>
    <p:sldId id="373" r:id="rId11"/>
    <p:sldId id="374" r:id="rId12"/>
    <p:sldId id="375" r:id="rId13"/>
    <p:sldId id="377" r:id="rId14"/>
    <p:sldId id="376" r:id="rId15"/>
    <p:sldId id="378" r:id="rId16"/>
    <p:sldId id="379" r:id="rId17"/>
    <p:sldId id="380" r:id="rId18"/>
    <p:sldId id="381" r:id="rId19"/>
    <p:sldId id="382" r:id="rId20"/>
    <p:sldId id="383" r:id="rId21"/>
    <p:sldId id="384" r:id="rId22"/>
    <p:sldId id="385" r:id="rId23"/>
    <p:sldId id="386" r:id="rId24"/>
    <p:sldId id="387" r:id="rId25"/>
    <p:sldId id="388" r:id="rId26"/>
    <p:sldId id="389" r:id="rId27"/>
    <p:sldId id="390" r:id="rId28"/>
    <p:sldId id="391" r:id="rId29"/>
    <p:sldId id="392" r:id="rId30"/>
    <p:sldId id="393" r:id="rId31"/>
    <p:sldId id="394" r:id="rId32"/>
    <p:sldId id="395" r:id="rId33"/>
    <p:sldId id="396" r:id="rId34"/>
    <p:sldId id="259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CC00"/>
    <a:srgbClr val="2102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F716F9-1CCB-412E-807B-54E78A47C39C}" type="datetimeFigureOut">
              <a:rPr lang="en-IN" smtClean="0"/>
              <a:t>06-05-2023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070DDA-CF3D-48BA-A0B0-D24E17EB7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2869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207AF-BBE6-41CB-838F-3B91C45E6842}" type="datetime1">
              <a:rPr lang="en-IN" smtClean="0"/>
              <a:t>06-05-2023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577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001CB-2F0D-4565-974A-BB3B4237F7A0}" type="datetime1">
              <a:rPr lang="en-IN" smtClean="0"/>
              <a:t>06-05-2023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86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5E08F-6321-4732-8935-8B18B4878320}" type="datetime1">
              <a:rPr lang="en-IN" smtClean="0"/>
              <a:t>06-05-2023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0895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E6CD2-53BA-43CE-85B2-BECBEC79BED8}" type="datetime1">
              <a:rPr lang="en-IN" smtClean="0"/>
              <a:t>06-05-2023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2958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0AD05-A4E4-4CA4-974B-F265446B2FC3}" type="datetime1">
              <a:rPr lang="en-IN" smtClean="0"/>
              <a:t>06-05-2023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5418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D32E8-1E32-4E2A-B217-B612998A856C}" type="datetime1">
              <a:rPr lang="en-IN" smtClean="0"/>
              <a:t>06-05-2023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7863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E7F75-E219-4A7A-86AA-8B901170D2FE}" type="datetime1">
              <a:rPr lang="en-IN" smtClean="0"/>
              <a:t>06-05-2023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2413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16AFA-FDBE-49F0-A857-020340421B04}" type="datetime1">
              <a:rPr lang="en-IN" smtClean="0"/>
              <a:t>06-05-2023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355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76920-F609-41C5-957C-A5E46109118D}" type="datetime1">
              <a:rPr lang="en-IN" smtClean="0"/>
              <a:t>06-05-2023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715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08AA1-2BEE-4CB8-A992-73CF63948E2E}" type="datetime1">
              <a:rPr lang="en-IN" smtClean="0"/>
              <a:t>06-05-2023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6892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EAF6-71C1-4CCC-BB0E-BC6703073DD8}" type="datetime1">
              <a:rPr lang="en-IN" smtClean="0"/>
              <a:t>06-05-2023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57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A101D-20D2-4D81-A838-9588DFC7E809}" type="datetime1">
              <a:rPr lang="en-IN" smtClean="0"/>
              <a:t>06-05-2023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791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1524000" y="2178260"/>
            <a:ext cx="9144000" cy="953575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</a:pPr>
            <a: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code	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CSE3009</a:t>
            </a:r>
            <a:b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title		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SQL Data Bases</a:t>
            </a:r>
            <a:b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		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			</a:t>
            </a:r>
            <a:b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			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1402183" y="3677818"/>
            <a:ext cx="9144000" cy="1655762"/>
          </a:xfrm>
        </p:spPr>
        <p:txBody>
          <a:bodyPr>
            <a:normAutofit/>
          </a:bodyPr>
          <a:lstStyle/>
          <a:p>
            <a:r>
              <a:rPr lang="it-IT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Neo4j CQL</a:t>
            </a:r>
            <a:endParaRPr lang="en-IN" sz="4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728E3-B72D-49A5-85A2-5AE45557AE43}" type="datetime1">
              <a:rPr lang="en-IN" smtClean="0">
                <a:latin typeface="Calibri (Body)"/>
              </a:rPr>
              <a:t>06-05-2023</a:t>
            </a:fld>
            <a:endParaRPr lang="en-IN" dirty="0">
              <a:latin typeface="Calibri (Body)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Gopikrishnan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89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This session will give the knowledge about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Neo4j Cypher Query Language (CQL) – Examples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Neo4j CQL Write Clauses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Neo4j CQL Read Clause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All the examples commands are executed to implement Student alumni database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06-05-2023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6611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Neo4j – Create Command</a:t>
            </a:r>
            <a:endParaRPr lang="en-IN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539750" indent="-35718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Create a single node</a:t>
            </a:r>
          </a:p>
          <a:p>
            <a:pPr marL="539750" indent="-35718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Create multiple nodes</a:t>
            </a:r>
          </a:p>
          <a:p>
            <a:pPr marL="539750" indent="-35718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Create a node with a label</a:t>
            </a:r>
          </a:p>
          <a:p>
            <a:pPr marL="539750" indent="-35718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Create a node with multiple labels</a:t>
            </a:r>
          </a:p>
          <a:p>
            <a:pPr marL="539750" indent="-35718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Create a node with properties</a:t>
            </a:r>
          </a:p>
          <a:p>
            <a:pPr marL="539750" indent="-35718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Returning the created node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06-05-2023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0601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Command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601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Create Single node: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Syntax:	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CREATE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node_name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CREATE (John);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Output: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Verification:	MATCH (n) RETURN n 		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06-05-2023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0219" y="3328988"/>
            <a:ext cx="4381500" cy="12096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5225" y="3500438"/>
            <a:ext cx="3838575" cy="267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770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Command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601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Create Multiple node: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Syntax: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	CREATE (node_name1), (node_name2);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CREATE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Virat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),(Rahul);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Output: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Verification:	MATCH (n) RETURN n 		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06-05-2023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4664" y="3321051"/>
            <a:ext cx="4144028" cy="123089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0657" y="3128211"/>
            <a:ext cx="3543144" cy="3048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64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Delete Command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601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Deleting All Nodes and Relationships: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Syntax:	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MATCH (n) DETACH DELETE 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MATCH (n) DETACH DELETE 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Deleting a Particular Node: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Syntax:	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MATCH (node:label {properties . . . . . . . . . .  }) DETACH DELETE node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CREATE (John:student {name: “John Smith”, YOP: 2015, DEPT: “CSE”})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MATCH (John:student {name: “John Smith”, YOP: 2015, DEPT: “CSE”}) DETACH DELETE John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06-05-2023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5553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Command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601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Creating a Node with a Label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Syntax:	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CREATE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node:label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CREATE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John:student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),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Virat:student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Creating a Node with Multiple Labels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Syntax:	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CREATE (node:label1:label2:. . . .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labeln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CREATE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John:student:cse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06-05-2023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2930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Command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601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Create Node with Properties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Syntax:	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CREATE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node:label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{ key1: value, key2: value, . . . . . . . . .  }) 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CREATE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John:student:cse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{name: "John Smith", YOP: 2015, roll: 101}),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Virat:student:ece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{name: “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Virat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Kohli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", YOP: 2015, roll: 101})</a:t>
            </a:r>
          </a:p>
          <a:p>
            <a:pPr marL="0" indent="0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Returning the Created Node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instead MATCH (n) RETURN n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Syntax: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CREATE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Node:Label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{properties. . . . }) RETURN Node 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CREATE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John:student:cse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{name: "John Smith", YOP: 2015, roll: 101}) RETURN John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06-05-2023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3234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Creating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601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Creating Relationships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Syntax:	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CREATE (node1)-[: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RelationshipType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]-&gt;(node2) 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CREATE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John:student:cse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{name: "John Smith", YOP: 2015, roll: 101}),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Virat:student:ece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{name: "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Virat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Kohli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", YOP: 2015, roll: 101})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CREATE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VIT:College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{name: “VIT-Vellore"})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CREATE (John)-[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r:student_of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]-&gt;(VIT) 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RETURN John,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Virat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VIT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06-05-2023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19885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Creating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601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Creating a Relationship Between the Existing Nodes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Syntax: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MATCH (a:LabeofNode1), (b:LabeofNode2) WHERE a.name = "nameofnode1" AND b.name = " nameofnode2"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CREATE (a)-[: Relation]-&gt;(b)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RETURN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a,b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MATCH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a:student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),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b:College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 WHERE a.name = "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Virat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Kohli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" AND b.name = "VIT-Vellore"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CREATE (a)-[r: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student_of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]-&gt;(b)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RETURN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a,b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06-05-2023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83905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Creating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601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Creating a Relationship with Label and Properties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Syntax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CREATE (node1)-[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label:Rel_Type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{key1:value1, key2:value2, . . . n}]-&gt; (node2)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MATCH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a:student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),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b:College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 WHERE a.name = "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Virat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Kohli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" AND b.name = "VIT-Vellore"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CREATE (a)-[r: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student_of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{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placed_in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"infy",salary:40000}]-&gt;(b)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RETURN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a,b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06-05-2023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291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Creating a Complete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601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Creating a Complete Path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Syntax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CREATE p = (Node1 {properties})-[: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Relationship_Type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]-&gt;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(Node2 {properties})-[: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Relationship_Type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]-&gt;(Node3 {properties})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RETURN p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CREATE path=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Virat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{name:"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Virat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Kohli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"}) –[: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student_of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]-&gt;(VIT{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name:"VIT-Vellore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"})-[: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friend_of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]-&gt;(John{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name:"John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Smith"})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Return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Virat,VIT,John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06-05-2023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12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19304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Merge Command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601" cy="4486275"/>
          </a:xfrm>
        </p:spPr>
        <p:txBody>
          <a:bodyPr>
            <a:noAutofit/>
          </a:bodyPr>
          <a:lstStyle/>
          <a:p>
            <a:pPr marL="539750" indent="-35718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tabLst>
                <a:tab pos="808038" algn="l"/>
              </a:tabLs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MERGE command is a 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combination of CREATE command and MATCH command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539750" indent="-35718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tabLst>
                <a:tab pos="808038" algn="l"/>
              </a:tabLs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Neo4j CQL MERGE command searches for a given pattern in the graph. If it exists, then it returns the results.</a:t>
            </a:r>
          </a:p>
          <a:p>
            <a:pPr marL="539750" indent="-35718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tabLst>
                <a:tab pos="808038" algn="l"/>
              </a:tabLs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If it does NOT exist in the graph, then it creates a new node/relationship and returns the results.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 this session, we are going to discuss:</a:t>
            </a:r>
          </a:p>
          <a:p>
            <a:pPr marL="539750" indent="-35718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tabLst>
                <a:tab pos="808038" algn="l"/>
              </a:tabLs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Merge a node with label</a:t>
            </a:r>
          </a:p>
          <a:p>
            <a:pPr marL="539750" indent="-35718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tabLst>
                <a:tab pos="808038" algn="l"/>
              </a:tabLs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Merge a node with properties</a:t>
            </a:r>
          </a:p>
          <a:p>
            <a:pPr marL="539750" indent="-35718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tabLst>
                <a:tab pos="808038" algn="l"/>
              </a:tabLst>
            </a:pP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OnCreate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OnMatch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39750" indent="-35718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tabLst>
                <a:tab pos="808038" algn="l"/>
              </a:tabLs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Merge a relationship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06-05-2023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40175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Merge Command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601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Syntax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MERGE (node: label {properties . . . . . . . })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Before proceeding to the examples in this section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CREATE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John:student:cse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{name: "John Smith", YOP: 2015, roll: 101})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CREATE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VIT:College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{name: "VIT-Vellore"})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CREATE (John)-[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r:student_of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]-&gt;(VIT) 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RETURN John, VIT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06-05-2023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08787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Merging a Node with a Label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601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Merging a Node with a Label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Syntax:	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MERGE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node:label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 RETURN node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MERGE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John:student:cse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{name: "John Smith", YOP: 2015, roll: 101}) RETURN John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MERGE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Venkat:student:cse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{name: "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Venkat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Reddy", YOP: 2016, roll: 101}) RETURN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Venkat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06-05-2023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1431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OnCreate</a:t>
            </a:r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32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OnMatch</a:t>
            </a:r>
            <a:endParaRPr lang="en-US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601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r>
              <a:rPr lang="en-US" sz="2000" u="sng" dirty="0" err="1">
                <a:latin typeface="Arial" panose="020B0604020202020204" pitchFamily="34" charset="0"/>
                <a:cs typeface="Arial" panose="020B0604020202020204" pitchFamily="34" charset="0"/>
              </a:rPr>
              <a:t>OnCreate</a:t>
            </a: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000" u="sng" dirty="0" err="1">
                <a:latin typeface="Arial" panose="020B0604020202020204" pitchFamily="34" charset="0"/>
                <a:cs typeface="Arial" panose="020B0604020202020204" pitchFamily="34" charset="0"/>
              </a:rPr>
              <a:t>OnMatch</a:t>
            </a:r>
            <a:endParaRPr lang="en-US" sz="2000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Syntax: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MERGE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node:label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{properties . . . . . . . . . . .}) 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ON CREATE SET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property.isCreated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="true" 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ON MATCH SET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property.isFound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="true"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MERGE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Venkat:student:cse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{name: "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Venkat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Reddy", YOP: 2016, roll: 101}) 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ON CREATE SET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Venkat.isCreated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= "true" 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ON MATCH SET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Venkat.isFound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= "true" 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RETURN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Venkat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06-05-2023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16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75637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Merge a Relationship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601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Just like nodes, 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also merge the r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elationships using the MERGE clause.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MATCH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a:student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),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b:College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 WHERE a.name = "John Smith" AND b.name = "VIT-Vellore" MERGE (a)-[r: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student_of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]-&gt;(b) RETURN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a,b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MATCH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a:student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),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b:student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 WHERE a.name = "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Venkat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Reddy" AND b.name = "John Smith" MERGE (a)-[r: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friends_of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]-&gt;(b) RETURN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a,b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06-05-2023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40485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 Clause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601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Using Set clause, 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add new properties to an existing Node or Relationship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and also add or update existing Properties values.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 this session:</a:t>
            </a:r>
          </a:p>
          <a:p>
            <a:pPr marL="539750" indent="-35718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tabLst>
                <a:tab pos="808038" algn="l"/>
              </a:tabLs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Set a property</a:t>
            </a:r>
          </a:p>
          <a:p>
            <a:pPr marL="539750" indent="-35718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tabLst>
                <a:tab pos="808038" algn="l"/>
              </a:tabLs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Remove a property</a:t>
            </a:r>
          </a:p>
          <a:p>
            <a:pPr marL="539750" indent="-35718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tabLst>
                <a:tab pos="808038" algn="l"/>
              </a:tabLs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Set multiple properties</a:t>
            </a:r>
          </a:p>
          <a:p>
            <a:pPr marL="539750" indent="-35718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tabLst>
                <a:tab pos="808038" algn="l"/>
              </a:tabLs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Set a label on a node</a:t>
            </a:r>
          </a:p>
          <a:p>
            <a:pPr marL="539750" indent="-35718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tabLst>
                <a:tab pos="808038" algn="l"/>
              </a:tabLs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Set multiple labels on a node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06-05-2023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18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24227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Setting a Property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601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Syntax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MATCH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node:label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{properties . . . . . . . . . . . . . . }) SET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node.property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= value 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RETURN node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CREATE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Jenny:student:cse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{name: "Jenny Rose", YOP: 2015, roll: 102}) 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MATCH (Jenny) SET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Jenny.job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= "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infy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" RETURN Jenny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06-05-2023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19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40037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Removing a Property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601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Syntax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MATCH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node:label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{properties})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SET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node.property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= NULL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RETURN node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MERGE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Jenny:student:cse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{name: "Jenny Rose", YOP: 2015, roll: 102}) 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MATCH (Jenny) SET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Jenny.YOP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= NULL RETURN Jenny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06-05-2023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42962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Setting Multiple Property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601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Syntax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MATCH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node:label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{properties}) 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SET node.property1 = value, node.property2 = value 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RETURN node</a:t>
            </a:r>
          </a:p>
          <a:p>
            <a:pPr marL="0" lvl="1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CREATE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Jenny:student:cse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{name: "Jenny Rose", YOP: 2015, roll: 102}) 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MATCH (Jenny) SET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Jenny.job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= "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infy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",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Jenny.salary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=50000 RETURN Jenny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06-05-2023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5151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Setting a Label on a Node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601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Syntax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MATCH (n {properties . . . . . . . }) 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SET n :label 		SET n :label1:label2 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RETURN n</a:t>
            </a:r>
          </a:p>
          <a:p>
            <a:pPr marL="0" lvl="1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CREATE (Mark {name: "Mark Red", YOP: 2016, roll: 101}) 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CREATE (Jack {name: "Jack Sparrow", YOP: 2016, roll: 101}) 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MATCH (Mark {name: "Mark Red", YOP: 2016, roll: 101}) SET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Mark:student:cse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RETURN Mark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MATCH (Jack) SET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Jack:student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RETURN Jack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06-05-2023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22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0451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Remove Clause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601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REMOVE clause is used to remove properties and labels from graph elements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(Nodes or Relationships). The main difference between Neo4j CQL DELETE and REMOVE commands is:</a:t>
            </a:r>
          </a:p>
          <a:p>
            <a:pPr marL="539750" indent="-35718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tabLst>
                <a:tab pos="808038" algn="l"/>
              </a:tabLs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DELETE operation is used to delete nodes and associated relationships.</a:t>
            </a:r>
          </a:p>
          <a:p>
            <a:pPr marL="539750" indent="-35718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tabLst>
                <a:tab pos="808038" algn="l"/>
              </a:tabLs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REMOVE operation is used to remove labels and properties.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Syntax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MATCH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node:label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{properties . . . . . . . }) 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REMOVE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node.property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RETURN node 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06-05-2023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08037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Remove Clause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601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CREATE (Gautham:student:mech {name: "Gautham", YOP: 2015, DEPT: "CSE"})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MATCH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Gautham:student:mech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{name: "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Gautham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"}) REMOVE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Gautham.YOP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RETURN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Gautham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MATCH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Gautham:student:mech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{name: "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Gautham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"}) REMOVE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Gautham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mech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RETURN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Gautham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MATCH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Gautham:student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{name: "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Gautham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"}) REMOVE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Gautham:student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RETURN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Gautham</a:t>
            </a: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MATCH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Gautham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{name: "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Gautham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"}) SET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Gautham:student:ece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RETURN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Gautham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8038" algn="l"/>
              </a:tabLst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06-05-2023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02673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Foreach</a:t>
            </a:r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Clause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601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FOREACH clause is 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used to update data within a list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whether components of a path, or result of aggregation.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Syntax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MATCH p = (start node)-[*]-&gt;(end node) 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WHERE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start.node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= "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node_name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" AND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end.node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= "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node_name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" 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FOREACH (n IN nodes(p)| SET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n.marked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= TRUE)</a:t>
            </a: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06-05-2023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00260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Foreach</a:t>
            </a:r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Clause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601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CREATE path =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Mark:student:cse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{name: "Mark Red", YOP: 2016, roll: 101}) –[: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works_with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] -&gt;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Jack:student:ece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{name: "Jack Sparrow", YOP: 2016, roll: 101}) –[: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works_with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] -&gt;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(Gautham:student:mech {name: "Gautham", YOP: 2015, DEPT: "CSE"})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RETURN path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MATCH path=(Mark) -[*]-&gt; (Gautham) WHERE Mark.name =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"Mark Red" AND Gautham.name=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"Gautham“ FOREACH (n IN nodes(path)| SET n.college =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VIT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06-05-2023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26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3829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Match Clause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601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CREATE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John:student:cse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{name: "John Smith", YOP: 2015, roll: 101}),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Sona:student:ece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{name: "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Sona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Vihar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", YOP: 2015, roll: 101}),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Shyam:student:mech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{name: "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Shyam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Prakash", YOP: 2016, roll: 101}),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Virat:student:ece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{name: "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Virat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Kohli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", YOP: 2016, roll: 101}),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Priya:student:ece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{name: “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Priya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Mohan", YOP: 2015, roll: 103}),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VIT:college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{name: "VIT-AP"}),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SRM:college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{name: "SRM"})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MATCH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a:student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),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b:college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 WHERE a.name = "John Smith" AND b.name = "VIT-AP"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MERGE (a)-[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r:placed_in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{company: "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infy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", salary:40000}]-&gt;(b)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06-05-2023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27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16826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Match Clause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601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MATCH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a:student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),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b:college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 WHERE a.name = "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Sona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Vihar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" AND b.name = "VIT-AP"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MERGE (a)-[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r:placed_in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{company: "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tcs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", salary:50000}]-&gt;(b)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MATCH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a:student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),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b:college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 WHERE a.name = "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Priya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Mohan" AND b.name = "VIT-AP"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MERGE (a)-[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r:placed_in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{company: "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infy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", salary:55000}]-&gt;(b)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MATCH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a:student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),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b:college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 WHERE a.name = "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Shyam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Prakash" AND b.name = "SRM"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MERGE (a)-[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r:placed_in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{company: "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infy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", salary:50000}]-&gt;(b)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MATCH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a:student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),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b:college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 WHERE a.name = "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Virat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Kohli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" AND b.name = "SRM"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MERGE (a)-[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r:placed_in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{company: "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wipro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", salary:45000}]-&gt;(b)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06-05-2023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28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72394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Match Clause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601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Getting All Nodes Under a Specific Label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Syntax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MATCH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node:label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RETURN node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MATCH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n:college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RETURN n </a:t>
            </a:r>
          </a:p>
          <a:p>
            <a:pPr marL="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Getting all nodes that matches the condition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MATCH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VIT:college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{name: "VIT-AP"})&lt;-[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r:placed_in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{company: "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infy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"}]-(n) 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RETURN n.name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06-05-2023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29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34589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Optional Match Clause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601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OPTIONAL MATCH clause is 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used to search for the pattern described in it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while using nulls for missing parts of the pattern.</a:t>
            </a: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OPTIONAL MATCH is similar to the match clause, the only difference being it returns null as a result of the missing parts of the pattern.</a:t>
            </a: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Syntax</a:t>
            </a:r>
          </a:p>
          <a:p>
            <a:pPr marL="457200" lvl="1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MATCH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node:label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{properties. . . . . . . . . . . . . .}) OPTIONAL MATCH (node)--&gt;(x) RETURN x</a:t>
            </a: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MATCH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VIT:college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{name: "VIT-AP"}) OPTIONAL MATCH (VIT)--&gt;(x) 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RETURN x.name</a:t>
            </a: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06-05-2023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30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85506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 Clause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601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Like SQL, Neo4j CQL has provided WHERE clause in CQL MATCH command to filter the results of a MATCH Query.</a:t>
            </a: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Syntax</a:t>
            </a: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MATCH (label)  WHERE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label.property_name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= "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property_value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" </a:t>
            </a: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RETURN label</a:t>
            </a: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MATCH (label) WHERE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label.roll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= 101 </a:t>
            </a: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RETURN label.name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06-05-2023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31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68711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 Clause with Multiple Conditions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601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Syntax</a:t>
            </a: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MATCH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emp:Employee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  </a:t>
            </a: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WHERE emp.name = '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Abc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' AND emp.name = 'Xyz' </a:t>
            </a: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RETURN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emp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MATCH (label) </a:t>
            </a: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WHERE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label.roll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= 101 AND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label.YOP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=2016</a:t>
            </a: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RETURN label.name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06-05-2023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32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70767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Using Relationship with Where Clause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601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You can also use Where clause to filter the nodes using the relationships.</a:t>
            </a: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MATCH (n) </a:t>
            </a: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WHERE (n)-[: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placed_in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{company: "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infy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"}]-&gt;({name: "VIT-AP"}) </a:t>
            </a: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RETURN n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06-05-2023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33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63426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This session will give the knowledge about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Neo4j Cypher Query Language (CQL) – Examples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Neo4j CQL Write Clauses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Neo4j CQL Read Clause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All the examples commands are executed to implement Student alumni database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FA2B1-6748-41D8-AB75-02C9BD84395F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06-05-2023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34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578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T PPT Template.pptx" id="{54091FC3-898D-497D-92ED-2AD4019B5909}" vid="{614E3B1B-8E84-45D1-BB2E-2BDD1EEBD4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VIT PPT Template</Template>
  <TotalTime>4184</TotalTime>
  <Words>2976</Words>
  <Application>Microsoft Office PowerPoint</Application>
  <PresentationFormat>Widescreen</PresentationFormat>
  <Paragraphs>388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Calibri</vt:lpstr>
      <vt:lpstr>Calibri (Body)</vt:lpstr>
      <vt:lpstr>Calibri Light</vt:lpstr>
      <vt:lpstr>Office Theme</vt:lpstr>
      <vt:lpstr>Course code : CSE3009 Course title  : No SQL Data Bases Module  : 6     Topic   : 4</vt:lpstr>
      <vt:lpstr>Objectives</vt:lpstr>
      <vt:lpstr>Neo4j – Create Command</vt:lpstr>
      <vt:lpstr>Create Command</vt:lpstr>
      <vt:lpstr>Create Command</vt:lpstr>
      <vt:lpstr>Delete Command</vt:lpstr>
      <vt:lpstr>Create Command</vt:lpstr>
      <vt:lpstr>Create Command</vt:lpstr>
      <vt:lpstr>Creating Relationships</vt:lpstr>
      <vt:lpstr>Creating Relationships</vt:lpstr>
      <vt:lpstr>Creating Relationships</vt:lpstr>
      <vt:lpstr>Creating a Complete Path</vt:lpstr>
      <vt:lpstr>Merge Command</vt:lpstr>
      <vt:lpstr>Merge Command</vt:lpstr>
      <vt:lpstr>Merging a Node with a Label</vt:lpstr>
      <vt:lpstr>OnCreate and OnMatch</vt:lpstr>
      <vt:lpstr>Merge a Relationship</vt:lpstr>
      <vt:lpstr>Set Clause</vt:lpstr>
      <vt:lpstr>Setting a Property</vt:lpstr>
      <vt:lpstr>Removing a Property</vt:lpstr>
      <vt:lpstr>Setting Multiple Property</vt:lpstr>
      <vt:lpstr>Setting a Label on a Node</vt:lpstr>
      <vt:lpstr>Remove Clause</vt:lpstr>
      <vt:lpstr>Remove Clause</vt:lpstr>
      <vt:lpstr>Foreach Clause</vt:lpstr>
      <vt:lpstr>Foreach Clause</vt:lpstr>
      <vt:lpstr>Match Clause</vt:lpstr>
      <vt:lpstr>Match Clause</vt:lpstr>
      <vt:lpstr>Match Clause</vt:lpstr>
      <vt:lpstr>Optional Match Clause</vt:lpstr>
      <vt:lpstr>Where Clause</vt:lpstr>
      <vt:lpstr>Where Clause with Multiple Conditions</vt:lpstr>
      <vt:lpstr>Using Relationship with Where Clause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code : CSE1004 Course title  : Database Management System</dc:title>
  <dc:creator>gopikrishnan sundaram</dc:creator>
  <cp:lastModifiedBy>Dr. Gopikrishnan S</cp:lastModifiedBy>
  <cp:revision>192</cp:revision>
  <dcterms:created xsi:type="dcterms:W3CDTF">2019-11-30T05:18:24Z</dcterms:created>
  <dcterms:modified xsi:type="dcterms:W3CDTF">2023-05-06T02:04:54Z</dcterms:modified>
</cp:coreProperties>
</file>