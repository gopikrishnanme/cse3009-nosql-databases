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8" r:id="rId3"/>
    <p:sldId id="332" r:id="rId4"/>
    <p:sldId id="260" r:id="rId5"/>
    <p:sldId id="333" r:id="rId6"/>
    <p:sldId id="334" r:id="rId7"/>
    <p:sldId id="336" r:id="rId8"/>
    <p:sldId id="316" r:id="rId9"/>
    <p:sldId id="340" r:id="rId10"/>
    <p:sldId id="338" r:id="rId11"/>
    <p:sldId id="343" r:id="rId12"/>
    <p:sldId id="346" r:id="rId13"/>
    <p:sldId id="344" r:id="rId14"/>
    <p:sldId id="345" r:id="rId15"/>
    <p:sldId id="347" r:id="rId16"/>
    <p:sldId id="339" r:id="rId17"/>
    <p:sldId id="349" r:id="rId18"/>
    <p:sldId id="348" r:id="rId19"/>
    <p:sldId id="350" r:id="rId20"/>
    <p:sldId id="351" r:id="rId21"/>
    <p:sldId id="352" r:id="rId22"/>
    <p:sldId id="353" r:id="rId23"/>
    <p:sldId id="354" r:id="rId24"/>
    <p:sldId id="355" r:id="rId25"/>
    <p:sldId id="359" r:id="rId26"/>
    <p:sldId id="364" r:id="rId27"/>
    <p:sldId id="365" r:id="rId28"/>
    <p:sldId id="366" r:id="rId29"/>
    <p:sldId id="357" r:id="rId30"/>
    <p:sldId id="360" r:id="rId31"/>
    <p:sldId id="361" r:id="rId32"/>
    <p:sldId id="362" r:id="rId33"/>
    <p:sldId id="363" r:id="rId34"/>
    <p:sldId id="358" r:id="rId35"/>
    <p:sldId id="25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04-04-2023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04-04-2023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04-04-2023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04-04-2023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04-04-2023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04-04-2023</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04-04-2023</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04-04-2023</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04-04-2023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04-04-2023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04-04-2023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04-04-2023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04-04-2023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5</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1</a:t>
            </a:r>
          </a:p>
        </p:txBody>
      </p:sp>
      <p:sp>
        <p:nvSpPr>
          <p:cNvPr id="6" name="Subtitle 2"/>
          <p:cNvSpPr>
            <a:spLocks noGrp="1"/>
          </p:cNvSpPr>
          <p:nvPr>
            <p:ph type="subTitle" idx="1"/>
          </p:nvPr>
        </p:nvSpPr>
        <p:spPr>
          <a:xfrm>
            <a:off x="1402183" y="3677818"/>
            <a:ext cx="9144000" cy="1655762"/>
          </a:xfrm>
        </p:spPr>
        <p:txBody>
          <a:bodyPr>
            <a:normAutofit/>
          </a:bodyPr>
          <a:lstStyle/>
          <a:p>
            <a:r>
              <a:rPr lang="it-IT" sz="4000" b="1" dirty="0">
                <a:solidFill>
                  <a:srgbClr val="0070C0"/>
                </a:solidFill>
                <a:latin typeface="Arial" panose="020B0604020202020204" pitchFamily="34" charset="0"/>
                <a:cs typeface="Arial" panose="020B0604020202020204" pitchFamily="34" charset="0"/>
              </a:rPr>
              <a:t>Data warehousing schemas</a:t>
            </a:r>
            <a:endParaRPr lang="en-IN" sz="4000" b="1" dirty="0">
              <a:solidFill>
                <a:srgbClr val="0070C0"/>
              </a:solidFill>
              <a:latin typeface="Arial" panose="020B0604020202020204" pitchFamily="34" charset="0"/>
              <a:cs typeface="Arial" panose="020B0604020202020204" pitchFamily="34" charset="0"/>
            </a:endParaRPr>
          </a:p>
        </p:txBody>
      </p:sp>
      <p:pic>
        <p:nvPicPr>
          <p:cNvPr id="7"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p:cNvSpPr>
            <a:spLocks noGrp="1"/>
          </p:cNvSpPr>
          <p:nvPr>
            <p:ph type="dt" sz="half" idx="10"/>
          </p:nvPr>
        </p:nvSpPr>
        <p:spPr/>
        <p:txBody>
          <a:bodyPr/>
          <a:lstStyle/>
          <a:p>
            <a:fld id="{756728E3-B72D-49A5-85A2-5AE45557AE43}" type="datetime1">
              <a:rPr lang="en-IN" smtClean="0">
                <a:latin typeface="Calibri (Body)"/>
              </a:rPr>
              <a:t>04-04-2023</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Data warehousing schemas</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Comparison of columnar and row-oriented storage, </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Column-store Architectures: </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C-Store and </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Vector-Wise</a:t>
            </a:r>
            <a:endParaRPr lang="en-IN"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Data warehousing schemas</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When RDBMS released, </a:t>
            </a:r>
            <a:r>
              <a:rPr lang="en-US" sz="2400" dirty="0">
                <a:solidFill>
                  <a:srgbClr val="FF0000"/>
                </a:solidFill>
                <a:latin typeface="Arial" panose="020B0604020202020204" pitchFamily="34" charset="0"/>
                <a:cs typeface="Arial" panose="020B0604020202020204" pitchFamily="34" charset="0"/>
              </a:rPr>
              <a:t>database workloads were dominated </a:t>
            </a:r>
            <a:r>
              <a:rPr lang="en-US" sz="2400" dirty="0">
                <a:latin typeface="Arial" panose="020B0604020202020204" pitchFamily="34" charset="0"/>
                <a:cs typeface="Arial" panose="020B0604020202020204" pitchFamily="34" charset="0"/>
              </a:rPr>
              <a:t>by </a:t>
            </a:r>
            <a:r>
              <a:rPr lang="en-US" sz="2400" dirty="0">
                <a:solidFill>
                  <a:srgbClr val="0000FF"/>
                </a:solidFill>
                <a:latin typeface="Arial" panose="020B0604020202020204" pitchFamily="34" charset="0"/>
                <a:cs typeface="Arial" panose="020B0604020202020204" pitchFamily="34" charset="0"/>
              </a:rPr>
              <a:t>record-based processing</a:t>
            </a:r>
            <a:r>
              <a:rPr lang="en-US" sz="2400" dirty="0">
                <a:latin typeface="Arial" panose="020B0604020202020204" pitchFamily="34" charset="0"/>
                <a:cs typeface="Arial" panose="020B0604020202020204" pitchFamily="34" charset="0"/>
              </a:rPr>
              <a:t>: so-called </a:t>
            </a:r>
            <a:r>
              <a:rPr lang="en-US" sz="2400" dirty="0">
                <a:solidFill>
                  <a:srgbClr val="FF0000"/>
                </a:solidFill>
                <a:latin typeface="Arial" panose="020B0604020202020204" pitchFamily="34" charset="0"/>
                <a:cs typeface="Arial" panose="020B0604020202020204" pitchFamily="34" charset="0"/>
              </a:rPr>
              <a:t>CRUD operations </a:t>
            </a:r>
            <a:r>
              <a:rPr lang="en-US" sz="2400" dirty="0">
                <a:latin typeface="Arial" panose="020B0604020202020204" pitchFamily="34" charset="0"/>
                <a:cs typeface="Arial" panose="020B0604020202020204" pitchFamily="34" charset="0"/>
              </a:rPr>
              <a:t>(Create, Read, Update, Delete)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RDBMS were iterated through entire tables and run in a background batch mode where query response time was not a critical issue.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late 1980s and 1990s, RDBMS were tasked with </a:t>
            </a:r>
            <a:r>
              <a:rPr lang="en-US" sz="2400" dirty="0">
                <a:solidFill>
                  <a:srgbClr val="0000FF"/>
                </a:solidFill>
                <a:latin typeface="Arial" panose="020B0604020202020204" pitchFamily="34" charset="0"/>
                <a:cs typeface="Arial" panose="020B0604020202020204" pitchFamily="34" charset="0"/>
              </a:rPr>
              <a:t>supporting analytic and decision support applications that often demanded interactive response times</a:t>
            </a:r>
            <a:r>
              <a:rPr lang="en-US" sz="2400" dirty="0">
                <a:latin typeface="Arial" panose="020B0604020202020204" pitchFamily="34" charset="0"/>
                <a:cs typeface="Arial" panose="020B0604020202020204" pitchFamily="34" charset="0"/>
              </a:rPr>
              <a:t>. These systems became known as </a:t>
            </a:r>
            <a:r>
              <a:rPr lang="en-US" sz="2400" dirty="0">
                <a:solidFill>
                  <a:srgbClr val="0000FF"/>
                </a:solidFill>
                <a:latin typeface="Arial" panose="020B0604020202020204" pitchFamily="34" charset="0"/>
                <a:cs typeface="Arial" panose="020B0604020202020204" pitchFamily="34" charset="0"/>
              </a:rPr>
              <a:t>data warehouses and operated parallel to the OLTP system</a:t>
            </a:r>
            <a:r>
              <a:rPr lang="en-US" sz="2400" dirty="0">
                <a:latin typeface="Arial" panose="020B0604020202020204" pitchFamily="34" charset="0"/>
                <a:cs typeface="Arial" panose="020B0604020202020204" pitchFamily="34" charset="0"/>
              </a:rPr>
              <a:t>.</a:t>
            </a:r>
            <a:endParaRPr lang="en-IN"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2243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Data warehousing schemas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Separating OLTP(Online Transactional Processing) and OLAP (Online Analytic Processing) workloads was important for maintaining service-level response times for the OLTP systems.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basic </a:t>
            </a:r>
            <a:r>
              <a:rPr lang="en-US" sz="2400" dirty="0">
                <a:solidFill>
                  <a:srgbClr val="0000FF"/>
                </a:solidFill>
                <a:latin typeface="Arial" panose="020B0604020202020204" pitchFamily="34" charset="0"/>
                <a:cs typeface="Arial" panose="020B0604020202020204" pitchFamily="34" charset="0"/>
              </a:rPr>
              <a:t>difference between OLTP and OLAP </a:t>
            </a:r>
            <a:r>
              <a:rPr lang="en-US" sz="2400" dirty="0">
                <a:latin typeface="Arial" panose="020B0604020202020204" pitchFamily="34" charset="0"/>
                <a:cs typeface="Arial" panose="020B0604020202020204" pitchFamily="34" charset="0"/>
              </a:rPr>
              <a:t>is that </a:t>
            </a:r>
            <a:r>
              <a:rPr lang="en-US" sz="2400" dirty="0">
                <a:solidFill>
                  <a:srgbClr val="FF0000"/>
                </a:solidFill>
                <a:latin typeface="Arial" panose="020B0604020202020204" pitchFamily="34" charset="0"/>
                <a:cs typeface="Arial" panose="020B0604020202020204" pitchFamily="34" charset="0"/>
              </a:rPr>
              <a:t>OLTP is an online database modifying system</a:t>
            </a:r>
            <a:r>
              <a:rPr lang="en-US" sz="2400" dirty="0">
                <a:latin typeface="Arial" panose="020B0604020202020204" pitchFamily="34" charset="0"/>
                <a:cs typeface="Arial" panose="020B0604020202020204" pitchFamily="34" charset="0"/>
              </a:rPr>
              <a:t>, whereas, </a:t>
            </a:r>
            <a:r>
              <a:rPr lang="en-US" sz="2400" dirty="0">
                <a:solidFill>
                  <a:srgbClr val="FF0000"/>
                </a:solidFill>
                <a:latin typeface="Arial" panose="020B0604020202020204" pitchFamily="34" charset="0"/>
                <a:cs typeface="Arial" panose="020B0604020202020204" pitchFamily="34" charset="0"/>
              </a:rPr>
              <a:t>OLAP is an online database query answering system</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But equally important, the </a:t>
            </a:r>
            <a:r>
              <a:rPr lang="en-US" sz="2400" dirty="0">
                <a:solidFill>
                  <a:srgbClr val="0000FF"/>
                </a:solidFill>
                <a:latin typeface="Arial" panose="020B0604020202020204" pitchFamily="34" charset="0"/>
                <a:cs typeface="Arial" panose="020B0604020202020204" pitchFamily="34" charset="0"/>
              </a:rPr>
              <a:t>OLAP system demanded a different schema </a:t>
            </a:r>
            <a:r>
              <a:rPr lang="en-US" sz="2400" dirty="0">
                <a:latin typeface="Arial" panose="020B0604020202020204" pitchFamily="34" charset="0"/>
                <a:cs typeface="Arial" panose="020B0604020202020204" pitchFamily="34" charset="0"/>
              </a:rPr>
              <a:t>from the OLTP system.</a:t>
            </a:r>
            <a:endParaRPr lang="en-IN"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8351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Data warehousing schemas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Star schemas </a:t>
            </a:r>
            <a:r>
              <a:rPr lang="en-US" sz="2400" dirty="0">
                <a:latin typeface="Arial" panose="020B0604020202020204" pitchFamily="34" charset="0"/>
                <a:cs typeface="Arial" panose="020B0604020202020204" pitchFamily="34" charset="0"/>
              </a:rPr>
              <a:t>were developed </a:t>
            </a:r>
            <a:r>
              <a:rPr lang="en-US" sz="2400" dirty="0">
                <a:solidFill>
                  <a:srgbClr val="0000FF"/>
                </a:solidFill>
                <a:latin typeface="Arial" panose="020B0604020202020204" pitchFamily="34" charset="0"/>
                <a:cs typeface="Arial" panose="020B0604020202020204" pitchFamily="34" charset="0"/>
              </a:rPr>
              <a:t>to create data warehouses </a:t>
            </a:r>
            <a:r>
              <a:rPr lang="en-US" sz="2400" dirty="0">
                <a:latin typeface="Arial" panose="020B0604020202020204" pitchFamily="34" charset="0"/>
                <a:cs typeface="Arial" panose="020B0604020202020204" pitchFamily="34" charset="0"/>
              </a:rPr>
              <a:t>in which aggregate queries could execute quickly and which would </a:t>
            </a:r>
            <a:r>
              <a:rPr lang="en-US" sz="2400" dirty="0">
                <a:solidFill>
                  <a:srgbClr val="0000FF"/>
                </a:solidFill>
                <a:latin typeface="Arial" panose="020B0604020202020204" pitchFamily="34" charset="0"/>
                <a:cs typeface="Arial" panose="020B0604020202020204" pitchFamily="34" charset="0"/>
              </a:rPr>
              <a:t>provide a predictable schema for Business Intelligence (BI) </a:t>
            </a:r>
            <a:r>
              <a:rPr lang="en-US" sz="2400" dirty="0">
                <a:latin typeface="Arial" panose="020B0604020202020204" pitchFamily="34" charset="0"/>
                <a:cs typeface="Arial" panose="020B0604020202020204" pitchFamily="34" charset="0"/>
              </a:rPr>
              <a:t>tools.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a star schema, </a:t>
            </a:r>
            <a:r>
              <a:rPr lang="en-US" sz="2400" dirty="0">
                <a:solidFill>
                  <a:srgbClr val="FF0000"/>
                </a:solidFill>
                <a:latin typeface="Arial" panose="020B0604020202020204" pitchFamily="34" charset="0"/>
                <a:cs typeface="Arial" panose="020B0604020202020204" pitchFamily="34" charset="0"/>
              </a:rPr>
              <a:t>central large fact tables are associated with numerous smaller dimension tables</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When the dimension tables implement a </a:t>
            </a:r>
            <a:r>
              <a:rPr lang="en-US" sz="2400" dirty="0">
                <a:solidFill>
                  <a:srgbClr val="0000FF"/>
                </a:solidFill>
                <a:latin typeface="Arial" panose="020B0604020202020204" pitchFamily="34" charset="0"/>
                <a:cs typeface="Arial" panose="020B0604020202020204" pitchFamily="34" charset="0"/>
              </a:rPr>
              <a:t>more complex set of foreign key relationships</a:t>
            </a:r>
            <a:r>
              <a:rPr lang="en-US" sz="2400" dirty="0">
                <a:latin typeface="Arial" panose="020B0604020202020204" pitchFamily="34" charset="0"/>
                <a:cs typeface="Arial" panose="020B0604020202020204" pitchFamily="34" charset="0"/>
              </a:rPr>
              <a:t>, then the schema is referred to as a </a:t>
            </a:r>
            <a:r>
              <a:rPr lang="en-US" sz="2400" dirty="0">
                <a:solidFill>
                  <a:srgbClr val="FF0000"/>
                </a:solidFill>
                <a:latin typeface="Arial" panose="020B0604020202020204" pitchFamily="34" charset="0"/>
                <a:cs typeface="Arial" panose="020B0604020202020204" pitchFamily="34" charset="0"/>
              </a:rPr>
              <a:t>snowflake schema</a:t>
            </a:r>
            <a:r>
              <a:rPr lang="en-US" sz="2400" dirty="0">
                <a:latin typeface="Arial" panose="020B0604020202020204" pitchFamily="34" charset="0"/>
                <a:cs typeface="Arial" panose="020B0604020202020204" pitchFamily="34" charset="0"/>
              </a:rPr>
              <a:t>.</a:t>
            </a:r>
            <a:endParaRPr lang="en-IN"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4761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Star schemas</a:t>
            </a:r>
          </a:p>
        </p:txBody>
      </p:sp>
      <p:sp>
        <p:nvSpPr>
          <p:cNvPr id="3" name="Content Placeholder 2"/>
          <p:cNvSpPr>
            <a:spLocks noGrp="1"/>
          </p:cNvSpPr>
          <p:nvPr>
            <p:ph idx="1"/>
          </p:nvPr>
        </p:nvSpPr>
        <p:spPr>
          <a:xfrm>
            <a:off x="838200" y="1690688"/>
            <a:ext cx="6284495" cy="4486275"/>
          </a:xfrm>
        </p:spPr>
        <p:txBody>
          <a:bodyPr>
            <a:noAutofit/>
          </a:bodyPr>
          <a:lstStyle/>
          <a:p>
            <a:pPr marL="0" indent="0">
              <a:lnSpc>
                <a:spcPct val="120000"/>
              </a:lnSpc>
              <a:spcBef>
                <a:spcPts val="1800"/>
              </a:spcBef>
              <a:spcAft>
                <a:spcPts val="600"/>
              </a:spcAft>
              <a:buNone/>
            </a:pPr>
            <a:r>
              <a:rPr lang="en-US" sz="2000" dirty="0">
                <a:latin typeface="Arial" panose="020B0604020202020204" pitchFamily="34" charset="0"/>
                <a:cs typeface="Arial" panose="020B0604020202020204" pitchFamily="34" charset="0"/>
              </a:rPr>
              <a:t>Almost all </a:t>
            </a:r>
            <a:r>
              <a:rPr lang="en-US" sz="2000" dirty="0">
                <a:solidFill>
                  <a:srgbClr val="FF0000"/>
                </a:solidFill>
                <a:latin typeface="Arial" panose="020B0604020202020204" pitchFamily="34" charset="0"/>
                <a:cs typeface="Arial" panose="020B0604020202020204" pitchFamily="34" charset="0"/>
              </a:rPr>
              <a:t>data warehouses adopted</a:t>
            </a:r>
            <a:r>
              <a:rPr lang="en-US" sz="2000" dirty="0">
                <a:latin typeface="Arial" panose="020B0604020202020204" pitchFamily="34" charset="0"/>
                <a:cs typeface="Arial" panose="020B0604020202020204" pitchFamily="34" charset="0"/>
              </a:rPr>
              <a:t> some variation on the </a:t>
            </a:r>
            <a:r>
              <a:rPr lang="en-US" sz="2000" dirty="0">
                <a:solidFill>
                  <a:srgbClr val="FF0000"/>
                </a:solidFill>
                <a:latin typeface="Arial" panose="020B0604020202020204" pitchFamily="34" charset="0"/>
                <a:cs typeface="Arial" panose="020B0604020202020204" pitchFamily="34" charset="0"/>
              </a:rPr>
              <a:t>star schema paradigm</a:t>
            </a:r>
            <a:r>
              <a:rPr lang="en-US" sz="2000" dirty="0">
                <a:latin typeface="Arial" panose="020B0604020202020204" pitchFamily="34" charset="0"/>
                <a:cs typeface="Arial" panose="020B0604020202020204" pitchFamily="34" charset="0"/>
              </a:rPr>
              <a:t>, and almost all </a:t>
            </a:r>
            <a:r>
              <a:rPr lang="en-US" sz="2000" dirty="0">
                <a:solidFill>
                  <a:srgbClr val="0000FF"/>
                </a:solidFill>
                <a:latin typeface="Arial" panose="020B0604020202020204" pitchFamily="34" charset="0"/>
                <a:cs typeface="Arial" panose="020B0604020202020204" pitchFamily="34" charset="0"/>
              </a:rPr>
              <a:t>relational databases</a:t>
            </a:r>
            <a:r>
              <a:rPr lang="en-US" sz="2000" dirty="0">
                <a:latin typeface="Arial" panose="020B0604020202020204" pitchFamily="34" charset="0"/>
                <a:cs typeface="Arial" panose="020B0604020202020204" pitchFamily="34" charset="0"/>
              </a:rPr>
              <a:t> adopted </a:t>
            </a:r>
            <a:r>
              <a:rPr lang="en-US" sz="2000" dirty="0">
                <a:solidFill>
                  <a:srgbClr val="0000FF"/>
                </a:solidFill>
                <a:latin typeface="Arial" panose="020B0604020202020204" pitchFamily="34" charset="0"/>
                <a:cs typeface="Arial" panose="020B0604020202020204" pitchFamily="34" charset="0"/>
              </a:rPr>
              <a:t>indexing and SQL optimization schemes</a:t>
            </a:r>
            <a:r>
              <a:rPr lang="en-US" sz="2000" dirty="0">
                <a:latin typeface="Arial" panose="020B0604020202020204" pitchFamily="34" charset="0"/>
                <a:cs typeface="Arial" panose="020B0604020202020204" pitchFamily="34" charset="0"/>
              </a:rPr>
              <a:t> to </a:t>
            </a:r>
            <a:r>
              <a:rPr lang="en-US" sz="2000" dirty="0">
                <a:solidFill>
                  <a:srgbClr val="0000FF"/>
                </a:solidFill>
                <a:latin typeface="Arial" panose="020B0604020202020204" pitchFamily="34" charset="0"/>
                <a:cs typeface="Arial" panose="020B0604020202020204" pitchFamily="34" charset="0"/>
              </a:rPr>
              <a:t>accelerate queries against star schemas</a:t>
            </a:r>
            <a:r>
              <a:rPr lang="en-US" sz="20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000" dirty="0">
                <a:latin typeface="Arial" panose="020B0604020202020204" pitchFamily="34" charset="0"/>
                <a:cs typeface="Arial" panose="020B0604020202020204" pitchFamily="34" charset="0"/>
              </a:rPr>
              <a:t>These optimizations allowed </a:t>
            </a:r>
            <a:r>
              <a:rPr lang="en-US" sz="2000" dirty="0">
                <a:solidFill>
                  <a:srgbClr val="FF0000"/>
                </a:solidFill>
                <a:latin typeface="Arial" panose="020B0604020202020204" pitchFamily="34" charset="0"/>
                <a:cs typeface="Arial" panose="020B0604020202020204" pitchFamily="34" charset="0"/>
              </a:rPr>
              <a:t>relational data warehouses to serve as the foundation for management dashboards and popular BI products</a:t>
            </a:r>
            <a:r>
              <a:rPr lang="en-US" sz="20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000" dirty="0">
                <a:latin typeface="Arial" panose="020B0604020202020204" pitchFamily="34" charset="0"/>
                <a:cs typeface="Arial" panose="020B0604020202020204" pitchFamily="34" charset="0"/>
              </a:rPr>
              <a:t>However, despite these optimizations, </a:t>
            </a:r>
            <a:r>
              <a:rPr lang="en-US" sz="2000" dirty="0">
                <a:solidFill>
                  <a:srgbClr val="0000FF"/>
                </a:solidFill>
                <a:latin typeface="Arial" panose="020B0604020202020204" pitchFamily="34" charset="0"/>
                <a:cs typeface="Arial" panose="020B0604020202020204" pitchFamily="34" charset="0"/>
              </a:rPr>
              <a:t>star schema processing in data warehouses remained severely CPU and IO intensive</a:t>
            </a:r>
            <a:r>
              <a:rPr lang="en-US" sz="2000" dirty="0">
                <a:latin typeface="Arial" panose="020B0604020202020204" pitchFamily="34" charset="0"/>
                <a:cs typeface="Arial" panose="020B0604020202020204" pitchFamily="34" charset="0"/>
              </a:rPr>
              <a:t>.</a:t>
            </a:r>
            <a:endParaRPr lang="en-IN" sz="20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3"/>
          <a:stretch>
            <a:fillRect/>
          </a:stretch>
        </p:blipFill>
        <p:spPr>
          <a:xfrm>
            <a:off x="7198369" y="1398374"/>
            <a:ext cx="4155431" cy="4580073"/>
          </a:xfrm>
          <a:prstGeom prst="rect">
            <a:avLst/>
          </a:prstGeom>
        </p:spPr>
      </p:pic>
    </p:spTree>
    <p:extLst>
      <p:ext uri="{BB962C8B-B14F-4D97-AF65-F5344CB8AC3E}">
        <p14:creationId xmlns:p14="http://schemas.microsoft.com/office/powerpoint/2010/main" val="1287302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The Columnar Alternative</a:t>
            </a:r>
          </a:p>
        </p:txBody>
      </p:sp>
      <p:sp>
        <p:nvSpPr>
          <p:cNvPr id="3" name="Content Placeholder 2"/>
          <p:cNvSpPr>
            <a:spLocks noGrp="1"/>
          </p:cNvSpPr>
          <p:nvPr>
            <p:ph idx="1"/>
          </p:nvPr>
        </p:nvSpPr>
        <p:spPr>
          <a:xfrm>
            <a:off x="838200" y="1690688"/>
            <a:ext cx="10515600" cy="4486275"/>
          </a:xfrm>
        </p:spPr>
        <p:txBody>
          <a:bodyPr>
            <a:normAutofit fontScale="925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As data volumes grew and user demands for interactive response times continued, there was </a:t>
            </a:r>
            <a:r>
              <a:rPr lang="en-US" sz="2400" dirty="0">
                <a:solidFill>
                  <a:srgbClr val="0000FF"/>
                </a:solidFill>
                <a:latin typeface="Arial" panose="020B0604020202020204" pitchFamily="34" charset="0"/>
                <a:cs typeface="Arial" panose="020B0604020202020204" pitchFamily="34" charset="0"/>
              </a:rPr>
              <a:t>increasing restlessness with traditional data warehousing performance</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idea that it might be better to store data in </a:t>
            </a:r>
            <a:r>
              <a:rPr lang="en-US" sz="2400" dirty="0">
                <a:solidFill>
                  <a:srgbClr val="FF0000"/>
                </a:solidFill>
                <a:latin typeface="Arial" panose="020B0604020202020204" pitchFamily="34" charset="0"/>
                <a:cs typeface="Arial" panose="020B0604020202020204" pitchFamily="34" charset="0"/>
              </a:rPr>
              <a:t>columnar format dates back to the 1970</a:t>
            </a:r>
            <a:r>
              <a:rPr lang="en-US" sz="2400" dirty="0">
                <a:latin typeface="Arial" panose="020B0604020202020204" pitchFamily="34" charset="0"/>
                <a:cs typeface="Arial" panose="020B0604020202020204" pitchFamily="34" charset="0"/>
              </a:rPr>
              <a:t>s, although </a:t>
            </a:r>
            <a:r>
              <a:rPr lang="en-US" sz="2400" dirty="0">
                <a:solidFill>
                  <a:srgbClr val="0000FF"/>
                </a:solidFill>
                <a:latin typeface="Arial" panose="020B0604020202020204" pitchFamily="34" charset="0"/>
                <a:cs typeface="Arial" panose="020B0604020202020204" pitchFamily="34" charset="0"/>
              </a:rPr>
              <a:t>commercial columnar databases </a:t>
            </a:r>
            <a:r>
              <a:rPr lang="en-US" sz="2400" dirty="0">
                <a:latin typeface="Arial" panose="020B0604020202020204" pitchFamily="34" charset="0"/>
                <a:cs typeface="Arial" panose="020B0604020202020204" pitchFamily="34" charset="0"/>
              </a:rPr>
              <a:t>did not appear until the mid-</a:t>
            </a:r>
            <a:r>
              <a:rPr lang="en-US" sz="2400" dirty="0">
                <a:solidFill>
                  <a:srgbClr val="0000FF"/>
                </a:solidFill>
                <a:latin typeface="Arial" panose="020B0604020202020204" pitchFamily="34" charset="0"/>
                <a:cs typeface="Arial" panose="020B0604020202020204" pitchFamily="34" charset="0"/>
              </a:rPr>
              <a:t>1990</a:t>
            </a:r>
            <a:r>
              <a:rPr lang="en-US" sz="2400" dirty="0">
                <a:latin typeface="Arial" panose="020B0604020202020204" pitchFamily="34" charset="0"/>
                <a:cs typeface="Arial" panose="020B0604020202020204" pitchFamily="34" charset="0"/>
              </a:rPr>
              <a:t>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Next Fig compares columnar and row-oriented storage for some simple data: in a columnar database, values for a specific column become co-located in the same disk blocks, while in the row-oriented model, all columns for each row are co-located.</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6584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The Columnar Alternative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3"/>
          <a:stretch>
            <a:fillRect/>
          </a:stretch>
        </p:blipFill>
        <p:spPr>
          <a:xfrm>
            <a:off x="3083729" y="1528685"/>
            <a:ext cx="6024542" cy="4682969"/>
          </a:xfrm>
          <a:prstGeom prst="rect">
            <a:avLst/>
          </a:prstGeom>
        </p:spPr>
      </p:pic>
    </p:spTree>
    <p:extLst>
      <p:ext uri="{BB962C8B-B14F-4D97-AF65-F5344CB8AC3E}">
        <p14:creationId xmlns:p14="http://schemas.microsoft.com/office/powerpoint/2010/main" val="3380289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Column-store Architectures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 column-oriented database </a:t>
            </a:r>
            <a:r>
              <a:rPr lang="en-US" sz="2400" dirty="0">
                <a:solidFill>
                  <a:srgbClr val="FF0000"/>
                </a:solidFill>
                <a:latin typeface="Arial" panose="020B0604020202020204" pitchFamily="34" charset="0"/>
                <a:cs typeface="Arial" panose="020B0604020202020204" pitchFamily="34" charset="0"/>
              </a:rPr>
              <a:t>stores each column continuously</a:t>
            </a:r>
            <a:r>
              <a:rPr lang="en-US" sz="2400" dirty="0">
                <a:latin typeface="Arial" panose="020B0604020202020204" pitchFamily="34" charset="0"/>
                <a:cs typeface="Arial" panose="020B0604020202020204" pitchFamily="34" charset="0"/>
              </a:rPr>
              <a:t>. i.e. </a:t>
            </a:r>
            <a:r>
              <a:rPr lang="en-US" sz="2400" dirty="0">
                <a:solidFill>
                  <a:srgbClr val="0000FF"/>
                </a:solidFill>
                <a:latin typeface="Arial" panose="020B0604020202020204" pitchFamily="34" charset="0"/>
                <a:cs typeface="Arial" panose="020B0604020202020204" pitchFamily="34" charset="0"/>
              </a:rPr>
              <a:t>on disk or in-memory each column on the left will be stored in sequential blocks</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For </a:t>
            </a:r>
            <a:r>
              <a:rPr lang="en-US" sz="2400" dirty="0">
                <a:solidFill>
                  <a:srgbClr val="0000FF"/>
                </a:solidFill>
                <a:latin typeface="Arial" panose="020B0604020202020204" pitchFamily="34" charset="0"/>
                <a:cs typeface="Arial" panose="020B0604020202020204" pitchFamily="34" charset="0"/>
              </a:rPr>
              <a:t>analytical queries that perform aggregate operations </a:t>
            </a:r>
            <a:r>
              <a:rPr lang="en-US" sz="2400" dirty="0">
                <a:latin typeface="Arial" panose="020B0604020202020204" pitchFamily="34" charset="0"/>
                <a:cs typeface="Arial" panose="020B0604020202020204" pitchFamily="34" charset="0"/>
              </a:rPr>
              <a:t>over a small number of columns retrieving data in this format is </a:t>
            </a:r>
            <a:r>
              <a:rPr lang="en-US" sz="2400" dirty="0">
                <a:solidFill>
                  <a:srgbClr val="0000FF"/>
                </a:solidFill>
                <a:latin typeface="Arial" panose="020B0604020202020204" pitchFamily="34" charset="0"/>
                <a:cs typeface="Arial" panose="020B0604020202020204" pitchFamily="34" charset="0"/>
              </a:rPr>
              <a:t>extremely fast</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Popular column family databases are </a:t>
            </a:r>
            <a:r>
              <a:rPr lang="en-US" sz="2400" dirty="0">
                <a:solidFill>
                  <a:srgbClr val="FF0000"/>
                </a:solidFill>
                <a:latin typeface="Arial" panose="020B0604020202020204" pitchFamily="34" charset="0"/>
                <a:cs typeface="Arial" panose="020B0604020202020204" pitchFamily="34" charset="0"/>
              </a:rPr>
              <a:t>Cassandra, </a:t>
            </a:r>
            <a:r>
              <a:rPr lang="en-US" sz="2400" dirty="0" err="1">
                <a:solidFill>
                  <a:srgbClr val="FF0000"/>
                </a:solidFill>
                <a:latin typeface="Arial" panose="020B0604020202020204" pitchFamily="34" charset="0"/>
                <a:cs typeface="Arial" panose="020B0604020202020204" pitchFamily="34" charset="0"/>
              </a:rPr>
              <a:t>HBase</a:t>
            </a:r>
            <a:r>
              <a:rPr lang="en-US" sz="2400" dirty="0">
                <a:solidFill>
                  <a:srgbClr val="FF0000"/>
                </a:solidFill>
                <a:latin typeface="Arial" panose="020B0604020202020204" pitchFamily="34" charset="0"/>
                <a:cs typeface="Arial" panose="020B0604020202020204" pitchFamily="34" charset="0"/>
              </a:rPr>
              <a:t>, </a:t>
            </a:r>
            <a:r>
              <a:rPr lang="en-US" sz="2400" dirty="0" err="1">
                <a:solidFill>
                  <a:srgbClr val="FF0000"/>
                </a:solidFill>
                <a:latin typeface="Arial" panose="020B0604020202020204" pitchFamily="34" charset="0"/>
                <a:cs typeface="Arial" panose="020B0604020202020204" pitchFamily="34" charset="0"/>
              </a:rPr>
              <a:t>AmazonSimpleDB</a:t>
            </a:r>
            <a:endParaRPr lang="en-US" sz="2400" dirty="0">
              <a:solidFill>
                <a:srgbClr val="FF0000"/>
              </a:solidFill>
              <a:latin typeface="Arial" panose="020B0604020202020204" pitchFamily="34" charset="0"/>
              <a:cs typeface="Arial" panose="020B0604020202020204" pitchFamily="34" charset="0"/>
            </a:endParaRP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Column stores are suitable for </a:t>
            </a:r>
            <a:r>
              <a:rPr lang="en-US" sz="2400" dirty="0">
                <a:solidFill>
                  <a:srgbClr val="FF0000"/>
                </a:solidFill>
                <a:latin typeface="Arial" panose="020B0604020202020204" pitchFamily="34" charset="0"/>
                <a:cs typeface="Arial" panose="020B0604020202020204" pitchFamily="34" charset="0"/>
              </a:rPr>
              <a:t>read-mostly, read-intensive, large data repositories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4913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Column-oriented databases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3"/>
          <a:stretch>
            <a:fillRect/>
          </a:stretch>
        </p:blipFill>
        <p:spPr>
          <a:xfrm>
            <a:off x="838200" y="2164164"/>
            <a:ext cx="10529681" cy="3718710"/>
          </a:xfrm>
          <a:prstGeom prst="rect">
            <a:avLst/>
          </a:prstGeom>
        </p:spPr>
      </p:pic>
    </p:spTree>
    <p:extLst>
      <p:ext uri="{BB962C8B-B14F-4D97-AF65-F5344CB8AC3E}">
        <p14:creationId xmlns:p14="http://schemas.microsoft.com/office/powerpoint/2010/main" val="1542407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Column-store Advantages</a:t>
            </a:r>
          </a:p>
        </p:txBody>
      </p:sp>
      <p:sp>
        <p:nvSpPr>
          <p:cNvPr id="3" name="Content Placeholder 2"/>
          <p:cNvSpPr>
            <a:spLocks noGrp="1"/>
          </p:cNvSpPr>
          <p:nvPr>
            <p:ph idx="1"/>
          </p:nvPr>
        </p:nvSpPr>
        <p:spPr>
          <a:xfrm>
            <a:off x="838200" y="1690688"/>
            <a:ext cx="5283467"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first key advantage: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a columnar architecture, </a:t>
            </a:r>
            <a:r>
              <a:rPr lang="en-US" sz="2400" dirty="0">
                <a:solidFill>
                  <a:srgbClr val="FF0000"/>
                </a:solidFill>
                <a:latin typeface="Arial" panose="020B0604020202020204" pitchFamily="34" charset="0"/>
                <a:cs typeface="Arial" panose="020B0604020202020204" pitchFamily="34" charset="0"/>
              </a:rPr>
              <a:t>queries that seek to aggregate the values </a:t>
            </a:r>
            <a:r>
              <a:rPr lang="en-US" sz="2400" dirty="0">
                <a:latin typeface="Arial" panose="020B0604020202020204" pitchFamily="34" charset="0"/>
                <a:cs typeface="Arial" panose="020B0604020202020204" pitchFamily="34" charset="0"/>
              </a:rPr>
              <a:t>of specific columns are </a:t>
            </a:r>
            <a:r>
              <a:rPr lang="en-US" sz="2400" dirty="0">
                <a:solidFill>
                  <a:srgbClr val="0000FF"/>
                </a:solidFill>
                <a:latin typeface="Arial" panose="020B0604020202020204" pitchFamily="34" charset="0"/>
                <a:cs typeface="Arial" panose="020B0604020202020204" pitchFamily="34" charset="0"/>
              </a:rPr>
              <a:t>optimized</a:t>
            </a:r>
            <a:r>
              <a:rPr lang="en-US" sz="2400" dirty="0">
                <a:latin typeface="Arial" panose="020B0604020202020204" pitchFamily="34" charset="0"/>
                <a:cs typeface="Arial" panose="020B0604020202020204" pitchFamily="34" charset="0"/>
              </a:rPr>
              <a:t>, because all of the values to be aggregated exist within the same disk blocks.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pic>
        <p:nvPicPr>
          <p:cNvPr id="10" name="Picture 9"/>
          <p:cNvPicPr>
            <a:picLocks noChangeAspect="1"/>
          </p:cNvPicPr>
          <p:nvPr/>
        </p:nvPicPr>
        <p:blipFill>
          <a:blip r:embed="rId3"/>
          <a:stretch>
            <a:fillRect/>
          </a:stretch>
        </p:blipFill>
        <p:spPr>
          <a:xfrm>
            <a:off x="6849178" y="1409360"/>
            <a:ext cx="4466122" cy="4767603"/>
          </a:xfrm>
          <a:prstGeom prst="rect">
            <a:avLst/>
          </a:prstGeom>
        </p:spPr>
      </p:pic>
    </p:spTree>
    <p:extLst>
      <p:ext uri="{BB962C8B-B14F-4D97-AF65-F5344CB8AC3E}">
        <p14:creationId xmlns:p14="http://schemas.microsoft.com/office/powerpoint/2010/main" val="2039008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Columnar Compression</a:t>
            </a: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second key advantage: Compression. </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Compression algorithms work primarily by removing redundancy within data values</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Data that is highly repetitious - especially if those repetitions are localized - </a:t>
            </a:r>
            <a:r>
              <a:rPr lang="en-US" sz="2400" dirty="0">
                <a:solidFill>
                  <a:srgbClr val="0000FF"/>
                </a:solidFill>
                <a:latin typeface="Arial" panose="020B0604020202020204" pitchFamily="34" charset="0"/>
                <a:cs typeface="Arial" panose="020B0604020202020204" pitchFamily="34" charset="0"/>
              </a:rPr>
              <a:t>achieve higher compression ratios than data with low repetition</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Although the total amount of repetition is the same across the entire database, regardless of row or column orientation, </a:t>
            </a:r>
            <a:r>
              <a:rPr lang="en-US" sz="2400" dirty="0">
                <a:solidFill>
                  <a:srgbClr val="FF0000"/>
                </a:solidFill>
                <a:latin typeface="Arial" panose="020B0604020202020204" pitchFamily="34" charset="0"/>
                <a:cs typeface="Arial" panose="020B0604020202020204" pitchFamily="34" charset="0"/>
              </a:rPr>
              <a:t>compression schemes usually try to work on localized subsets of the data</a:t>
            </a:r>
            <a:r>
              <a:rPr lang="en-US" sz="2400" dirty="0">
                <a:latin typeface="Arial" panose="020B0604020202020204" pitchFamily="34" charset="0"/>
                <a:cs typeface="Arial" panose="020B0604020202020204" pitchFamily="34" charset="0"/>
              </a:rPr>
              <a:t>; the CPU overhead of compression is far lower if it can work on isolated blocks of data.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2637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Columnar Compression</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Since in a columnar database the columns are stored together on disk, </a:t>
            </a:r>
            <a:r>
              <a:rPr lang="en-US" sz="2400" dirty="0">
                <a:solidFill>
                  <a:srgbClr val="FF0000"/>
                </a:solidFill>
                <a:latin typeface="Arial" panose="020B0604020202020204" pitchFamily="34" charset="0"/>
                <a:cs typeface="Arial" panose="020B0604020202020204" pitchFamily="34" charset="0"/>
              </a:rPr>
              <a:t>achieving a higher compression ratio is far less computationally expensive</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Furthermore, in many cases a </a:t>
            </a:r>
            <a:r>
              <a:rPr lang="en-US" sz="2400" dirty="0">
                <a:solidFill>
                  <a:srgbClr val="0000FF"/>
                </a:solidFill>
                <a:latin typeface="Arial" panose="020B0604020202020204" pitchFamily="34" charset="0"/>
                <a:cs typeface="Arial" panose="020B0604020202020204" pitchFamily="34" charset="0"/>
              </a:rPr>
              <a:t>columnar database will store column data in a sorted order</a:t>
            </a:r>
            <a:r>
              <a:rPr lang="en-US" sz="2400" dirty="0">
                <a:latin typeface="Arial" panose="020B0604020202020204" pitchFamily="34" charset="0"/>
                <a:cs typeface="Arial" panose="020B0604020202020204" pitchFamily="34" charset="0"/>
              </a:rPr>
              <a:t>. In this case, very high compression ratios can be achieved simply by representing each column value as a “delta” from the preceding column value. </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The result is extremely high compression ratios achieved with very low computational overhead</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endParaRPr lang="en-US"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2262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Disadvantage: Columnar Write Penalty</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key disadvantage of the columnar architecture - and the reason </a:t>
            </a:r>
            <a:r>
              <a:rPr lang="en-US" sz="2400" dirty="0">
                <a:solidFill>
                  <a:srgbClr val="FF0000"/>
                </a:solidFill>
                <a:latin typeface="Arial" panose="020B0604020202020204" pitchFamily="34" charset="0"/>
                <a:cs typeface="Arial" panose="020B0604020202020204" pitchFamily="34" charset="0"/>
              </a:rPr>
              <a:t>it is a poor choice for OLTP databases</a:t>
            </a:r>
            <a:r>
              <a:rPr lang="en-US" sz="2400" dirty="0">
                <a:latin typeface="Arial" panose="020B0604020202020204" pitchFamily="34" charset="0"/>
                <a:cs typeface="Arial" panose="020B0604020202020204" pitchFamily="34" charset="0"/>
              </a:rPr>
              <a:t> - is the overhead it imposes on single row operations.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a columnar database, retrieving a single row involves assembling the row from each of the column stores for that table. </a:t>
            </a:r>
            <a:r>
              <a:rPr lang="en-US" sz="2400" dirty="0">
                <a:solidFill>
                  <a:srgbClr val="FF0000"/>
                </a:solidFill>
                <a:latin typeface="Arial" panose="020B0604020202020204" pitchFamily="34" charset="0"/>
                <a:cs typeface="Arial" panose="020B0604020202020204" pitchFamily="34" charset="0"/>
              </a:rPr>
              <a:t>Read overhead can be partly reduced by caching and multicolumn projections </a:t>
            </a:r>
            <a:r>
              <a:rPr lang="en-US" sz="2400" dirty="0">
                <a:latin typeface="Arial" panose="020B0604020202020204" pitchFamily="34" charset="0"/>
                <a:cs typeface="Arial" panose="020B0604020202020204" pitchFamily="34" charset="0"/>
              </a:rPr>
              <a:t>(storing multiple columns together on disk).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However, </a:t>
            </a:r>
            <a:r>
              <a:rPr lang="en-US" sz="2400" dirty="0">
                <a:solidFill>
                  <a:srgbClr val="FF0000"/>
                </a:solidFill>
                <a:latin typeface="Arial" panose="020B0604020202020204" pitchFamily="34" charset="0"/>
                <a:cs typeface="Arial" panose="020B0604020202020204" pitchFamily="34" charset="0"/>
              </a:rPr>
              <a:t>when it comes to DML operations - particularly inserts - there is virtually no way to avoid having to modify all the columns for each row</a:t>
            </a:r>
            <a:r>
              <a:rPr lang="en-US" sz="2400" dirty="0">
                <a:latin typeface="Arial" panose="020B0604020202020204" pitchFamily="34" charset="0"/>
                <a:cs typeface="Arial" panose="020B0604020202020204" pitchFamily="34" charset="0"/>
              </a:rPr>
              <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80972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Columnar Write Penalty</a:t>
            </a:r>
          </a:p>
        </p:txBody>
      </p:sp>
      <p:sp>
        <p:nvSpPr>
          <p:cNvPr id="3" name="Content Placeholder 2"/>
          <p:cNvSpPr>
            <a:spLocks noGrp="1"/>
          </p:cNvSpPr>
          <p:nvPr>
            <p:ph idx="1"/>
          </p:nvPr>
        </p:nvSpPr>
        <p:spPr>
          <a:xfrm>
            <a:off x="838200" y="1690688"/>
            <a:ext cx="5235341"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Figure illustrates the insert overhead for a column store on our simple example database. The row store need only perform a single IO to insert a new value, while the column store must update as many disk blocks as there are columns.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pic>
        <p:nvPicPr>
          <p:cNvPr id="10" name="Picture 9"/>
          <p:cNvPicPr>
            <a:picLocks noChangeAspect="1"/>
          </p:cNvPicPr>
          <p:nvPr/>
        </p:nvPicPr>
        <p:blipFill>
          <a:blip r:embed="rId3"/>
          <a:stretch>
            <a:fillRect/>
          </a:stretch>
        </p:blipFill>
        <p:spPr>
          <a:xfrm>
            <a:off x="6868428" y="1332004"/>
            <a:ext cx="4354630" cy="4719770"/>
          </a:xfrm>
          <a:prstGeom prst="rect">
            <a:avLst/>
          </a:prstGeom>
        </p:spPr>
      </p:pic>
    </p:spTree>
    <p:extLst>
      <p:ext uri="{BB962C8B-B14F-4D97-AF65-F5344CB8AC3E}">
        <p14:creationId xmlns:p14="http://schemas.microsoft.com/office/powerpoint/2010/main" val="4128364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Column-Oriented Database vs Row Oriented Database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052895615"/>
              </p:ext>
            </p:extLst>
          </p:nvPr>
        </p:nvGraphicFramePr>
        <p:xfrm>
          <a:off x="938864" y="2004453"/>
          <a:ext cx="10314272" cy="3764280"/>
        </p:xfrm>
        <a:graphic>
          <a:graphicData uri="http://schemas.openxmlformats.org/drawingml/2006/table">
            <a:tbl>
              <a:tblPr/>
              <a:tblGrid>
                <a:gridCol w="4955728">
                  <a:extLst>
                    <a:ext uri="{9D8B030D-6E8A-4147-A177-3AD203B41FA5}">
                      <a16:colId xmlns:a16="http://schemas.microsoft.com/office/drawing/2014/main" val="2605590183"/>
                    </a:ext>
                  </a:extLst>
                </a:gridCol>
                <a:gridCol w="2775648">
                  <a:extLst>
                    <a:ext uri="{9D8B030D-6E8A-4147-A177-3AD203B41FA5}">
                      <a16:colId xmlns:a16="http://schemas.microsoft.com/office/drawing/2014/main" val="3372385678"/>
                    </a:ext>
                  </a:extLst>
                </a:gridCol>
                <a:gridCol w="2582896">
                  <a:extLst>
                    <a:ext uri="{9D8B030D-6E8A-4147-A177-3AD203B41FA5}">
                      <a16:colId xmlns:a16="http://schemas.microsoft.com/office/drawing/2014/main" val="713195430"/>
                    </a:ext>
                  </a:extLst>
                </a:gridCol>
              </a:tblGrid>
              <a:tr h="278527">
                <a:tc>
                  <a:txBody>
                    <a:bodyPr/>
                    <a:lstStyle/>
                    <a:p>
                      <a:pPr algn="ctr"/>
                      <a:r>
                        <a:rPr lang="en-IN" sz="2200" dirty="0">
                          <a:effectLst/>
                          <a:latin typeface="Arial" panose="020B0604020202020204" pitchFamily="34" charset="0"/>
                          <a:cs typeface="Arial" panose="020B0604020202020204" pitchFamily="34" charset="0"/>
                        </a:rPr>
                        <a:t>Operation</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200" dirty="0">
                          <a:effectLst/>
                          <a:latin typeface="Arial" panose="020B0604020202020204" pitchFamily="34" charset="0"/>
                          <a:cs typeface="Arial" panose="020B0604020202020204" pitchFamily="34" charset="0"/>
                        </a:rPr>
                        <a:t>Column-Oriented Database</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200" dirty="0">
                          <a:effectLst/>
                          <a:latin typeface="Arial" panose="020B0604020202020204" pitchFamily="34" charset="0"/>
                          <a:cs typeface="Arial" panose="020B0604020202020204" pitchFamily="34" charset="0"/>
                        </a:rPr>
                        <a:t>Row-Oriented Database</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372428"/>
                  </a:ext>
                </a:extLst>
              </a:tr>
              <a:tr h="544729">
                <a:tc>
                  <a:txBody>
                    <a:bodyPr/>
                    <a:lstStyle/>
                    <a:p>
                      <a:r>
                        <a:rPr lang="en-US" sz="2200" dirty="0">
                          <a:effectLst/>
                          <a:latin typeface="Arial" panose="020B0604020202020204" pitchFamily="34" charset="0"/>
                          <a:cs typeface="Arial" panose="020B0604020202020204" pitchFamily="34" charset="0"/>
                        </a:rPr>
                        <a:t>Aggregate Calculation of Single Column e.g. sum(price)</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200" dirty="0">
                          <a:effectLst/>
                          <a:latin typeface="Arial" panose="020B0604020202020204" pitchFamily="34" charset="0"/>
                          <a:cs typeface="Arial" panose="020B0604020202020204" pitchFamily="34" charset="0"/>
                        </a:rPr>
                        <a:t> fast</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200">
                          <a:effectLst/>
                          <a:latin typeface="Arial" panose="020B0604020202020204" pitchFamily="34" charset="0"/>
                          <a:cs typeface="Arial" panose="020B0604020202020204" pitchFamily="34" charset="0"/>
                        </a:rPr>
                        <a:t>slow</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4020156"/>
                  </a:ext>
                </a:extLst>
              </a:tr>
              <a:tr h="544729">
                <a:tc>
                  <a:txBody>
                    <a:bodyPr/>
                    <a:lstStyle/>
                    <a:p>
                      <a:r>
                        <a:rPr lang="en-IN" sz="2200" dirty="0">
                          <a:effectLst/>
                          <a:latin typeface="Arial" panose="020B0604020202020204" pitchFamily="34" charset="0"/>
                          <a:cs typeface="Arial" panose="020B0604020202020204" pitchFamily="34" charset="0"/>
                        </a:rPr>
                        <a:t>Compression</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200" dirty="0">
                          <a:effectLst/>
                          <a:latin typeface="Arial" panose="020B0604020202020204" pitchFamily="34" charset="0"/>
                          <a:cs typeface="Arial" panose="020B0604020202020204" pitchFamily="34" charset="0"/>
                        </a:rPr>
                        <a:t> Higher. As stores similar data together</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200" dirty="0">
                          <a:effectLst/>
                          <a:latin typeface="Arial" panose="020B0604020202020204" pitchFamily="34" charset="0"/>
                          <a:cs typeface="Arial" panose="020B0604020202020204" pitchFamily="34" charset="0"/>
                        </a:rPr>
                        <a:t>-</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9641404"/>
                  </a:ext>
                </a:extLst>
              </a:tr>
              <a:tr h="544729">
                <a:tc>
                  <a:txBody>
                    <a:bodyPr/>
                    <a:lstStyle/>
                    <a:p>
                      <a:r>
                        <a:rPr lang="en-US" sz="2200" dirty="0">
                          <a:effectLst/>
                          <a:latin typeface="Arial" panose="020B0604020202020204" pitchFamily="34" charset="0"/>
                          <a:cs typeface="Arial" panose="020B0604020202020204" pitchFamily="34" charset="0"/>
                        </a:rPr>
                        <a:t>Retrieval of a few columns from a table with many columns</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200" dirty="0">
                          <a:effectLst/>
                          <a:latin typeface="Arial" panose="020B0604020202020204" pitchFamily="34" charset="0"/>
                          <a:cs typeface="Arial" panose="020B0604020202020204" pitchFamily="34" charset="0"/>
                        </a:rPr>
                        <a:t> Faster</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dirty="0">
                          <a:effectLst/>
                          <a:latin typeface="Arial" panose="020B0604020202020204" pitchFamily="34" charset="0"/>
                          <a:cs typeface="Arial" panose="020B0604020202020204" pitchFamily="34" charset="0"/>
                        </a:rPr>
                        <a:t>has to skip over unnecessary data</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2996195"/>
                  </a:ext>
                </a:extLst>
              </a:tr>
              <a:tr h="544729">
                <a:tc>
                  <a:txBody>
                    <a:bodyPr/>
                    <a:lstStyle/>
                    <a:p>
                      <a:r>
                        <a:rPr lang="en-US" sz="2200" dirty="0">
                          <a:effectLst/>
                          <a:latin typeface="Arial" panose="020B0604020202020204" pitchFamily="34" charset="0"/>
                          <a:cs typeface="Arial" panose="020B0604020202020204" pitchFamily="34" charset="0"/>
                        </a:rPr>
                        <a:t>Insertion/Updating of single new record</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200">
                          <a:effectLst/>
                          <a:latin typeface="Arial" panose="020B0604020202020204" pitchFamily="34" charset="0"/>
                          <a:cs typeface="Arial" panose="020B0604020202020204" pitchFamily="34" charset="0"/>
                        </a:rPr>
                        <a:t>Slow</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200" dirty="0">
                          <a:effectLst/>
                          <a:latin typeface="Arial" panose="020B0604020202020204" pitchFamily="34" charset="0"/>
                          <a:cs typeface="Arial" panose="020B0604020202020204" pitchFamily="34" charset="0"/>
                        </a:rPr>
                        <a:t> Fast</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0150709"/>
                  </a:ext>
                </a:extLst>
              </a:tr>
              <a:tr h="278527">
                <a:tc>
                  <a:txBody>
                    <a:bodyPr/>
                    <a:lstStyle/>
                    <a:p>
                      <a:r>
                        <a:rPr lang="en-US" sz="2200" dirty="0">
                          <a:effectLst/>
                          <a:latin typeface="Arial" panose="020B0604020202020204" pitchFamily="34" charset="0"/>
                          <a:cs typeface="Arial" panose="020B0604020202020204" pitchFamily="34" charset="0"/>
                        </a:rPr>
                        <a:t>Retrieval of a single record</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200">
                          <a:effectLst/>
                          <a:latin typeface="Arial" panose="020B0604020202020204" pitchFamily="34" charset="0"/>
                          <a:cs typeface="Arial" panose="020B0604020202020204" pitchFamily="34" charset="0"/>
                        </a:rPr>
                        <a:t>Slow</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200" dirty="0">
                          <a:effectLst/>
                          <a:latin typeface="Arial" panose="020B0604020202020204" pitchFamily="34" charset="0"/>
                          <a:cs typeface="Arial" panose="020B0604020202020204" pitchFamily="34" charset="0"/>
                        </a:rPr>
                        <a:t> Fast</a:t>
                      </a:r>
                    </a:p>
                  </a:txBody>
                  <a:tcPr marL="57150" marR="57150" marT="6350" marB="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4959009"/>
                  </a:ext>
                </a:extLst>
              </a:tr>
            </a:tbl>
          </a:graphicData>
        </a:graphic>
      </p:graphicFrame>
    </p:spTree>
    <p:extLst>
      <p:ext uri="{BB962C8B-B14F-4D97-AF65-F5344CB8AC3E}">
        <p14:creationId xmlns:p14="http://schemas.microsoft.com/office/powerpoint/2010/main" val="1532211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C-Store</a:t>
            </a:r>
          </a:p>
        </p:txBody>
      </p:sp>
      <p:sp>
        <p:nvSpPr>
          <p:cNvPr id="3" name="Content Placeholder 2"/>
          <p:cNvSpPr>
            <a:spLocks noGrp="1"/>
          </p:cNvSpPr>
          <p:nvPr>
            <p:ph idx="1"/>
          </p:nvPr>
        </p:nvSpPr>
        <p:spPr>
          <a:xfrm>
            <a:off x="838200" y="1690688"/>
            <a:ext cx="10515600" cy="4486275"/>
          </a:xfrm>
        </p:spPr>
        <p:txBody>
          <a:bodyPr>
            <a:normAutofit fontScale="92500" lnSpcReduction="2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C-Store, the </a:t>
            </a:r>
            <a:r>
              <a:rPr lang="en-US" sz="2400" dirty="0">
                <a:solidFill>
                  <a:srgbClr val="0000FF"/>
                </a:solidFill>
                <a:latin typeface="Arial" panose="020B0604020202020204" pitchFamily="34" charset="0"/>
                <a:cs typeface="Arial" panose="020B0604020202020204" pitchFamily="34" charset="0"/>
              </a:rPr>
              <a:t>primary representation of data on disk is as a set of column files</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Each column-file contains data from one column, </a:t>
            </a:r>
            <a:r>
              <a:rPr lang="en-US" sz="2400" dirty="0">
                <a:solidFill>
                  <a:srgbClr val="0000FF"/>
                </a:solidFill>
                <a:latin typeface="Arial" panose="020B0604020202020204" pitchFamily="34" charset="0"/>
                <a:cs typeface="Arial" panose="020B0604020202020204" pitchFamily="34" charset="0"/>
              </a:rPr>
              <a:t>compressed </a:t>
            </a:r>
            <a:r>
              <a:rPr lang="en-US" sz="2400" dirty="0">
                <a:latin typeface="Arial" panose="020B0604020202020204" pitchFamily="34" charset="0"/>
                <a:cs typeface="Arial" panose="020B0604020202020204" pitchFamily="34" charset="0"/>
              </a:rPr>
              <a:t>using a column-specific compression method, and </a:t>
            </a:r>
            <a:r>
              <a:rPr lang="en-US" sz="2400" dirty="0">
                <a:solidFill>
                  <a:srgbClr val="0000FF"/>
                </a:solidFill>
                <a:latin typeface="Arial" panose="020B0604020202020204" pitchFamily="34" charset="0"/>
                <a:cs typeface="Arial" panose="020B0604020202020204" pitchFamily="34" charset="0"/>
              </a:rPr>
              <a:t>sorted</a:t>
            </a:r>
            <a:r>
              <a:rPr lang="en-US" sz="2400" dirty="0">
                <a:latin typeface="Arial" panose="020B0604020202020204" pitchFamily="34" charset="0"/>
                <a:cs typeface="Arial" panose="020B0604020202020204" pitchFamily="34" charset="0"/>
              </a:rPr>
              <a:t> according to some attribute in the table that the column belongs to. This collection of files is known as the “</a:t>
            </a:r>
            <a:r>
              <a:rPr lang="en-US" sz="2400" dirty="0">
                <a:solidFill>
                  <a:srgbClr val="FF0000"/>
                </a:solidFill>
                <a:latin typeface="Arial" panose="020B0604020202020204" pitchFamily="34" charset="0"/>
                <a:cs typeface="Arial" panose="020B0604020202020204" pitchFamily="34" charset="0"/>
              </a:rPr>
              <a:t>read optimized store” (ROS)</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Additionally, newly loaded data is stored in a </a:t>
            </a:r>
            <a:r>
              <a:rPr lang="en-US" sz="2400" dirty="0">
                <a:solidFill>
                  <a:srgbClr val="FF0000"/>
                </a:solidFill>
                <a:latin typeface="Arial" panose="020B0604020202020204" pitchFamily="34" charset="0"/>
                <a:cs typeface="Arial" panose="020B0604020202020204" pitchFamily="34" charset="0"/>
              </a:rPr>
              <a:t>write-optimized store (“WOS”)</a:t>
            </a:r>
            <a:r>
              <a:rPr lang="en-US" sz="2400" dirty="0">
                <a:latin typeface="Arial" panose="020B0604020202020204" pitchFamily="34" charset="0"/>
                <a:cs typeface="Arial" panose="020B0604020202020204" pitchFamily="34" charset="0"/>
              </a:rPr>
              <a:t>, where data is </a:t>
            </a:r>
            <a:r>
              <a:rPr lang="en-US" sz="2400" dirty="0">
                <a:solidFill>
                  <a:srgbClr val="0000FF"/>
                </a:solidFill>
                <a:latin typeface="Arial" panose="020B0604020202020204" pitchFamily="34" charset="0"/>
                <a:cs typeface="Arial" panose="020B0604020202020204" pitchFamily="34" charset="0"/>
              </a:rPr>
              <a:t>uncompressed and not vertically partitioned</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Periodically, data is moved from the WOS into the ROS via a background “</a:t>
            </a:r>
            <a:r>
              <a:rPr lang="en-US" sz="2400" dirty="0">
                <a:solidFill>
                  <a:srgbClr val="FF0000"/>
                </a:solidFill>
                <a:latin typeface="Arial" panose="020B0604020202020204" pitchFamily="34" charset="0"/>
                <a:cs typeface="Arial" panose="020B0604020202020204" pitchFamily="34" charset="0"/>
              </a:rPr>
              <a:t>tuple mover” process</a:t>
            </a:r>
            <a:r>
              <a:rPr lang="en-US" sz="2400" dirty="0">
                <a:latin typeface="Arial" panose="020B0604020202020204" pitchFamily="34" charset="0"/>
                <a:cs typeface="Arial" panose="020B0604020202020204" pitchFamily="34" charset="0"/>
              </a:rPr>
              <a:t>, which </a:t>
            </a:r>
            <a:r>
              <a:rPr lang="en-US" sz="2400" dirty="0">
                <a:solidFill>
                  <a:srgbClr val="0000FF"/>
                </a:solidFill>
                <a:latin typeface="Arial" panose="020B0604020202020204" pitchFamily="34" charset="0"/>
                <a:cs typeface="Arial" panose="020B0604020202020204" pitchFamily="34" charset="0"/>
              </a:rPr>
              <a:t>sorts, compresses, and writes re-organized data </a:t>
            </a:r>
            <a:r>
              <a:rPr lang="en-US" sz="2400" dirty="0">
                <a:latin typeface="Arial" panose="020B0604020202020204" pitchFamily="34" charset="0"/>
                <a:cs typeface="Arial" panose="020B0604020202020204" pitchFamily="34" charset="0"/>
              </a:rPr>
              <a:t>to disk in a columnar form.</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6842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C-Store</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Each column in </a:t>
            </a:r>
            <a:r>
              <a:rPr lang="en-US" sz="2400" dirty="0">
                <a:solidFill>
                  <a:srgbClr val="FF0000"/>
                </a:solidFill>
                <a:latin typeface="Arial" panose="020B0604020202020204" pitchFamily="34" charset="0"/>
                <a:cs typeface="Arial" panose="020B0604020202020204" pitchFamily="34" charset="0"/>
              </a:rPr>
              <a:t>C-Store may be stored several times in several different sort orders</a:t>
            </a:r>
            <a:r>
              <a:rPr lang="en-US" sz="2400" dirty="0">
                <a:latin typeface="Arial" panose="020B0604020202020204" pitchFamily="34" charset="0"/>
                <a:cs typeface="Arial" panose="020B0604020202020204" pitchFamily="34" charset="0"/>
              </a:rPr>
              <a:t>. Groups of columns sorted on the same attribute are referred to as “</a:t>
            </a:r>
            <a:r>
              <a:rPr lang="en-US" sz="2400" dirty="0">
                <a:solidFill>
                  <a:srgbClr val="FF0000"/>
                </a:solidFill>
                <a:latin typeface="Arial" panose="020B0604020202020204" pitchFamily="34" charset="0"/>
                <a:cs typeface="Arial" panose="020B0604020202020204" pitchFamily="34" charset="0"/>
              </a:rPr>
              <a:t>projections</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Typically there is </a:t>
            </a:r>
            <a:r>
              <a:rPr lang="en-US" sz="2400" dirty="0">
                <a:solidFill>
                  <a:srgbClr val="0000FF"/>
                </a:solidFill>
                <a:latin typeface="Arial" panose="020B0604020202020204" pitchFamily="34" charset="0"/>
                <a:cs typeface="Arial" panose="020B0604020202020204" pitchFamily="34" charset="0"/>
              </a:rPr>
              <a:t>at least one projection containing all columns </a:t>
            </a:r>
            <a:r>
              <a:rPr lang="en-US" sz="2400" dirty="0">
                <a:latin typeface="Arial" panose="020B0604020202020204" pitchFamily="34" charset="0"/>
                <a:cs typeface="Arial" panose="020B0604020202020204" pitchFamily="34" charset="0"/>
              </a:rPr>
              <a:t>that can be used to answer any query.</a:t>
            </a:r>
          </a:p>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Projections with fewer columns and different sort orders </a:t>
            </a:r>
            <a:r>
              <a:rPr lang="en-US" sz="2400" dirty="0">
                <a:latin typeface="Arial" panose="020B0604020202020204" pitchFamily="34" charset="0"/>
                <a:cs typeface="Arial" panose="020B0604020202020204" pitchFamily="34" charset="0"/>
              </a:rPr>
              <a:t>are used to optimize the performance of specific frequent queries.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9408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C-Store</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IN" dirty="0"/>
              <a:t>Two different projections of Sales table.</a:t>
            </a:r>
            <a:endParaRPr lang="en-US"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19</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3"/>
          <a:stretch>
            <a:fillRect/>
          </a:stretch>
        </p:blipFill>
        <p:spPr>
          <a:xfrm>
            <a:off x="2136808" y="2433330"/>
            <a:ext cx="8258576" cy="3852851"/>
          </a:xfrm>
          <a:prstGeom prst="rect">
            <a:avLst/>
          </a:prstGeom>
        </p:spPr>
      </p:pic>
    </p:spTree>
    <p:extLst>
      <p:ext uri="{BB962C8B-B14F-4D97-AF65-F5344CB8AC3E}">
        <p14:creationId xmlns:p14="http://schemas.microsoft.com/office/powerpoint/2010/main" val="2271374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C-Store</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Each column in C-Store is </a:t>
            </a:r>
            <a:r>
              <a:rPr lang="en-US" sz="2200" dirty="0">
                <a:solidFill>
                  <a:srgbClr val="0000FF"/>
                </a:solidFill>
                <a:latin typeface="Arial" panose="020B0604020202020204" pitchFamily="34" charset="0"/>
                <a:cs typeface="Arial" panose="020B0604020202020204" pitchFamily="34" charset="0"/>
              </a:rPr>
              <a:t>compressed</a:t>
            </a:r>
            <a:r>
              <a:rPr lang="en-US" sz="2200" dirty="0">
                <a:latin typeface="Arial" panose="020B0604020202020204" pitchFamily="34" charset="0"/>
                <a:cs typeface="Arial" panose="020B0604020202020204" pitchFamily="34" charset="0"/>
              </a:rPr>
              <a:t> and for each column a </a:t>
            </a:r>
            <a:r>
              <a:rPr lang="en-US" sz="2200" dirty="0">
                <a:solidFill>
                  <a:srgbClr val="0000FF"/>
                </a:solidFill>
                <a:latin typeface="Arial" panose="020B0604020202020204" pitchFamily="34" charset="0"/>
                <a:cs typeface="Arial" panose="020B0604020202020204" pitchFamily="34" charset="0"/>
              </a:rPr>
              <a:t>different compression </a:t>
            </a:r>
            <a:r>
              <a:rPr lang="en-US" sz="2200" dirty="0">
                <a:latin typeface="Arial" panose="020B0604020202020204" pitchFamily="34" charset="0"/>
                <a:cs typeface="Arial" panose="020B0604020202020204" pitchFamily="34" charset="0"/>
              </a:rPr>
              <a:t>method may be used. The choice of a compression method for each column depends on </a:t>
            </a:r>
          </a:p>
          <a:p>
            <a:pPr marL="895350" indent="-514350">
              <a:lnSpc>
                <a:spcPct val="120000"/>
              </a:lnSpc>
              <a:spcBef>
                <a:spcPts val="600"/>
              </a:spcBef>
              <a:spcAft>
                <a:spcPts val="600"/>
              </a:spcAft>
              <a:buAutoNum type="alphaLcParenR"/>
            </a:pPr>
            <a:r>
              <a:rPr lang="en-US" sz="2200" dirty="0">
                <a:latin typeface="Arial" panose="020B0604020202020204" pitchFamily="34" charset="0"/>
                <a:cs typeface="Arial" panose="020B0604020202020204" pitchFamily="34" charset="0"/>
              </a:rPr>
              <a:t>whether the column is sorted or not, </a:t>
            </a:r>
          </a:p>
          <a:p>
            <a:pPr marL="895350" indent="-514350">
              <a:lnSpc>
                <a:spcPct val="120000"/>
              </a:lnSpc>
              <a:spcBef>
                <a:spcPts val="600"/>
              </a:spcBef>
              <a:spcAft>
                <a:spcPts val="600"/>
              </a:spcAft>
              <a:buAutoNum type="alphaLcParenR"/>
            </a:pPr>
            <a:r>
              <a:rPr lang="en-US" sz="2200" dirty="0">
                <a:latin typeface="Arial" panose="020B0604020202020204" pitchFamily="34" charset="0"/>
                <a:cs typeface="Arial" panose="020B0604020202020204" pitchFamily="34" charset="0"/>
              </a:rPr>
              <a:t>on the data type and </a:t>
            </a:r>
          </a:p>
          <a:p>
            <a:pPr marL="895350" indent="-514350">
              <a:lnSpc>
                <a:spcPct val="120000"/>
              </a:lnSpc>
              <a:spcBef>
                <a:spcPts val="600"/>
              </a:spcBef>
              <a:spcAft>
                <a:spcPts val="600"/>
              </a:spcAft>
              <a:buAutoNum type="alphaLcParenR"/>
            </a:pPr>
            <a:r>
              <a:rPr lang="en-US" sz="2200" dirty="0">
                <a:latin typeface="Arial" panose="020B0604020202020204" pitchFamily="34" charset="0"/>
                <a:cs typeface="Arial" panose="020B0604020202020204" pitchFamily="34" charset="0"/>
              </a:rPr>
              <a:t>on the number of distinct values in the column.</a:t>
            </a:r>
          </a:p>
          <a:p>
            <a:pPr marL="0" indent="0">
              <a:lnSpc>
                <a:spcPct val="120000"/>
              </a:lnSpc>
              <a:spcBef>
                <a:spcPts val="1800"/>
              </a:spcBef>
              <a:spcAft>
                <a:spcPts val="600"/>
              </a:spcAft>
              <a:buNone/>
            </a:pPr>
            <a:r>
              <a:rPr lang="en-US" sz="2200" dirty="0">
                <a:latin typeface="Arial" panose="020B0604020202020204" pitchFamily="34" charset="0"/>
                <a:cs typeface="Arial" panose="020B0604020202020204" pitchFamily="34" charset="0"/>
              </a:rPr>
              <a:t>For example, the sorted product class column is likely to have just a few distinct values; since these are represented in order, this column can be encoded very compactly using </a:t>
            </a:r>
            <a:r>
              <a:rPr lang="en-US" sz="2200" dirty="0">
                <a:solidFill>
                  <a:srgbClr val="0000FF"/>
                </a:solidFill>
                <a:latin typeface="Arial" panose="020B0604020202020204" pitchFamily="34" charset="0"/>
                <a:cs typeface="Arial" panose="020B0604020202020204" pitchFamily="34" charset="0"/>
              </a:rPr>
              <a:t>run-length encoding (RLE)</a:t>
            </a:r>
            <a:r>
              <a:rPr lang="en-US" sz="2200" dirty="0">
                <a:latin typeface="Arial" panose="020B0604020202020204" pitchFamily="34" charset="0"/>
                <a:cs typeface="Arial" panose="020B0604020202020204" pitchFamily="34" charset="0"/>
              </a:rPr>
              <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8121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C-Store</a:t>
            </a:r>
          </a:p>
        </p:txBody>
      </p:sp>
      <p:sp>
        <p:nvSpPr>
          <p:cNvPr id="3" name="Content Placeholder 2"/>
          <p:cNvSpPr>
            <a:spLocks noGrp="1"/>
          </p:cNvSpPr>
          <p:nvPr>
            <p:ph idx="1"/>
          </p:nvPr>
        </p:nvSpPr>
        <p:spPr>
          <a:xfrm>
            <a:off x="838200" y="1690688"/>
            <a:ext cx="10515600" cy="4486275"/>
          </a:xfrm>
        </p:spPr>
        <p:txBody>
          <a:bodyPr>
            <a:normAutofit fontScale="92500" lnSpcReduction="2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C-Store </a:t>
            </a:r>
            <a:r>
              <a:rPr lang="en-US" sz="2400" dirty="0">
                <a:solidFill>
                  <a:srgbClr val="0000FF"/>
                </a:solidFill>
                <a:latin typeface="Arial" panose="020B0604020202020204" pitchFamily="34" charset="0"/>
                <a:cs typeface="Arial" panose="020B0604020202020204" pitchFamily="34" charset="0"/>
              </a:rPr>
              <a:t>does not support secondary indices </a:t>
            </a:r>
            <a:r>
              <a:rPr lang="en-US" sz="2400" dirty="0">
                <a:latin typeface="Arial" panose="020B0604020202020204" pitchFamily="34" charset="0"/>
                <a:cs typeface="Arial" panose="020B0604020202020204" pitchFamily="34" charset="0"/>
              </a:rPr>
              <a:t>on tables, but does </a:t>
            </a:r>
            <a:r>
              <a:rPr lang="en-US" sz="2400" dirty="0">
                <a:solidFill>
                  <a:srgbClr val="0000FF"/>
                </a:solidFill>
                <a:latin typeface="Arial" panose="020B0604020202020204" pitchFamily="34" charset="0"/>
                <a:cs typeface="Arial" panose="020B0604020202020204" pitchFamily="34" charset="0"/>
              </a:rPr>
              <a:t>support efficient indexing</a:t>
            </a:r>
            <a:r>
              <a:rPr lang="en-US" sz="2400" dirty="0">
                <a:latin typeface="Arial" panose="020B0604020202020204" pitchFamily="34" charset="0"/>
                <a:cs typeface="Arial" panose="020B0604020202020204" pitchFamily="34" charset="0"/>
              </a:rPr>
              <a:t> into sorted projections through the use of </a:t>
            </a:r>
            <a:r>
              <a:rPr lang="en-US" sz="2400" dirty="0">
                <a:solidFill>
                  <a:srgbClr val="0000FF"/>
                </a:solidFill>
                <a:latin typeface="Arial" panose="020B0604020202020204" pitchFamily="34" charset="0"/>
                <a:cs typeface="Arial" panose="020B0604020202020204" pitchFamily="34" charset="0"/>
              </a:rPr>
              <a:t>sparse indexes</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 </a:t>
            </a:r>
            <a:r>
              <a:rPr lang="en-US" sz="2400" dirty="0">
                <a:solidFill>
                  <a:srgbClr val="FF0000"/>
                </a:solidFill>
                <a:latin typeface="Arial" panose="020B0604020202020204" pitchFamily="34" charset="0"/>
                <a:cs typeface="Arial" panose="020B0604020202020204" pitchFamily="34" charset="0"/>
              </a:rPr>
              <a:t>sparse index is a small tree-based index that stores the first value contained on each physical page of a colu</a:t>
            </a:r>
            <a:r>
              <a:rPr lang="en-US" sz="2400" dirty="0">
                <a:latin typeface="Arial" panose="020B0604020202020204" pitchFamily="34" charset="0"/>
                <a:cs typeface="Arial" panose="020B0604020202020204" pitchFamily="34" charset="0"/>
              </a:rPr>
              <a:t>mn. A typical page in C-Store would be a few megabytes in size.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Given a value in a sorted projection, a lookup in this tree returns the first page that contains that value. The page can then be scanned to find the actual value.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 similar sparse index is stored on tuple position, allowing C-store to efficiently find a given tuple offset in a column, even when the column is compressed or contains variable-sized attributes.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2695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C-Store</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Additionally, </a:t>
            </a:r>
            <a:r>
              <a:rPr lang="en-US" sz="2400" dirty="0">
                <a:solidFill>
                  <a:srgbClr val="FF0000"/>
                </a:solidFill>
                <a:latin typeface="Arial" panose="020B0604020202020204" pitchFamily="34" charset="0"/>
                <a:cs typeface="Arial" panose="020B0604020202020204" pitchFamily="34" charset="0"/>
              </a:rPr>
              <a:t>C-Store uses a “no-overwrite” storage representation</a:t>
            </a:r>
            <a:r>
              <a:rPr lang="en-US" sz="2400" dirty="0">
                <a:latin typeface="Arial" panose="020B0604020202020204" pitchFamily="34" charset="0"/>
                <a:cs typeface="Arial" panose="020B0604020202020204" pitchFamily="34" charset="0"/>
              </a:rPr>
              <a:t>, where updates are treated as deletes followed by inserts, and deletes are processed by storing a special “delete column” that records the time every tuple was deleted (if ever).</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Query execution in C-Store involves </a:t>
            </a:r>
            <a:r>
              <a:rPr lang="en-US" sz="2400" dirty="0">
                <a:solidFill>
                  <a:srgbClr val="FF0000"/>
                </a:solidFill>
                <a:latin typeface="Arial" panose="020B0604020202020204" pitchFamily="34" charset="0"/>
                <a:cs typeface="Arial" panose="020B0604020202020204" pitchFamily="34" charset="0"/>
              </a:rPr>
              <a:t>accessing data from both the ROS and WOS and </a:t>
            </a:r>
            <a:r>
              <a:rPr lang="en-US" sz="2400" dirty="0" err="1">
                <a:solidFill>
                  <a:srgbClr val="FF0000"/>
                </a:solidFill>
                <a:latin typeface="Arial" panose="020B0604020202020204" pitchFamily="34" charset="0"/>
                <a:cs typeface="Arial" panose="020B0604020202020204" pitchFamily="34" charset="0"/>
              </a:rPr>
              <a:t>unioning</a:t>
            </a:r>
            <a:r>
              <a:rPr lang="en-US" sz="2400" dirty="0">
                <a:solidFill>
                  <a:srgbClr val="FF0000"/>
                </a:solidFill>
                <a:latin typeface="Arial" panose="020B0604020202020204" pitchFamily="34" charset="0"/>
                <a:cs typeface="Arial" panose="020B0604020202020204" pitchFamily="34" charset="0"/>
              </a:rPr>
              <a:t> the results</a:t>
            </a:r>
            <a:r>
              <a:rPr lang="en-US" sz="2400" dirty="0">
                <a:latin typeface="Arial" panose="020B0604020202020204" pitchFamily="34" charset="0"/>
                <a:cs typeface="Arial" panose="020B0604020202020204" pitchFamily="34" charset="0"/>
              </a:rPr>
              <a:t> together.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Queries are run as of a specific time, which is used to filter out deleted tuples from the delete column. This allows queries to be run as of some time in the past.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2840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C-Store</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Finally, in addition to complete vertical partitioning, C-Store was conceived as a </a:t>
            </a:r>
            <a:r>
              <a:rPr lang="en-US" sz="2400" dirty="0">
                <a:solidFill>
                  <a:srgbClr val="FF0000"/>
                </a:solidFill>
                <a:latin typeface="Arial" panose="020B0604020202020204" pitchFamily="34" charset="0"/>
                <a:cs typeface="Arial" panose="020B0604020202020204" pitchFamily="34" charset="0"/>
              </a:rPr>
              <a:t>shared-nothing massively parallel distributed database system</a:t>
            </a:r>
            <a:r>
              <a:rPr lang="en-US" sz="2400" dirty="0">
                <a:latin typeface="Arial" panose="020B0604020202020204" pitchFamily="34" charset="0"/>
                <a:cs typeface="Arial" panose="020B0604020202020204" pitchFamily="34" charset="0"/>
              </a:rPr>
              <a:t>, although the academic prototype never included these features (the commercial version, Vertica, does).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idea behind the parallel design of C-Store is that </a:t>
            </a:r>
            <a:r>
              <a:rPr lang="en-US" sz="2400" dirty="0">
                <a:solidFill>
                  <a:srgbClr val="FF0000"/>
                </a:solidFill>
                <a:latin typeface="Arial" panose="020B0604020202020204" pitchFamily="34" charset="0"/>
                <a:cs typeface="Arial" panose="020B0604020202020204" pitchFamily="34" charset="0"/>
              </a:rPr>
              <a:t>projections are horizontally partitioned across multiple nodes</a:t>
            </a:r>
            <a:r>
              <a:rPr lang="en-US" sz="2400" dirty="0">
                <a:latin typeface="Arial" panose="020B0604020202020204" pitchFamily="34" charset="0"/>
                <a:cs typeface="Arial" panose="020B0604020202020204" pitchFamily="34" charset="0"/>
              </a:rPr>
              <a:t> using </a:t>
            </a:r>
            <a:r>
              <a:rPr lang="en-US" sz="2400" dirty="0">
                <a:solidFill>
                  <a:srgbClr val="0000FF"/>
                </a:solidFill>
                <a:latin typeface="Arial" panose="020B0604020202020204" pitchFamily="34" charset="0"/>
                <a:cs typeface="Arial" panose="020B0604020202020204" pitchFamily="34" charset="0"/>
              </a:rPr>
              <a:t>hash- or range-partitioning</a:t>
            </a:r>
            <a:r>
              <a:rPr lang="en-US" sz="2400" dirty="0">
                <a:latin typeface="Arial" panose="020B0604020202020204" pitchFamily="34" charset="0"/>
                <a:cs typeface="Arial" panose="020B0604020202020204" pitchFamily="34" charset="0"/>
              </a:rPr>
              <a:t>, and queries are pushed down and executed as much as possible on each node, </a:t>
            </a:r>
            <a:r>
              <a:rPr lang="en-US" sz="2400" dirty="0">
                <a:solidFill>
                  <a:srgbClr val="0000FF"/>
                </a:solidFill>
                <a:latin typeface="Arial" panose="020B0604020202020204" pitchFamily="34" charset="0"/>
                <a:cs typeface="Arial" panose="020B0604020202020204" pitchFamily="34" charset="0"/>
              </a:rPr>
              <a:t>with partial answers merged </a:t>
            </a:r>
            <a:r>
              <a:rPr lang="en-US" sz="2400" dirty="0">
                <a:latin typeface="Arial" panose="020B0604020202020204" pitchFamily="34" charset="0"/>
                <a:cs typeface="Arial" panose="020B0604020202020204" pitchFamily="34" charset="0"/>
              </a:rPr>
              <a:t>to produce a final answer at the output node.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52702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Vector Wise</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Vector-wise (</a:t>
            </a:r>
            <a:r>
              <a:rPr lang="en-US" sz="2400" dirty="0" err="1">
                <a:latin typeface="Arial" panose="020B0604020202020204" pitchFamily="34" charset="0"/>
                <a:cs typeface="Arial" panose="020B0604020202020204" pitchFamily="34" charset="0"/>
              </a:rPr>
              <a:t>Actian</a:t>
            </a:r>
            <a:r>
              <a:rPr lang="en-US" sz="2400">
                <a:latin typeface="Arial" panose="020B0604020202020204" pitchFamily="34" charset="0"/>
                <a:cs typeface="Arial" panose="020B0604020202020204" pitchFamily="34" charset="0"/>
              </a:rPr>
              <a:t> Vector) is </a:t>
            </a:r>
            <a:r>
              <a:rPr lang="en-US" sz="2400" dirty="0">
                <a:latin typeface="Arial" panose="020B0604020202020204" pitchFamily="34" charset="0"/>
                <a:cs typeface="Arial" panose="020B0604020202020204" pitchFamily="34" charset="0"/>
              </a:rPr>
              <a:t>a </a:t>
            </a:r>
            <a:r>
              <a:rPr lang="en-US" sz="2400" dirty="0">
                <a:solidFill>
                  <a:srgbClr val="FF0000"/>
                </a:solidFill>
                <a:latin typeface="Arial" panose="020B0604020202020204" pitchFamily="34" charset="0"/>
                <a:cs typeface="Arial" panose="020B0604020202020204" pitchFamily="34" charset="0"/>
              </a:rPr>
              <a:t>next generation database management system </a:t>
            </a:r>
            <a:r>
              <a:rPr lang="en-US" sz="2400" dirty="0">
                <a:latin typeface="Arial" panose="020B0604020202020204" pitchFamily="34" charset="0"/>
                <a:cs typeface="Arial" panose="020B0604020202020204" pitchFamily="34" charset="0"/>
              </a:rPr>
              <a:t>from the </a:t>
            </a:r>
            <a:r>
              <a:rPr lang="en-US" sz="2400" dirty="0" err="1">
                <a:latin typeface="Arial" panose="020B0604020202020204" pitchFamily="34" charset="0"/>
                <a:cs typeface="Arial" panose="020B0604020202020204" pitchFamily="34" charset="0"/>
              </a:rPr>
              <a:t>Actian</a:t>
            </a:r>
            <a:r>
              <a:rPr lang="en-US" sz="2400" dirty="0">
                <a:latin typeface="Arial" panose="020B0604020202020204" pitchFamily="34" charset="0"/>
                <a:cs typeface="Arial" panose="020B0604020202020204" pitchFamily="34" charset="0"/>
              </a:rPr>
              <a:t> family of database products.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main innovation in </a:t>
            </a:r>
            <a:r>
              <a:rPr lang="en-US" sz="2400" dirty="0" err="1">
                <a:latin typeface="Arial" panose="020B0604020202020204" pitchFamily="34" charset="0"/>
                <a:cs typeface="Arial" panose="020B0604020202020204" pitchFamily="34" charset="0"/>
              </a:rPr>
              <a:t>VectorWise</a:t>
            </a:r>
            <a:r>
              <a:rPr lang="en-US" sz="2400" dirty="0">
                <a:latin typeface="Arial" panose="020B0604020202020204" pitchFamily="34" charset="0"/>
                <a:cs typeface="Arial" panose="020B0604020202020204" pitchFamily="34" charset="0"/>
              </a:rPr>
              <a:t> is its </a:t>
            </a:r>
            <a:r>
              <a:rPr lang="en-US" sz="2400" dirty="0" err="1">
                <a:solidFill>
                  <a:srgbClr val="0000FF"/>
                </a:solidFill>
                <a:latin typeface="Arial" panose="020B0604020202020204" pitchFamily="34" charset="0"/>
                <a:cs typeface="Arial" panose="020B0604020202020204" pitchFamily="34" charset="0"/>
              </a:rPr>
              <a:t>vectorized</a:t>
            </a:r>
            <a:r>
              <a:rPr lang="en-US" sz="2400" dirty="0">
                <a:solidFill>
                  <a:srgbClr val="0000FF"/>
                </a:solidFill>
                <a:latin typeface="Arial" panose="020B0604020202020204" pitchFamily="34" charset="0"/>
                <a:cs typeface="Arial" panose="020B0604020202020204" pitchFamily="34" charset="0"/>
              </a:rPr>
              <a:t> execution model </a:t>
            </a:r>
            <a:r>
              <a:rPr lang="en-US" sz="2400" dirty="0">
                <a:latin typeface="Arial" panose="020B0604020202020204" pitchFamily="34" charset="0"/>
                <a:cs typeface="Arial" panose="020B0604020202020204" pitchFamily="34" charset="0"/>
              </a:rPr>
              <a:t>which </a:t>
            </a:r>
            <a:r>
              <a:rPr lang="en-US" sz="2400" dirty="0">
                <a:solidFill>
                  <a:srgbClr val="FF0000"/>
                </a:solidFill>
                <a:latin typeface="Arial" panose="020B0604020202020204" pitchFamily="34" charset="0"/>
                <a:cs typeface="Arial" panose="020B0604020202020204" pitchFamily="34" charset="0"/>
              </a:rPr>
              <a:t>strikes a balance between full materialization of intermediate results in </a:t>
            </a:r>
            <a:r>
              <a:rPr lang="en-US" sz="2400" dirty="0" err="1">
                <a:solidFill>
                  <a:srgbClr val="FF0000"/>
                </a:solidFill>
                <a:latin typeface="Arial" panose="020B0604020202020204" pitchFamily="34" charset="0"/>
                <a:cs typeface="Arial" panose="020B0604020202020204" pitchFamily="34" charset="0"/>
              </a:rPr>
              <a:t>MonetDB</a:t>
            </a:r>
            <a:r>
              <a:rPr lang="en-US" sz="2400" dirty="0">
                <a:solidFill>
                  <a:srgbClr val="FF0000"/>
                </a:solidFill>
                <a:latin typeface="Arial" panose="020B0604020202020204" pitchFamily="34" charset="0"/>
                <a:cs typeface="Arial" panose="020B0604020202020204" pitchFamily="34" charset="0"/>
              </a:rPr>
              <a:t> and the high functional overhead of tuple-at-a-time iterators </a:t>
            </a:r>
            <a:r>
              <a:rPr lang="en-US" sz="2400" dirty="0">
                <a:latin typeface="Arial" panose="020B0604020202020204" pitchFamily="34" charset="0"/>
                <a:cs typeface="Arial" panose="020B0604020202020204" pitchFamily="34" charset="0"/>
              </a:rPr>
              <a:t>in traditional systems.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Essentially, </a:t>
            </a:r>
            <a:r>
              <a:rPr lang="en-US" sz="2400" dirty="0" err="1">
                <a:solidFill>
                  <a:srgbClr val="FF0000"/>
                </a:solidFill>
                <a:latin typeface="Arial" panose="020B0604020202020204" pitchFamily="34" charset="0"/>
                <a:cs typeface="Arial" panose="020B0604020202020204" pitchFamily="34" charset="0"/>
              </a:rPr>
              <a:t>VectorWise</a:t>
            </a:r>
            <a:r>
              <a:rPr lang="en-US" sz="2400" dirty="0">
                <a:solidFill>
                  <a:srgbClr val="FF0000"/>
                </a:solidFill>
                <a:latin typeface="Arial" panose="020B0604020202020204" pitchFamily="34" charset="0"/>
                <a:cs typeface="Arial" panose="020B0604020202020204" pitchFamily="34" charset="0"/>
              </a:rPr>
              <a:t> processes one block/vector of a column at a time </a:t>
            </a:r>
            <a:r>
              <a:rPr lang="en-US" sz="2400" dirty="0">
                <a:latin typeface="Arial" panose="020B0604020202020204" pitchFamily="34" charset="0"/>
                <a:cs typeface="Arial" panose="020B0604020202020204" pitchFamily="34" charset="0"/>
              </a:rPr>
              <a:t>as opposed to one column-at-a-time or one tuple-at-a-time.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33922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Vector Wise</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a:t>
            </a:r>
            <a:r>
              <a:rPr lang="en-US" sz="2400" dirty="0" err="1">
                <a:latin typeface="Arial" panose="020B0604020202020204" pitchFamily="34" charset="0"/>
                <a:cs typeface="Arial" panose="020B0604020202020204" pitchFamily="34" charset="0"/>
              </a:rPr>
              <a:t>vectorised</a:t>
            </a:r>
            <a:r>
              <a:rPr lang="en-US" sz="2400" dirty="0">
                <a:latin typeface="Arial" panose="020B0604020202020204" pitchFamily="34" charset="0"/>
                <a:cs typeface="Arial" panose="020B0604020202020204" pitchFamily="34" charset="0"/>
              </a:rPr>
              <a:t>“ method is </a:t>
            </a:r>
            <a:r>
              <a:rPr lang="en-US" sz="2400" dirty="0">
                <a:solidFill>
                  <a:srgbClr val="0000FF"/>
                </a:solidFill>
                <a:latin typeface="Arial" panose="020B0604020202020204" pitchFamily="34" charset="0"/>
                <a:cs typeface="Arial" panose="020B0604020202020204" pitchFamily="34" charset="0"/>
              </a:rPr>
              <a:t>used for evaluating queries</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Rather than operating on single values from single table records at a time, </a:t>
            </a:r>
            <a:r>
              <a:rPr lang="en-US" sz="2400" dirty="0">
                <a:solidFill>
                  <a:srgbClr val="FF0000"/>
                </a:solidFill>
                <a:latin typeface="Arial" panose="020B0604020202020204" pitchFamily="34" charset="0"/>
                <a:cs typeface="Arial" panose="020B0604020202020204" pitchFamily="34" charset="0"/>
              </a:rPr>
              <a:t>Vector-wise makes the CPU operate on "vectors," which are arrays of values from many different records</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Such </a:t>
            </a:r>
            <a:r>
              <a:rPr lang="en-US" sz="2400" dirty="0" err="1">
                <a:latin typeface="Arial" panose="020B0604020202020204" pitchFamily="34" charset="0"/>
                <a:cs typeface="Arial" panose="020B0604020202020204" pitchFamily="34" charset="0"/>
              </a:rPr>
              <a:t>vectorised</a:t>
            </a:r>
            <a:r>
              <a:rPr lang="en-US" sz="2400" dirty="0">
                <a:latin typeface="Arial" panose="020B0604020202020204" pitchFamily="34" charset="0"/>
                <a:cs typeface="Arial" panose="020B0604020202020204" pitchFamily="34" charset="0"/>
              </a:rPr>
              <a:t> execution </a:t>
            </a:r>
            <a:r>
              <a:rPr lang="en-US" sz="2400" dirty="0">
                <a:solidFill>
                  <a:srgbClr val="FF0000"/>
                </a:solidFill>
                <a:latin typeface="Arial" panose="020B0604020202020204" pitchFamily="34" charset="0"/>
                <a:cs typeface="Arial" panose="020B0604020202020204" pitchFamily="34" charset="0"/>
              </a:rPr>
              <a:t>brings out the best in modern CPU technology</a:t>
            </a:r>
            <a:r>
              <a:rPr lang="en-US" sz="2400" dirty="0">
                <a:latin typeface="Arial" panose="020B0604020202020204" pitchFamily="34" charset="0"/>
                <a:cs typeface="Arial" panose="020B0604020202020204" pitchFamily="34" charset="0"/>
              </a:rPr>
              <a:t>. It brings to the world of databases the </a:t>
            </a:r>
            <a:r>
              <a:rPr lang="en-US" sz="2400" dirty="0">
                <a:solidFill>
                  <a:srgbClr val="FF0000"/>
                </a:solidFill>
                <a:latin typeface="Arial" panose="020B0604020202020204" pitchFamily="34" charset="0"/>
                <a:cs typeface="Arial" panose="020B0604020202020204" pitchFamily="34" charset="0"/>
              </a:rPr>
              <a:t>high performance </a:t>
            </a:r>
            <a:r>
              <a:rPr lang="en-US" sz="2400" dirty="0">
                <a:latin typeface="Arial" panose="020B0604020202020204" pitchFamily="34" charset="0"/>
                <a:cs typeface="Arial" panose="020B0604020202020204" pitchFamily="34" charset="0"/>
              </a:rPr>
              <a:t>that modern computers exhibit for scientific calculation, gaming, and multimedia applications.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7327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Vector Wise</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Vectorization is the </a:t>
            </a:r>
            <a:r>
              <a:rPr lang="en-US" sz="2400" dirty="0">
                <a:solidFill>
                  <a:srgbClr val="0000FF"/>
                </a:solidFill>
                <a:latin typeface="Arial" panose="020B0604020202020204" pitchFamily="34" charset="0"/>
                <a:cs typeface="Arial" panose="020B0604020202020204" pitchFamily="34" charset="0"/>
              </a:rPr>
              <a:t>term for converting a scalar program to a vector program</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err="1">
                <a:latin typeface="Arial" panose="020B0604020202020204" pitchFamily="34" charset="0"/>
                <a:cs typeface="Arial" panose="020B0604020202020204" pitchFamily="34" charset="0"/>
              </a:rPr>
              <a:t>Vectorized</a:t>
            </a:r>
            <a:r>
              <a:rPr lang="en-US" sz="2400" dirty="0">
                <a:latin typeface="Arial" panose="020B0604020202020204" pitchFamily="34" charset="0"/>
                <a:cs typeface="Arial" panose="020B0604020202020204" pitchFamily="34" charset="0"/>
              </a:rPr>
              <a:t> programs </a:t>
            </a:r>
            <a:r>
              <a:rPr lang="en-US" sz="2400" dirty="0">
                <a:solidFill>
                  <a:srgbClr val="FF0000"/>
                </a:solidFill>
                <a:latin typeface="Arial" panose="020B0604020202020204" pitchFamily="34" charset="0"/>
                <a:cs typeface="Arial" panose="020B0604020202020204" pitchFamily="34" charset="0"/>
              </a:rPr>
              <a:t>can run multiple operations from a single instruction</a:t>
            </a:r>
            <a:r>
              <a:rPr lang="en-US" sz="2400" dirty="0">
                <a:latin typeface="Arial" panose="020B0604020202020204" pitchFamily="34" charset="0"/>
                <a:cs typeface="Arial" panose="020B0604020202020204" pitchFamily="34" charset="0"/>
              </a:rPr>
              <a:t>, whereas scalar can only operate on pairs of operands at once.</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Vectorization exploits </a:t>
            </a:r>
            <a:r>
              <a:rPr lang="en-US" sz="2400" dirty="0">
                <a:solidFill>
                  <a:srgbClr val="0000FF"/>
                </a:solidFill>
                <a:latin typeface="Arial" panose="020B0604020202020204" pitchFamily="34" charset="0"/>
                <a:cs typeface="Arial" panose="020B0604020202020204" pitchFamily="34" charset="0"/>
              </a:rPr>
              <a:t>SIMD (Single Instruction Multiple Data) </a:t>
            </a:r>
            <a:r>
              <a:rPr lang="en-US" sz="2400" dirty="0">
                <a:latin typeface="Arial" panose="020B0604020202020204" pitchFamily="34" charset="0"/>
                <a:cs typeface="Arial" panose="020B0604020202020204" pitchFamily="34" charset="0"/>
              </a:rPr>
              <a:t>instructions which allows executing a single instruction on multiple data.</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One SIMD instruction can process 16 integers at a time</a:t>
            </a:r>
            <a:r>
              <a:rPr lang="en-US" sz="2400" dirty="0">
                <a:latin typeface="Arial" panose="020B0604020202020204" pitchFamily="34" charset="0"/>
                <a:cs typeface="Arial" panose="020B0604020202020204" pitchFamily="34" charset="0"/>
              </a:rPr>
              <a:t>, thereby achieving Data Level Parallelism.</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02358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Vector Wise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27</a:t>
            </a:fld>
            <a:endParaRPr lang="en-IN" dirty="0">
              <a:latin typeface="Arial" panose="020B0604020202020204" pitchFamily="34" charset="0"/>
              <a:cs typeface="Arial" panose="020B0604020202020204" pitchFamily="34" charset="0"/>
            </a:endParaRPr>
          </a:p>
        </p:txBody>
      </p:sp>
      <p:sp>
        <p:nvSpPr>
          <p:cNvPr id="5" name="AutoShape 2" descr="https://miro.medium.com/max/951/0*mBG0wumVccuLuS8H.gif"/>
          <p:cNvSpPr>
            <a:spLocks noChangeAspect="1" noChangeArrowheads="1"/>
          </p:cNvSpPr>
          <p:nvPr/>
        </p:nvSpPr>
        <p:spPr bwMode="auto">
          <a:xfrm>
            <a:off x="155574" y="-144463"/>
            <a:ext cx="4281671" cy="42816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p:cNvPicPr>
            <a:picLocks noChangeAspect="1"/>
          </p:cNvPicPr>
          <p:nvPr/>
        </p:nvPicPr>
        <p:blipFill>
          <a:blip r:embed="rId3"/>
          <a:stretch>
            <a:fillRect/>
          </a:stretch>
        </p:blipFill>
        <p:spPr>
          <a:xfrm>
            <a:off x="838200" y="2285671"/>
            <a:ext cx="5097846" cy="2580619"/>
          </a:xfrm>
          <a:prstGeom prst="rect">
            <a:avLst/>
          </a:prstGeom>
        </p:spPr>
      </p:pic>
      <p:pic>
        <p:nvPicPr>
          <p:cNvPr id="15" name="Picture 14"/>
          <p:cNvPicPr>
            <a:picLocks noChangeAspect="1"/>
          </p:cNvPicPr>
          <p:nvPr/>
        </p:nvPicPr>
        <p:blipFill>
          <a:blip r:embed="rId4"/>
          <a:stretch>
            <a:fillRect/>
          </a:stretch>
        </p:blipFill>
        <p:spPr>
          <a:xfrm>
            <a:off x="6303774" y="1886248"/>
            <a:ext cx="5050026" cy="3379464"/>
          </a:xfrm>
          <a:prstGeom prst="rect">
            <a:avLst/>
          </a:prstGeom>
        </p:spPr>
      </p:pic>
    </p:spTree>
    <p:extLst>
      <p:ext uri="{BB962C8B-B14F-4D97-AF65-F5344CB8AC3E}">
        <p14:creationId xmlns:p14="http://schemas.microsoft.com/office/powerpoint/2010/main" val="1589491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Vectorization and Columnar Formats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Using columnar formats load only the columns required by the query. Thus, </a:t>
            </a:r>
            <a:r>
              <a:rPr lang="en-US" sz="2400" dirty="0">
                <a:solidFill>
                  <a:srgbClr val="FF0000"/>
                </a:solidFill>
                <a:latin typeface="Arial" panose="020B0604020202020204" pitchFamily="34" charset="0"/>
                <a:cs typeface="Arial" panose="020B0604020202020204" pitchFamily="34" charset="0"/>
              </a:rPr>
              <a:t>less I/O on reading from disk and more data could be loaded into the cache</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Applying an operator on a vector of a column is performant using the tight loops.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Data availability increases as the unused columns are not present in the cache. Having the data which is actually required for the query laid side by side like members of an array reduces cache misses.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60336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Vector Wise</a:t>
            </a:r>
          </a:p>
        </p:txBody>
      </p:sp>
      <p:sp>
        <p:nvSpPr>
          <p:cNvPr id="3" name="Content Placeholder 2"/>
          <p:cNvSpPr>
            <a:spLocks noGrp="1"/>
          </p:cNvSpPr>
          <p:nvPr>
            <p:ph idx="1"/>
          </p:nvPr>
        </p:nvSpPr>
        <p:spPr>
          <a:xfrm>
            <a:off x="838200" y="1690688"/>
            <a:ext cx="10515600" cy="4486275"/>
          </a:xfrm>
        </p:spPr>
        <p:txBody>
          <a:bodyPr>
            <a:normAutofit fontScale="92500" lnSpcReduction="2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Vector-Wise does perform explicit I/O, in an advanced way, adaptively finding collaboration in the I/O needs of concurrent queries through its </a:t>
            </a:r>
            <a:r>
              <a:rPr lang="en-US" sz="2400" dirty="0">
                <a:solidFill>
                  <a:srgbClr val="FF0000"/>
                </a:solidFill>
                <a:latin typeface="Arial" panose="020B0604020202020204" pitchFamily="34" charset="0"/>
                <a:cs typeface="Arial" panose="020B0604020202020204" pitchFamily="34" charset="0"/>
              </a:rPr>
              <a:t>Active Buffer Manager (ABM) and Cooperative Scans</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Vector-Wise also provides a novel way of handling updates (</a:t>
            </a:r>
            <a:r>
              <a:rPr lang="en-US" sz="2400" dirty="0">
                <a:solidFill>
                  <a:srgbClr val="FF0000"/>
                </a:solidFill>
                <a:latin typeface="Arial" panose="020B0604020202020204" pitchFamily="34" charset="0"/>
                <a:cs typeface="Arial" panose="020B0604020202020204" pitchFamily="34" charset="0"/>
              </a:rPr>
              <a:t>Positional Delta Trees</a:t>
            </a:r>
            <a:r>
              <a:rPr lang="en-US" sz="2400" dirty="0">
                <a:latin typeface="Arial" panose="020B0604020202020204" pitchFamily="34" charset="0"/>
                <a:cs typeface="Arial" panose="020B0604020202020204" pitchFamily="34" charset="0"/>
              </a:rPr>
              <a:t>), and new high-speed compression algorithms.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Vector-wise is </a:t>
            </a:r>
            <a:r>
              <a:rPr lang="en-US" sz="2400" dirty="0">
                <a:solidFill>
                  <a:srgbClr val="FF0000"/>
                </a:solidFill>
                <a:latin typeface="Arial" panose="020B0604020202020204" pitchFamily="34" charset="0"/>
                <a:cs typeface="Arial" panose="020B0604020202020204" pitchFamily="34" charset="0"/>
              </a:rPr>
              <a:t>targeted at analytical database applications </a:t>
            </a:r>
            <a:r>
              <a:rPr lang="en-US" sz="2400" dirty="0">
                <a:latin typeface="Arial" panose="020B0604020202020204" pitchFamily="34" charset="0"/>
                <a:cs typeface="Arial" panose="020B0604020202020204" pitchFamily="34" charset="0"/>
              </a:rPr>
              <a:t>- applications that need to process large volumes of data and perform complex operations on it to derive useful information.</a:t>
            </a:r>
          </a:p>
          <a:p>
            <a:pPr marL="0" indent="0">
              <a:lnSpc>
                <a:spcPct val="120000"/>
              </a:lnSpc>
              <a:spcBef>
                <a:spcPts val="1800"/>
              </a:spcBef>
              <a:spcAft>
                <a:spcPts val="600"/>
              </a:spcAft>
              <a:buNone/>
            </a:pPr>
            <a:r>
              <a:rPr lang="en-US" sz="2400" dirty="0" err="1">
                <a:latin typeface="Arial" panose="020B0604020202020204" pitchFamily="34" charset="0"/>
                <a:cs typeface="Arial" panose="020B0604020202020204" pitchFamily="34" charset="0"/>
              </a:rPr>
              <a:t>Vectorwise</a:t>
            </a:r>
            <a:r>
              <a:rPr lang="en-US" sz="2400" dirty="0">
                <a:latin typeface="Arial" panose="020B0604020202020204" pitchFamily="34" charset="0"/>
                <a:cs typeface="Arial" panose="020B0604020202020204" pitchFamily="34" charset="0"/>
              </a:rPr>
              <a:t> is optimized to </a:t>
            </a:r>
            <a:r>
              <a:rPr lang="en-US" sz="2400" dirty="0">
                <a:solidFill>
                  <a:srgbClr val="FF0000"/>
                </a:solidFill>
                <a:latin typeface="Arial" panose="020B0604020202020204" pitchFamily="34" charset="0"/>
                <a:cs typeface="Arial" panose="020B0604020202020204" pitchFamily="34" charset="0"/>
              </a:rPr>
              <a:t>work with both memory- and disk-resident datasets</a:t>
            </a:r>
            <a:r>
              <a:rPr lang="en-US" sz="2400" dirty="0">
                <a:latin typeface="Arial" panose="020B0604020202020204" pitchFamily="34" charset="0"/>
                <a:cs typeface="Arial" panose="020B0604020202020204" pitchFamily="34" charset="0"/>
              </a:rPr>
              <a:t>, allowing it to efficiently process large amounts of data (hundreds of gigabytes).</a:t>
            </a:r>
          </a:p>
          <a:p>
            <a:pPr marL="0" indent="0">
              <a:lnSpc>
                <a:spcPct val="120000"/>
              </a:lnSpc>
              <a:spcBef>
                <a:spcPts val="1800"/>
              </a:spcBef>
              <a:spcAft>
                <a:spcPts val="600"/>
              </a:spcAft>
              <a:buNone/>
            </a:pPr>
            <a:endParaRPr lang="en-US"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275535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Vector Wise - Storage innovations</a:t>
            </a: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Any database system with such a high computational speed runs the risk of becoming I/O bound.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For this reason, the </a:t>
            </a:r>
            <a:r>
              <a:rPr lang="en-US" sz="2400" dirty="0">
                <a:solidFill>
                  <a:srgbClr val="FF0000"/>
                </a:solidFill>
                <a:latin typeface="Arial" panose="020B0604020202020204" pitchFamily="34" charset="0"/>
                <a:cs typeface="Arial" panose="020B0604020202020204" pitchFamily="34" charset="0"/>
              </a:rPr>
              <a:t>second major component </a:t>
            </a:r>
            <a:r>
              <a:rPr lang="en-US" sz="2400" dirty="0">
                <a:latin typeface="Arial" panose="020B0604020202020204" pitchFamily="34" charset="0"/>
                <a:cs typeface="Arial" panose="020B0604020202020204" pitchFamily="34" charset="0"/>
              </a:rPr>
              <a:t>of Vector-wise consists of </a:t>
            </a:r>
            <a:r>
              <a:rPr lang="en-US" sz="2400" dirty="0">
                <a:solidFill>
                  <a:srgbClr val="FF0000"/>
                </a:solidFill>
                <a:latin typeface="Arial" panose="020B0604020202020204" pitchFamily="34" charset="0"/>
                <a:cs typeface="Arial" panose="020B0604020202020204" pitchFamily="34" charset="0"/>
              </a:rPr>
              <a:t>storage innovations</a:t>
            </a:r>
            <a:r>
              <a:rPr lang="en-US" sz="2400" dirty="0">
                <a:latin typeface="Arial" panose="020B0604020202020204" pitchFamily="34" charset="0"/>
                <a:cs typeface="Arial" panose="020B0604020202020204" pitchFamily="34" charset="0"/>
              </a:rPr>
              <a:t> designed for high I/O throughput. These innovations include: </a:t>
            </a:r>
          </a:p>
          <a:p>
            <a:pPr marL="722313" indent="-366713">
              <a:lnSpc>
                <a:spcPct val="120000"/>
              </a:lnSpc>
              <a:spcBef>
                <a:spcPts val="600"/>
              </a:spcBef>
              <a:spcAft>
                <a:spcPts val="600"/>
              </a:spcAft>
            </a:pPr>
            <a:r>
              <a:rPr lang="en-US" sz="2400" dirty="0">
                <a:solidFill>
                  <a:srgbClr val="0000FF"/>
                </a:solidFill>
                <a:latin typeface="Arial" panose="020B0604020202020204" pitchFamily="34" charset="0"/>
                <a:cs typeface="Arial" panose="020B0604020202020204" pitchFamily="34" charset="0"/>
              </a:rPr>
              <a:t>Columnar data layout </a:t>
            </a:r>
          </a:p>
          <a:p>
            <a:pPr marL="722313" indent="-366713">
              <a:lnSpc>
                <a:spcPct val="120000"/>
              </a:lnSpc>
              <a:spcBef>
                <a:spcPts val="600"/>
              </a:spcBef>
              <a:spcAft>
                <a:spcPts val="600"/>
              </a:spcAft>
            </a:pPr>
            <a:r>
              <a:rPr lang="en-US" sz="2400" dirty="0">
                <a:solidFill>
                  <a:srgbClr val="0000FF"/>
                </a:solidFill>
                <a:latin typeface="Arial" panose="020B0604020202020204" pitchFamily="34" charset="0"/>
                <a:cs typeface="Arial" panose="020B0604020202020204" pitchFamily="34" charset="0"/>
              </a:rPr>
              <a:t>Advanced compression </a:t>
            </a:r>
          </a:p>
          <a:p>
            <a:pPr marL="722313" indent="-366713">
              <a:lnSpc>
                <a:spcPct val="120000"/>
              </a:lnSpc>
              <a:spcBef>
                <a:spcPts val="600"/>
              </a:spcBef>
              <a:spcAft>
                <a:spcPts val="600"/>
              </a:spcAft>
            </a:pPr>
            <a:r>
              <a:rPr lang="en-US" sz="2400" dirty="0">
                <a:solidFill>
                  <a:srgbClr val="0000FF"/>
                </a:solidFill>
                <a:latin typeface="Arial" panose="020B0604020202020204" pitchFamily="34" charset="0"/>
                <a:cs typeface="Arial" panose="020B0604020202020204" pitchFamily="34" charset="0"/>
              </a:rPr>
              <a:t>Storage indexes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Vector-wise introduces a new storage mechanism that uses </a:t>
            </a:r>
            <a:r>
              <a:rPr lang="en-US" sz="2400" dirty="0">
                <a:solidFill>
                  <a:srgbClr val="0000FF"/>
                </a:solidFill>
                <a:latin typeface="Arial" panose="020B0604020202020204" pitchFamily="34" charset="0"/>
                <a:cs typeface="Arial" panose="020B0604020202020204" pitchFamily="34" charset="0"/>
              </a:rPr>
              <a:t>columnar data layout, allowing analytical queries to avoid disk access for columns not involved in a query</a:t>
            </a:r>
            <a:r>
              <a:rPr lang="en-US" sz="2400" dirty="0">
                <a:latin typeface="Arial" panose="020B0604020202020204" pitchFamily="34" charset="0"/>
                <a:cs typeface="Arial" panose="020B0604020202020204" pitchFamily="34" charset="0"/>
              </a:rPr>
              <a:t>.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8176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Vector Wise - Storage innovations</a:t>
            </a:r>
          </a:p>
        </p:txBody>
      </p:sp>
      <p:sp>
        <p:nvSpPr>
          <p:cNvPr id="3" name="Content Placeholder 2"/>
          <p:cNvSpPr>
            <a:spLocks noGrp="1"/>
          </p:cNvSpPr>
          <p:nvPr>
            <p:ph idx="1"/>
          </p:nvPr>
        </p:nvSpPr>
        <p:spPr>
          <a:xfrm>
            <a:off x="838200" y="1690688"/>
            <a:ext cx="10515600" cy="4486275"/>
          </a:xfrm>
        </p:spPr>
        <p:txBody>
          <a:bodyPr>
            <a:normAutofit fontScale="85000" lnSpcReduction="2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While you can generally think of Vector-wise storage as a column store, </a:t>
            </a:r>
            <a:r>
              <a:rPr lang="en-US" sz="2400" dirty="0">
                <a:solidFill>
                  <a:srgbClr val="0000FF"/>
                </a:solidFill>
                <a:latin typeface="Arial" panose="020B0604020202020204" pitchFamily="34" charset="0"/>
                <a:cs typeface="Arial" panose="020B0604020202020204" pitchFamily="34" charset="0"/>
              </a:rPr>
              <a:t>Vector-wise can mix columnar and row-based storage</a:t>
            </a:r>
            <a:r>
              <a:rPr lang="en-US" sz="2400" dirty="0">
                <a:latin typeface="Arial" panose="020B0604020202020204" pitchFamily="34" charset="0"/>
                <a:cs typeface="Arial" panose="020B0604020202020204" pitchFamily="34" charset="0"/>
              </a:rPr>
              <a:t> so that certain columns that are always accessed together get stored in the same disk block.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Layout decisions are </a:t>
            </a:r>
            <a:r>
              <a:rPr lang="en-US" sz="2400" dirty="0">
                <a:solidFill>
                  <a:srgbClr val="0000FF"/>
                </a:solidFill>
                <a:latin typeface="Arial" panose="020B0604020202020204" pitchFamily="34" charset="0"/>
                <a:cs typeface="Arial" panose="020B0604020202020204" pitchFamily="34" charset="0"/>
              </a:rPr>
              <a:t>largely</a:t>
            </a:r>
            <a:r>
              <a:rPr lang="en-US" sz="2400" dirty="0">
                <a:latin typeface="Arial" panose="020B0604020202020204" pitchFamily="34" charset="0"/>
                <a:cs typeface="Arial" panose="020B0604020202020204" pitchFamily="34" charset="0"/>
              </a:rPr>
              <a:t> </a:t>
            </a:r>
            <a:r>
              <a:rPr lang="en-US" sz="2400" dirty="0">
                <a:solidFill>
                  <a:srgbClr val="0000FF"/>
                </a:solidFill>
                <a:latin typeface="Arial" panose="020B0604020202020204" pitchFamily="34" charset="0"/>
                <a:cs typeface="Arial" panose="020B0604020202020204" pitchFamily="34" charset="0"/>
              </a:rPr>
              <a:t>handled automatically by the system</a:t>
            </a:r>
            <a:r>
              <a:rPr lang="en-US" sz="2400" dirty="0">
                <a:latin typeface="Arial" panose="020B0604020202020204" pitchFamily="34" charset="0"/>
                <a:cs typeface="Arial" panose="020B0604020202020204" pitchFamily="34" charset="0"/>
              </a:rPr>
              <a:t>, but can also be controlled by the user.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To further avoid I/O becoming a performance bottleneck, Vector-wise </a:t>
            </a:r>
            <a:r>
              <a:rPr lang="en-US" sz="2400" dirty="0">
                <a:solidFill>
                  <a:srgbClr val="FF0000"/>
                </a:solidFill>
                <a:latin typeface="Arial" panose="020B0604020202020204" pitchFamily="34" charset="0"/>
                <a:cs typeface="Arial" panose="020B0604020202020204" pitchFamily="34" charset="0"/>
              </a:rPr>
              <a:t>introduces a number of advanced compression schemes</a:t>
            </a:r>
            <a:r>
              <a:rPr lang="en-US" sz="2400" dirty="0">
                <a:latin typeface="Arial" panose="020B0604020202020204" pitchFamily="34" charset="0"/>
                <a:cs typeface="Arial" panose="020B0604020202020204" pitchFamily="34" charset="0"/>
              </a:rPr>
              <a:t>. These schemes are designed for fast decompression.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Finally, Vector-wise uses storage indexes. The </a:t>
            </a:r>
            <a:r>
              <a:rPr lang="en-US" sz="2400" dirty="0">
                <a:solidFill>
                  <a:srgbClr val="FF0000"/>
                </a:solidFill>
                <a:latin typeface="Arial" panose="020B0604020202020204" pitchFamily="34" charset="0"/>
                <a:cs typeface="Arial" panose="020B0604020202020204" pitchFamily="34" charset="0"/>
              </a:rPr>
              <a:t>storage indexes are small and store the minimum and maximum value per data block</a:t>
            </a:r>
            <a:r>
              <a:rPr lang="en-US" sz="2400" dirty="0">
                <a:latin typeface="Arial" panose="020B0604020202020204" pitchFamily="34" charset="0"/>
                <a:cs typeface="Arial" panose="020B0604020202020204" pitchFamily="34" charset="0"/>
              </a:rPr>
              <a:t>. The storage index, which is </a:t>
            </a:r>
            <a:r>
              <a:rPr lang="en-US" sz="2400" dirty="0">
                <a:solidFill>
                  <a:srgbClr val="FF0000"/>
                </a:solidFill>
                <a:latin typeface="Arial" panose="020B0604020202020204" pitchFamily="34" charset="0"/>
                <a:cs typeface="Arial" panose="020B0604020202020204" pitchFamily="34" charset="0"/>
              </a:rPr>
              <a:t>automatically created and maintained</a:t>
            </a:r>
            <a:r>
              <a:rPr lang="en-US" sz="2400" dirty="0">
                <a:latin typeface="Arial" panose="020B0604020202020204" pitchFamily="34" charset="0"/>
                <a:cs typeface="Arial" panose="020B0604020202020204" pitchFamily="34" charset="0"/>
              </a:rPr>
              <a:t>, enables the execution engine to rapidly identify candidate data blocks.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4677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Vector-wise table structure</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broad terms, </a:t>
            </a:r>
            <a:r>
              <a:rPr lang="en-US" sz="2400" dirty="0">
                <a:solidFill>
                  <a:srgbClr val="FF0000"/>
                </a:solidFill>
                <a:latin typeface="Arial" panose="020B0604020202020204" pitchFamily="34" charset="0"/>
                <a:cs typeface="Arial" panose="020B0604020202020204" pitchFamily="34" charset="0"/>
              </a:rPr>
              <a:t>Vector-wise uses columnar storage</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While </a:t>
            </a:r>
            <a:r>
              <a:rPr lang="en-US" sz="2400" dirty="0">
                <a:solidFill>
                  <a:srgbClr val="0000FF"/>
                </a:solidFill>
                <a:latin typeface="Arial" panose="020B0604020202020204" pitchFamily="34" charset="0"/>
                <a:cs typeface="Arial" panose="020B0604020202020204" pitchFamily="34" charset="0"/>
              </a:rPr>
              <a:t>data is stored and retrieved in familiar relational rows</a:t>
            </a:r>
            <a:r>
              <a:rPr lang="en-US" sz="2400" dirty="0">
                <a:latin typeface="Arial" panose="020B0604020202020204" pitchFamily="34" charset="0"/>
                <a:cs typeface="Arial" panose="020B0604020202020204" pitchFamily="34" charset="0"/>
              </a:rPr>
              <a:t>, the internal storage is different. </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Instead of storing all column values for a single row next to each other, all rows for a single column are stored together.</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This storage format has benefits for data warehouse applications, such as reduced I/O and improved efficiency.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98522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Vector-wise table structure</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 </a:t>
            </a:r>
            <a:r>
              <a:rPr lang="en-US" sz="2400" dirty="0">
                <a:solidFill>
                  <a:srgbClr val="FF0000"/>
                </a:solidFill>
                <a:latin typeface="Arial" panose="020B0604020202020204" pitchFamily="34" charset="0"/>
                <a:cs typeface="Arial" panose="020B0604020202020204" pitchFamily="34" charset="0"/>
              </a:rPr>
              <a:t>relational table </a:t>
            </a:r>
            <a:r>
              <a:rPr lang="en-US" sz="2400" dirty="0">
                <a:latin typeface="Arial" panose="020B0604020202020204" pitchFamily="34" charset="0"/>
                <a:cs typeface="Arial" panose="020B0604020202020204" pitchFamily="34" charset="0"/>
              </a:rPr>
              <a:t>may have dozens or hundreds of columns. In traditional row-oriented relational storage, the entire row must be read even if a particular query requests only a few columns.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With </a:t>
            </a:r>
            <a:r>
              <a:rPr lang="en-US" sz="2400" dirty="0">
                <a:solidFill>
                  <a:srgbClr val="FF0000"/>
                </a:solidFill>
                <a:latin typeface="Arial" panose="020B0604020202020204" pitchFamily="34" charset="0"/>
                <a:cs typeface="Arial" panose="020B0604020202020204" pitchFamily="34" charset="0"/>
              </a:rPr>
              <a:t>column-oriented storage</a:t>
            </a:r>
            <a:r>
              <a:rPr lang="en-US" sz="2400" dirty="0">
                <a:latin typeface="Arial" panose="020B0604020202020204" pitchFamily="34" charset="0"/>
                <a:cs typeface="Arial" panose="020B0604020202020204" pitchFamily="34" charset="0"/>
              </a:rPr>
              <a:t>, a query that needs only a few columns will not read the remaining columns from disk and will not waste memory storing unnecessary values.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While </a:t>
            </a:r>
            <a:r>
              <a:rPr lang="en-US" sz="2400" dirty="0">
                <a:solidFill>
                  <a:srgbClr val="FF0000"/>
                </a:solidFill>
                <a:latin typeface="Arial" panose="020B0604020202020204" pitchFamily="34" charset="0"/>
                <a:cs typeface="Arial" panose="020B0604020202020204" pitchFamily="34" charset="0"/>
              </a:rPr>
              <a:t>Vector-wise</a:t>
            </a:r>
            <a:r>
              <a:rPr lang="en-US" sz="2400" dirty="0">
                <a:latin typeface="Arial" panose="020B0604020202020204" pitchFamily="34" charset="0"/>
                <a:cs typeface="Arial" panose="020B0604020202020204" pitchFamily="34" charset="0"/>
              </a:rPr>
              <a:t> is fundamentally a column store, it is not strictly so. For certain types of tables, Vector-wise stores data from more than one column together in a data block on disk.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67476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Vector Wise</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Typical examples include data warehousing, data mining, and reporting</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main benefit of Vector-wise over traditional Ingres is significantly </a:t>
            </a:r>
            <a:r>
              <a:rPr lang="en-US" sz="2400" dirty="0">
                <a:solidFill>
                  <a:srgbClr val="FF0000"/>
                </a:solidFill>
                <a:latin typeface="Arial" panose="020B0604020202020204" pitchFamily="34" charset="0"/>
                <a:cs typeface="Arial" panose="020B0604020202020204" pitchFamily="34" charset="0"/>
              </a:rPr>
              <a:t>higher performance on data analysis tasks</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Vectorwise</a:t>
            </a:r>
            <a:r>
              <a:rPr lang="en-US" sz="2400" dirty="0">
                <a:latin typeface="Arial" panose="020B0604020202020204" pitchFamily="34" charset="0"/>
                <a:cs typeface="Arial" panose="020B0604020202020204" pitchFamily="34" charset="0"/>
              </a:rPr>
              <a:t> is built upon an Ingres framework and uses many Ingres facilities and utilities.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Limitations: Although it is fast for data analysis, </a:t>
            </a:r>
            <a:r>
              <a:rPr lang="en-US" sz="2400" dirty="0" err="1">
                <a:solidFill>
                  <a:srgbClr val="FF0000"/>
                </a:solidFill>
                <a:latin typeface="Arial" panose="020B0604020202020204" pitchFamily="34" charset="0"/>
                <a:cs typeface="Arial" panose="020B0604020202020204" pitchFamily="34" charset="0"/>
              </a:rPr>
              <a:t>Vectorwise</a:t>
            </a:r>
            <a:r>
              <a:rPr lang="en-US" sz="2400" dirty="0">
                <a:solidFill>
                  <a:srgbClr val="FF0000"/>
                </a:solidFill>
                <a:latin typeface="Arial" panose="020B0604020202020204" pitchFamily="34" charset="0"/>
                <a:cs typeface="Arial" panose="020B0604020202020204" pitchFamily="34" charset="0"/>
              </a:rPr>
              <a:t> is not meant to be used for traditional transaction processing</a:t>
            </a:r>
            <a:r>
              <a:rPr lang="en-US" sz="2400" dirty="0">
                <a:latin typeface="Arial" panose="020B0604020202020204" pitchFamily="34" charset="0"/>
                <a:cs typeface="Arial" panose="020B0604020202020204" pitchFamily="34" charset="0"/>
              </a:rPr>
              <a:t>. For OLTP, you can open a session to a traditional Ingres database from your Vector-wise client.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27523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Data warehousing schemas</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Comparison of columnar and row-oriented storage, </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Column-store Architectures: </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C-Store and </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Vector-Wise</a:t>
            </a:r>
            <a:endParaRPr lang="en-IN" dirty="0">
              <a:latin typeface="Arial" panose="020B0604020202020204" pitchFamily="34" charset="0"/>
              <a:cs typeface="Arial" panose="020B0604020202020204" pitchFamily="34" charset="0"/>
            </a:endParaRP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04-04-2023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2622</TotalTime>
  <Words>2793</Words>
  <Application>Microsoft Office PowerPoint</Application>
  <PresentationFormat>Widescreen</PresentationFormat>
  <Paragraphs>262</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(Body)</vt:lpstr>
      <vt:lpstr>Calibri Light</vt:lpstr>
      <vt:lpstr>Office Theme</vt:lpstr>
      <vt:lpstr>Course code : CSE3009 Course title  : No SQL Data Bases Module  : 5     Topic   : 1</vt:lpstr>
      <vt:lpstr>Objectives</vt:lpstr>
      <vt:lpstr>Data warehousing schemas</vt:lpstr>
      <vt:lpstr>Data warehousing schemas</vt:lpstr>
      <vt:lpstr>Data warehousing schemas</vt:lpstr>
      <vt:lpstr>Star schemas</vt:lpstr>
      <vt:lpstr>The Columnar Alternative</vt:lpstr>
      <vt:lpstr>The Columnar Alternative</vt:lpstr>
      <vt:lpstr>Column-store Architectures</vt:lpstr>
      <vt:lpstr>Column-oriented databases</vt:lpstr>
      <vt:lpstr>Column-store Advantages</vt:lpstr>
      <vt:lpstr>Columnar Compression</vt:lpstr>
      <vt:lpstr>Columnar Compression</vt:lpstr>
      <vt:lpstr>Disadvantage: Columnar Write Penalty</vt:lpstr>
      <vt:lpstr>Columnar Write Penalty</vt:lpstr>
      <vt:lpstr>Column-Oriented Database vs Row Oriented Database</vt:lpstr>
      <vt:lpstr>C-Store</vt:lpstr>
      <vt:lpstr>C-Store</vt:lpstr>
      <vt:lpstr>C-Store</vt:lpstr>
      <vt:lpstr>C-Store</vt:lpstr>
      <vt:lpstr>C-Store</vt:lpstr>
      <vt:lpstr>C-Store</vt:lpstr>
      <vt:lpstr>C-Store</vt:lpstr>
      <vt:lpstr>Vector Wise</vt:lpstr>
      <vt:lpstr>Vector Wise</vt:lpstr>
      <vt:lpstr>Vector Wise</vt:lpstr>
      <vt:lpstr>Vector Wise</vt:lpstr>
      <vt:lpstr>Vectorization and Columnar Formats</vt:lpstr>
      <vt:lpstr>Vector Wise</vt:lpstr>
      <vt:lpstr>Vector Wise - Storage innovations</vt:lpstr>
      <vt:lpstr>Vector Wise - Storage innovations</vt:lpstr>
      <vt:lpstr>Vector-wise table structure</vt:lpstr>
      <vt:lpstr>Vector-wise table structure</vt:lpstr>
      <vt:lpstr>Vector Wise</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105</cp:revision>
  <dcterms:created xsi:type="dcterms:W3CDTF">2019-11-30T05:18:24Z</dcterms:created>
  <dcterms:modified xsi:type="dcterms:W3CDTF">2023-04-04T05:59:08Z</dcterms:modified>
</cp:coreProperties>
</file>