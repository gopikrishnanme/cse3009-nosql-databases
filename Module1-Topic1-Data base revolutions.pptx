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60" r:id="rId4"/>
    <p:sldId id="273" r:id="rId5"/>
    <p:sldId id="261" r:id="rId6"/>
    <p:sldId id="274" r:id="rId7"/>
    <p:sldId id="275" r:id="rId8"/>
    <p:sldId id="276" r:id="rId9"/>
    <p:sldId id="277" r:id="rId10"/>
    <p:sldId id="278" r:id="rId11"/>
    <p:sldId id="263" r:id="rId12"/>
    <p:sldId id="264" r:id="rId13"/>
    <p:sldId id="265" r:id="rId14"/>
    <p:sldId id="279" r:id="rId15"/>
    <p:sldId id="280" r:id="rId16"/>
    <p:sldId id="282" r:id="rId17"/>
    <p:sldId id="281" r:id="rId18"/>
    <p:sldId id="283" r:id="rId19"/>
    <p:sldId id="266" r:id="rId20"/>
    <p:sldId id="267" r:id="rId21"/>
    <p:sldId id="284" r:id="rId22"/>
    <p:sldId id="285" r:id="rId23"/>
    <p:sldId id="268" r:id="rId24"/>
    <p:sldId id="286" r:id="rId25"/>
    <p:sldId id="287" r:id="rId26"/>
    <p:sldId id="288" r:id="rId27"/>
    <p:sldId id="290" r:id="rId28"/>
    <p:sldId id="291" r:id="rId29"/>
    <p:sldId id="259" r:id="rId30"/>
    <p:sldId id="29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00FF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17-01-2023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56" y="249844"/>
            <a:ext cx="1835504" cy="5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56" y="249844"/>
            <a:ext cx="1835504" cy="5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56" y="249844"/>
            <a:ext cx="1835504" cy="5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56" y="249844"/>
            <a:ext cx="1835504" cy="5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17-01-2023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656" y="249844"/>
            <a:ext cx="1835504" cy="56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17-01-2023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17-01-2023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17-01-2023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17-01-2023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NoSQL Concepts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17-01-2023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 revolutions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 generation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 generation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Third generation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NoSQL?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Comparison between SQL and NoSQL?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collection of data, typically describing the activities of one or more related entities and attributes. 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management system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or DBMS, is software designed to assist in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maintaining and utilizing large collections of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the need for such systems, as well as their use, is growing rapidly.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of Database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308100"/>
            <a:ext cx="60960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1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Database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emergence of electronic computers following the Second World War represented the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revolution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databases.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Early “databases” used </a:t>
            </a:r>
            <a:r>
              <a:rPr 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tape initially and eventually magnetic tape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to store data sequentially.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98500" indent="-342900">
              <a:lnSpc>
                <a:spcPct val="110000"/>
              </a:lnSpc>
              <a:spcBef>
                <a:spcPts val="0"/>
              </a:spcBef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1955: spinning magnetic disk -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high-speed access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to individual records</a:t>
            </a:r>
          </a:p>
          <a:p>
            <a:pPr marL="698500" indent="-342900">
              <a:lnSpc>
                <a:spcPct val="110000"/>
              </a:lnSpc>
              <a:spcBef>
                <a:spcPts val="0"/>
              </a:spcBef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1961: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ISAM (Index Sequential Access Method)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made </a:t>
            </a:r>
            <a:r>
              <a:rPr 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record-oriented access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feasible and consequently </a:t>
            </a:r>
            <a:r>
              <a:rPr 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leads to OLTP (On-line Transaction Processing)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computer systems.</a:t>
            </a:r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Database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the early 1970s, two major models of DBMS were competing for dominance.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network model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was formalized by the CODASYL standard and implemented in databases such as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IDMS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hierarchical model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provided a somewhat simpler approach found in IBM’s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IMS (Information Management System)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36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 vs Network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62" y="1690688"/>
            <a:ext cx="6346491" cy="445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7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Database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late 1960s,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who is working at an IBM laboratory, found the following drawbacks in First generation DBMS: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Existing databases were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 hard to use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Existing databases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lacked a theoretical foundation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Existing databases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mixed logical and physical implementations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To overcome all these, he published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core ideas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defined the relational database model that became the most significant model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database systems for a generation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89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in Second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 concepts of the relational model include: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Tuples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Relation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Operations </a:t>
            </a:r>
          </a:p>
          <a:p>
            <a:pPr marL="722313" indent="-366713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Normal forms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86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in Second generation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249" y="1547531"/>
            <a:ext cx="5315501" cy="466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29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Jim Gray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defined the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widely accepted transaction model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late 1970s. This soon became popularized as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 transactions</a:t>
            </a:r>
          </a:p>
          <a:p>
            <a:pPr marL="722313" indent="-366713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is indivisible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either all the statements in the transaction are applied to the database or none are.</a:t>
            </a:r>
          </a:p>
          <a:p>
            <a:pPr marL="722313" indent="-366713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database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remains in a consistent state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before and after transaction execution.</a:t>
            </a:r>
          </a:p>
          <a:p>
            <a:pPr marL="722313" indent="-366713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While multiple transactions can be executed by one or more users simultaneously,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transaction should not see the effects of other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in-progress transactions.</a:t>
            </a:r>
          </a:p>
          <a:p>
            <a:pPr marL="722313" indent="-366713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Durable: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Once a transaction is saved to the database, its changes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to persist even if there is a failure of operating system or hardware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5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1970, Edgar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at IBM's San Jose Research Laboratory, proposed a new data representation framework called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data model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1980s,The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query language for relational databases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developed as part of IBM's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R project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is now the standard query language. </a:t>
            </a: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was standardized in the late 1980s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the current standard, SQL-92, was adopted by the </a:t>
            </a:r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 National Standards Institute (ANSI) and International Standards Organization (ISO)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During the succeeding decades many new database systems were introduced. These include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Sybase, Microsoft SQL Server, Informix, MySQL, and DB2.</a:t>
            </a:r>
          </a:p>
          <a:p>
            <a:pPr marL="0" indent="0">
              <a:lnSpc>
                <a:spcPct val="130000"/>
              </a:lnSpc>
              <a:spcBef>
                <a:spcPts val="600"/>
              </a:spcBef>
              <a:spcAft>
                <a:spcPts val="18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15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Database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By 2005, Google was by far the biggest website in the world.</a:t>
            </a:r>
          </a:p>
          <a:p>
            <a:pPr marL="0" indent="0">
              <a:buNone/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When Google began, the relational database was already well established,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it was inadequate to deal with the volumes and velocity of the data 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confronting Google.</a:t>
            </a:r>
          </a:p>
          <a:p>
            <a:pPr marL="0" indent="0">
              <a:buNone/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/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2003, Google revealed details of the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file system GFS</a:t>
            </a:r>
          </a:p>
          <a:p>
            <a:pPr marL="722313" indent="-366713"/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2004 it revealed details of the distributed parallel processing algorithm “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722313" indent="-366713"/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 2006, Google revealed details about its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distributed structured database.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1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Drawbacks in Second Database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Even the most expensive commercial RDBMS such as Oracle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not provide sufficient scalability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to meet the demands of large web sites.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To overcome this major issue,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distributed databases 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has been introduced.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involves partitioning the data across multiple databases based on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key attribute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such as the customer identifier.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Sharding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at sites like Facebook has allowed a MySQL-based system to scale up to massive levels, but the downsides of doing this are immense.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relational operations and database-level ACID transactions are lost.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78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Between 2006 and 2008, Amazon rolled out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 Compute Cloud (EC2). 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EC2 made available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machine images hosted on Amazon’s hardware infrastructure and accessible via the Internet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Amazon added other services such as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(S3, EBS), Virtual Private Cloud (VPC), a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 (EMR),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and so on. 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entire platform was known as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Amazon Web Services (AWS) 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and was the first practical implementation of an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as a Service (IaaS) cloud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AWS became the inspiration for cloud computing offerings from Google, Microsoft, and others.</a:t>
            </a:r>
            <a:endParaRPr lang="en-US" altLang="en-US" sz="2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45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The impedance mismatch between object-oriented and relational models, leads to </a:t>
            </a:r>
            <a:r>
              <a:rPr lang="en-US" altLang="en-US" sz="17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relational mapping systems.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175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This was enabled by the programming style known as </a:t>
            </a:r>
            <a:r>
              <a:rPr lang="en-US" altLang="en-US" sz="17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AJAX (Asynchronous JavaScript and XML)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, in which JavaScript within the </a:t>
            </a:r>
            <a:r>
              <a:rPr lang="en-US" altLang="en-US" sz="17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communicates directly with a backend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by transferring XML messages.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XML was soon superseded by </a:t>
            </a:r>
            <a:r>
              <a:rPr lang="en-US" altLang="en-US" sz="17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 Object Notation (JSON)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, which is </a:t>
            </a:r>
            <a:r>
              <a:rPr lang="en-US" altLang="en-US" sz="17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self-describing format similar to XML 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but is </a:t>
            </a:r>
            <a:r>
              <a:rPr lang="en-US" altLang="en-US" sz="175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compact and tightly integrated 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into the JavaScript language.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The databases which supports JSON to directly create and access the database and eliminates the role of relational middle man is known as “</a:t>
            </a:r>
            <a:r>
              <a:rPr lang="en-US" altLang="en-US" sz="17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Databases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5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CouchBase</a:t>
            </a:r>
            <a:r>
              <a:rPr lang="en-US" altLang="en-US" sz="17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MongoDB 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are two popular JSON-oriented databases, though virtually all </a:t>
            </a:r>
            <a:r>
              <a:rPr lang="en-US" altLang="en-US" sz="1750" dirty="0" err="1">
                <a:latin typeface="Arial" panose="020B0604020202020204" pitchFamily="34" charset="0"/>
                <a:cs typeface="Arial" panose="020B0604020202020204" pitchFamily="34" charset="0"/>
              </a:rPr>
              <a:t>nonrelational</a:t>
            </a:r>
            <a:r>
              <a:rPr lang="en-US" alt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databases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043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NewSQL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2007, Michael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Stonebraker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and his team proposed a number of variants on the existing RDBMS design.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H-Store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described a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 in-memory distributed database </a:t>
            </a:r>
          </a:p>
          <a:p>
            <a:pPr marL="722313" indent="-366713">
              <a:lnSpc>
                <a:spcPct val="130000"/>
              </a:lnSpc>
              <a:spcBef>
                <a:spcPts val="0"/>
              </a:spcBef>
            </a:pP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C-Store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specified a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for a columnar database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Both these designs were extremely influential in the years to come and are the first examples of what came to be known as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NewSQL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database systems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NewSQL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databases that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retain key characteristics of the RDBMS but that diverge from the common architecture exhibited by traditional systems 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such as Oracle and SQL Server.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16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Nonrelational</a:t>
            </a:r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Explosion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At the conclusion, dozens of new database systems like such as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MongoDB, Cassandra, and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HBase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emerged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the drawbacks of relational databases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These new breeds of database systems lacked a common name “Distributed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Non-Relational Database Management System” (DNRDBMS)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However, in late 2009, the term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NoSQL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quickly caught on as shorthand for any database system that broke with the traditional SQL database.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309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Database technologies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982" y="1567547"/>
            <a:ext cx="5678036" cy="45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03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NoSQL?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NoSQL database, also called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Only SQL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is an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to data management and database design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that's </a:t>
            </a:r>
            <a:r>
              <a:rPr lang="en-US" altLang="en-US" sz="23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useful for very large sets of distributed data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NoSQL is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 relational database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 relational database model may not be the best solution for all situations.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easiest way to understand NoSQL, is that of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database which does not adhering to the traditional relational database management system (RDMS) structure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436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NoSQL?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The most popular NoSQL database is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Apache Cassandra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Cassandra, which was once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Facebook’s proprietary database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was released as open source in 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2008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Other NoSQL implementations include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SimpleDB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Google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Apache Hadoop,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MapReduce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MemcacheDB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Voldemort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endParaRPr lang="en-US" alt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Companies that use NoSQL include </a:t>
            </a:r>
            <a:r>
              <a:rPr lang="en-US" altLang="en-US" sz="23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</a:t>
            </a:r>
            <a:r>
              <a:rPr lang="en-US" alt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LinkedIn and Twitter</a:t>
            </a:r>
            <a:r>
              <a:rPr lang="en-US" alt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72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we should use NoSQL?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There are several reasons why people consider using a NoSQL database.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Application development productivity.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Large data.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alt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Analytics.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Scalability.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Massive write performance.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Fast key-value access.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Flexible data model and flexible datatypes.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Schema migration.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Write availability.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Easier maintainability, administration and operations.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Generally available parallel computing.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Programmer ease of use. </a:t>
            </a:r>
          </a:p>
          <a:p>
            <a:pPr marL="722313" indent="-366713">
              <a:lnSpc>
                <a:spcPct val="110000"/>
              </a:lnSpc>
              <a:spcBef>
                <a:spcPts val="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Distributed systems and cloud computing support.</a:t>
            </a:r>
            <a:endParaRPr lang="en-US" alt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995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vs NoSQL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104356"/>
              </p:ext>
            </p:extLst>
          </p:nvPr>
        </p:nvGraphicFramePr>
        <p:xfrm>
          <a:off x="838200" y="1690689"/>
          <a:ext cx="10515600" cy="4514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984759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0788173"/>
                    </a:ext>
                  </a:extLst>
                </a:gridCol>
              </a:tblGrid>
              <a:tr h="61921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73019"/>
                  </a:ext>
                </a:extLst>
              </a:tr>
              <a:tr h="61921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Relational Databases (RDBMS)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Non-relational or distributed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458259"/>
                  </a:ext>
                </a:extLst>
              </a:tr>
              <a:tr h="68845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 based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 based, key-value pairs, graph databases or wide-column stores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661697"/>
                  </a:ext>
                </a:extLst>
              </a:tr>
              <a:tr h="68845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Have predefined 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Have dynamic schema for unstructured data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325986"/>
                  </a:ext>
                </a:extLst>
              </a:tr>
              <a:tr h="61921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Vertically scalable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Horizontally scalable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546784"/>
                  </a:ext>
                </a:extLst>
              </a:tr>
              <a:tr h="100393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SQL (structured query language)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Uses </a:t>
                      </a:r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UnQL</a:t>
                      </a: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(Unstructured Query Language). The syntax of using </a:t>
                      </a:r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UnQL</a:t>
                      </a: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varies from database to database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69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818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vs NoSQL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78571"/>
              </p:ext>
            </p:extLst>
          </p:nvPr>
        </p:nvGraphicFramePr>
        <p:xfrm>
          <a:off x="838200" y="1690689"/>
          <a:ext cx="10515600" cy="4616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984759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0788173"/>
                    </a:ext>
                  </a:extLst>
                </a:gridCol>
              </a:tblGrid>
              <a:tr h="61921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73019"/>
                  </a:ext>
                </a:extLst>
              </a:tr>
              <a:tr h="61921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MySql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Oracle,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Sqlite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Postgres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MS-SQL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MongoDB,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BigTable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Redis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RavenDb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Cassandra,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Hbase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Neo4j and </a:t>
                      </a:r>
                      <a:r>
                        <a:rPr lang="en-IN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CouchDB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458259"/>
                  </a:ext>
                </a:extLst>
              </a:tr>
              <a:tr h="68845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 fit for the complex query 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good </a:t>
                      </a:r>
                      <a:r>
                        <a:rPr lang="en-US" sz="21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fit for complex queries (NoSQL don’t have standard interfaces)</a:t>
                      </a:r>
                      <a:endParaRPr lang="en-IN" sz="21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661697"/>
                  </a:ext>
                </a:extLst>
              </a:tr>
              <a:tr h="68845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best fit for hierarchical data storage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Fits better for the hierarchical data storage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325986"/>
                  </a:ext>
                </a:extLst>
              </a:tr>
              <a:tr h="61921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 is managed by increasing the CPU, RAM, SSD, </a:t>
                      </a:r>
                      <a:r>
                        <a:rPr lang="en-US" sz="2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 is managed by adding few more servers easily in your NoSQL database 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546784"/>
                  </a:ext>
                </a:extLst>
              </a:tr>
              <a:tr h="1003939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fit for heavy duty transactional type applications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</a:t>
                      </a: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fit for heavy transactional applications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698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76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vs NoSQL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55091"/>
              </p:ext>
            </p:extLst>
          </p:nvPr>
        </p:nvGraphicFramePr>
        <p:xfrm>
          <a:off x="838200" y="1690689"/>
          <a:ext cx="10515600" cy="4332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984759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0788173"/>
                    </a:ext>
                  </a:extLst>
                </a:gridCol>
              </a:tblGrid>
              <a:tr h="61921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573019"/>
                  </a:ext>
                </a:extLst>
              </a:tr>
              <a:tr h="61921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Excellent support are available for all SQL database 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Still have to rely on community support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458259"/>
                  </a:ext>
                </a:extLst>
              </a:tr>
              <a:tr h="68845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Emphasizes on ACID properties ( Atomicity, Consistency, Isolation and Durability)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Follows the Brewers CAP theorem ( Consistency, Availability and Partition tolerance )</a:t>
                      </a:r>
                      <a:endParaRPr lang="en-IN" sz="21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0661697"/>
                  </a:ext>
                </a:extLst>
              </a:tr>
              <a:tr h="68845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Classified</a:t>
                      </a:r>
                      <a:r>
                        <a:rPr lang="en-IN" sz="21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as e</a:t>
                      </a:r>
                      <a:r>
                        <a:rPr lang="en-IN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ither open-source or close-sourced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en-US" sz="2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Classified on the basis of way of storing data as graph databases, key-value store databases, document store databases, column store database and XML databases.</a:t>
                      </a:r>
                      <a:endParaRPr lang="en-IN" sz="2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325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472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354013" indent="-354013">
              <a:lnSpc>
                <a:spcPct val="110000"/>
              </a:lnSpc>
              <a:spcBef>
                <a:spcPts val="1200"/>
              </a:spcBef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NewSQL is a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relational database system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that bridges the gap between SQL and NoSQL. </a:t>
            </a:r>
          </a:p>
          <a:p>
            <a:pPr marL="354013" indent="-354013">
              <a:lnSpc>
                <a:spcPct val="110000"/>
              </a:lnSpc>
              <a:spcBef>
                <a:spcPts val="1200"/>
              </a:spcBef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NewSQL databases </a:t>
            </a:r>
            <a:r>
              <a:rPr lang="en-I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 to scale and stay consistent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54013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NewSQL is a unique database system that combines 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 compliance with horizontal scaling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54013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database system strives to keep the best of both worlds. </a:t>
            </a:r>
          </a:p>
          <a:p>
            <a:pPr marL="354013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OLTP-based transactions and the high performance of NoSQL combine in a single solution.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07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NewSQL -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354013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main features of NewSQL databases are: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In-memory storage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data processing supply fast query results.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scales the database into units. 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Queries execute on many shards and combine into a single result.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properties preserve the features of RDBMS.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indexing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results in faster query processing and information retrieval.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availability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due to the database replication mechanism.</a:t>
            </a:r>
          </a:p>
          <a:p>
            <a:pPr marL="719138" indent="-354013">
              <a:lnSpc>
                <a:spcPct val="110000"/>
              </a:lnSpc>
              <a:spcBef>
                <a:spcPts val="12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476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NewSQL: </a:t>
            </a:r>
            <a:r>
              <a:rPr lang="en-IN" sz="3200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Comparision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3FEA1A-5CAC-ED07-53FE-926CB67A4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7787"/>
              </p:ext>
            </p:extLst>
          </p:nvPr>
        </p:nvGraphicFramePr>
        <p:xfrm>
          <a:off x="838200" y="1681357"/>
          <a:ext cx="10515600" cy="465447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4395895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22763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870262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94544165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NoSQL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NewSQL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398025886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Schema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Relational (table)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Schema-free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264260648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Depends on the system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Yes, with enhanced features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965328274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ACID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(BASE)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958680740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OLTP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Partial support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supported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support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354789662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Scaling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Horizontal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870266462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797693816"/>
                  </a:ext>
                </a:extLst>
              </a:tr>
              <a:tr h="53437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availability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Built-in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85809542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Queries</a:t>
                      </a:r>
                      <a:endParaRPr lang="en-IN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complexity queries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complexity queries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120301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998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NewSQL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Some well known NewSQL Databases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Apache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Trafodion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Clustrix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CockroachDB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Couchbase.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Google Spanner.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NuoDB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Pivotal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GemFire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XD.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 revolutions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First, Second and Third generation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NoSQL?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Comparison between SQL and NoSQL?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What is NewSQL?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Comparison between SQL, NoSQL and NewSQL?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17-01-2023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652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383</TotalTime>
  <Words>2101</Words>
  <Application>Microsoft Office PowerPoint</Application>
  <PresentationFormat>Widescreen</PresentationFormat>
  <Paragraphs>331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1     Topic   : 1</vt:lpstr>
      <vt:lpstr>Objectives</vt:lpstr>
      <vt:lpstr>What is Database?</vt:lpstr>
      <vt:lpstr>Evolution of Database</vt:lpstr>
      <vt:lpstr>First Database Revolution</vt:lpstr>
      <vt:lpstr>First Database Revolution</vt:lpstr>
      <vt:lpstr>Hierarchical vs Network model</vt:lpstr>
      <vt:lpstr>Second Database Revolution</vt:lpstr>
      <vt:lpstr>New in Second generation</vt:lpstr>
      <vt:lpstr>Benefits in Second generation</vt:lpstr>
      <vt:lpstr>Transaction Models</vt:lpstr>
      <vt:lpstr>SQL</vt:lpstr>
      <vt:lpstr>Third Database Revolution</vt:lpstr>
      <vt:lpstr>Drawbacks in Second Database Revolution</vt:lpstr>
      <vt:lpstr>Cloud Computing</vt:lpstr>
      <vt:lpstr>Document Databases</vt:lpstr>
      <vt:lpstr>NewSQL</vt:lpstr>
      <vt:lpstr>The Nonrelational Explosion</vt:lpstr>
      <vt:lpstr>The Database technologies</vt:lpstr>
      <vt:lpstr>What is NoSQL?</vt:lpstr>
      <vt:lpstr>What is NoSQL?</vt:lpstr>
      <vt:lpstr>Why we should use NoSQL?</vt:lpstr>
      <vt:lpstr>SQL vs NoSQL</vt:lpstr>
      <vt:lpstr>SQL vs NoSQL</vt:lpstr>
      <vt:lpstr>SQL vs NoSQL</vt:lpstr>
      <vt:lpstr>NewSQL</vt:lpstr>
      <vt:lpstr>NewSQL - Advantages</vt:lpstr>
      <vt:lpstr>NewSQL: Comparision</vt:lpstr>
      <vt:lpstr>NewSQL Examples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gopikrishnan sundaram</cp:lastModifiedBy>
  <cp:revision>34</cp:revision>
  <dcterms:created xsi:type="dcterms:W3CDTF">2019-11-30T05:18:24Z</dcterms:created>
  <dcterms:modified xsi:type="dcterms:W3CDTF">2023-01-17T06:08:33Z</dcterms:modified>
</cp:coreProperties>
</file>