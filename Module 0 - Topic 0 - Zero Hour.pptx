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258" r:id="rId3"/>
    <p:sldId id="397" r:id="rId4"/>
    <p:sldId id="420" r:id="rId5"/>
    <p:sldId id="413" r:id="rId6"/>
    <p:sldId id="415" r:id="rId7"/>
    <p:sldId id="416" r:id="rId8"/>
    <p:sldId id="418" r:id="rId9"/>
    <p:sldId id="417" r:id="rId10"/>
    <p:sldId id="419" r:id="rId11"/>
    <p:sldId id="411" r:id="rId12"/>
    <p:sldId id="424" r:id="rId13"/>
    <p:sldId id="425" r:id="rId14"/>
    <p:sldId id="426" r:id="rId15"/>
    <p:sldId id="427" r:id="rId16"/>
    <p:sldId id="400" r:id="rId17"/>
    <p:sldId id="40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8F5164-82C6-4783-BB06-984208501787}" type="datetimeFigureOut">
              <a:rPr lang="en-IN" smtClean="0"/>
              <a:pPr/>
              <a:t>22-07-2025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F65B9-E820-499D-BBF6-8FBFC7EE46E3}" type="slidenum">
              <a:rPr lang="en-IN" smtClean="0"/>
              <a:pPr/>
              <a:t>‹#›</a:t>
            </a:fld>
            <a:endParaRPr lang="en-IN"/>
          </a:p>
        </p:txBody>
      </p:sp>
    </p:spTree>
    <p:extLst>
      <p:ext uri="{BB962C8B-B14F-4D97-AF65-F5344CB8AC3E}">
        <p14:creationId xmlns:p14="http://schemas.microsoft.com/office/powerpoint/2010/main" val="244971622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D52BE-B7D2-4538-A787-980B6B5A63DA}" type="datetimeFigureOut">
              <a:rPr lang="en-IN" smtClean="0"/>
              <a:pPr/>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179F8-D975-49DB-AB3A-962620D48426}" type="slidenum">
              <a:rPr lang="en-IN" smtClean="0"/>
              <a:pPr/>
              <a:t>‹#›</a:t>
            </a:fld>
            <a:endParaRPr lang="en-IN"/>
          </a:p>
        </p:txBody>
      </p:sp>
    </p:spTree>
    <p:extLst>
      <p:ext uri="{BB962C8B-B14F-4D97-AF65-F5344CB8AC3E}">
        <p14:creationId xmlns:p14="http://schemas.microsoft.com/office/powerpoint/2010/main" val="157206350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1AEC502-B5D4-4D86-B3F1-C150AC32E9D6}" type="datetime1">
              <a:rPr lang="en-IN" smtClean="0"/>
              <a:pPr/>
              <a:t>22-07-2025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3499859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69AF60-F677-4B7F-8E11-784FCDAB0C59}" type="datetime1">
              <a:rPr lang="en-IN" smtClean="0"/>
              <a:pPr/>
              <a:t>22-07-2025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C2011AD3-8200-41C9-B135-CD8425EA2F68}" type="slidenum">
              <a:rPr lang="en-IN" smtClean="0"/>
              <a:pPr/>
              <a:t>‹#›</a:t>
            </a:fld>
            <a:endParaRPr lang="en-IN"/>
          </a:p>
        </p:txBody>
      </p:sp>
      <p:pic>
        <p:nvPicPr>
          <p:cNvPr id="9" name="Picture 8">
            <a:extLst>
              <a:ext uri="{FF2B5EF4-FFF2-40B4-BE49-F238E27FC236}">
                <a16:creationId xmlns:a16="http://schemas.microsoft.com/office/drawing/2014/main" id="{FA789CCC-EE62-4DE6-BACA-298425785F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1305848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750C4A2-F6F9-43AD-807C-2BDBD12EBDAD}" type="datetime1">
              <a:rPr lang="en-IN" smtClean="0"/>
              <a:pPr/>
              <a:t>22-07-2025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3325500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5DFF33C-62F7-42CF-AD2E-A380BA33BC70}" type="datetime1">
              <a:rPr lang="en-IN" smtClean="0"/>
              <a:pPr/>
              <a:t>22-07-2025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2302778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E536C8E-0706-4601-9EC2-63B55C57B4C6}" type="datetime1">
              <a:rPr lang="en-IN" smtClean="0"/>
              <a:pPr/>
              <a:t>22-07-2025</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80744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2131453-5EB7-4F4F-8613-FAEA2486EE06}" type="datetime1">
              <a:rPr lang="en-IN" smtClean="0"/>
              <a:pPr/>
              <a:t>22-07-2025</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516462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AE5D55-CC66-4E4B-9D31-5A6F9DAEB154}" type="datetime1">
              <a:rPr lang="en-IN" smtClean="0"/>
              <a:pPr/>
              <a:t>22-07-2025</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3192502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3287F13-B982-466A-AFAE-8EA1BF15ABE7}" type="datetime1">
              <a:rPr lang="en-IN" smtClean="0"/>
              <a:pPr/>
              <a:t>22-07-2025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2563667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7E2AE91-C9CA-4F02-8868-DF67524610FE}" type="datetime1">
              <a:rPr lang="en-IN" smtClean="0"/>
              <a:pPr/>
              <a:t>22-07-2025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2721710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B64BDC5-B9E2-44D4-9B3B-5DFBAB9DAAB3}" type="datetime1">
              <a:rPr lang="en-IN" smtClean="0"/>
              <a:pPr/>
              <a:t>22-07-2025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383617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D7802E7-F644-469C-AF22-0F04CBA7FFFF}" type="datetime1">
              <a:rPr lang="en-IN" smtClean="0"/>
              <a:pPr/>
              <a:t>22-07-2025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C2011AD3-8200-41C9-B135-CD8425EA2F68}" type="slidenum">
              <a:rPr lang="en-IN" smtClean="0"/>
              <a:pPr/>
              <a:t>‹#›</a:t>
            </a:fld>
            <a:endParaRPr lang="en-IN"/>
          </a:p>
        </p:txBody>
      </p:sp>
    </p:spTree>
    <p:extLst>
      <p:ext uri="{BB962C8B-B14F-4D97-AF65-F5344CB8AC3E}">
        <p14:creationId xmlns:p14="http://schemas.microsoft.com/office/powerpoint/2010/main" val="3034748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F6FB14-A67C-44DF-8C3F-1F75F6AC12AB}" type="datetime1">
              <a:rPr lang="en-IN" smtClean="0"/>
              <a:pPr/>
              <a:t>22-07-2025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011AD3-8200-41C9-B135-CD8425EA2F68}" type="slidenum">
              <a:rPr lang="en-IN" smtClean="0"/>
              <a:pPr/>
              <a:t>‹#›</a:t>
            </a:fld>
            <a:endParaRPr lang="en-IN"/>
          </a:p>
        </p:txBody>
      </p:sp>
      <p:pic>
        <p:nvPicPr>
          <p:cNvPr id="7" name="Picture 6">
            <a:extLst>
              <a:ext uri="{FF2B5EF4-FFF2-40B4-BE49-F238E27FC236}">
                <a16:creationId xmlns:a16="http://schemas.microsoft.com/office/drawing/2014/main" id="{F8673EFE-2612-493C-917A-39579DF302E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99100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41563"/>
            <a:ext cx="9144000" cy="953575"/>
          </a:xfrm>
        </p:spPr>
        <p:txBody>
          <a:bodyPr>
            <a:noAutofit/>
          </a:bodyPr>
          <a:lstStyle/>
          <a:p>
            <a:pPr algn="l">
              <a:lnSpc>
                <a:spcPct val="120000"/>
              </a:lnSpc>
              <a:spcBef>
                <a:spcPts val="600"/>
              </a:spcBef>
              <a:spcAft>
                <a:spcPts val="600"/>
              </a:spcAft>
            </a:pPr>
            <a:br>
              <a:rPr lang="en-IN" sz="2400" dirty="0">
                <a:solidFill>
                  <a:srgbClr val="00B050"/>
                </a:solidFill>
                <a:latin typeface="Arial" panose="020B0604020202020204" pitchFamily="34" charset="0"/>
                <a:cs typeface="Arial" panose="020B0604020202020204" pitchFamily="34" charset="0"/>
              </a:rPr>
            </a:br>
            <a:r>
              <a:rPr lang="en-IN" sz="2400" dirty="0">
                <a:solidFill>
                  <a:srgbClr val="00B050"/>
                </a:solidFill>
                <a:latin typeface="Arial" panose="020B0604020202020204" pitchFamily="34" charset="0"/>
                <a:cs typeface="Arial" panose="020B0604020202020204" pitchFamily="34" charset="0"/>
              </a:rPr>
              <a:t>Course title		: </a:t>
            </a:r>
            <a:r>
              <a:rPr lang="en-IN" sz="2400" b="1" dirty="0">
                <a:solidFill>
                  <a:srgbClr val="00B050"/>
                </a:solidFill>
                <a:latin typeface="Arial" panose="020B0604020202020204" pitchFamily="34" charset="0"/>
                <a:cs typeface="Arial" panose="020B0604020202020204" pitchFamily="34" charset="0"/>
              </a:rPr>
              <a:t>CSE3009 </a:t>
            </a:r>
            <a:br>
              <a:rPr lang="en-IN" sz="2400" b="1" dirty="0">
                <a:solidFill>
                  <a:srgbClr val="00B050"/>
                </a:solidFill>
                <a:latin typeface="Arial" panose="020B0604020202020204" pitchFamily="34" charset="0"/>
                <a:cs typeface="Arial" panose="020B0604020202020204" pitchFamily="34" charset="0"/>
              </a:rPr>
            </a:br>
            <a:r>
              <a:rPr lang="en-IN" sz="2400" dirty="0">
                <a:solidFill>
                  <a:srgbClr val="00B050"/>
                </a:solidFill>
                <a:latin typeface="Arial" panose="020B0604020202020204" pitchFamily="34" charset="0"/>
                <a:cs typeface="Arial" panose="020B0604020202020204" pitchFamily="34" charset="0"/>
              </a:rPr>
              <a:t>Course title		: </a:t>
            </a:r>
            <a:r>
              <a:rPr lang="en-IN" sz="2400" b="1" dirty="0">
                <a:solidFill>
                  <a:srgbClr val="00B050"/>
                </a:solidFill>
                <a:latin typeface="Arial" panose="020B0604020202020204" pitchFamily="34" charset="0"/>
                <a:cs typeface="Arial" panose="020B0604020202020204" pitchFamily="34" charset="0"/>
              </a:rPr>
              <a:t>NoSQL Databases</a:t>
            </a:r>
            <a:br>
              <a:rPr lang="en-IN" sz="2400" b="1" dirty="0">
                <a:solidFill>
                  <a:srgbClr val="00B050"/>
                </a:solidFill>
                <a:latin typeface="Arial" panose="020B0604020202020204" pitchFamily="34" charset="0"/>
                <a:cs typeface="Arial" panose="020B0604020202020204" pitchFamily="34" charset="0"/>
              </a:rPr>
            </a:br>
            <a:r>
              <a:rPr lang="en-IN" sz="2400" dirty="0">
                <a:solidFill>
                  <a:srgbClr val="00B050"/>
                </a:solidFill>
                <a:latin typeface="Arial" panose="020B0604020202020204" pitchFamily="34" charset="0"/>
                <a:cs typeface="Arial" panose="020B0604020202020204" pitchFamily="34" charset="0"/>
              </a:rPr>
              <a:t>Module</a:t>
            </a:r>
            <a:r>
              <a:rPr lang="en-IN" sz="2400" b="1" dirty="0">
                <a:solidFill>
                  <a:srgbClr val="00B050"/>
                </a:solidFill>
                <a:latin typeface="Arial" panose="020B0604020202020204" pitchFamily="34" charset="0"/>
                <a:cs typeface="Arial" panose="020B0604020202020204" pitchFamily="34" charset="0"/>
              </a:rPr>
              <a:t>	</a:t>
            </a:r>
            <a:r>
              <a:rPr lang="en-IN" sz="2400" dirty="0">
                <a:solidFill>
                  <a:srgbClr val="00B050"/>
                </a:solidFill>
                <a:latin typeface="Arial" panose="020B0604020202020204" pitchFamily="34" charset="0"/>
                <a:cs typeface="Arial" panose="020B0604020202020204" pitchFamily="34" charset="0"/>
              </a:rPr>
              <a:t> 	: </a:t>
            </a:r>
            <a:r>
              <a:rPr lang="en-IN" sz="2400" b="1" dirty="0">
                <a:solidFill>
                  <a:srgbClr val="00B050"/>
                </a:solidFill>
                <a:latin typeface="Arial" panose="020B0604020202020204" pitchFamily="34" charset="0"/>
                <a:cs typeface="Arial" panose="020B0604020202020204" pitchFamily="34" charset="0"/>
              </a:rPr>
              <a:t>0</a:t>
            </a:r>
            <a:br>
              <a:rPr lang="en-IN" sz="2400" b="1" dirty="0">
                <a:solidFill>
                  <a:srgbClr val="00B050"/>
                </a:solidFill>
                <a:latin typeface="Arial" panose="020B0604020202020204" pitchFamily="34" charset="0"/>
                <a:cs typeface="Arial" panose="020B0604020202020204" pitchFamily="34" charset="0"/>
              </a:rPr>
            </a:br>
            <a:r>
              <a:rPr lang="en-IN" sz="2400" dirty="0">
                <a:solidFill>
                  <a:srgbClr val="00B050"/>
                </a:solidFill>
                <a:latin typeface="Arial" panose="020B0604020202020204" pitchFamily="34" charset="0"/>
                <a:cs typeface="Arial" panose="020B0604020202020204" pitchFamily="34" charset="0"/>
              </a:rPr>
              <a:t>Topic			:</a:t>
            </a:r>
            <a:r>
              <a:rPr lang="en-IN" sz="2400" b="1" dirty="0">
                <a:solidFill>
                  <a:srgbClr val="00B050"/>
                </a:solidFill>
                <a:latin typeface="Arial" panose="020B0604020202020204" pitchFamily="34" charset="0"/>
                <a:cs typeface="Arial" panose="020B0604020202020204" pitchFamily="34" charset="0"/>
              </a:rPr>
              <a:t> 0</a:t>
            </a:r>
          </a:p>
        </p:txBody>
      </p:sp>
      <p:sp>
        <p:nvSpPr>
          <p:cNvPr id="3" name="Subtitle 2"/>
          <p:cNvSpPr>
            <a:spLocks noGrp="1"/>
          </p:cNvSpPr>
          <p:nvPr>
            <p:ph type="subTitle" idx="1"/>
          </p:nvPr>
        </p:nvSpPr>
        <p:spPr>
          <a:xfrm>
            <a:off x="1524000" y="383028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Z</a:t>
            </a:r>
            <a:r>
              <a:rPr lang="en-IN" sz="4000" b="1" dirty="0" err="1">
                <a:solidFill>
                  <a:srgbClr val="0070C0"/>
                </a:solidFill>
                <a:latin typeface="Arial" panose="020B0604020202020204" pitchFamily="34" charset="0"/>
                <a:cs typeface="Arial" panose="020B0604020202020204" pitchFamily="34" charset="0"/>
              </a:rPr>
              <a:t>ero</a:t>
            </a:r>
            <a:r>
              <a:rPr lang="en-IN" sz="4000" b="1" dirty="0">
                <a:solidFill>
                  <a:srgbClr val="0070C0"/>
                </a:solidFill>
                <a:latin typeface="Arial" panose="020B0604020202020204" pitchFamily="34" charset="0"/>
                <a:cs typeface="Arial" panose="020B0604020202020204" pitchFamily="34" charset="0"/>
              </a:rPr>
              <a:t> Hour</a:t>
            </a:r>
          </a:p>
        </p:txBody>
      </p:sp>
      <p:sp>
        <p:nvSpPr>
          <p:cNvPr id="5" name="Date Placeholder 4"/>
          <p:cNvSpPr>
            <a:spLocks noGrp="1"/>
          </p:cNvSpPr>
          <p:nvPr>
            <p:ph type="dt" sz="half" idx="10"/>
          </p:nvPr>
        </p:nvSpPr>
        <p:spPr/>
        <p:txBody>
          <a:bodyPr/>
          <a:lstStyle/>
          <a:p>
            <a:fld id="{80F51BBA-6008-4E82-87BB-015120410216}"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6" name="Footer Placeholder 5"/>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7" name="Slide Number Placeholder 6"/>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02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Course syllabus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Objectives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Course outcome</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CO's Mapping with PO's and PEO’s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Couse plan</a:t>
            </a:r>
          </a:p>
          <a:p>
            <a:pPr marL="996950" lvl="1" indent="-539750">
              <a:lnSpc>
                <a:spcPct val="120000"/>
              </a:lnSpc>
              <a:spcBef>
                <a:spcPts val="600"/>
              </a:spcBef>
              <a:spcAft>
                <a:spcPts val="600"/>
              </a:spcAft>
            </a:pPr>
            <a:endParaRPr lang="en-US"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US"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US"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US"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2028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Autofit/>
          </a:bodyPr>
          <a:lstStyle/>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Explores the origins of NoSQL databases and their characteristics that distinguish them from traditional RDBMS.</a:t>
            </a:r>
          </a:p>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Explains the architectures and common features of the main types of NoSQL databases (key-value stores, document databases, column-family stores, graph databases)</a:t>
            </a:r>
          </a:p>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Discusses the criteria that decision makers should consider when choosing between relational and non-relational databases and techniques for selecting the NoSQL database that best addresses specific use cases.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6525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Expected Outcome</a:t>
            </a:r>
          </a:p>
        </p:txBody>
      </p:sp>
      <p:sp>
        <p:nvSpPr>
          <p:cNvPr id="3" name="Content Placeholder 2"/>
          <p:cNvSpPr>
            <a:spLocks noGrp="1"/>
          </p:cNvSpPr>
          <p:nvPr>
            <p:ph idx="1"/>
          </p:nvPr>
        </p:nvSpPr>
        <p:spPr>
          <a:xfrm>
            <a:off x="838200" y="1690688"/>
            <a:ext cx="10515600" cy="4486275"/>
          </a:xfrm>
        </p:spPr>
        <p:txBody>
          <a:bodyPr>
            <a:noAutofit/>
          </a:bodyPr>
          <a:lstStyle/>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Explain the detailed architecture, define objects, load data, query data and performance tune NoSQL databases</a:t>
            </a:r>
          </a:p>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Define NoSQL, its characteristics, history and primary benefits using NoSQL Databases.</a:t>
            </a:r>
          </a:p>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Define the major types of NoSQL databases including a primary use case and advantages/disadvantages of each type.</a:t>
            </a:r>
          </a:p>
          <a:p>
            <a:pPr marL="469900" marR="5080" indent="-457200">
              <a:lnSpc>
                <a:spcPct val="110000"/>
              </a:lnSpc>
              <a:spcBef>
                <a:spcPts val="600"/>
              </a:spcBef>
              <a:spcAft>
                <a:spcPts val="1800"/>
              </a:spcAft>
              <a:buFont typeface="+mj-lt"/>
              <a:buAutoNum type="arabicPeriod"/>
              <a:tabLst>
                <a:tab pos="244475" algn="l"/>
              </a:tabLst>
            </a:pPr>
            <a:r>
              <a:rPr lang="en-US" sz="2400" spc="-5" dirty="0">
                <a:latin typeface="Arial" panose="020B0604020202020204" pitchFamily="34" charset="0"/>
                <a:cs typeface="Arial" panose="020B0604020202020204" pitchFamily="34" charset="0"/>
              </a:rPr>
              <a:t>Analyze semi-structured data and choose an appropriate storage structure</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094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Course Outcomes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5</a:t>
            </a:fld>
            <a:endParaRPr lang="en-IN"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60D9B17E-69EC-4C44-8FF8-A482D57DB09B}"/>
              </a:ext>
            </a:extLst>
          </p:cNvPr>
          <p:cNvGraphicFramePr>
            <a:graphicFrameLocks noGrp="1"/>
          </p:cNvGraphicFramePr>
          <p:nvPr>
            <p:extLst>
              <p:ext uri="{D42A27DB-BD31-4B8C-83A1-F6EECF244321}">
                <p14:modId xmlns:p14="http://schemas.microsoft.com/office/powerpoint/2010/main" val="1496859620"/>
              </p:ext>
            </p:extLst>
          </p:nvPr>
        </p:nvGraphicFramePr>
        <p:xfrm>
          <a:off x="838200" y="1690688"/>
          <a:ext cx="10515600" cy="4473599"/>
        </p:xfrm>
        <a:graphic>
          <a:graphicData uri="http://schemas.openxmlformats.org/drawingml/2006/table">
            <a:tbl>
              <a:tblPr bandRow="1">
                <a:tableStyleId>{5940675A-B579-460E-94D1-54222C63F5DA}</a:tableStyleId>
              </a:tblPr>
              <a:tblGrid>
                <a:gridCol w="1587759">
                  <a:extLst>
                    <a:ext uri="{9D8B030D-6E8A-4147-A177-3AD203B41FA5}">
                      <a16:colId xmlns:a16="http://schemas.microsoft.com/office/drawing/2014/main" val="527095685"/>
                    </a:ext>
                  </a:extLst>
                </a:gridCol>
                <a:gridCol w="5896947">
                  <a:extLst>
                    <a:ext uri="{9D8B030D-6E8A-4147-A177-3AD203B41FA5}">
                      <a16:colId xmlns:a16="http://schemas.microsoft.com/office/drawing/2014/main" val="3530278755"/>
                    </a:ext>
                  </a:extLst>
                </a:gridCol>
                <a:gridCol w="3030894">
                  <a:extLst>
                    <a:ext uri="{9D8B030D-6E8A-4147-A177-3AD203B41FA5}">
                      <a16:colId xmlns:a16="http://schemas.microsoft.com/office/drawing/2014/main" val="1051172497"/>
                    </a:ext>
                  </a:extLst>
                </a:gridCol>
              </a:tblGrid>
              <a:tr h="383485">
                <a:tc>
                  <a:txBody>
                    <a:bodyPr/>
                    <a:lstStyle/>
                    <a:p>
                      <a:pPr algn="ctr">
                        <a:lnSpc>
                          <a:spcPct val="115000"/>
                        </a:lnSpc>
                        <a:spcBef>
                          <a:spcPts val="600"/>
                        </a:spcBef>
                        <a:spcAft>
                          <a:spcPts val="600"/>
                        </a:spcAft>
                      </a:pPr>
                      <a:r>
                        <a:rPr lang="en-US" sz="2200" b="1" dirty="0">
                          <a:effectLst/>
                          <a:latin typeface="Arial" panose="020B0604020202020204" pitchFamily="34" charset="0"/>
                          <a:cs typeface="Arial" panose="020B0604020202020204" pitchFamily="34" charset="0"/>
                        </a:rPr>
                        <a:t>Course Outcomes</a:t>
                      </a:r>
                      <a:endParaRPr lang="en-IN" sz="2200" b="1" dirty="0">
                        <a:effectLst/>
                        <a:latin typeface="Arial" panose="020B0604020202020204" pitchFamily="34" charset="0"/>
                        <a:ea typeface="Calibri" panose="020F0502020204030204" pitchFamily="34" charset="0"/>
                        <a:cs typeface="Arial" panose="020B0604020202020204" pitchFamily="34" charset="0"/>
                      </a:endParaRPr>
                    </a:p>
                  </a:txBody>
                  <a:tcPr marL="66646" marR="66646" marT="0" marB="0" anchor="ctr"/>
                </a:tc>
                <a:tc>
                  <a:txBody>
                    <a:bodyPr/>
                    <a:lstStyle/>
                    <a:p>
                      <a:pPr algn="ctr">
                        <a:lnSpc>
                          <a:spcPct val="115000"/>
                        </a:lnSpc>
                        <a:spcBef>
                          <a:spcPts val="600"/>
                        </a:spcBef>
                        <a:spcAft>
                          <a:spcPts val="600"/>
                        </a:spcAft>
                      </a:pPr>
                      <a:r>
                        <a:rPr lang="en-US" sz="2200" b="1" dirty="0">
                          <a:effectLst/>
                          <a:latin typeface="Arial" panose="020B0604020202020204" pitchFamily="34" charset="0"/>
                          <a:cs typeface="Arial" panose="020B0604020202020204" pitchFamily="34" charset="0"/>
                        </a:rPr>
                        <a:t>Course Outcome Statement</a:t>
                      </a:r>
                      <a:endParaRPr lang="en-IN" sz="2200" b="1" dirty="0">
                        <a:effectLst/>
                        <a:latin typeface="Arial" panose="020B0604020202020204" pitchFamily="34" charset="0"/>
                        <a:ea typeface="Calibri" panose="020F0502020204030204" pitchFamily="34" charset="0"/>
                        <a:cs typeface="Arial" panose="020B0604020202020204" pitchFamily="34" charset="0"/>
                      </a:endParaRPr>
                    </a:p>
                  </a:txBody>
                  <a:tcPr marL="66646" marR="66646" marT="0" marB="0" anchor="ctr"/>
                </a:tc>
                <a:tc>
                  <a:txBody>
                    <a:bodyPr/>
                    <a:lstStyle/>
                    <a:p>
                      <a:pPr algn="ctr">
                        <a:lnSpc>
                          <a:spcPct val="115000"/>
                        </a:lnSpc>
                        <a:spcBef>
                          <a:spcPts val="600"/>
                        </a:spcBef>
                        <a:spcAft>
                          <a:spcPts val="600"/>
                        </a:spcAft>
                      </a:pPr>
                      <a:r>
                        <a:rPr lang="en-US" sz="2200" b="1" dirty="0">
                          <a:effectLst/>
                          <a:latin typeface="Arial" panose="020B0604020202020204" pitchFamily="34" charset="0"/>
                          <a:cs typeface="Arial" panose="020B0604020202020204" pitchFamily="34" charset="0"/>
                        </a:rPr>
                        <a:t>PO's / PEO’s</a:t>
                      </a:r>
                    </a:p>
                  </a:txBody>
                  <a:tcPr marL="66646" marR="66646" marT="0" marB="0" anchor="ctr"/>
                </a:tc>
                <a:extLst>
                  <a:ext uri="{0D108BD9-81ED-4DB2-BD59-A6C34878D82A}">
                    <a16:rowId xmlns:a16="http://schemas.microsoft.com/office/drawing/2014/main" val="1391082062"/>
                  </a:ext>
                </a:extLst>
              </a:tr>
              <a:tr h="925596">
                <a:tc>
                  <a:txBody>
                    <a:bodyPr/>
                    <a:lstStyle/>
                    <a:p>
                      <a:pPr algn="ctr">
                        <a:lnSpc>
                          <a:spcPct val="115000"/>
                        </a:lnSpc>
                        <a:spcBef>
                          <a:spcPts val="600"/>
                        </a:spcBef>
                        <a:spcAft>
                          <a:spcPts val="600"/>
                        </a:spcAft>
                      </a:pPr>
                      <a:r>
                        <a:rPr lang="en-US" sz="2200" dirty="0">
                          <a:effectLst/>
                          <a:latin typeface="Arial" panose="020B0604020202020204" pitchFamily="34" charset="0"/>
                          <a:cs typeface="Arial" panose="020B0604020202020204" pitchFamily="34" charset="0"/>
                        </a:rPr>
                        <a:t>CO1</a:t>
                      </a:r>
                      <a:endParaRPr lang="en-IN" sz="2200" dirty="0">
                        <a:effectLst/>
                        <a:latin typeface="Arial" panose="020B0604020202020204" pitchFamily="34" charset="0"/>
                        <a:ea typeface="Calibri" panose="020F0502020204030204" pitchFamily="34" charset="0"/>
                        <a:cs typeface="Arial" panose="020B0604020202020204" pitchFamily="34" charset="0"/>
                      </a:endParaRPr>
                    </a:p>
                  </a:txBody>
                  <a:tcPr marL="66646" marR="66646" marT="0" marB="0" anchor="ctr"/>
                </a:tc>
                <a:tc>
                  <a:txBody>
                    <a:bodyPr/>
                    <a:lstStyle/>
                    <a:p>
                      <a:pPr algn="l">
                        <a:lnSpc>
                          <a:spcPct val="115000"/>
                        </a:lnSpc>
                        <a:spcAft>
                          <a:spcPts val="1000"/>
                        </a:spcAft>
                      </a:pPr>
                      <a:r>
                        <a:rPr lang="en-US" sz="2200" kern="1200" dirty="0">
                          <a:solidFill>
                            <a:schemeClr val="tx1"/>
                          </a:solidFill>
                          <a:effectLst/>
                          <a:latin typeface="Arial" panose="020B0604020202020204" pitchFamily="34" charset="0"/>
                          <a:ea typeface="+mn-ea"/>
                          <a:cs typeface="Arial" panose="020B0604020202020204" pitchFamily="34" charset="0"/>
                        </a:rPr>
                        <a:t>Explain the detailed architecture, define objects, load data, query data and performance tune NoSQL databases</a:t>
                      </a:r>
                      <a:endParaRPr lang="en-IN" sz="22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nSpc>
                          <a:spcPct val="115000"/>
                        </a:lnSpc>
                        <a:spcAft>
                          <a:spcPts val="1000"/>
                        </a:spcAft>
                      </a:pPr>
                      <a:r>
                        <a:rPr lang="en-IN" sz="2200" kern="1200" dirty="0">
                          <a:solidFill>
                            <a:schemeClr val="tx1"/>
                          </a:solidFill>
                          <a:effectLst/>
                          <a:latin typeface="Arial" panose="020B0604020202020204" pitchFamily="34" charset="0"/>
                          <a:ea typeface="+mn-ea"/>
                          <a:cs typeface="Arial" panose="020B0604020202020204" pitchFamily="34" charset="0"/>
                        </a:rPr>
                        <a:t>PO1, PO2, PO3, PO4, PO5</a:t>
                      </a:r>
                    </a:p>
                  </a:txBody>
                  <a:tcPr marL="68580" marR="68580" marT="0" marB="0" anchor="ctr"/>
                </a:tc>
                <a:extLst>
                  <a:ext uri="{0D108BD9-81ED-4DB2-BD59-A6C34878D82A}">
                    <a16:rowId xmlns:a16="http://schemas.microsoft.com/office/drawing/2014/main" val="161967475"/>
                  </a:ext>
                </a:extLst>
              </a:tr>
              <a:tr h="749195">
                <a:tc>
                  <a:txBody>
                    <a:bodyPr/>
                    <a:lstStyle/>
                    <a:p>
                      <a:pPr algn="ctr">
                        <a:lnSpc>
                          <a:spcPct val="115000"/>
                        </a:lnSpc>
                        <a:spcBef>
                          <a:spcPts val="600"/>
                        </a:spcBef>
                        <a:spcAft>
                          <a:spcPts val="600"/>
                        </a:spcAft>
                      </a:pPr>
                      <a:r>
                        <a:rPr lang="en-US" sz="2200" dirty="0">
                          <a:effectLst/>
                          <a:latin typeface="Arial" panose="020B0604020202020204" pitchFamily="34" charset="0"/>
                          <a:cs typeface="Arial" panose="020B0604020202020204" pitchFamily="34" charset="0"/>
                        </a:rPr>
                        <a:t>CO2</a:t>
                      </a:r>
                      <a:endParaRPr lang="en-IN" sz="2200" dirty="0">
                        <a:effectLst/>
                        <a:latin typeface="Arial" panose="020B0604020202020204" pitchFamily="34" charset="0"/>
                        <a:ea typeface="Calibri" panose="020F0502020204030204" pitchFamily="34" charset="0"/>
                        <a:cs typeface="Arial" panose="020B0604020202020204" pitchFamily="34" charset="0"/>
                      </a:endParaRPr>
                    </a:p>
                  </a:txBody>
                  <a:tcPr marL="66646" marR="66646" marT="0" marB="0" anchor="ctr"/>
                </a:tc>
                <a:tc>
                  <a:txBody>
                    <a:bodyPr/>
                    <a:lstStyle/>
                    <a:p>
                      <a:pPr algn="l">
                        <a:lnSpc>
                          <a:spcPct val="115000"/>
                        </a:lnSpc>
                        <a:spcAft>
                          <a:spcPts val="1000"/>
                        </a:spcAft>
                      </a:pPr>
                      <a:r>
                        <a:rPr lang="en-US" sz="2200" kern="1200" dirty="0">
                          <a:solidFill>
                            <a:schemeClr val="tx1"/>
                          </a:solidFill>
                          <a:effectLst/>
                          <a:latin typeface="Arial" panose="020B0604020202020204" pitchFamily="34" charset="0"/>
                          <a:ea typeface="+mn-ea"/>
                          <a:cs typeface="Arial" panose="020B0604020202020204" pitchFamily="34" charset="0"/>
                        </a:rPr>
                        <a:t>Define NoSQL, its characteristics, history and primary benefits using NoSQL Databases.</a:t>
                      </a:r>
                      <a:endParaRPr lang="en-IN" sz="22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nSpc>
                          <a:spcPct val="115000"/>
                        </a:lnSpc>
                        <a:spcAft>
                          <a:spcPts val="1000"/>
                        </a:spcAft>
                      </a:pPr>
                      <a:r>
                        <a:rPr lang="en-IN" sz="2200" kern="1200" dirty="0">
                          <a:solidFill>
                            <a:schemeClr val="tx1"/>
                          </a:solidFill>
                          <a:effectLst/>
                          <a:latin typeface="Arial" panose="020B0604020202020204" pitchFamily="34" charset="0"/>
                          <a:ea typeface="+mn-ea"/>
                          <a:cs typeface="Arial" panose="020B0604020202020204" pitchFamily="34" charset="0"/>
                        </a:rPr>
                        <a:t>PO1, PO2, PO3, PO4, PO5</a:t>
                      </a:r>
                    </a:p>
                  </a:txBody>
                  <a:tcPr marL="68580" marR="68580" marT="0" marB="0" anchor="ctr"/>
                </a:tc>
                <a:extLst>
                  <a:ext uri="{0D108BD9-81ED-4DB2-BD59-A6C34878D82A}">
                    <a16:rowId xmlns:a16="http://schemas.microsoft.com/office/drawing/2014/main" val="4102521371"/>
                  </a:ext>
                </a:extLst>
              </a:tr>
              <a:tr h="394616">
                <a:tc>
                  <a:txBody>
                    <a:bodyPr/>
                    <a:lstStyle/>
                    <a:p>
                      <a:pPr algn="ctr">
                        <a:lnSpc>
                          <a:spcPct val="115000"/>
                        </a:lnSpc>
                        <a:spcBef>
                          <a:spcPts val="600"/>
                        </a:spcBef>
                        <a:spcAft>
                          <a:spcPts val="600"/>
                        </a:spcAft>
                      </a:pPr>
                      <a:r>
                        <a:rPr lang="en-US" sz="2200" dirty="0">
                          <a:effectLst/>
                          <a:latin typeface="Arial" panose="020B0604020202020204" pitchFamily="34" charset="0"/>
                          <a:cs typeface="Arial" panose="020B0604020202020204" pitchFamily="34" charset="0"/>
                        </a:rPr>
                        <a:t>CO3</a:t>
                      </a:r>
                      <a:endParaRPr lang="en-IN" sz="2200" dirty="0">
                        <a:effectLst/>
                        <a:latin typeface="Arial" panose="020B0604020202020204" pitchFamily="34" charset="0"/>
                        <a:ea typeface="Calibri" panose="020F0502020204030204" pitchFamily="34" charset="0"/>
                        <a:cs typeface="Arial" panose="020B0604020202020204" pitchFamily="34" charset="0"/>
                      </a:endParaRPr>
                    </a:p>
                  </a:txBody>
                  <a:tcPr marL="66646" marR="66646" marT="0" marB="0" anchor="ctr"/>
                </a:tc>
                <a:tc>
                  <a:txBody>
                    <a:bodyPr/>
                    <a:lstStyle/>
                    <a:p>
                      <a:pPr algn="l">
                        <a:lnSpc>
                          <a:spcPct val="115000"/>
                        </a:lnSpc>
                        <a:spcAft>
                          <a:spcPts val="1000"/>
                        </a:spcAft>
                      </a:pPr>
                      <a:r>
                        <a:rPr lang="en-US" sz="2200" kern="1200" dirty="0">
                          <a:solidFill>
                            <a:schemeClr val="tx1"/>
                          </a:solidFill>
                          <a:effectLst/>
                          <a:latin typeface="Arial" panose="020B0604020202020204" pitchFamily="34" charset="0"/>
                          <a:ea typeface="+mn-ea"/>
                          <a:cs typeface="Arial" panose="020B0604020202020204" pitchFamily="34" charset="0"/>
                        </a:rPr>
                        <a:t>Define the major types of NoSQL databases including a primary use case and advantages/disadvantages of each type.</a:t>
                      </a:r>
                      <a:endParaRPr lang="en-IN" sz="22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nSpc>
                          <a:spcPct val="115000"/>
                        </a:lnSpc>
                        <a:spcAft>
                          <a:spcPts val="1000"/>
                        </a:spcAft>
                      </a:pPr>
                      <a:r>
                        <a:rPr lang="en-IN" sz="2200" kern="1200" dirty="0">
                          <a:solidFill>
                            <a:schemeClr val="tx1"/>
                          </a:solidFill>
                          <a:effectLst/>
                          <a:latin typeface="Arial" panose="020B0604020202020204" pitchFamily="34" charset="0"/>
                          <a:ea typeface="+mn-ea"/>
                          <a:cs typeface="Arial" panose="020B0604020202020204" pitchFamily="34" charset="0"/>
                        </a:rPr>
                        <a:t>PO1, PO2, PO3, PO4, PO5, PO9, PO11</a:t>
                      </a:r>
                    </a:p>
                  </a:txBody>
                  <a:tcPr marL="68580" marR="68580" marT="0" marB="0" anchor="ctr"/>
                </a:tc>
                <a:extLst>
                  <a:ext uri="{0D108BD9-81ED-4DB2-BD59-A6C34878D82A}">
                    <a16:rowId xmlns:a16="http://schemas.microsoft.com/office/drawing/2014/main" val="2313962968"/>
                  </a:ext>
                </a:extLst>
              </a:tr>
              <a:tr h="394616">
                <a:tc>
                  <a:txBody>
                    <a:bodyPr/>
                    <a:lstStyle/>
                    <a:p>
                      <a:pPr algn="ctr">
                        <a:lnSpc>
                          <a:spcPct val="115000"/>
                        </a:lnSpc>
                        <a:spcBef>
                          <a:spcPts val="600"/>
                        </a:spcBef>
                        <a:spcAft>
                          <a:spcPts val="600"/>
                        </a:spcAft>
                      </a:pPr>
                      <a:r>
                        <a:rPr lang="en-IN" sz="2200" dirty="0">
                          <a:effectLst/>
                          <a:latin typeface="Arial" panose="020B0604020202020204" pitchFamily="34" charset="0"/>
                          <a:ea typeface="Calibri" panose="020F0502020204030204" pitchFamily="34" charset="0"/>
                          <a:cs typeface="Arial" panose="020B0604020202020204" pitchFamily="34" charset="0"/>
                        </a:rPr>
                        <a:t>CO4</a:t>
                      </a:r>
                    </a:p>
                  </a:txBody>
                  <a:tcPr marL="66646" marR="66646" marT="0" marB="0" anchor="ctr"/>
                </a:tc>
                <a:tc>
                  <a:txBody>
                    <a:bodyPr/>
                    <a:lstStyle/>
                    <a:p>
                      <a:pPr algn="l">
                        <a:lnSpc>
                          <a:spcPct val="115000"/>
                        </a:lnSpc>
                        <a:spcAft>
                          <a:spcPts val="1000"/>
                        </a:spcAft>
                      </a:pPr>
                      <a:r>
                        <a:rPr lang="en-US" sz="2200" kern="1200" dirty="0">
                          <a:solidFill>
                            <a:schemeClr val="tx1"/>
                          </a:solidFill>
                          <a:effectLst/>
                          <a:latin typeface="Arial" panose="020B0604020202020204" pitchFamily="34" charset="0"/>
                          <a:ea typeface="+mn-ea"/>
                          <a:cs typeface="Arial" panose="020B0604020202020204" pitchFamily="34" charset="0"/>
                        </a:rPr>
                        <a:t>Analyze semi-structured data and choose an appropriate storage structure</a:t>
                      </a:r>
                      <a:endParaRPr lang="en-IN" sz="22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nSpc>
                          <a:spcPct val="115000"/>
                        </a:lnSpc>
                        <a:spcAft>
                          <a:spcPts val="1000"/>
                        </a:spcAft>
                      </a:pPr>
                      <a:r>
                        <a:rPr lang="en-IN" sz="2200" kern="1200" dirty="0">
                          <a:solidFill>
                            <a:schemeClr val="tx1"/>
                          </a:solidFill>
                          <a:effectLst/>
                          <a:latin typeface="Arial" panose="020B0604020202020204" pitchFamily="34" charset="0"/>
                          <a:ea typeface="+mn-ea"/>
                          <a:cs typeface="Arial" panose="020B0604020202020204" pitchFamily="34" charset="0"/>
                        </a:rPr>
                        <a:t>PO1, PO2, PO3, PO4, PO5, PO9, PO11</a:t>
                      </a:r>
                    </a:p>
                  </a:txBody>
                  <a:tcPr marL="68580" marR="68580" marT="0" marB="0" anchor="ctr"/>
                </a:tc>
                <a:extLst>
                  <a:ext uri="{0D108BD9-81ED-4DB2-BD59-A6C34878D82A}">
                    <a16:rowId xmlns:a16="http://schemas.microsoft.com/office/drawing/2014/main" val="3773471263"/>
                  </a:ext>
                </a:extLst>
              </a:tr>
            </a:tbl>
          </a:graphicData>
        </a:graphic>
      </p:graphicFrame>
    </p:spTree>
    <p:extLst>
      <p:ext uri="{BB962C8B-B14F-4D97-AF65-F5344CB8AC3E}">
        <p14:creationId xmlns:p14="http://schemas.microsoft.com/office/powerpoint/2010/main" val="548018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Programme Outcomes (PO) (CSE-All Specialization)</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spcAft>
                <a:spcPts val="1200"/>
              </a:spcAft>
              <a:buNone/>
            </a:pPr>
            <a:r>
              <a:rPr lang="en-IN" sz="2300" kern="100" dirty="0">
                <a:effectLst/>
                <a:latin typeface="Arial" panose="020B0604020202020204" pitchFamily="34" charset="0"/>
                <a:ea typeface="Noto Serif CJK SC"/>
                <a:cs typeface="Arial" panose="020B0604020202020204" pitchFamily="34" charset="0"/>
              </a:rPr>
              <a:t>After successful completion of the program a student is expected to have abilities to:</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PO1. Engineering knowledge:</a:t>
            </a:r>
            <a:r>
              <a:rPr lang="en-IN" sz="2300" kern="100" dirty="0">
                <a:effectLst/>
                <a:latin typeface="Arial" panose="020B0604020202020204" pitchFamily="34" charset="0"/>
                <a:ea typeface="Noto Serif CJK SC"/>
                <a:cs typeface="Arial" panose="020B0604020202020204" pitchFamily="34" charset="0"/>
              </a:rPr>
              <a:t> Apply the knowledge of mathematics, science, engineering fundamentals, and an engineering specialization to the solution of complex engineering problems. </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PO2. Problem analysis:</a:t>
            </a:r>
            <a:r>
              <a:rPr lang="en-IN" sz="2300" kern="100" dirty="0">
                <a:effectLst/>
                <a:latin typeface="Arial" panose="020B0604020202020204" pitchFamily="34" charset="0"/>
                <a:ea typeface="Noto Serif CJK SC"/>
                <a:cs typeface="Arial" panose="020B0604020202020204" pitchFamily="34" charset="0"/>
              </a:rPr>
              <a:t> Identify, formulate, research literature, and analyse complex engineering problems reaching substantiated conclusions using first principles of mathematics, natural sciences, and engineering sciences. </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426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Programme Outcomes (PO) (CSE-All Specialization)</a:t>
            </a:r>
          </a:p>
        </p:txBody>
      </p:sp>
      <p:sp>
        <p:nvSpPr>
          <p:cNvPr id="3" name="Content Placeholder 2"/>
          <p:cNvSpPr>
            <a:spLocks noGrp="1"/>
          </p:cNvSpPr>
          <p:nvPr>
            <p:ph idx="1"/>
          </p:nvPr>
        </p:nvSpPr>
        <p:spPr>
          <a:xfrm>
            <a:off x="838200" y="1690688"/>
            <a:ext cx="10515600" cy="4486275"/>
          </a:xfrm>
        </p:spPr>
        <p:txBody>
          <a:bodyPr>
            <a:noAutofit/>
          </a:bodyPr>
          <a:lstStyle/>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PO3. Design/development of solutions:</a:t>
            </a:r>
            <a:r>
              <a:rPr lang="en-IN" sz="2300" kern="100" dirty="0">
                <a:effectLst/>
                <a:latin typeface="Arial" panose="020B0604020202020204" pitchFamily="34" charset="0"/>
                <a:ea typeface="Noto Serif CJK SC"/>
                <a:cs typeface="Arial" panose="020B0604020202020204" pitchFamily="34" charset="0"/>
              </a:rPr>
              <a:t> Design solutions for complex engineering problems and design system components or processes that meet the specified needs with appropriate consideration for the public health and safety, and the cultural, societal, and environmental considerations.</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PO4. Conduct investigations of complex problems:</a:t>
            </a:r>
            <a:r>
              <a:rPr lang="en-IN" sz="2300" kern="100" dirty="0">
                <a:effectLst/>
                <a:latin typeface="Arial" panose="020B0604020202020204" pitchFamily="34" charset="0"/>
                <a:ea typeface="Noto Serif CJK SC"/>
                <a:cs typeface="Arial" panose="020B0604020202020204" pitchFamily="34" charset="0"/>
              </a:rPr>
              <a:t> Use research-based knowledge and research methods including design of experiments, analysis and interpretation of data, and synthesis of the information to provide valid conclusions. </a:t>
            </a:r>
          </a:p>
          <a:p>
            <a:pPr marL="360363" indent="-360363">
              <a:lnSpc>
                <a:spcPct val="110000"/>
              </a:lnSpc>
              <a:spcBef>
                <a:spcPts val="0"/>
              </a:spcBef>
              <a:spcAft>
                <a:spcPts val="1200"/>
              </a:spcAft>
            </a:pPr>
            <a:endParaRPr lang="en-US" sz="2300" spc="-5"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6802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Programme Outcomes (PO) (CSE-All Specialization)</a:t>
            </a:r>
          </a:p>
        </p:txBody>
      </p:sp>
      <p:sp>
        <p:nvSpPr>
          <p:cNvPr id="3" name="Content Placeholder 2"/>
          <p:cNvSpPr>
            <a:spLocks noGrp="1"/>
          </p:cNvSpPr>
          <p:nvPr>
            <p:ph idx="1"/>
          </p:nvPr>
        </p:nvSpPr>
        <p:spPr>
          <a:xfrm>
            <a:off x="838200" y="1690688"/>
            <a:ext cx="10515600" cy="4486275"/>
          </a:xfrm>
        </p:spPr>
        <p:txBody>
          <a:bodyPr>
            <a:noAutofit/>
          </a:bodyPr>
          <a:lstStyle/>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PO5. Modern tool usage:</a:t>
            </a:r>
            <a:r>
              <a:rPr lang="en-IN" sz="2300" kern="100" dirty="0">
                <a:effectLst/>
                <a:latin typeface="Arial" panose="020B0604020202020204" pitchFamily="34" charset="0"/>
                <a:ea typeface="Noto Serif CJK SC"/>
                <a:cs typeface="Arial" panose="020B0604020202020204" pitchFamily="34" charset="0"/>
              </a:rPr>
              <a:t> Create, select, and apply appropriate techniques, resources, and modern engineering and IT tools including prediction and modelling to complex engineering activities with an understanding of the limitations. </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PO6. The engineer and society:</a:t>
            </a:r>
            <a:r>
              <a:rPr lang="en-IN" sz="2300" kern="100" dirty="0">
                <a:effectLst/>
                <a:latin typeface="Arial" panose="020B0604020202020204" pitchFamily="34" charset="0"/>
                <a:ea typeface="Noto Serif CJK SC"/>
                <a:cs typeface="Arial" panose="020B0604020202020204" pitchFamily="34" charset="0"/>
              </a:rPr>
              <a:t> Apply reasoning informed by the contextual knowledge to assess societal, health, safety, legal and cultural issues, and the consequent responsibilities relevant to the professional engineering practice. </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PO7. Environment and sustainability:</a:t>
            </a:r>
            <a:r>
              <a:rPr lang="en-IN" sz="2300" kern="100" dirty="0">
                <a:effectLst/>
                <a:latin typeface="Arial" panose="020B0604020202020204" pitchFamily="34" charset="0"/>
                <a:ea typeface="Noto Serif CJK SC"/>
                <a:cs typeface="Arial" panose="020B0604020202020204" pitchFamily="34" charset="0"/>
              </a:rPr>
              <a:t> Understand the impact of the professional engineering solutions in societal and environmental contexts, and demonstrate the knowledge of, and need for sustainable development.</a:t>
            </a:r>
            <a:endParaRPr lang="en-US" sz="2300" spc="-5"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3123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Programme Outcomes (PO) (CSE-All Specialization)</a:t>
            </a:r>
          </a:p>
        </p:txBody>
      </p:sp>
      <p:sp>
        <p:nvSpPr>
          <p:cNvPr id="3" name="Content Placeholder 2"/>
          <p:cNvSpPr>
            <a:spLocks noGrp="1"/>
          </p:cNvSpPr>
          <p:nvPr>
            <p:ph idx="1"/>
          </p:nvPr>
        </p:nvSpPr>
        <p:spPr>
          <a:xfrm>
            <a:off x="838200" y="1690688"/>
            <a:ext cx="10515600" cy="4486275"/>
          </a:xfrm>
        </p:spPr>
        <p:txBody>
          <a:bodyPr>
            <a:noAutofit/>
          </a:bodyPr>
          <a:lstStyle/>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PO8.Ethics:</a:t>
            </a:r>
            <a:r>
              <a:rPr lang="en-IN" sz="2300" kern="100" dirty="0">
                <a:effectLst/>
                <a:latin typeface="Arial" panose="020B0604020202020204" pitchFamily="34" charset="0"/>
                <a:ea typeface="Noto Serif CJK SC"/>
                <a:cs typeface="Arial" panose="020B0604020202020204" pitchFamily="34" charset="0"/>
              </a:rPr>
              <a:t> Apply ethical principles and commit to professional ethics and responsibilities and norms of the engineering practice. </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PO9. Individual and teamwork:</a:t>
            </a:r>
            <a:r>
              <a:rPr lang="en-IN" sz="2300" kern="100" dirty="0">
                <a:effectLst/>
                <a:latin typeface="Arial" panose="020B0604020202020204" pitchFamily="34" charset="0"/>
                <a:ea typeface="Noto Serif CJK SC"/>
                <a:cs typeface="Arial" panose="020B0604020202020204" pitchFamily="34" charset="0"/>
              </a:rPr>
              <a:t> Function effectively as an individual, and as a member or leader in diverse teams, and in multidisciplinary settings.</a:t>
            </a:r>
          </a:p>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PO10. Communication:</a:t>
            </a:r>
            <a:r>
              <a:rPr lang="en-IN" sz="2300" kern="100" dirty="0">
                <a:effectLst/>
                <a:latin typeface="Arial" panose="020B0604020202020204" pitchFamily="34" charset="0"/>
                <a:ea typeface="Noto Serif CJK SC"/>
                <a:cs typeface="Arial" panose="020B0604020202020204" pitchFamily="34" charset="0"/>
              </a:rPr>
              <a:t> Communicate effectively on complex engineering activities with the engineering community and with society at large, such as, being able to comprehend and write effective reports and design documentation, make effective presentations, and give and receive clear instructions. </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1267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Programme Outcomes (PO) (CSE-All Specialization)</a:t>
            </a:r>
          </a:p>
        </p:txBody>
      </p:sp>
      <p:sp>
        <p:nvSpPr>
          <p:cNvPr id="3" name="Content Placeholder 2"/>
          <p:cNvSpPr>
            <a:spLocks noGrp="1"/>
          </p:cNvSpPr>
          <p:nvPr>
            <p:ph idx="1"/>
          </p:nvPr>
        </p:nvSpPr>
        <p:spPr>
          <a:xfrm>
            <a:off x="838200" y="1690688"/>
            <a:ext cx="10515600" cy="4486275"/>
          </a:xfrm>
        </p:spPr>
        <p:txBody>
          <a:bodyPr>
            <a:noAutofit/>
          </a:bodyPr>
          <a:lstStyle/>
          <a:p>
            <a:pPr marL="360363" indent="-360363">
              <a:lnSpc>
                <a:spcPct val="110000"/>
              </a:lnSpc>
              <a:spcBef>
                <a:spcPts val="0"/>
              </a:spcBef>
              <a:spcAft>
                <a:spcPts val="1200"/>
              </a:spcAft>
            </a:pPr>
            <a:r>
              <a:rPr lang="en-IN" sz="2300" b="1" kern="100" dirty="0">
                <a:effectLst/>
                <a:latin typeface="Arial" panose="020B0604020202020204" pitchFamily="34" charset="0"/>
                <a:ea typeface="Noto Serif CJK SC"/>
                <a:cs typeface="Arial" panose="020B0604020202020204" pitchFamily="34" charset="0"/>
              </a:rPr>
              <a:t>PO11. Project management and finance:</a:t>
            </a:r>
            <a:r>
              <a:rPr lang="en-IN" sz="2300" kern="100" dirty="0">
                <a:effectLst/>
                <a:latin typeface="Arial" panose="020B0604020202020204" pitchFamily="34" charset="0"/>
                <a:ea typeface="Noto Serif CJK SC"/>
                <a:cs typeface="Arial" panose="020B0604020202020204" pitchFamily="34" charset="0"/>
              </a:rPr>
              <a:t> Demonstrate knowledge and understanding of the engineering and management principles and apply these to one’s own work, as a member and leader in a team, to manage projects and in multidisciplinary environments.</a:t>
            </a:r>
          </a:p>
          <a:p>
            <a:pPr marL="360363" indent="-360363">
              <a:lnSpc>
                <a:spcPct val="110000"/>
              </a:lnSpc>
              <a:spcBef>
                <a:spcPts val="0"/>
              </a:spcBef>
              <a:spcAft>
                <a:spcPts val="1200"/>
              </a:spcAft>
            </a:pPr>
            <a:r>
              <a:rPr lang="en-IN" sz="2300" b="1" dirty="0">
                <a:effectLst/>
                <a:latin typeface="Arial" panose="020B0604020202020204" pitchFamily="34" charset="0"/>
                <a:ea typeface="Noto Serif CJK SC"/>
                <a:cs typeface="Arial" panose="020B0604020202020204" pitchFamily="34" charset="0"/>
              </a:rPr>
              <a:t>PO12. Life-long learning:</a:t>
            </a:r>
            <a:r>
              <a:rPr lang="en-IN" sz="2300" dirty="0">
                <a:effectLst/>
                <a:latin typeface="Arial" panose="020B0604020202020204" pitchFamily="34" charset="0"/>
                <a:ea typeface="Noto Serif CJK SC"/>
                <a:cs typeface="Arial" panose="020B0604020202020204" pitchFamily="34" charset="0"/>
              </a:rPr>
              <a:t> Recognize the need for and have the preparation and ability to engage in independent and life-long learning in the broadest context of technological change.</a:t>
            </a:r>
            <a:endParaRPr lang="en-US" sz="2300" spc="-5"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141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Syllabus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11</a:t>
            </a:fld>
            <a:endParaRPr lang="en-IN"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1912CA0D-8C10-8C0B-40A4-51918471A8A5}"/>
              </a:ext>
            </a:extLst>
          </p:cNvPr>
          <p:cNvGraphicFramePr>
            <a:graphicFrameLocks noGrp="1"/>
          </p:cNvGraphicFramePr>
          <p:nvPr>
            <p:extLst>
              <p:ext uri="{D42A27DB-BD31-4B8C-83A1-F6EECF244321}">
                <p14:modId xmlns:p14="http://schemas.microsoft.com/office/powerpoint/2010/main" val="3655980891"/>
              </p:ext>
            </p:extLst>
          </p:nvPr>
        </p:nvGraphicFramePr>
        <p:xfrm>
          <a:off x="838200" y="1690688"/>
          <a:ext cx="10515601" cy="4197860"/>
        </p:xfrm>
        <a:graphic>
          <a:graphicData uri="http://schemas.openxmlformats.org/drawingml/2006/table">
            <a:tbl>
              <a:tblPr firstRow="1" firstCol="1" bandRow="1">
                <a:tableStyleId>{8799B23B-EC83-4686-B30A-512413B5E67A}</a:tableStyleId>
              </a:tblPr>
              <a:tblGrid>
                <a:gridCol w="1914331">
                  <a:extLst>
                    <a:ext uri="{9D8B030D-6E8A-4147-A177-3AD203B41FA5}">
                      <a16:colId xmlns:a16="http://schemas.microsoft.com/office/drawing/2014/main" val="2762290699"/>
                    </a:ext>
                  </a:extLst>
                </a:gridCol>
                <a:gridCol w="541175">
                  <a:extLst>
                    <a:ext uri="{9D8B030D-6E8A-4147-A177-3AD203B41FA5}">
                      <a16:colId xmlns:a16="http://schemas.microsoft.com/office/drawing/2014/main" val="3859840854"/>
                    </a:ext>
                  </a:extLst>
                </a:gridCol>
                <a:gridCol w="5598367">
                  <a:extLst>
                    <a:ext uri="{9D8B030D-6E8A-4147-A177-3AD203B41FA5}">
                      <a16:colId xmlns:a16="http://schemas.microsoft.com/office/drawing/2014/main" val="1152013096"/>
                    </a:ext>
                  </a:extLst>
                </a:gridCol>
                <a:gridCol w="2461728">
                  <a:extLst>
                    <a:ext uri="{9D8B030D-6E8A-4147-A177-3AD203B41FA5}">
                      <a16:colId xmlns:a16="http://schemas.microsoft.com/office/drawing/2014/main" val="2025257934"/>
                    </a:ext>
                  </a:extLst>
                </a:gridCol>
              </a:tblGrid>
              <a:tr h="185884">
                <a:tc gridSpan="2">
                  <a:txBody>
                    <a:bodyPr/>
                    <a:lstStyle/>
                    <a:p>
                      <a:pPr marL="0" indent="0">
                        <a:lnSpc>
                          <a:spcPct val="110000"/>
                        </a:lnSpc>
                        <a:spcBef>
                          <a:spcPts val="600"/>
                        </a:spcBef>
                        <a:spcAft>
                          <a:spcPts val="600"/>
                        </a:spcAft>
                      </a:pPr>
                      <a:r>
                        <a:rPr lang="en-US" sz="2300" b="0" dirty="0">
                          <a:effectLst/>
                          <a:latin typeface="Arial" panose="020B0604020202020204" pitchFamily="34" charset="0"/>
                          <a:cs typeface="Arial" panose="020B0604020202020204" pitchFamily="34" charset="0"/>
                        </a:rPr>
                        <a:t>Module No. 1</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hMerge="1">
                  <a:txBody>
                    <a:bodyPr/>
                    <a:lstStyle/>
                    <a:p>
                      <a:pPr marL="457200">
                        <a:lnSpc>
                          <a:spcPct val="110000"/>
                        </a:lnSpc>
                        <a:spcBef>
                          <a:spcPts val="0"/>
                        </a:spcBef>
                        <a:spcAft>
                          <a:spcPts val="600"/>
                        </a:spcAft>
                      </a:pP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a:txBody>
                    <a:bodyPr/>
                    <a:lstStyle/>
                    <a:p>
                      <a:pPr>
                        <a:spcBef>
                          <a:spcPts val="600"/>
                        </a:spcBef>
                        <a:spcAft>
                          <a:spcPts val="600"/>
                        </a:spcAft>
                      </a:pPr>
                      <a:r>
                        <a:rPr lang="en-US" sz="2300" b="0" dirty="0">
                          <a:effectLst/>
                          <a:latin typeface="Arial" panose="020B0604020202020204" pitchFamily="34" charset="0"/>
                          <a:cs typeface="Arial" panose="020B0604020202020204" pitchFamily="34" charset="0"/>
                        </a:rPr>
                        <a:t>Introduction To NoSQL Concepts</a:t>
                      </a:r>
                      <a:endParaRPr lang="en-IN" dirty="0"/>
                    </a:p>
                  </a:txBody>
                  <a:tcPr marL="21028" marR="21028" marT="0" marB="0"/>
                </a:tc>
                <a:tc>
                  <a:txBody>
                    <a:bodyPr/>
                    <a:lstStyle/>
                    <a:p>
                      <a:pPr marL="457200">
                        <a:lnSpc>
                          <a:spcPct val="110000"/>
                        </a:lnSpc>
                        <a:spcBef>
                          <a:spcPts val="600"/>
                        </a:spcBef>
                        <a:spcAft>
                          <a:spcPts val="600"/>
                        </a:spcAft>
                      </a:pPr>
                      <a:r>
                        <a:rPr lang="en-US" sz="2300" b="0" dirty="0">
                          <a:effectLst/>
                          <a:latin typeface="Arial" panose="020B0604020202020204" pitchFamily="34" charset="0"/>
                          <a:cs typeface="Arial" panose="020B0604020202020204" pitchFamily="34" charset="0"/>
                        </a:rPr>
                        <a:t>hours: 06 </a:t>
                      </a:r>
                      <a:r>
                        <a:rPr lang="en-US" sz="2300" b="0" dirty="0" err="1">
                          <a:effectLst/>
                          <a:latin typeface="Arial" panose="020B0604020202020204" pitchFamily="34" charset="0"/>
                          <a:cs typeface="Arial" panose="020B0604020202020204" pitchFamily="34" charset="0"/>
                        </a:rPr>
                        <a:t>hrs</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extLst>
                  <a:ext uri="{0D108BD9-81ED-4DB2-BD59-A6C34878D82A}">
                    <a16:rowId xmlns:a16="http://schemas.microsoft.com/office/drawing/2014/main" val="3392760310"/>
                  </a:ext>
                </a:extLst>
              </a:tr>
              <a:tr h="249790">
                <a:tc gridSpan="4">
                  <a:txBody>
                    <a:bodyPr/>
                    <a:lstStyle/>
                    <a:p>
                      <a:pPr marL="69850" algn="just">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Data base revolutions: First generation, second generation, third generation, Managing Transactions and Data Integrity, ACID and BASE for reliable database transactions, Speeding performance by strategic use of RAM, SSD, and disk, Achieving horizontal scalability with database sharding, Brewer’s CAP </a:t>
                      </a:r>
                      <a:r>
                        <a:rPr lang="en-US" sz="2300" b="0">
                          <a:effectLst/>
                          <a:latin typeface="Arial" panose="020B0604020202020204" pitchFamily="34" charset="0"/>
                          <a:cs typeface="Arial" panose="020B0604020202020204" pitchFamily="34" charset="0"/>
                        </a:rPr>
                        <a:t>theorem.</a:t>
                      </a:r>
                    </a:p>
                    <a:p>
                      <a:pPr marL="69850" algn="just">
                        <a:lnSpc>
                          <a:spcPct val="110000"/>
                        </a:lnSpc>
                        <a:spcBef>
                          <a:spcPts val="0"/>
                        </a:spcBef>
                        <a:spcAft>
                          <a:spcPts val="600"/>
                        </a:spcAft>
                      </a:pP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tc hMerge="1">
                  <a:txBody>
                    <a:bodyPr/>
                    <a:lstStyle/>
                    <a:p>
                      <a:endParaRPr lang="en-IN"/>
                    </a:p>
                  </a:txBody>
                  <a:tcPr/>
                </a:tc>
                <a:tc hMerge="1">
                  <a:txBody>
                    <a:bodyPr/>
                    <a:lstStyle/>
                    <a:p>
                      <a:endParaRPr lang="en-IN"/>
                    </a:p>
                  </a:txBody>
                  <a:tcPr/>
                </a:tc>
                <a:tc hMerge="1">
                  <a:txBody>
                    <a:bodyPr/>
                    <a:lstStyle/>
                    <a:p>
                      <a:pPr marL="69850" algn="just">
                        <a:lnSpc>
                          <a:spcPct val="110000"/>
                        </a:lnSpc>
                        <a:spcBef>
                          <a:spcPts val="0"/>
                        </a:spcBef>
                        <a:spcAft>
                          <a:spcPts val="600"/>
                        </a:spcAft>
                      </a:pP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extLst>
                  <a:ext uri="{0D108BD9-81ED-4DB2-BD59-A6C34878D82A}">
                    <a16:rowId xmlns:a16="http://schemas.microsoft.com/office/drawing/2014/main" val="4267582498"/>
                  </a:ext>
                </a:extLst>
              </a:tr>
              <a:tr h="185884">
                <a:tc>
                  <a:txBody>
                    <a:bodyPr/>
                    <a:lstStyle/>
                    <a:p>
                      <a:pPr marL="0" indent="0">
                        <a:lnSpc>
                          <a:spcPct val="110000"/>
                        </a:lnSpc>
                        <a:spcBef>
                          <a:spcPts val="0"/>
                        </a:spcBef>
                        <a:spcAft>
                          <a:spcPts val="600"/>
                        </a:spcAft>
                        <a:tabLst>
                          <a:tab pos="0" algn="l"/>
                        </a:tabLst>
                      </a:pPr>
                      <a:r>
                        <a:rPr lang="en-US" sz="2300" b="0" dirty="0">
                          <a:effectLst/>
                          <a:latin typeface="Arial" panose="020B0604020202020204" pitchFamily="34" charset="0"/>
                          <a:cs typeface="Arial" panose="020B0604020202020204" pitchFamily="34" charset="0"/>
                        </a:rPr>
                        <a:t>Module No. 2</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gridSpan="2">
                  <a:txBody>
                    <a:bodyPr/>
                    <a:lstStyle/>
                    <a:p>
                      <a:pPr marL="45720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NoSQL Data Architecture Patterns</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hMerge="1">
                  <a:txBody>
                    <a:bodyPr/>
                    <a:lstStyle/>
                    <a:p>
                      <a:r>
                        <a:rPr lang="en-US" sz="2300" b="0" dirty="0">
                          <a:effectLst/>
                          <a:latin typeface="Arial" panose="020B0604020202020204" pitchFamily="34" charset="0"/>
                          <a:cs typeface="Arial" panose="020B0604020202020204" pitchFamily="34" charset="0"/>
                        </a:rPr>
                        <a:t>NoSQL Data Architecture Patterns</a:t>
                      </a:r>
                      <a:endParaRPr lang="en-IN" dirty="0"/>
                    </a:p>
                  </a:txBody>
                  <a:tcPr marL="21028" marR="21028" marT="0" marB="0"/>
                </a:tc>
                <a:tc>
                  <a:txBody>
                    <a:bodyPr/>
                    <a:lstStyle/>
                    <a:p>
                      <a:pPr marL="45720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hours: 08 </a:t>
                      </a:r>
                      <a:r>
                        <a:rPr lang="en-US" sz="2300" b="0" dirty="0" err="1">
                          <a:effectLst/>
                          <a:latin typeface="Arial" panose="020B0604020202020204" pitchFamily="34" charset="0"/>
                          <a:cs typeface="Arial" panose="020B0604020202020204" pitchFamily="34" charset="0"/>
                        </a:rPr>
                        <a:t>hrs</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extLst>
                  <a:ext uri="{0D108BD9-81ED-4DB2-BD59-A6C34878D82A}">
                    <a16:rowId xmlns:a16="http://schemas.microsoft.com/office/drawing/2014/main" val="1946197456"/>
                  </a:ext>
                </a:extLst>
              </a:tr>
              <a:tr h="216484">
                <a:tc gridSpan="4">
                  <a:txBody>
                    <a:bodyPr/>
                    <a:lstStyle/>
                    <a:p>
                      <a:pPr marL="6985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NoSQL Data model: Aggregate Models, NoSQL system ways to handle big data problems, Moving Queries to data, not data to the query, hash rings to distribute the data on clusters, replication to scale reads, Database distributed queries to data nodes.</a:t>
                      </a: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tc hMerge="1">
                  <a:txBody>
                    <a:bodyPr/>
                    <a:lstStyle/>
                    <a:p>
                      <a:endParaRPr lang="en-IN"/>
                    </a:p>
                  </a:txBody>
                  <a:tcPr/>
                </a:tc>
                <a:tc hMerge="1">
                  <a:txBody>
                    <a:bodyPr/>
                    <a:lstStyle/>
                    <a:p>
                      <a:endParaRPr lang="en-IN"/>
                    </a:p>
                  </a:txBody>
                  <a:tcPr/>
                </a:tc>
                <a:tc hMerge="1">
                  <a:txBody>
                    <a:bodyPr/>
                    <a:lstStyle/>
                    <a:p>
                      <a:pPr marL="69850">
                        <a:lnSpc>
                          <a:spcPct val="110000"/>
                        </a:lnSpc>
                        <a:spcBef>
                          <a:spcPts val="0"/>
                        </a:spcBef>
                        <a:spcAft>
                          <a:spcPts val="600"/>
                        </a:spcAft>
                      </a:pPr>
                      <a:endParaRPr lang="en-IN" sz="2300" b="0">
                        <a:effectLst/>
                        <a:latin typeface="Arial" panose="020B0604020202020204" pitchFamily="34" charset="0"/>
                        <a:ea typeface="Liberation Serif"/>
                        <a:cs typeface="Arial" panose="020B0604020202020204" pitchFamily="34" charset="0"/>
                      </a:endParaRPr>
                    </a:p>
                  </a:txBody>
                  <a:tcPr marL="21028" marR="21028" marT="0" marB="0"/>
                </a:tc>
                <a:extLst>
                  <a:ext uri="{0D108BD9-81ED-4DB2-BD59-A6C34878D82A}">
                    <a16:rowId xmlns:a16="http://schemas.microsoft.com/office/drawing/2014/main" val="3364736332"/>
                  </a:ext>
                </a:extLst>
              </a:tr>
            </a:tbl>
          </a:graphicData>
        </a:graphic>
      </p:graphicFrame>
    </p:spTree>
    <p:extLst>
      <p:ext uri="{BB962C8B-B14F-4D97-AF65-F5344CB8AC3E}">
        <p14:creationId xmlns:p14="http://schemas.microsoft.com/office/powerpoint/2010/main" val="311702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Syllabus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12</a:t>
            </a:fld>
            <a:endParaRPr lang="en-IN"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1912CA0D-8C10-8C0B-40A4-51918471A8A5}"/>
              </a:ext>
            </a:extLst>
          </p:cNvPr>
          <p:cNvGraphicFramePr>
            <a:graphicFrameLocks noGrp="1"/>
          </p:cNvGraphicFramePr>
          <p:nvPr>
            <p:extLst>
              <p:ext uri="{D42A27DB-BD31-4B8C-83A1-F6EECF244321}">
                <p14:modId xmlns:p14="http://schemas.microsoft.com/office/powerpoint/2010/main" val="4182413797"/>
              </p:ext>
            </p:extLst>
          </p:nvPr>
        </p:nvGraphicFramePr>
        <p:xfrm>
          <a:off x="838200" y="1690688"/>
          <a:ext cx="10515601" cy="4583432"/>
        </p:xfrm>
        <a:graphic>
          <a:graphicData uri="http://schemas.openxmlformats.org/drawingml/2006/table">
            <a:tbl>
              <a:tblPr firstRow="1" firstCol="1" bandRow="1">
                <a:tableStyleId>{8799B23B-EC83-4686-B30A-512413B5E67A}</a:tableStyleId>
              </a:tblPr>
              <a:tblGrid>
                <a:gridCol w="2324878">
                  <a:extLst>
                    <a:ext uri="{9D8B030D-6E8A-4147-A177-3AD203B41FA5}">
                      <a16:colId xmlns:a16="http://schemas.microsoft.com/office/drawing/2014/main" val="2762290699"/>
                    </a:ext>
                  </a:extLst>
                </a:gridCol>
                <a:gridCol w="5728995">
                  <a:extLst>
                    <a:ext uri="{9D8B030D-6E8A-4147-A177-3AD203B41FA5}">
                      <a16:colId xmlns:a16="http://schemas.microsoft.com/office/drawing/2014/main" val="1964070220"/>
                    </a:ext>
                  </a:extLst>
                </a:gridCol>
                <a:gridCol w="2461728">
                  <a:extLst>
                    <a:ext uri="{9D8B030D-6E8A-4147-A177-3AD203B41FA5}">
                      <a16:colId xmlns:a16="http://schemas.microsoft.com/office/drawing/2014/main" val="2025257934"/>
                    </a:ext>
                  </a:extLst>
                </a:gridCol>
              </a:tblGrid>
              <a:tr h="185884">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Module No. 3</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a:txBody>
                    <a:bodyPr/>
                    <a:lstStyle/>
                    <a:p>
                      <a:r>
                        <a:rPr lang="en-US" sz="2300" b="0" dirty="0">
                          <a:effectLst/>
                          <a:latin typeface="Arial" panose="020B0604020202020204" pitchFamily="34" charset="0"/>
                          <a:cs typeface="Arial" panose="020B0604020202020204" pitchFamily="34" charset="0"/>
                        </a:rPr>
                        <a:t>Key –Value Data Stores</a:t>
                      </a:r>
                      <a:endParaRPr lang="en-IN" dirty="0"/>
                    </a:p>
                  </a:txBody>
                  <a:tcPr marL="21028" marR="21028" marT="0" marB="0"/>
                </a:tc>
                <a:tc>
                  <a:txBody>
                    <a:bodyPr/>
                    <a:lstStyle/>
                    <a:p>
                      <a:pPr marL="45720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hours: 08 </a:t>
                      </a:r>
                      <a:r>
                        <a:rPr lang="en-US" sz="2300" b="0" dirty="0" err="1">
                          <a:effectLst/>
                          <a:latin typeface="Arial" panose="020B0604020202020204" pitchFamily="34" charset="0"/>
                          <a:cs typeface="Arial" panose="020B0604020202020204" pitchFamily="34" charset="0"/>
                        </a:rPr>
                        <a:t>hrs</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extLst>
                  <a:ext uri="{0D108BD9-81ED-4DB2-BD59-A6C34878D82A}">
                    <a16:rowId xmlns:a16="http://schemas.microsoft.com/office/drawing/2014/main" val="3948064852"/>
                  </a:ext>
                </a:extLst>
              </a:tr>
              <a:tr h="270606">
                <a:tc gridSpan="3">
                  <a:txBody>
                    <a:bodyPr/>
                    <a:lstStyle/>
                    <a:p>
                      <a:pPr marL="6985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From array to key –value databases, Essential features of key – value Databases, Properties of keys, Characteristics of Values, Key-Value Database Data Modeling Terms, Key-Value Architecture and implementation Terms, Limitations of Key- Value Databases, Case Study: Key-Value Databases for Mobile Application Configuration.</a:t>
                      </a:r>
                    </a:p>
                    <a:p>
                      <a:pPr marL="69850">
                        <a:lnSpc>
                          <a:spcPct val="110000"/>
                        </a:lnSpc>
                        <a:spcBef>
                          <a:spcPts val="0"/>
                        </a:spcBef>
                        <a:spcAft>
                          <a:spcPts val="600"/>
                        </a:spcAft>
                      </a:pP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tc hMerge="1">
                  <a:txBody>
                    <a:bodyPr/>
                    <a:lstStyle/>
                    <a:p>
                      <a:endParaRPr lang="en-IN"/>
                    </a:p>
                  </a:txBody>
                  <a:tcPr/>
                </a:tc>
                <a:tc hMerge="1">
                  <a:txBody>
                    <a:bodyPr/>
                    <a:lstStyle/>
                    <a:p>
                      <a:pPr marL="69850">
                        <a:lnSpc>
                          <a:spcPct val="110000"/>
                        </a:lnSpc>
                        <a:spcBef>
                          <a:spcPts val="0"/>
                        </a:spcBef>
                        <a:spcAft>
                          <a:spcPts val="600"/>
                        </a:spcAft>
                      </a:pPr>
                      <a:endParaRPr lang="en-IN" sz="2300" b="0">
                        <a:effectLst/>
                        <a:latin typeface="Arial" panose="020B0604020202020204" pitchFamily="34" charset="0"/>
                        <a:ea typeface="Liberation Serif"/>
                        <a:cs typeface="Arial" panose="020B0604020202020204" pitchFamily="34" charset="0"/>
                      </a:endParaRPr>
                    </a:p>
                  </a:txBody>
                  <a:tcPr marL="21028" marR="21028" marT="0" marB="0"/>
                </a:tc>
                <a:extLst>
                  <a:ext uri="{0D108BD9-81ED-4DB2-BD59-A6C34878D82A}">
                    <a16:rowId xmlns:a16="http://schemas.microsoft.com/office/drawing/2014/main" val="3828202417"/>
                  </a:ext>
                </a:extLst>
              </a:tr>
              <a:tr h="185884">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Module No. 4</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a:txBody>
                    <a:bodyPr/>
                    <a:lstStyle/>
                    <a:p>
                      <a:r>
                        <a:rPr lang="en-US" sz="2300" b="0" dirty="0">
                          <a:effectLst/>
                          <a:latin typeface="Arial" panose="020B0604020202020204" pitchFamily="34" charset="0"/>
                          <a:cs typeface="Arial" panose="020B0604020202020204" pitchFamily="34" charset="0"/>
                        </a:rPr>
                        <a:t>Document Oriented Database</a:t>
                      </a:r>
                      <a:endParaRPr lang="en-IN" dirty="0"/>
                    </a:p>
                  </a:txBody>
                  <a:tcPr marL="21028" marR="21028" marT="0" marB="0"/>
                </a:tc>
                <a:tc>
                  <a:txBody>
                    <a:bodyPr/>
                    <a:lstStyle/>
                    <a:p>
                      <a:pPr marL="45720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hours: 07 </a:t>
                      </a:r>
                      <a:r>
                        <a:rPr lang="en-US" sz="2300" b="0" dirty="0" err="1">
                          <a:effectLst/>
                          <a:latin typeface="Arial" panose="020B0604020202020204" pitchFamily="34" charset="0"/>
                          <a:cs typeface="Arial" panose="020B0604020202020204" pitchFamily="34" charset="0"/>
                        </a:rPr>
                        <a:t>hrs</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extLst>
                  <a:ext uri="{0D108BD9-81ED-4DB2-BD59-A6C34878D82A}">
                    <a16:rowId xmlns:a16="http://schemas.microsoft.com/office/drawing/2014/main" val="760789982"/>
                  </a:ext>
                </a:extLst>
              </a:tr>
              <a:tr h="199832">
                <a:tc gridSpan="3">
                  <a:txBody>
                    <a:bodyPr/>
                    <a:lstStyle/>
                    <a:p>
                      <a:pPr marL="6985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Document, Collection, Naming, CRUD operation, querying, indexing, Replication, </a:t>
                      </a:r>
                      <a:r>
                        <a:rPr lang="en-US" sz="2300" b="0" dirty="0" err="1">
                          <a:effectLst/>
                          <a:latin typeface="Arial" panose="020B0604020202020204" pitchFamily="34" charset="0"/>
                          <a:cs typeface="Arial" panose="020B0604020202020204" pitchFamily="34" charset="0"/>
                        </a:rPr>
                        <a:t>Sharding</a:t>
                      </a:r>
                      <a:r>
                        <a:rPr lang="en-US" sz="2300" b="0" dirty="0">
                          <a:effectLst/>
                          <a:latin typeface="Arial" panose="020B0604020202020204" pitchFamily="34" charset="0"/>
                          <a:cs typeface="Arial" panose="020B0604020202020204" pitchFamily="34" charset="0"/>
                        </a:rPr>
                        <a:t>, Consistency Implementation: Distributed consistency, Eventual Consistency, Capped Collection, Case studies: document oriented database: MongoDB and/or Cassandra</a:t>
                      </a: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tc hMerge="1">
                  <a:txBody>
                    <a:bodyPr/>
                    <a:lstStyle/>
                    <a:p>
                      <a:endParaRPr lang="en-IN"/>
                    </a:p>
                  </a:txBody>
                  <a:tcPr/>
                </a:tc>
                <a:tc hMerge="1">
                  <a:txBody>
                    <a:bodyPr/>
                    <a:lstStyle/>
                    <a:p>
                      <a:pPr marL="69850">
                        <a:lnSpc>
                          <a:spcPct val="110000"/>
                        </a:lnSpc>
                        <a:spcBef>
                          <a:spcPts val="0"/>
                        </a:spcBef>
                        <a:spcAft>
                          <a:spcPts val="600"/>
                        </a:spcAft>
                      </a:pPr>
                      <a:endParaRPr lang="en-IN" sz="2300" b="0">
                        <a:effectLst/>
                        <a:latin typeface="Arial" panose="020B0604020202020204" pitchFamily="34" charset="0"/>
                        <a:ea typeface="Liberation Serif"/>
                        <a:cs typeface="Arial" panose="020B0604020202020204" pitchFamily="34" charset="0"/>
                      </a:endParaRPr>
                    </a:p>
                  </a:txBody>
                  <a:tcPr marL="21028" marR="21028" marT="0" marB="0"/>
                </a:tc>
                <a:extLst>
                  <a:ext uri="{0D108BD9-81ED-4DB2-BD59-A6C34878D82A}">
                    <a16:rowId xmlns:a16="http://schemas.microsoft.com/office/drawing/2014/main" val="824004292"/>
                  </a:ext>
                </a:extLst>
              </a:tr>
            </a:tbl>
          </a:graphicData>
        </a:graphic>
      </p:graphicFrame>
    </p:spTree>
    <p:extLst>
      <p:ext uri="{BB962C8B-B14F-4D97-AF65-F5344CB8AC3E}">
        <p14:creationId xmlns:p14="http://schemas.microsoft.com/office/powerpoint/2010/main" val="2476207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Syllabus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13</a:t>
            </a:fld>
            <a:endParaRPr lang="en-IN"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1912CA0D-8C10-8C0B-40A4-51918471A8A5}"/>
              </a:ext>
            </a:extLst>
          </p:cNvPr>
          <p:cNvGraphicFramePr>
            <a:graphicFrameLocks noGrp="1"/>
          </p:cNvGraphicFramePr>
          <p:nvPr>
            <p:extLst>
              <p:ext uri="{D42A27DB-BD31-4B8C-83A1-F6EECF244321}">
                <p14:modId xmlns:p14="http://schemas.microsoft.com/office/powerpoint/2010/main" val="3878328547"/>
              </p:ext>
            </p:extLst>
          </p:nvPr>
        </p:nvGraphicFramePr>
        <p:xfrm>
          <a:off x="838200" y="1387346"/>
          <a:ext cx="10515602" cy="4969004"/>
        </p:xfrm>
        <a:graphic>
          <a:graphicData uri="http://schemas.openxmlformats.org/drawingml/2006/table">
            <a:tbl>
              <a:tblPr firstRow="1" firstCol="1" bandRow="1">
                <a:tableStyleId>{8799B23B-EC83-4686-B30A-512413B5E67A}</a:tableStyleId>
              </a:tblPr>
              <a:tblGrid>
                <a:gridCol w="2399523">
                  <a:extLst>
                    <a:ext uri="{9D8B030D-6E8A-4147-A177-3AD203B41FA5}">
                      <a16:colId xmlns:a16="http://schemas.microsoft.com/office/drawing/2014/main" val="2762290699"/>
                    </a:ext>
                  </a:extLst>
                </a:gridCol>
                <a:gridCol w="5019869">
                  <a:extLst>
                    <a:ext uri="{9D8B030D-6E8A-4147-A177-3AD203B41FA5}">
                      <a16:colId xmlns:a16="http://schemas.microsoft.com/office/drawing/2014/main" val="4222338539"/>
                    </a:ext>
                  </a:extLst>
                </a:gridCol>
                <a:gridCol w="3096210">
                  <a:extLst>
                    <a:ext uri="{9D8B030D-6E8A-4147-A177-3AD203B41FA5}">
                      <a16:colId xmlns:a16="http://schemas.microsoft.com/office/drawing/2014/main" val="3021421768"/>
                    </a:ext>
                  </a:extLst>
                </a:gridCol>
              </a:tblGrid>
              <a:tr h="185884">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Module No. 5</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a:txBody>
                    <a:bodyPr/>
                    <a:lstStyle/>
                    <a:p>
                      <a:r>
                        <a:rPr lang="en-US" sz="2300" b="0" dirty="0">
                          <a:effectLst/>
                          <a:latin typeface="Arial" panose="020B0604020202020204" pitchFamily="34" charset="0"/>
                          <a:cs typeface="Arial" panose="020B0604020202020204" pitchFamily="34" charset="0"/>
                        </a:rPr>
                        <a:t>Columnar Data Model</a:t>
                      </a:r>
                      <a:endParaRPr lang="en-IN" dirty="0"/>
                    </a:p>
                  </a:txBody>
                  <a:tcPr marL="21028" marR="21028" marT="0" marB="0"/>
                </a:tc>
                <a:tc>
                  <a:txBody>
                    <a:bodyPr/>
                    <a:lstStyle/>
                    <a:p>
                      <a:r>
                        <a:rPr lang="en-US" sz="2300" b="0" dirty="0">
                          <a:effectLst/>
                          <a:latin typeface="Arial" panose="020B0604020202020204" pitchFamily="34" charset="0"/>
                          <a:cs typeface="Arial" panose="020B0604020202020204" pitchFamily="34" charset="0"/>
                        </a:rPr>
                        <a:t>hours: 08 </a:t>
                      </a:r>
                      <a:r>
                        <a:rPr lang="en-US" sz="2300" b="0" dirty="0" err="1">
                          <a:effectLst/>
                          <a:latin typeface="Arial" panose="020B0604020202020204" pitchFamily="34" charset="0"/>
                          <a:cs typeface="Arial" panose="020B0604020202020204" pitchFamily="34" charset="0"/>
                        </a:rPr>
                        <a:t>hrs</a:t>
                      </a:r>
                      <a:endParaRPr lang="en-IN" dirty="0"/>
                    </a:p>
                  </a:txBody>
                  <a:tcPr marL="21028" marR="21028" marT="0" marB="0"/>
                </a:tc>
                <a:extLst>
                  <a:ext uri="{0D108BD9-81ED-4DB2-BD59-A6C34878D82A}">
                    <a16:rowId xmlns:a16="http://schemas.microsoft.com/office/drawing/2014/main" val="693716266"/>
                  </a:ext>
                </a:extLst>
              </a:tr>
              <a:tr h="249790">
                <a:tc gridSpan="3">
                  <a:txBody>
                    <a:bodyPr/>
                    <a:lstStyle/>
                    <a:p>
                      <a:pPr marL="6985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Data warehousing schemas: Comparison of columnar and row-oriented storage, Column-store Architectures: C-Store and Vector-Wise, Column-store internals and, Inserts/updates/deletes, Indexing.  Advanced techniques: Vectorized Processing, Compression, Write penalty, Joins, Group-by, Aggregation and Arithmetic Operations, Case Studies</a:t>
                      </a:r>
                    </a:p>
                    <a:p>
                      <a:pPr marL="69850">
                        <a:lnSpc>
                          <a:spcPct val="110000"/>
                        </a:lnSpc>
                        <a:spcBef>
                          <a:spcPts val="0"/>
                        </a:spcBef>
                        <a:spcAft>
                          <a:spcPts val="600"/>
                        </a:spcAft>
                      </a:pP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27993526"/>
                  </a:ext>
                </a:extLst>
              </a:tr>
              <a:tr h="185884">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Module No. 6</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Data Modeling with Graph</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tc>
                  <a:txBody>
                    <a:bodyPr/>
                    <a:lstStyle/>
                    <a:p>
                      <a:pPr marL="45720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hours: 08 </a:t>
                      </a:r>
                      <a:r>
                        <a:rPr lang="en-US" sz="2300" b="0" dirty="0" err="1">
                          <a:effectLst/>
                          <a:latin typeface="Arial" panose="020B0604020202020204" pitchFamily="34" charset="0"/>
                          <a:cs typeface="Arial" panose="020B0604020202020204" pitchFamily="34" charset="0"/>
                        </a:rPr>
                        <a:t>hrs</a:t>
                      </a:r>
                      <a:endParaRPr lang="en-IN" sz="2300" b="0" dirty="0">
                        <a:effectLst/>
                        <a:latin typeface="Arial" panose="020B0604020202020204" pitchFamily="34" charset="0"/>
                        <a:ea typeface="Calibri" panose="020F0502020204030204" pitchFamily="34" charset="0"/>
                        <a:cs typeface="Arial" panose="020B0604020202020204" pitchFamily="34" charset="0"/>
                      </a:endParaRPr>
                    </a:p>
                  </a:txBody>
                  <a:tcPr marL="21028" marR="21028" marT="0" marB="0"/>
                </a:tc>
                <a:extLst>
                  <a:ext uri="{0D108BD9-81ED-4DB2-BD59-A6C34878D82A}">
                    <a16:rowId xmlns:a16="http://schemas.microsoft.com/office/drawing/2014/main" val="1802400238"/>
                  </a:ext>
                </a:extLst>
              </a:tr>
              <a:tr h="270606">
                <a:tc gridSpan="3">
                  <a:txBody>
                    <a:bodyPr/>
                    <a:lstStyle/>
                    <a:p>
                      <a:pPr marL="69850" algn="just">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Comparison of Relational and Graph Modeling, Property Graph Model Graph Analytics: Link analysis algorithm- Web as a graph, PageRank- Page rank computation, Topic specific page rank (Page Ranking Computation techniques: iterative processing, Random walk distribution) Querying Graphs: Introduction to Cypher, case study: Building a Graph Database Application.</a:t>
                      </a: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74164347"/>
                  </a:ext>
                </a:extLst>
              </a:tr>
            </a:tbl>
          </a:graphicData>
        </a:graphic>
      </p:graphicFrame>
    </p:spTree>
    <p:extLst>
      <p:ext uri="{BB962C8B-B14F-4D97-AF65-F5344CB8AC3E}">
        <p14:creationId xmlns:p14="http://schemas.microsoft.com/office/powerpoint/2010/main" val="2060218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Syllabus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14</a:t>
            </a:fld>
            <a:endParaRPr lang="en-IN"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1912CA0D-8C10-8C0B-40A4-51918471A8A5}"/>
              </a:ext>
            </a:extLst>
          </p:cNvPr>
          <p:cNvGraphicFramePr>
            <a:graphicFrameLocks noGrp="1"/>
          </p:cNvGraphicFramePr>
          <p:nvPr>
            <p:extLst>
              <p:ext uri="{D42A27DB-BD31-4B8C-83A1-F6EECF244321}">
                <p14:modId xmlns:p14="http://schemas.microsoft.com/office/powerpoint/2010/main" val="490098647"/>
              </p:ext>
            </p:extLst>
          </p:nvPr>
        </p:nvGraphicFramePr>
        <p:xfrm>
          <a:off x="838200" y="1690688"/>
          <a:ext cx="10515602" cy="3176080"/>
        </p:xfrm>
        <a:graphic>
          <a:graphicData uri="http://schemas.openxmlformats.org/drawingml/2006/table">
            <a:tbl>
              <a:tblPr firstRow="1" firstCol="1" bandRow="1">
                <a:tableStyleId>{2D5ABB26-0587-4C30-8999-92F81FD0307C}</a:tableStyleId>
              </a:tblPr>
              <a:tblGrid>
                <a:gridCol w="10515602">
                  <a:extLst>
                    <a:ext uri="{9D8B030D-6E8A-4147-A177-3AD203B41FA5}">
                      <a16:colId xmlns:a16="http://schemas.microsoft.com/office/drawing/2014/main" val="2762290699"/>
                    </a:ext>
                  </a:extLst>
                </a:gridCol>
              </a:tblGrid>
              <a:tr h="185884">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Text Books:</a:t>
                      </a:r>
                    </a:p>
                    <a:p>
                      <a:pPr marL="0" indent="0">
                        <a:lnSpc>
                          <a:spcPct val="110000"/>
                        </a:lnSpc>
                        <a:spcBef>
                          <a:spcPts val="0"/>
                        </a:spcBef>
                        <a:spcAft>
                          <a:spcPts val="600"/>
                        </a:spcAft>
                      </a:pPr>
                      <a:endParaRPr lang="en-IN" dirty="0">
                        <a:latin typeface="Arial" panose="020B0604020202020204" pitchFamily="34" charset="0"/>
                        <a:cs typeface="Arial" panose="020B0604020202020204" pitchFamily="34" charset="0"/>
                      </a:endParaRPr>
                    </a:p>
                  </a:txBody>
                  <a:tcPr marL="21028" marR="21028" marT="0" marB="0"/>
                </a:tc>
                <a:extLst>
                  <a:ext uri="{0D108BD9-81ED-4DB2-BD59-A6C34878D82A}">
                    <a16:rowId xmlns:a16="http://schemas.microsoft.com/office/drawing/2014/main" val="693716266"/>
                  </a:ext>
                </a:extLst>
              </a:tr>
              <a:tr h="249790">
                <a:tc>
                  <a:txBody>
                    <a:bodyPr/>
                    <a:lstStyle/>
                    <a:p>
                      <a:pPr marL="527050" indent="-457200" algn="l">
                        <a:lnSpc>
                          <a:spcPct val="110000"/>
                        </a:lnSpc>
                        <a:spcBef>
                          <a:spcPts val="0"/>
                        </a:spcBef>
                        <a:spcAft>
                          <a:spcPts val="600"/>
                        </a:spcAft>
                        <a:buFont typeface="+mj-lt"/>
                        <a:buAutoNum type="arabicPeriod"/>
                      </a:pPr>
                      <a:r>
                        <a:rPr lang="en-US" sz="2300" b="0" dirty="0">
                          <a:effectLst/>
                          <a:latin typeface="Arial" panose="020B0604020202020204" pitchFamily="34" charset="0"/>
                          <a:cs typeface="Arial" panose="020B0604020202020204" pitchFamily="34" charset="0"/>
                        </a:rPr>
                        <a:t>Guy Harrison, “Next Generation database: NoSQL and Big data”, A Press, 2016 </a:t>
                      </a:r>
                    </a:p>
                    <a:p>
                      <a:pPr marL="527050" indent="-457200" algn="l">
                        <a:lnSpc>
                          <a:spcPct val="110000"/>
                        </a:lnSpc>
                        <a:spcBef>
                          <a:spcPts val="0"/>
                        </a:spcBef>
                        <a:spcAft>
                          <a:spcPts val="600"/>
                        </a:spcAft>
                        <a:buFont typeface="+mj-lt"/>
                        <a:buAutoNum type="arabicPeriod"/>
                      </a:pPr>
                      <a:r>
                        <a:rPr lang="en-US" sz="2300" b="0" dirty="0">
                          <a:effectLst/>
                          <a:latin typeface="Arial" panose="020B0604020202020204" pitchFamily="34" charset="0"/>
                          <a:cs typeface="Arial" panose="020B0604020202020204" pitchFamily="34" charset="0"/>
                        </a:rPr>
                        <a:t>Sullivan, Dan. "NoSQL for mere mortals.", Addison-Wesley Professional, 2015.</a:t>
                      </a:r>
                    </a:p>
                    <a:p>
                      <a:pPr marL="527050" indent="-457200" algn="l">
                        <a:lnSpc>
                          <a:spcPct val="110000"/>
                        </a:lnSpc>
                        <a:spcBef>
                          <a:spcPts val="0"/>
                        </a:spcBef>
                        <a:spcAft>
                          <a:spcPts val="600"/>
                        </a:spcAft>
                        <a:buFont typeface="+mj-lt"/>
                        <a:buAutoNum type="arabicPeriod"/>
                      </a:pPr>
                      <a:r>
                        <a:rPr lang="en-US" sz="2300" b="0" dirty="0">
                          <a:effectLst/>
                          <a:latin typeface="Arial" panose="020B0604020202020204" pitchFamily="34" charset="0"/>
                          <a:cs typeface="Arial" panose="020B0604020202020204" pitchFamily="34" charset="0"/>
                        </a:rPr>
                        <a:t>Dan McCreary and Ann Kelly. "Making sense of NoSQL." Shelter Island: Manning, 2014.</a:t>
                      </a: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extLst>
                  <a:ext uri="{0D108BD9-81ED-4DB2-BD59-A6C34878D82A}">
                    <a16:rowId xmlns:a16="http://schemas.microsoft.com/office/drawing/2014/main" val="527993526"/>
                  </a:ext>
                </a:extLst>
              </a:tr>
            </a:tbl>
          </a:graphicData>
        </a:graphic>
      </p:graphicFrame>
    </p:spTree>
    <p:extLst>
      <p:ext uri="{BB962C8B-B14F-4D97-AF65-F5344CB8AC3E}">
        <p14:creationId xmlns:p14="http://schemas.microsoft.com/office/powerpoint/2010/main" val="2324457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Syllabus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15</a:t>
            </a:fld>
            <a:endParaRPr lang="en-IN"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1912CA0D-8C10-8C0B-40A4-51918471A8A5}"/>
              </a:ext>
            </a:extLst>
          </p:cNvPr>
          <p:cNvGraphicFramePr>
            <a:graphicFrameLocks noGrp="1"/>
          </p:cNvGraphicFramePr>
          <p:nvPr>
            <p:extLst>
              <p:ext uri="{D42A27DB-BD31-4B8C-83A1-F6EECF244321}">
                <p14:modId xmlns:p14="http://schemas.microsoft.com/office/powerpoint/2010/main" val="1688703958"/>
              </p:ext>
            </p:extLst>
          </p:nvPr>
        </p:nvGraphicFramePr>
        <p:xfrm>
          <a:off x="838200" y="1690688"/>
          <a:ext cx="10515602" cy="3561652"/>
        </p:xfrm>
        <a:graphic>
          <a:graphicData uri="http://schemas.openxmlformats.org/drawingml/2006/table">
            <a:tbl>
              <a:tblPr firstRow="1" firstCol="1" bandRow="1">
                <a:tableStyleId>{2D5ABB26-0587-4C30-8999-92F81FD0307C}</a:tableStyleId>
              </a:tblPr>
              <a:tblGrid>
                <a:gridCol w="10515602">
                  <a:extLst>
                    <a:ext uri="{9D8B030D-6E8A-4147-A177-3AD203B41FA5}">
                      <a16:colId xmlns:a16="http://schemas.microsoft.com/office/drawing/2014/main" val="2762290699"/>
                    </a:ext>
                  </a:extLst>
                </a:gridCol>
              </a:tblGrid>
              <a:tr h="185884">
                <a:tc>
                  <a:txBody>
                    <a:bodyPr/>
                    <a:lstStyle/>
                    <a:p>
                      <a:pPr marL="0" indent="0">
                        <a:lnSpc>
                          <a:spcPct val="110000"/>
                        </a:lnSpc>
                        <a:spcBef>
                          <a:spcPts val="0"/>
                        </a:spcBef>
                        <a:spcAft>
                          <a:spcPts val="600"/>
                        </a:spcAft>
                      </a:pPr>
                      <a:r>
                        <a:rPr lang="en-US" sz="2300" b="0" dirty="0">
                          <a:effectLst/>
                          <a:latin typeface="Arial" panose="020B0604020202020204" pitchFamily="34" charset="0"/>
                          <a:cs typeface="Arial" panose="020B0604020202020204" pitchFamily="34" charset="0"/>
                        </a:rPr>
                        <a:t>Reference Books:</a:t>
                      </a:r>
                    </a:p>
                    <a:p>
                      <a:pPr marL="0" indent="0">
                        <a:lnSpc>
                          <a:spcPct val="110000"/>
                        </a:lnSpc>
                        <a:spcBef>
                          <a:spcPts val="0"/>
                        </a:spcBef>
                        <a:spcAft>
                          <a:spcPts val="600"/>
                        </a:spcAft>
                      </a:pPr>
                      <a:endParaRPr lang="en-IN" dirty="0">
                        <a:latin typeface="Arial" panose="020B0604020202020204" pitchFamily="34" charset="0"/>
                        <a:cs typeface="Arial" panose="020B0604020202020204" pitchFamily="34" charset="0"/>
                      </a:endParaRPr>
                    </a:p>
                  </a:txBody>
                  <a:tcPr marL="21028" marR="21028" marT="0" marB="0"/>
                </a:tc>
                <a:extLst>
                  <a:ext uri="{0D108BD9-81ED-4DB2-BD59-A6C34878D82A}">
                    <a16:rowId xmlns:a16="http://schemas.microsoft.com/office/drawing/2014/main" val="693716266"/>
                  </a:ext>
                </a:extLst>
              </a:tr>
              <a:tr h="249790">
                <a:tc>
                  <a:txBody>
                    <a:bodyPr/>
                    <a:lstStyle/>
                    <a:p>
                      <a:pPr marL="527050" indent="-457200" algn="l">
                        <a:lnSpc>
                          <a:spcPct val="110000"/>
                        </a:lnSpc>
                        <a:spcBef>
                          <a:spcPts val="0"/>
                        </a:spcBef>
                        <a:spcAft>
                          <a:spcPts val="600"/>
                        </a:spcAft>
                        <a:buFont typeface="+mj-lt"/>
                        <a:buAutoNum type="arabicPeriod"/>
                      </a:pPr>
                      <a:r>
                        <a:rPr lang="en-US" sz="2300" b="0" dirty="0">
                          <a:effectLst/>
                          <a:latin typeface="Arial" panose="020B0604020202020204" pitchFamily="34" charset="0"/>
                          <a:cs typeface="Arial" panose="020B0604020202020204" pitchFamily="34" charset="0"/>
                        </a:rPr>
                        <a:t>Daniel Abadi, Peter </a:t>
                      </a:r>
                      <a:r>
                        <a:rPr lang="en-US" sz="2300" b="0" dirty="0" err="1">
                          <a:effectLst/>
                          <a:latin typeface="Arial" panose="020B0604020202020204" pitchFamily="34" charset="0"/>
                          <a:cs typeface="Arial" panose="020B0604020202020204" pitchFamily="34" charset="0"/>
                        </a:rPr>
                        <a:t>Boncz</a:t>
                      </a:r>
                      <a:r>
                        <a:rPr lang="en-US" sz="2300" b="0" dirty="0">
                          <a:effectLst/>
                          <a:latin typeface="Arial" panose="020B0604020202020204" pitchFamily="34" charset="0"/>
                          <a:cs typeface="Arial" panose="020B0604020202020204" pitchFamily="34" charset="0"/>
                        </a:rPr>
                        <a:t>, Stavros </a:t>
                      </a:r>
                      <a:r>
                        <a:rPr lang="en-US" sz="2300" b="0" dirty="0" err="1">
                          <a:effectLst/>
                          <a:latin typeface="Arial" panose="020B0604020202020204" pitchFamily="34" charset="0"/>
                          <a:cs typeface="Arial" panose="020B0604020202020204" pitchFamily="34" charset="0"/>
                        </a:rPr>
                        <a:t>Harizopoulos</a:t>
                      </a:r>
                      <a:r>
                        <a:rPr lang="en-US" sz="2300" b="0" dirty="0">
                          <a:effectLst/>
                          <a:latin typeface="Arial" panose="020B0604020202020204" pitchFamily="34" charset="0"/>
                          <a:cs typeface="Arial" panose="020B0604020202020204" pitchFamily="34" charset="0"/>
                        </a:rPr>
                        <a:t>, Stratos </a:t>
                      </a:r>
                      <a:r>
                        <a:rPr lang="en-US" sz="2300" b="0" dirty="0" err="1">
                          <a:effectLst/>
                          <a:latin typeface="Arial" panose="020B0604020202020204" pitchFamily="34" charset="0"/>
                          <a:cs typeface="Arial" panose="020B0604020202020204" pitchFamily="34" charset="0"/>
                        </a:rPr>
                        <a:t>Idreaos</a:t>
                      </a:r>
                      <a:r>
                        <a:rPr lang="en-US" sz="2300" b="0" dirty="0">
                          <a:effectLst/>
                          <a:latin typeface="Arial" panose="020B0604020202020204" pitchFamily="34" charset="0"/>
                          <a:cs typeface="Arial" panose="020B0604020202020204" pitchFamily="34" charset="0"/>
                        </a:rPr>
                        <a:t>, Samuel Madden, “The Design and Implementation of Modern Column-Oriented Database Systems”, Now Publishers,2013</a:t>
                      </a:r>
                    </a:p>
                    <a:p>
                      <a:pPr marL="527050" indent="-457200" algn="l">
                        <a:lnSpc>
                          <a:spcPct val="110000"/>
                        </a:lnSpc>
                        <a:spcBef>
                          <a:spcPts val="0"/>
                        </a:spcBef>
                        <a:spcAft>
                          <a:spcPts val="600"/>
                        </a:spcAft>
                        <a:buFont typeface="+mj-lt"/>
                        <a:buAutoNum type="arabicPeriod"/>
                      </a:pPr>
                      <a:r>
                        <a:rPr lang="en-US" sz="2300" b="0" dirty="0">
                          <a:effectLst/>
                          <a:latin typeface="Arial" panose="020B0604020202020204" pitchFamily="34" charset="0"/>
                          <a:cs typeface="Arial" panose="020B0604020202020204" pitchFamily="34" charset="0"/>
                        </a:rPr>
                        <a:t>Perkins, Luc, Eric Redmond, and Jim Wilson. "Seven databases in seven weeks: a guide to modern databases and the NoSQL movement." Pragmatic Bookshelf, 2018.</a:t>
                      </a:r>
                    </a:p>
                    <a:p>
                      <a:pPr marL="527050" indent="-457200" algn="l">
                        <a:lnSpc>
                          <a:spcPct val="110000"/>
                        </a:lnSpc>
                        <a:spcBef>
                          <a:spcPts val="0"/>
                        </a:spcBef>
                        <a:spcAft>
                          <a:spcPts val="600"/>
                        </a:spcAft>
                        <a:buFont typeface="+mj-lt"/>
                        <a:buAutoNum type="arabicPeriod"/>
                      </a:pPr>
                      <a:r>
                        <a:rPr lang="en-US" sz="2300" b="0" dirty="0">
                          <a:effectLst/>
                          <a:latin typeface="Arial" panose="020B0604020202020204" pitchFamily="34" charset="0"/>
                          <a:cs typeface="Arial" panose="020B0604020202020204" pitchFamily="34" charset="0"/>
                        </a:rPr>
                        <a:t>Tiwari, Shashank. "Professional </a:t>
                      </a:r>
                      <a:r>
                        <a:rPr lang="en-US" sz="2300" b="0" dirty="0" err="1">
                          <a:effectLst/>
                          <a:latin typeface="Arial" panose="020B0604020202020204" pitchFamily="34" charset="0"/>
                          <a:cs typeface="Arial" panose="020B0604020202020204" pitchFamily="34" charset="0"/>
                        </a:rPr>
                        <a:t>nosql</a:t>
                      </a:r>
                      <a:r>
                        <a:rPr lang="en-US" sz="2300" b="0" dirty="0">
                          <a:effectLst/>
                          <a:latin typeface="Arial" panose="020B0604020202020204" pitchFamily="34" charset="0"/>
                          <a:cs typeface="Arial" panose="020B0604020202020204" pitchFamily="34" charset="0"/>
                        </a:rPr>
                        <a:t>." John Wiley &amp; Sons, 2011.</a:t>
                      </a:r>
                      <a:endParaRPr lang="en-IN" sz="2300" b="0" dirty="0">
                        <a:effectLst/>
                        <a:latin typeface="Arial" panose="020B0604020202020204" pitchFamily="34" charset="0"/>
                        <a:ea typeface="Liberation Serif"/>
                        <a:cs typeface="Arial" panose="020B0604020202020204" pitchFamily="34" charset="0"/>
                      </a:endParaRPr>
                    </a:p>
                  </a:txBody>
                  <a:tcPr marL="21028" marR="21028" marT="0" marB="0"/>
                </a:tc>
                <a:extLst>
                  <a:ext uri="{0D108BD9-81ED-4DB2-BD59-A6C34878D82A}">
                    <a16:rowId xmlns:a16="http://schemas.microsoft.com/office/drawing/2014/main" val="527993526"/>
                  </a:ext>
                </a:extLst>
              </a:tr>
            </a:tbl>
          </a:graphicData>
        </a:graphic>
      </p:graphicFrame>
    </p:spTree>
    <p:extLst>
      <p:ext uri="{BB962C8B-B14F-4D97-AF65-F5344CB8AC3E}">
        <p14:creationId xmlns:p14="http://schemas.microsoft.com/office/powerpoint/2010/main" val="767947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Mark Configuration</a:t>
            </a:r>
          </a:p>
        </p:txBody>
      </p:sp>
      <p:sp>
        <p:nvSpPr>
          <p:cNvPr id="3" name="Content Placeholder 2"/>
          <p:cNvSpPr>
            <a:spLocks noGrp="1"/>
          </p:cNvSpPr>
          <p:nvPr>
            <p:ph idx="1"/>
          </p:nvPr>
        </p:nvSpPr>
        <p:spPr>
          <a:xfrm>
            <a:off x="838200" y="1690688"/>
            <a:ext cx="10515600" cy="4486275"/>
          </a:xfrm>
        </p:spPr>
        <p:txBody>
          <a:bodyPr>
            <a:noAutofit/>
          </a:bodyPr>
          <a:lstStyle/>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CAT-1: Module 1 and Module 2 (18</a:t>
            </a:r>
            <a:r>
              <a:rPr lang="en-US" sz="2300" spc="-5" baseline="30000" dirty="0">
                <a:latin typeface="Arial" panose="020B0604020202020204" pitchFamily="34" charset="0"/>
                <a:cs typeface="Arial" panose="020B0604020202020204" pitchFamily="34" charset="0"/>
              </a:rPr>
              <a:t>th</a:t>
            </a:r>
            <a:r>
              <a:rPr lang="en-US" sz="2300" spc="-5" dirty="0">
                <a:latin typeface="Arial" panose="020B0604020202020204" pitchFamily="34" charset="0"/>
                <a:cs typeface="Arial" panose="020B0604020202020204" pitchFamily="34" charset="0"/>
              </a:rPr>
              <a:t> Aug 2025) – 15%</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CAT-2: Module 3 and Module 4 (6</a:t>
            </a:r>
            <a:r>
              <a:rPr lang="en-US" sz="2300" spc="-5" baseline="30000" dirty="0">
                <a:latin typeface="Arial" panose="020B0604020202020204" pitchFamily="34" charset="0"/>
                <a:cs typeface="Arial" panose="020B0604020202020204" pitchFamily="34" charset="0"/>
              </a:rPr>
              <a:t>th</a:t>
            </a:r>
            <a:r>
              <a:rPr lang="en-US" sz="2300" spc="-5" dirty="0">
                <a:latin typeface="Arial" panose="020B0604020202020204" pitchFamily="34" charset="0"/>
                <a:cs typeface="Arial" panose="020B0604020202020204" pitchFamily="34" charset="0"/>
              </a:rPr>
              <a:t> Oct 2025) – 15%</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FAT: All Modules (21</a:t>
            </a:r>
            <a:r>
              <a:rPr lang="en-US" sz="2300" spc="-5" baseline="30000" dirty="0">
                <a:latin typeface="Arial" panose="020B0604020202020204" pitchFamily="34" charset="0"/>
                <a:cs typeface="Arial" panose="020B0604020202020204" pitchFamily="34" charset="0"/>
              </a:rPr>
              <a:t>st</a:t>
            </a:r>
            <a:r>
              <a:rPr lang="en-US" sz="2300" spc="-5" dirty="0">
                <a:latin typeface="Arial" panose="020B0604020202020204" pitchFamily="34" charset="0"/>
                <a:cs typeface="Arial" panose="020B0604020202020204" pitchFamily="34" charset="0"/>
              </a:rPr>
              <a:t> Dec 2025) – 40%</a:t>
            </a:r>
          </a:p>
          <a:p>
            <a:pPr marL="355600" marR="5080" indent="-342900">
              <a:lnSpc>
                <a:spcPct val="120000"/>
              </a:lnSpc>
              <a:spcBef>
                <a:spcPts val="0"/>
              </a:spcBef>
              <a:buNone/>
              <a:tabLst>
                <a:tab pos="244475" algn="l"/>
              </a:tabLst>
            </a:pPr>
            <a:endParaRPr lang="en-US" sz="2300" spc="-5" dirty="0">
              <a:latin typeface="Arial" panose="020B0604020202020204" pitchFamily="34" charset="0"/>
              <a:cs typeface="Arial" panose="020B0604020202020204" pitchFamily="34" charset="0"/>
            </a:endParaRP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Non-CAT Assessment (30%):</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Digital Assignment-1:  Marks</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Class Notes: Marks</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QUIZ-1:  Marks</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Certification:</a:t>
            </a:r>
          </a:p>
          <a:p>
            <a:pPr marL="355600" marR="5080" indent="-342900">
              <a:lnSpc>
                <a:spcPct val="120000"/>
              </a:lnSpc>
              <a:spcBef>
                <a:spcPts val="0"/>
              </a:spcBef>
              <a:buNone/>
              <a:tabLst>
                <a:tab pos="244475" algn="l"/>
              </a:tabLst>
            </a:pPr>
            <a:r>
              <a:rPr lang="en-US" sz="2300" spc="-5" dirty="0">
                <a:latin typeface="Arial" panose="020B0604020202020204" pitchFamily="34" charset="0"/>
                <a:cs typeface="Arial" panose="020B0604020202020204" pitchFamily="34" charset="0"/>
              </a:rPr>
              <a:t>Attendance:  Marks</a:t>
            </a: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6525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199" y="1488558"/>
            <a:ext cx="10515600" cy="4486275"/>
          </a:xfrm>
        </p:spPr>
        <p:txBody>
          <a:bodyPr>
            <a:no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We have discussed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Course syllabus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Objectives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Course outcome</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CO's Mapping with PO's and PEO’s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Couse plan</a:t>
            </a:r>
          </a:p>
          <a:p>
            <a:pPr marL="0" indent="0" algn="just">
              <a:buNone/>
            </a:pPr>
            <a:endParaRPr lang="en-US" sz="2400" baseline="-250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5F14C64-E607-4627-BD42-BB4FC4D0C76F}" type="datetime1">
              <a:rPr lang="en-IN" smtClean="0">
                <a:latin typeface="Arial" panose="020B0604020202020204" pitchFamily="34" charset="0"/>
                <a:cs typeface="Arial" panose="020B0604020202020204" pitchFamily="34" charset="0"/>
              </a:rPr>
              <a:pPr/>
              <a:t>22-07-2025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p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1637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e 1 - Topic 1 - Asymptotic notations" id="{E3896C89-A621-4634-9FF1-80AD2DA2D220}" vid="{50C0E79D-613C-4B9C-A434-14C287A557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VIT-AP</Template>
  <TotalTime>2770</TotalTime>
  <Words>1498</Words>
  <Application>Microsoft Office PowerPoint</Application>
  <PresentationFormat>Widescreen</PresentationFormat>
  <Paragraphs>161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 Course title  : CSE3009  Course title  : NoSQL Databases Module   : 0 Topic   : 0</vt:lpstr>
      <vt:lpstr>Objectives</vt:lpstr>
      <vt:lpstr>Objectives</vt:lpstr>
      <vt:lpstr>Expected Outcome</vt:lpstr>
      <vt:lpstr>Course Outcomes</vt:lpstr>
      <vt:lpstr>Programme Outcomes (PO) (CSE-All Specialization)</vt:lpstr>
      <vt:lpstr>Programme Outcomes (PO) (CSE-All Specialization)</vt:lpstr>
      <vt:lpstr>Programme Outcomes (PO) (CSE-All Specialization)</vt:lpstr>
      <vt:lpstr>Programme Outcomes (PO) (CSE-All Specialization)</vt:lpstr>
      <vt:lpstr>Programme Outcomes (PO) (CSE-All Specialization)</vt:lpstr>
      <vt:lpstr>Syllabus</vt:lpstr>
      <vt:lpstr>Syllabus</vt:lpstr>
      <vt:lpstr>Syllabus</vt:lpstr>
      <vt:lpstr>Syllabus</vt:lpstr>
      <vt:lpstr>Syllabus</vt:lpstr>
      <vt:lpstr>Mark Configuration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SWE2001 Course title : Data Structures and its Application</dc:title>
  <dc:creator>Windows User</dc:creator>
  <cp:lastModifiedBy>Dr. Gopikrishnan S</cp:lastModifiedBy>
  <cp:revision>217</cp:revision>
  <dcterms:created xsi:type="dcterms:W3CDTF">2019-05-17T10:05:45Z</dcterms:created>
  <dcterms:modified xsi:type="dcterms:W3CDTF">2025-07-22T04:12:47Z</dcterms:modified>
</cp:coreProperties>
</file>