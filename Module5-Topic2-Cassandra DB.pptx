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364" r:id="rId4"/>
    <p:sldId id="367" r:id="rId5"/>
    <p:sldId id="332" r:id="rId6"/>
    <p:sldId id="368" r:id="rId7"/>
    <p:sldId id="369" r:id="rId8"/>
    <p:sldId id="370" r:id="rId9"/>
    <p:sldId id="371" r:id="rId10"/>
    <p:sldId id="372" r:id="rId11"/>
    <p:sldId id="373" r:id="rId12"/>
    <p:sldId id="374" r:id="rId13"/>
    <p:sldId id="375" r:id="rId14"/>
    <p:sldId id="376" r:id="rId15"/>
    <p:sldId id="383" r:id="rId16"/>
    <p:sldId id="378" r:id="rId17"/>
    <p:sldId id="384" r:id="rId18"/>
    <p:sldId id="379" r:id="rId19"/>
    <p:sldId id="380" r:id="rId20"/>
    <p:sldId id="320" r:id="rId21"/>
    <p:sldId id="381" r:id="rId22"/>
    <p:sldId id="382" r:id="rId23"/>
    <p:sldId id="377" r:id="rId24"/>
    <p:sldId id="365" r:id="rId25"/>
    <p:sldId id="25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15-04-2023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15-04-2023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15-04-2023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15-04-2023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15-04-2023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15-04-2023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15-04-2023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15-04-2023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15-04-2023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15-04-2023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15-04-2023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15-04-2023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15-04-2023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5</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2</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Cassandra</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15-04-2023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Cassandra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History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was </a:t>
            </a:r>
            <a:r>
              <a:rPr lang="en-US" sz="2400" dirty="0">
                <a:solidFill>
                  <a:srgbClr val="0000FF"/>
                </a:solidFill>
                <a:latin typeface="Arial" panose="020B0604020202020204" pitchFamily="34" charset="0"/>
                <a:cs typeface="Arial" panose="020B0604020202020204" pitchFamily="34" charset="0"/>
              </a:rPr>
              <a:t>first developed at Facebook </a:t>
            </a:r>
            <a:r>
              <a:rPr lang="en-US" sz="2400" dirty="0">
                <a:latin typeface="Arial" panose="020B0604020202020204" pitchFamily="34" charset="0"/>
                <a:cs typeface="Arial" panose="020B0604020202020204" pitchFamily="34" charset="0"/>
              </a:rPr>
              <a:t>for inbox search.</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Facebook open sourced it in </a:t>
            </a:r>
            <a:r>
              <a:rPr lang="en-US" sz="2400" dirty="0">
                <a:solidFill>
                  <a:srgbClr val="0000FF"/>
                </a:solidFill>
                <a:latin typeface="Arial" panose="020B0604020202020204" pitchFamily="34" charset="0"/>
                <a:cs typeface="Arial" panose="020B0604020202020204" pitchFamily="34" charset="0"/>
              </a:rPr>
              <a:t>July 2008</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Apache incubator accepted Cassandra in </a:t>
            </a:r>
            <a:r>
              <a:rPr lang="en-US" sz="2400" dirty="0">
                <a:solidFill>
                  <a:srgbClr val="0000FF"/>
                </a:solidFill>
                <a:latin typeface="Arial" panose="020B0604020202020204" pitchFamily="34" charset="0"/>
                <a:cs typeface="Arial" panose="020B0604020202020204" pitchFamily="34" charset="0"/>
              </a:rPr>
              <a:t>March 2009</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is a top level project of Apache since February 2010.</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latest version of Apache Cassandra is 4.1 released December 13, 2022.</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0601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Architecture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stores data on different nodes with </a:t>
            </a:r>
            <a:r>
              <a:rPr lang="en-US" sz="2400" dirty="0">
                <a:solidFill>
                  <a:srgbClr val="0000FF"/>
                </a:solidFill>
                <a:latin typeface="Arial" panose="020B0604020202020204" pitchFamily="34" charset="0"/>
                <a:cs typeface="Arial" panose="020B0604020202020204" pitchFamily="34" charset="0"/>
              </a:rPr>
              <a:t>a peer to peer distributed fashion architecture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All the nodes exchange information with each other using </a:t>
            </a:r>
            <a:r>
              <a:rPr lang="en-US" sz="2400" dirty="0">
                <a:solidFill>
                  <a:srgbClr val="0000FF"/>
                </a:solidFill>
                <a:latin typeface="Arial" panose="020B0604020202020204" pitchFamily="34" charset="0"/>
                <a:cs typeface="Arial" panose="020B0604020202020204" pitchFamily="34" charset="0"/>
              </a:rPr>
              <a:t>Gossip protocol</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Gossip is a protocol in Cassandra by which nodes can communicate with each other.</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257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a:t>
            </a:r>
          </a:p>
        </p:txBody>
      </p:sp>
      <p:sp>
        <p:nvSpPr>
          <p:cNvPr id="3" name="Content Placeholder 2"/>
          <p:cNvSpPr>
            <a:spLocks noGrp="1"/>
          </p:cNvSpPr>
          <p:nvPr>
            <p:ph idx="1"/>
          </p:nvPr>
        </p:nvSpPr>
        <p:spPr>
          <a:xfrm>
            <a:off x="838200" y="1690688"/>
            <a:ext cx="6372225"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is a </a:t>
            </a:r>
            <a:r>
              <a:rPr lang="en-US" sz="2400" dirty="0">
                <a:solidFill>
                  <a:srgbClr val="FF0000"/>
                </a:solidFill>
                <a:latin typeface="Arial" panose="020B0604020202020204" pitchFamily="34" charset="0"/>
                <a:cs typeface="Arial" panose="020B0604020202020204" pitchFamily="34" charset="0"/>
              </a:rPr>
              <a:t>distributed database management system</a:t>
            </a: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designed for handling a high volume of structured data across commodity servers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Data is placed on different machines with more than one replication factor that </a:t>
            </a:r>
            <a:r>
              <a:rPr lang="en-US" sz="2400" dirty="0">
                <a:solidFill>
                  <a:srgbClr val="0000FF"/>
                </a:solidFill>
                <a:latin typeface="Arial" panose="020B0604020202020204" pitchFamily="34" charset="0"/>
                <a:cs typeface="Arial" panose="020B0604020202020204" pitchFamily="34" charset="0"/>
              </a:rPr>
              <a:t>provides high availability and no single point of failure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the Fig, circles are Cassandra nodes and lines between the circles shows distributed architecture, while the client is sending data to the node.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pic>
        <p:nvPicPr>
          <p:cNvPr id="1026" name="Picture 2" descr="Cassandra Database Tutorial for Beginners: Learn in 3 Day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0425" y="2116085"/>
            <a:ext cx="4143375"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243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Components of Cassandra</a:t>
            </a:r>
          </a:p>
        </p:txBody>
      </p:sp>
      <p:sp>
        <p:nvSpPr>
          <p:cNvPr id="3" name="Content Placeholder 2"/>
          <p:cNvSpPr>
            <a:spLocks noGrp="1"/>
          </p:cNvSpPr>
          <p:nvPr>
            <p:ph idx="1"/>
          </p:nvPr>
        </p:nvSpPr>
        <p:spPr>
          <a:xfrm>
            <a:off x="838200" y="1690688"/>
            <a:ext cx="5514474" cy="4486275"/>
          </a:xfrm>
        </p:spPr>
        <p:txBody>
          <a:bodyPr>
            <a:normAutofit/>
          </a:bodyPr>
          <a:lstStyle/>
          <a:p>
            <a:pPr marL="0" indent="0">
              <a:lnSpc>
                <a:spcPct val="120000"/>
              </a:lnSpc>
              <a:spcBef>
                <a:spcPts val="1800"/>
              </a:spcBef>
              <a:spcAft>
                <a:spcPts val="600"/>
              </a:spcAft>
              <a:buNone/>
            </a:pPr>
            <a:r>
              <a:rPr lang="en-US" sz="2300" dirty="0">
                <a:solidFill>
                  <a:srgbClr val="0000FF"/>
                </a:solidFill>
                <a:latin typeface="Arial" panose="020B0604020202020204" pitchFamily="34" charset="0"/>
                <a:cs typeface="Arial" panose="020B0604020202020204" pitchFamily="34" charset="0"/>
              </a:rPr>
              <a:t>Node</a:t>
            </a:r>
            <a:r>
              <a:rPr lang="en-US" sz="2300" dirty="0">
                <a:latin typeface="Arial" panose="020B0604020202020204" pitchFamily="34" charset="0"/>
                <a:cs typeface="Arial" panose="020B0604020202020204" pitchFamily="34" charset="0"/>
              </a:rPr>
              <a:t>: Node is the place where data is stored. It is the basic component of Cassandra.</a:t>
            </a:r>
          </a:p>
          <a:p>
            <a:pPr marL="0" indent="0">
              <a:lnSpc>
                <a:spcPct val="120000"/>
              </a:lnSpc>
              <a:spcBef>
                <a:spcPts val="1800"/>
              </a:spcBef>
              <a:spcAft>
                <a:spcPts val="600"/>
              </a:spcAft>
              <a:buNone/>
            </a:pPr>
            <a:r>
              <a:rPr lang="en-US" sz="2300" dirty="0">
                <a:solidFill>
                  <a:srgbClr val="0000FF"/>
                </a:solidFill>
                <a:latin typeface="Arial" panose="020B0604020202020204" pitchFamily="34" charset="0"/>
                <a:cs typeface="Arial" panose="020B0604020202020204" pitchFamily="34" charset="0"/>
              </a:rPr>
              <a:t>Data Center</a:t>
            </a:r>
            <a:r>
              <a:rPr lang="en-US" sz="2300" dirty="0">
                <a:latin typeface="Arial" panose="020B0604020202020204" pitchFamily="34" charset="0"/>
                <a:cs typeface="Arial" panose="020B0604020202020204" pitchFamily="34" charset="0"/>
              </a:rPr>
              <a:t>: A collection of nodes are called data center. Many nodes are categorized as a data center.</a:t>
            </a:r>
          </a:p>
          <a:p>
            <a:pPr marL="0" indent="0">
              <a:lnSpc>
                <a:spcPct val="120000"/>
              </a:lnSpc>
              <a:spcBef>
                <a:spcPts val="1800"/>
              </a:spcBef>
              <a:spcAft>
                <a:spcPts val="600"/>
              </a:spcAft>
              <a:buNone/>
            </a:pPr>
            <a:r>
              <a:rPr lang="en-US" sz="2300" dirty="0">
                <a:solidFill>
                  <a:srgbClr val="0000FF"/>
                </a:solidFill>
                <a:latin typeface="Arial" panose="020B0604020202020204" pitchFamily="34" charset="0"/>
                <a:cs typeface="Arial" panose="020B0604020202020204" pitchFamily="34" charset="0"/>
              </a:rPr>
              <a:t>Cluster</a:t>
            </a:r>
            <a:r>
              <a:rPr lang="en-US" sz="2300" dirty="0">
                <a:latin typeface="Arial" panose="020B0604020202020204" pitchFamily="34" charset="0"/>
                <a:cs typeface="Arial" panose="020B0604020202020204" pitchFamily="34" charset="0"/>
              </a:rPr>
              <a:t>: The cluster is the collection of many data centers.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pic>
        <p:nvPicPr>
          <p:cNvPr id="3074" name="Picture 2" descr="Cassandra Architecture &amp; Replication Factor Strategy 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459" y="2211285"/>
            <a:ext cx="5265019" cy="3229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890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Components of Cassandra</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Commit Log</a:t>
            </a:r>
            <a:r>
              <a:rPr lang="en-US" sz="2400" dirty="0">
                <a:latin typeface="Arial" panose="020B0604020202020204" pitchFamily="34" charset="0"/>
                <a:cs typeface="Arial" panose="020B0604020202020204" pitchFamily="34" charset="0"/>
              </a:rPr>
              <a:t>: Every write operation is written to Commit Log. </a:t>
            </a:r>
            <a:r>
              <a:rPr lang="en-US" sz="2400" dirty="0">
                <a:solidFill>
                  <a:srgbClr val="FF0000"/>
                </a:solidFill>
                <a:latin typeface="Arial" panose="020B0604020202020204" pitchFamily="34" charset="0"/>
                <a:cs typeface="Arial" panose="020B0604020202020204" pitchFamily="34" charset="0"/>
              </a:rPr>
              <a:t>Commit log is used for crash recovery</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Mem-table</a:t>
            </a:r>
            <a:r>
              <a:rPr lang="en-US" sz="2400" dirty="0">
                <a:latin typeface="Arial" panose="020B0604020202020204" pitchFamily="34" charset="0"/>
                <a:cs typeface="Arial" panose="020B0604020202020204" pitchFamily="34" charset="0"/>
              </a:rPr>
              <a:t>: After data written in Commit log, data is written in Mem-table. </a:t>
            </a:r>
            <a:r>
              <a:rPr lang="en-US" sz="2400" dirty="0">
                <a:solidFill>
                  <a:srgbClr val="FF0000"/>
                </a:solidFill>
                <a:latin typeface="Arial" panose="020B0604020202020204" pitchFamily="34" charset="0"/>
                <a:cs typeface="Arial" panose="020B0604020202020204" pitchFamily="34" charset="0"/>
              </a:rPr>
              <a:t>Data is written in Mem-table temporarily</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err="1">
                <a:solidFill>
                  <a:srgbClr val="0000FF"/>
                </a:solidFill>
                <a:latin typeface="Arial" panose="020B0604020202020204" pitchFamily="34" charset="0"/>
                <a:cs typeface="Arial" panose="020B0604020202020204" pitchFamily="34" charset="0"/>
              </a:rPr>
              <a:t>SSTable</a:t>
            </a:r>
            <a:r>
              <a:rPr lang="en-US" sz="2400" dirty="0">
                <a:latin typeface="Arial" panose="020B0604020202020204" pitchFamily="34" charset="0"/>
                <a:cs typeface="Arial" panose="020B0604020202020204" pitchFamily="34" charset="0"/>
              </a:rPr>
              <a:t>: When Mem-table reaches a certain threshold, data is flushed to an </a:t>
            </a:r>
            <a:r>
              <a:rPr lang="en-US" sz="2400" dirty="0" err="1">
                <a:latin typeface="Arial" panose="020B0604020202020204" pitchFamily="34" charset="0"/>
                <a:cs typeface="Arial" panose="020B0604020202020204" pitchFamily="34" charset="0"/>
              </a:rPr>
              <a:t>SSTable</a:t>
            </a:r>
            <a:r>
              <a:rPr lang="en-US" sz="2400" dirty="0">
                <a:latin typeface="Arial" panose="020B0604020202020204" pitchFamily="34" charset="0"/>
                <a:cs typeface="Arial" panose="020B0604020202020204" pitchFamily="34" charset="0"/>
              </a:rPr>
              <a:t> disk file.</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Bloom filter </a:t>
            </a:r>
            <a:r>
              <a:rPr lang="en-US" sz="2400" dirty="0">
                <a:latin typeface="Arial" panose="020B0604020202020204" pitchFamily="34" charset="0"/>
                <a:cs typeface="Arial" panose="020B0604020202020204" pitchFamily="34" charset="0"/>
              </a:rPr>
              <a:t>− These are quick, nondeterministic, algorithms for testing whether an element is a member of a set. </a:t>
            </a:r>
            <a:r>
              <a:rPr lang="en-US" sz="2400" dirty="0">
                <a:solidFill>
                  <a:srgbClr val="FF0000"/>
                </a:solidFill>
                <a:latin typeface="Arial" panose="020B0604020202020204" pitchFamily="34" charset="0"/>
                <a:cs typeface="Arial" panose="020B0604020202020204" pitchFamily="34" charset="0"/>
              </a:rPr>
              <a:t>It is a special kind of cache</a:t>
            </a: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Bloom filters are accessed after every query</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4154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Replication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hardware problem can occur or link can be down at any time during data process, a solution is required to provide a backup when the problem has occurred. So </a:t>
            </a:r>
            <a:r>
              <a:rPr lang="en-US" sz="2400" dirty="0">
                <a:solidFill>
                  <a:srgbClr val="FF0000"/>
                </a:solidFill>
                <a:latin typeface="Arial" panose="020B0604020202020204" pitchFamily="34" charset="0"/>
                <a:cs typeface="Arial" panose="020B0604020202020204" pitchFamily="34" charset="0"/>
              </a:rPr>
              <a:t>data is replicated for assuring no single point of failure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places replicas of data on different nodes based on these </a:t>
            </a:r>
            <a:r>
              <a:rPr lang="en-US" sz="2400" dirty="0">
                <a:solidFill>
                  <a:srgbClr val="0000FF"/>
                </a:solidFill>
                <a:latin typeface="Arial" panose="020B0604020202020204" pitchFamily="34" charset="0"/>
                <a:cs typeface="Arial" panose="020B0604020202020204" pitchFamily="34" charset="0"/>
              </a:rPr>
              <a:t>two factors</a:t>
            </a:r>
            <a:r>
              <a:rPr lang="en-US" sz="24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The place for next replica is determined by the </a:t>
            </a:r>
            <a:r>
              <a:rPr lang="en-US" sz="2400" dirty="0">
                <a:solidFill>
                  <a:srgbClr val="FF0000"/>
                </a:solidFill>
                <a:latin typeface="Arial" panose="020B0604020202020204" pitchFamily="34" charset="0"/>
                <a:cs typeface="Arial" panose="020B0604020202020204" pitchFamily="34" charset="0"/>
              </a:rPr>
              <a:t>Replication Strategy</a:t>
            </a:r>
            <a:r>
              <a:rPr lang="en-US" sz="24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The total number of replicas placed on different nodes is determined by the </a:t>
            </a:r>
            <a:r>
              <a:rPr lang="en-US" sz="2400" dirty="0">
                <a:solidFill>
                  <a:srgbClr val="FF0000"/>
                </a:solidFill>
                <a:latin typeface="Arial" panose="020B0604020202020204" pitchFamily="34" charset="0"/>
                <a:cs typeface="Arial" panose="020B0604020202020204" pitchFamily="34" charset="0"/>
              </a:rPr>
              <a:t>Replication Factor</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9723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Replication</a:t>
            </a: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One Replication factor means that there is only a single copy of data while three replication factor means that there are three copies of the data on three different nodes.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For ensuring there is </a:t>
            </a:r>
            <a:r>
              <a:rPr lang="en-US" sz="2400" dirty="0">
                <a:solidFill>
                  <a:srgbClr val="0000FF"/>
                </a:solidFill>
                <a:latin typeface="Arial" panose="020B0604020202020204" pitchFamily="34" charset="0"/>
                <a:cs typeface="Arial" panose="020B0604020202020204" pitchFamily="34" charset="0"/>
              </a:rPr>
              <a:t>no single point of failure, replication factor must be three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There are three kinds of </a:t>
            </a:r>
            <a:r>
              <a:rPr lang="en-US" sz="2400" dirty="0">
                <a:solidFill>
                  <a:srgbClr val="0000FF"/>
                </a:solidFill>
                <a:latin typeface="Arial" panose="020B0604020202020204" pitchFamily="34" charset="0"/>
                <a:cs typeface="Arial" panose="020B0604020202020204" pitchFamily="34" charset="0"/>
              </a:rPr>
              <a:t>replication strategies </a:t>
            </a:r>
            <a:r>
              <a:rPr lang="en-US" sz="2400" dirty="0">
                <a:latin typeface="Arial" panose="020B0604020202020204" pitchFamily="34" charset="0"/>
                <a:cs typeface="Arial" panose="020B0604020202020204" pitchFamily="34" charset="0"/>
              </a:rPr>
              <a:t>in Cassandra.</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simple strategy (rack-aware strategy), </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old network topology strategy (rack-aware strategy), and </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network topology strategy (datacenter-shared strategy)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871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SimpleStrategy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SimpleStrategy</a:t>
            </a:r>
            <a:r>
              <a:rPr lang="en-US" sz="2400" dirty="0">
                <a:latin typeface="Arial" panose="020B0604020202020204" pitchFamily="34" charset="0"/>
                <a:cs typeface="Arial" panose="020B0604020202020204" pitchFamily="34" charset="0"/>
              </a:rPr>
              <a:t> is used when you have just one data center. </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SimpleStrategy</a:t>
            </a:r>
            <a:r>
              <a:rPr lang="en-US" sz="2400" dirty="0">
                <a:latin typeface="Arial" panose="020B0604020202020204" pitchFamily="34" charset="0"/>
                <a:cs typeface="Arial" panose="020B0604020202020204" pitchFamily="34" charset="0"/>
              </a:rPr>
              <a:t> places the first replica on the node selected by the </a:t>
            </a:r>
            <a:r>
              <a:rPr lang="en-US" sz="2400" dirty="0" err="1">
                <a:latin typeface="Arial" panose="020B0604020202020204" pitchFamily="34" charset="0"/>
                <a:cs typeface="Arial" panose="020B0604020202020204" pitchFamily="34" charset="0"/>
              </a:rPr>
              <a:t>partitioner</a:t>
            </a:r>
            <a:r>
              <a:rPr lang="en-US" sz="2400" dirty="0">
                <a:latin typeface="Arial" panose="020B0604020202020204" pitchFamily="34" charset="0"/>
                <a:cs typeface="Arial" panose="020B0604020202020204" pitchFamily="34" charset="0"/>
              </a:rPr>
              <a:t>. After that, remaining replicas are placed in clockwise direction in the Node ring.</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8194" name="Picture 2" descr="Cassandra Architecture &amp; Replication Factor Strategy 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0501" y="3756107"/>
            <a:ext cx="3207635" cy="2420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329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NetworkTopologyStrategy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6669504" cy="4486275"/>
          </a:xfrm>
        </p:spPr>
        <p:txBody>
          <a:bodyPr>
            <a:normAutofit fontScale="85000" lnSpcReduction="10000"/>
          </a:bodyPr>
          <a:lstStyle/>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NetworkTopologyStrategy</a:t>
            </a:r>
            <a:r>
              <a:rPr lang="en-US" sz="2400" dirty="0">
                <a:latin typeface="Arial" panose="020B0604020202020204" pitchFamily="34" charset="0"/>
                <a:cs typeface="Arial" panose="020B0604020202020204" pitchFamily="34" charset="0"/>
              </a:rPr>
              <a:t> is </a:t>
            </a:r>
            <a:r>
              <a:rPr lang="en-US" sz="2400" dirty="0">
                <a:solidFill>
                  <a:srgbClr val="0000FF"/>
                </a:solidFill>
                <a:latin typeface="Arial" panose="020B0604020202020204" pitchFamily="34" charset="0"/>
                <a:cs typeface="Arial" panose="020B0604020202020204" pitchFamily="34" charset="0"/>
              </a:rPr>
              <a:t>used when you have more than two data centers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t>
            </a:r>
            <a:r>
              <a:rPr lang="en-US" sz="2400" dirty="0" err="1">
                <a:latin typeface="Arial" panose="020B0604020202020204" pitchFamily="34" charset="0"/>
                <a:cs typeface="Arial" panose="020B0604020202020204" pitchFamily="34" charset="0"/>
              </a:rPr>
              <a:t>NetworkTopologyStrategy</a:t>
            </a:r>
            <a:r>
              <a:rPr lang="en-US" sz="2400" dirty="0">
                <a:latin typeface="Arial" panose="020B0604020202020204" pitchFamily="34" charset="0"/>
                <a:cs typeface="Arial" panose="020B0604020202020204" pitchFamily="34" charset="0"/>
              </a:rPr>
              <a:t>, replicas are set for each data center separately. </a:t>
            </a:r>
            <a:r>
              <a:rPr lang="en-US" sz="2400" dirty="0" err="1">
                <a:latin typeface="Arial" panose="020B0604020202020204" pitchFamily="34" charset="0"/>
                <a:cs typeface="Arial" panose="020B0604020202020204" pitchFamily="34" charset="0"/>
              </a:rPr>
              <a:t>NetworkTopologyStrategy</a:t>
            </a:r>
            <a:r>
              <a:rPr lang="en-US" sz="2400" dirty="0">
                <a:latin typeface="Arial" panose="020B0604020202020204" pitchFamily="34" charset="0"/>
                <a:cs typeface="Arial" panose="020B0604020202020204" pitchFamily="34" charset="0"/>
              </a:rPr>
              <a:t> places replicas in the clockwise direction in the ring until reaches the first node in another rack.</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strategy tries to place replicas on different racks in the same data center.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Here is the pictorial representation of the Network topology strategy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pic>
        <p:nvPicPr>
          <p:cNvPr id="11266" name="Picture 2" descr="Cassandra Architecture &amp; Replication Factor Strategy 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704" y="2656572"/>
            <a:ext cx="4512845" cy="3172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45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Write Operation</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1800"/>
              </a:spcBef>
              <a:spcAft>
                <a:spcPts val="600"/>
              </a:spcAft>
              <a:buNone/>
            </a:pPr>
            <a:r>
              <a:rPr lang="en-US" sz="1800" dirty="0">
                <a:latin typeface="Arial" panose="020B0604020202020204" pitchFamily="34" charset="0"/>
                <a:cs typeface="Arial" panose="020B0604020202020204" pitchFamily="34" charset="0"/>
              </a:rPr>
              <a:t>The coordinator sends a write request to replicas. If all the replicas are up, they will receive write request regardless of their consistency level.</a:t>
            </a:r>
          </a:p>
          <a:p>
            <a:pPr marL="0" indent="0">
              <a:lnSpc>
                <a:spcPct val="120000"/>
              </a:lnSpc>
              <a:spcBef>
                <a:spcPts val="1800"/>
              </a:spcBef>
              <a:spcAft>
                <a:spcPts val="600"/>
              </a:spcAft>
              <a:buNone/>
            </a:pPr>
            <a:r>
              <a:rPr lang="en-US" sz="1800" dirty="0">
                <a:latin typeface="Arial" panose="020B0604020202020204" pitchFamily="34" charset="0"/>
                <a:cs typeface="Arial" panose="020B0604020202020204" pitchFamily="34" charset="0"/>
              </a:rPr>
              <a:t>Consistency level determines how many nodes will respond back with the success acknowledgment.</a:t>
            </a:r>
          </a:p>
          <a:p>
            <a:pPr marL="0" indent="0">
              <a:lnSpc>
                <a:spcPct val="120000"/>
              </a:lnSpc>
              <a:spcBef>
                <a:spcPts val="1800"/>
              </a:spcBef>
              <a:spcAft>
                <a:spcPts val="600"/>
              </a:spcAft>
              <a:buNone/>
            </a:pPr>
            <a:r>
              <a:rPr lang="en-US" sz="1800" dirty="0">
                <a:latin typeface="Arial" panose="020B0604020202020204" pitchFamily="34" charset="0"/>
                <a:cs typeface="Arial" panose="020B0604020202020204" pitchFamily="34" charset="0"/>
              </a:rPr>
              <a:t>The node will respond back with the success acknowledgment if data is written successfully to the commit log and memTable.</a:t>
            </a:r>
          </a:p>
          <a:p>
            <a:pPr marL="0" indent="0">
              <a:lnSpc>
                <a:spcPct val="120000"/>
              </a:lnSpc>
              <a:spcBef>
                <a:spcPts val="1800"/>
              </a:spcBef>
              <a:spcAft>
                <a:spcPts val="600"/>
              </a:spcAft>
              <a:buNone/>
            </a:pPr>
            <a:r>
              <a:rPr lang="en-US" sz="1800" dirty="0">
                <a:latin typeface="Arial" panose="020B0604020202020204" pitchFamily="34" charset="0"/>
                <a:cs typeface="Arial" panose="020B0604020202020204" pitchFamily="34" charset="0"/>
              </a:rPr>
              <a:t>For example, in a single data center with replication factor equals to three, three replicas will receive write request. If consistency level is one, only one replica will respond back with the success acknowledgment, and the remaining two will remain dormant.</a:t>
            </a:r>
          </a:p>
          <a:p>
            <a:pPr marL="0" indent="0">
              <a:lnSpc>
                <a:spcPct val="120000"/>
              </a:lnSpc>
              <a:spcBef>
                <a:spcPts val="1800"/>
              </a:spcBef>
              <a:spcAft>
                <a:spcPts val="600"/>
              </a:spcAft>
              <a:buNone/>
            </a:pPr>
            <a:r>
              <a:rPr lang="en-US" sz="1800" dirty="0">
                <a:latin typeface="Arial" panose="020B0604020202020204" pitchFamily="34" charset="0"/>
                <a:cs typeface="Arial" panose="020B0604020202020204" pitchFamily="34" charset="0"/>
              </a:rPr>
              <a:t>Suppose if remaining two replicas lose data due to node downs or some other problem, Cassandra will make the row consistent by the built-in repair mechanism in Cassandra.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708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Write Operation - Steps</a:t>
            </a:r>
          </a:p>
        </p:txBody>
      </p:sp>
      <p:sp>
        <p:nvSpPr>
          <p:cNvPr id="3" name="Content Placeholder 2"/>
          <p:cNvSpPr>
            <a:spLocks noGrp="1"/>
          </p:cNvSpPr>
          <p:nvPr>
            <p:ph idx="1"/>
          </p:nvPr>
        </p:nvSpPr>
        <p:spPr>
          <a:xfrm>
            <a:off x="838200" y="1690688"/>
            <a:ext cx="10515600" cy="4486275"/>
          </a:xfrm>
        </p:spPr>
        <p:txBody>
          <a:bodyPr>
            <a:normAutofit fontScale="77500" lnSpcReduction="20000"/>
          </a:bodyPr>
          <a:lstStyle/>
          <a:p>
            <a:pPr marL="539750" indent="-452438">
              <a:lnSpc>
                <a:spcPct val="120000"/>
              </a:lnSpc>
              <a:spcBef>
                <a:spcPts val="1800"/>
              </a:spcBef>
              <a:spcAft>
                <a:spcPts val="600"/>
              </a:spcAft>
              <a:buFont typeface="+mj-lt"/>
              <a:buAutoNum type="arabicPeriod"/>
            </a:pPr>
            <a:endParaRPr lang="en-US" sz="2400" dirty="0">
              <a:latin typeface="Arial" panose="020B0604020202020204" pitchFamily="34" charset="0"/>
              <a:cs typeface="Arial" panose="020B0604020202020204" pitchFamily="34" charset="0"/>
            </a:endParaRPr>
          </a:p>
          <a:p>
            <a:pPr marL="539750" indent="-452438">
              <a:lnSpc>
                <a:spcPct val="120000"/>
              </a:lnSpc>
              <a:spcBef>
                <a:spcPts val="1800"/>
              </a:spcBef>
              <a:spcAft>
                <a:spcPts val="600"/>
              </a:spcAft>
              <a:buFont typeface="+mj-lt"/>
              <a:buAutoNum type="arabicPeriod"/>
            </a:pPr>
            <a:endParaRPr lang="en-US" sz="2400" dirty="0">
              <a:latin typeface="Arial" panose="020B0604020202020204" pitchFamily="34" charset="0"/>
              <a:cs typeface="Arial" panose="020B0604020202020204" pitchFamily="34" charset="0"/>
            </a:endParaRPr>
          </a:p>
          <a:p>
            <a:pPr marL="539750" indent="-452438">
              <a:lnSpc>
                <a:spcPct val="120000"/>
              </a:lnSpc>
              <a:spcBef>
                <a:spcPts val="1800"/>
              </a:spcBef>
              <a:spcAft>
                <a:spcPts val="600"/>
              </a:spcAft>
              <a:buFont typeface="+mj-lt"/>
              <a:buAutoNum type="arabicPeriod"/>
            </a:pPr>
            <a:endParaRPr lang="en-US" sz="2400" dirty="0">
              <a:latin typeface="Arial" panose="020B0604020202020204" pitchFamily="34" charset="0"/>
              <a:cs typeface="Arial" panose="020B0604020202020204" pitchFamily="34" charset="0"/>
            </a:endParaRPr>
          </a:p>
          <a:p>
            <a:pPr marL="539750" indent="-452438">
              <a:lnSpc>
                <a:spcPct val="120000"/>
              </a:lnSpc>
              <a:spcBef>
                <a:spcPts val="1800"/>
              </a:spcBef>
              <a:spcAft>
                <a:spcPts val="600"/>
              </a:spcAft>
              <a:buFont typeface="+mj-lt"/>
              <a:buAutoNum type="arabicPeriod"/>
            </a:pPr>
            <a:endParaRPr lang="en-US" sz="2400" dirty="0">
              <a:latin typeface="Arial" panose="020B0604020202020204" pitchFamily="34" charset="0"/>
              <a:cs typeface="Arial" panose="020B0604020202020204" pitchFamily="34" charset="0"/>
            </a:endParaRPr>
          </a:p>
          <a:p>
            <a:pPr marL="539750" indent="-452438">
              <a:lnSpc>
                <a:spcPct val="120000"/>
              </a:lnSpc>
              <a:spcBef>
                <a:spcPts val="1200"/>
              </a:spcBef>
              <a:spcAft>
                <a:spcPts val="600"/>
              </a:spcAft>
              <a:buFont typeface="+mj-lt"/>
              <a:buAutoNum type="arabicPeriod"/>
            </a:pPr>
            <a:r>
              <a:rPr lang="en-US" sz="2400" dirty="0">
                <a:latin typeface="Arial" panose="020B0604020202020204" pitchFamily="34" charset="0"/>
                <a:cs typeface="Arial" panose="020B0604020202020204" pitchFamily="34" charset="0"/>
              </a:rPr>
              <a:t>When write request comes to the node, first of all, it logs in the commit log.</a:t>
            </a:r>
          </a:p>
          <a:p>
            <a:pPr marL="539750" indent="-452438">
              <a:lnSpc>
                <a:spcPct val="120000"/>
              </a:lnSpc>
              <a:spcBef>
                <a:spcPts val="1200"/>
              </a:spcBef>
              <a:spcAft>
                <a:spcPts val="600"/>
              </a:spcAft>
              <a:buFont typeface="+mj-lt"/>
              <a:buAutoNum type="arabicPeriod"/>
            </a:pPr>
            <a:r>
              <a:rPr lang="en-US" sz="2400" dirty="0">
                <a:latin typeface="Arial" panose="020B0604020202020204" pitchFamily="34" charset="0"/>
                <a:cs typeface="Arial" panose="020B0604020202020204" pitchFamily="34" charset="0"/>
              </a:rPr>
              <a:t>Then Cassandra writes the data in the mem-table. Data written in the mem-table on each write request also writes in commit log separately. Mem-table is a temporarily stored data in the memory while Commit log logs the transaction records for back up purposes.</a:t>
            </a:r>
          </a:p>
          <a:p>
            <a:pPr marL="539750" indent="-452438">
              <a:lnSpc>
                <a:spcPct val="120000"/>
              </a:lnSpc>
              <a:spcBef>
                <a:spcPts val="1200"/>
              </a:spcBef>
              <a:spcAft>
                <a:spcPts val="600"/>
              </a:spcAft>
              <a:buFont typeface="+mj-lt"/>
              <a:buAutoNum type="arabicPeriod"/>
            </a:pPr>
            <a:r>
              <a:rPr lang="en-US" sz="2400" dirty="0">
                <a:latin typeface="Arial" panose="020B0604020202020204" pitchFamily="34" charset="0"/>
                <a:cs typeface="Arial" panose="020B0604020202020204" pitchFamily="34" charset="0"/>
              </a:rPr>
              <a:t>When mem-table is full, data is flushed to the </a:t>
            </a:r>
            <a:r>
              <a:rPr lang="en-US" sz="2400" dirty="0" err="1">
                <a:latin typeface="Arial" panose="020B0604020202020204" pitchFamily="34" charset="0"/>
                <a:cs typeface="Arial" panose="020B0604020202020204" pitchFamily="34" charset="0"/>
              </a:rPr>
              <a:t>SSTable</a:t>
            </a:r>
            <a:r>
              <a:rPr lang="en-US" sz="2400" dirty="0">
                <a:latin typeface="Arial" panose="020B0604020202020204" pitchFamily="34" charset="0"/>
                <a:cs typeface="Arial" panose="020B0604020202020204" pitchFamily="34" charset="0"/>
              </a:rPr>
              <a:t> data file.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pic>
        <p:nvPicPr>
          <p:cNvPr id="12290" name="Picture 2" descr="Cassandra Architecture &amp; Replication Factor Strategy 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74" y="1392304"/>
            <a:ext cx="5937251" cy="2473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05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Read Operation</a:t>
            </a:r>
          </a:p>
        </p:txBody>
      </p:sp>
      <p:sp>
        <p:nvSpPr>
          <p:cNvPr id="3" name="Content Placeholder 2"/>
          <p:cNvSpPr>
            <a:spLocks noGrp="1"/>
          </p:cNvSpPr>
          <p:nvPr>
            <p:ph idx="1"/>
          </p:nvPr>
        </p:nvSpPr>
        <p:spPr>
          <a:xfrm>
            <a:off x="838200" y="1690688"/>
            <a:ext cx="10515600" cy="4486275"/>
          </a:xfrm>
        </p:spPr>
        <p:txBody>
          <a:bodyPr>
            <a:normAutofit fontScale="62500" lnSpcReduction="20000"/>
          </a:bodyPr>
          <a:lstStyle/>
          <a:p>
            <a:pPr marL="0" indent="0">
              <a:lnSpc>
                <a:spcPct val="140000"/>
              </a:lnSpc>
              <a:spcBef>
                <a:spcPts val="1200"/>
              </a:spcBef>
              <a:spcAft>
                <a:spcPts val="600"/>
              </a:spcAft>
              <a:buNone/>
            </a:pPr>
            <a:r>
              <a:rPr lang="en-US" dirty="0">
                <a:latin typeface="Arial" panose="020B0604020202020204" pitchFamily="34" charset="0"/>
                <a:cs typeface="Arial" panose="020B0604020202020204" pitchFamily="34" charset="0"/>
              </a:rPr>
              <a:t>There are three types of read requests that a coordinator sends to replicas.</a:t>
            </a:r>
          </a:p>
          <a:p>
            <a:pPr marL="539750" indent="-357188">
              <a:lnSpc>
                <a:spcPct val="140000"/>
              </a:lnSpc>
              <a:spcBef>
                <a:spcPts val="600"/>
              </a:spcBef>
              <a:spcAft>
                <a:spcPts val="600"/>
              </a:spcAft>
            </a:pPr>
            <a:r>
              <a:rPr lang="en-US" dirty="0">
                <a:latin typeface="Arial" panose="020B0604020202020204" pitchFamily="34" charset="0"/>
                <a:cs typeface="Arial" panose="020B0604020202020204" pitchFamily="34" charset="0"/>
              </a:rPr>
              <a:t>Direct request</a:t>
            </a:r>
          </a:p>
          <a:p>
            <a:pPr marL="539750" indent="-357188">
              <a:lnSpc>
                <a:spcPct val="140000"/>
              </a:lnSpc>
              <a:spcBef>
                <a:spcPts val="600"/>
              </a:spcBef>
              <a:spcAft>
                <a:spcPts val="600"/>
              </a:spcAft>
            </a:pPr>
            <a:r>
              <a:rPr lang="en-US" dirty="0">
                <a:latin typeface="Arial" panose="020B0604020202020204" pitchFamily="34" charset="0"/>
                <a:cs typeface="Arial" panose="020B0604020202020204" pitchFamily="34" charset="0"/>
              </a:rPr>
              <a:t>Digest request</a:t>
            </a:r>
          </a:p>
          <a:p>
            <a:pPr marL="539750" indent="-357188">
              <a:lnSpc>
                <a:spcPct val="140000"/>
              </a:lnSpc>
              <a:spcBef>
                <a:spcPts val="600"/>
              </a:spcBef>
              <a:spcAft>
                <a:spcPts val="600"/>
              </a:spcAft>
            </a:pPr>
            <a:r>
              <a:rPr lang="en-US" dirty="0">
                <a:latin typeface="Arial" panose="020B0604020202020204" pitchFamily="34" charset="0"/>
                <a:cs typeface="Arial" panose="020B0604020202020204" pitchFamily="34" charset="0"/>
              </a:rPr>
              <a:t>Read repair request</a:t>
            </a:r>
          </a:p>
          <a:p>
            <a:pPr marL="0" indent="0">
              <a:lnSpc>
                <a:spcPct val="140000"/>
              </a:lnSpc>
              <a:spcBef>
                <a:spcPts val="1200"/>
              </a:spcBef>
              <a:spcAft>
                <a:spcPts val="600"/>
              </a:spcAft>
              <a:buNone/>
            </a:pPr>
            <a:r>
              <a:rPr lang="en-US" dirty="0">
                <a:latin typeface="Arial" panose="020B0604020202020204" pitchFamily="34" charset="0"/>
                <a:cs typeface="Arial" panose="020B0604020202020204" pitchFamily="34" charset="0"/>
              </a:rPr>
              <a:t>The coordinator sends direct request to one of the replicas. After that, the coordinator sends the digest request to the number of replicas specified by the consistency level and checks whether the returned data is an updated data.</a:t>
            </a:r>
          </a:p>
          <a:p>
            <a:pPr marL="0" indent="0">
              <a:lnSpc>
                <a:spcPct val="140000"/>
              </a:lnSpc>
              <a:spcBef>
                <a:spcPts val="1200"/>
              </a:spcBef>
              <a:spcAft>
                <a:spcPts val="600"/>
              </a:spcAft>
              <a:buNone/>
            </a:pPr>
            <a:r>
              <a:rPr lang="en-US" dirty="0">
                <a:latin typeface="Arial" panose="020B0604020202020204" pitchFamily="34" charset="0"/>
                <a:cs typeface="Arial" panose="020B0604020202020204" pitchFamily="34" charset="0"/>
              </a:rPr>
              <a:t>After that, the coordinator sends Read repair request to all the remaining replicas. If any node gives out of date value, a background read repair request will update that data. This process is called read repair mechanism.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583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Read Operation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40000"/>
              </a:lnSpc>
              <a:spcBef>
                <a:spcPts val="1200"/>
              </a:spcBef>
              <a:spcAft>
                <a:spcPts val="600"/>
              </a:spcAft>
              <a:buNone/>
            </a:pPr>
            <a:r>
              <a:rPr lang="en-US" sz="2300" dirty="0">
                <a:latin typeface="Arial" panose="020B0604020202020204" pitchFamily="34" charset="0"/>
                <a:cs typeface="Arial" panose="020B0604020202020204" pitchFamily="34" charset="0"/>
              </a:rPr>
              <a:t>During read operations, Cassandra gets values from the mem-table and checks the bloom filter to find the appropriate </a:t>
            </a:r>
            <a:r>
              <a:rPr lang="en-US" sz="2300" dirty="0" err="1">
                <a:latin typeface="Arial" panose="020B0604020202020204" pitchFamily="34" charset="0"/>
                <a:cs typeface="Arial" panose="020B0604020202020204" pitchFamily="34" charset="0"/>
              </a:rPr>
              <a:t>SSTable</a:t>
            </a:r>
            <a:r>
              <a:rPr lang="en-US" sz="2300" dirty="0">
                <a:latin typeface="Arial" panose="020B0604020202020204" pitchFamily="34" charset="0"/>
                <a:cs typeface="Arial" panose="020B0604020202020204" pitchFamily="34" charset="0"/>
              </a:rPr>
              <a:t> that holds the required data.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3189371" y="2923158"/>
            <a:ext cx="5813258" cy="3433192"/>
          </a:xfrm>
          <a:prstGeom prst="rect">
            <a:avLst/>
          </a:prstGeom>
        </p:spPr>
      </p:pic>
    </p:spTree>
    <p:extLst>
      <p:ext uri="{BB962C8B-B14F-4D97-AF65-F5344CB8AC3E}">
        <p14:creationId xmlns:p14="http://schemas.microsoft.com/office/powerpoint/2010/main" val="2512854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 Data Model</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1673" y="1690688"/>
            <a:ext cx="7168654" cy="4451429"/>
          </a:xfrm>
          <a:prstGeom prst="rect">
            <a:avLst/>
          </a:prstGeom>
        </p:spPr>
      </p:pic>
    </p:spTree>
    <p:extLst>
      <p:ext uri="{BB962C8B-B14F-4D97-AF65-F5344CB8AC3E}">
        <p14:creationId xmlns:p14="http://schemas.microsoft.com/office/powerpoint/2010/main" val="735281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 Data Model</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data model of Cassandra is significantly different from what we normally see in an RDBMS.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Cluster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Cassandra database is distributed over several machines that operate together. The </a:t>
            </a:r>
            <a:r>
              <a:rPr lang="en-US" sz="2400" dirty="0">
                <a:solidFill>
                  <a:srgbClr val="FF0000"/>
                </a:solidFill>
                <a:latin typeface="Arial" panose="020B0604020202020204" pitchFamily="34" charset="0"/>
                <a:cs typeface="Arial" panose="020B0604020202020204" pitchFamily="34" charset="0"/>
              </a:rPr>
              <a:t>outermost container is known as the Cluster</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For failure handling, every node contains a replica</a:t>
            </a:r>
            <a:r>
              <a:rPr lang="en-US" sz="2400" dirty="0">
                <a:latin typeface="Arial" panose="020B0604020202020204" pitchFamily="34" charset="0"/>
                <a:cs typeface="Arial" panose="020B0604020202020204" pitchFamily="34" charset="0"/>
              </a:rPr>
              <a:t>, and in case of a failure, the replica takes charge. Cassandra arranges the nodes in a cluster, in a ring format, and assigns data to them.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42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Keyspace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Column families − </a:t>
            </a: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is a container for a list of one or more column families. A column family, in turn, is a container of a collection of rows. Each row contains ordered columns. Column families represent the structure of your data. Each </a:t>
            </a: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has at least one and often many column families.</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is the outermost container for data in Cassandra. The basic attributes of a </a:t>
            </a: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in Cassandra are: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Replication factor − It is the number of machines in the cluster that will receive copies of the same data.</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Replica placement strategy − It is the strategy to place replicas in the ring. We have strategies such as simple strategy (rack-aware strategy), old network topology strategy (rack-aware strategy), and network topology strategy (datacenter-shared strategy).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8474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Keyspace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syntax of creating a </a:t>
            </a: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is as follows:</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CREATE KEYSPACE </a:t>
            </a:r>
            <a:r>
              <a:rPr lang="en-US" sz="2400" dirty="0" err="1">
                <a:solidFill>
                  <a:srgbClr val="FF0000"/>
                </a:solidFill>
                <a:latin typeface="Arial" panose="020B0604020202020204" pitchFamily="34" charset="0"/>
                <a:cs typeface="Arial" panose="020B0604020202020204" pitchFamily="34" charset="0"/>
              </a:rPr>
              <a:t>Keyspace</a:t>
            </a:r>
            <a:r>
              <a:rPr lang="en-US" sz="2400" dirty="0">
                <a:solidFill>
                  <a:srgbClr val="FF0000"/>
                </a:solidFill>
                <a:latin typeface="Arial" panose="020B0604020202020204" pitchFamily="34" charset="0"/>
                <a:cs typeface="Arial" panose="020B0604020202020204" pitchFamily="34" charset="0"/>
              </a:rPr>
              <a:t> name WITH replication = {'class': '</a:t>
            </a:r>
            <a:r>
              <a:rPr lang="en-US" sz="2400" dirty="0" err="1">
                <a:solidFill>
                  <a:srgbClr val="FF0000"/>
                </a:solidFill>
                <a:latin typeface="Arial" panose="020B0604020202020204" pitchFamily="34" charset="0"/>
                <a:cs typeface="Arial" panose="020B0604020202020204" pitchFamily="34" charset="0"/>
              </a:rPr>
              <a:t>SimpleStrategy</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replication_factor</a:t>
            </a:r>
            <a:r>
              <a:rPr lang="en-US" sz="2400" dirty="0">
                <a:solidFill>
                  <a:srgbClr val="FF0000"/>
                </a:solidFill>
                <a:latin typeface="Arial" panose="020B0604020202020204" pitchFamily="34" charset="0"/>
                <a:cs typeface="Arial" panose="020B0604020202020204" pitchFamily="34" charset="0"/>
              </a:rPr>
              <a:t>' : 3};</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pic>
        <p:nvPicPr>
          <p:cNvPr id="1027" name="Picture 3" descr="Keysp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1762" y="3224212"/>
            <a:ext cx="4257675" cy="2952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22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Columnar Data Model</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A </a:t>
            </a:r>
            <a:r>
              <a:rPr lang="en-US" sz="2000" dirty="0" err="1">
                <a:latin typeface="Arial" panose="020B0604020202020204" pitchFamily="34" charset="0"/>
                <a:cs typeface="Arial" panose="020B0604020202020204" pitchFamily="34" charset="0"/>
              </a:rPr>
              <a:t>keyspace</a:t>
            </a:r>
            <a:r>
              <a:rPr lang="en-US" sz="2000" dirty="0">
                <a:latin typeface="Arial" panose="020B0604020202020204" pitchFamily="34" charset="0"/>
                <a:cs typeface="Arial" panose="020B0604020202020204" pitchFamily="34" charset="0"/>
              </a:rPr>
              <a:t> containing  	          A column family containing         how each row is constructed</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column families.   	          3 rows. Each row contains its</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own set of columns.</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pic>
        <p:nvPicPr>
          <p:cNvPr id="2052" name="Picture 4" descr="Diagram of a keyspace containing column famil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10957"/>
            <a:ext cx="2902052" cy="32660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iagram of a column family in a wide column store data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9104" y="2962339"/>
            <a:ext cx="3687361" cy="321462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iagram of rows and columns in a wide column store databa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0063" y="3016251"/>
            <a:ext cx="3910955" cy="962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054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 Family</a:t>
            </a:r>
          </a:p>
        </p:txBody>
      </p:sp>
      <p:sp>
        <p:nvSpPr>
          <p:cNvPr id="3" name="Content Placeholder 2"/>
          <p:cNvSpPr>
            <a:spLocks noGrp="1"/>
          </p:cNvSpPr>
          <p:nvPr>
            <p:ph idx="1"/>
          </p:nvPr>
        </p:nvSpPr>
        <p:spPr>
          <a:xfrm>
            <a:off x="838200" y="1690688"/>
            <a:ext cx="10515600" cy="4486275"/>
          </a:xfrm>
        </p:spPr>
        <p:txBody>
          <a:bodyPr>
            <a:normAutofit fontScale="850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column family is a container for an ordered collection of rows. Each row, in turn, is an ordered collection of columns. The following table lists the points that differentiate a column family from a table of relational databases.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Cassandra column family has the following attributes −</a:t>
            </a:r>
          </a:p>
          <a:p>
            <a:pPr marL="539750" indent="-357188">
              <a:lnSpc>
                <a:spcPct val="120000"/>
              </a:lnSpc>
              <a:spcBef>
                <a:spcPts val="600"/>
              </a:spcBef>
              <a:spcAft>
                <a:spcPts val="600"/>
              </a:spcAft>
            </a:pPr>
            <a:r>
              <a:rPr lang="en-US" sz="2400" dirty="0" err="1">
                <a:latin typeface="Arial" panose="020B0604020202020204" pitchFamily="34" charset="0"/>
                <a:cs typeface="Arial" panose="020B0604020202020204" pitchFamily="34" charset="0"/>
              </a:rPr>
              <a:t>keys_cached</a:t>
            </a:r>
            <a:r>
              <a:rPr lang="en-US" sz="2400" dirty="0">
                <a:latin typeface="Arial" panose="020B0604020202020204" pitchFamily="34" charset="0"/>
                <a:cs typeface="Arial" panose="020B0604020202020204" pitchFamily="34" charset="0"/>
              </a:rPr>
              <a:t> − It represents the number of locations to keep cached per </a:t>
            </a:r>
            <a:r>
              <a:rPr lang="en-US" sz="2400" dirty="0" err="1">
                <a:latin typeface="Arial" panose="020B0604020202020204" pitchFamily="34" charset="0"/>
                <a:cs typeface="Arial" panose="020B0604020202020204" pitchFamily="34" charset="0"/>
              </a:rPr>
              <a:t>SSTable</a:t>
            </a:r>
            <a:r>
              <a:rPr lang="en-US" sz="24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400" dirty="0" err="1">
                <a:latin typeface="Arial" panose="020B0604020202020204" pitchFamily="34" charset="0"/>
                <a:cs typeface="Arial" panose="020B0604020202020204" pitchFamily="34" charset="0"/>
              </a:rPr>
              <a:t>rows_cached</a:t>
            </a:r>
            <a:r>
              <a:rPr lang="en-US" sz="2400" dirty="0">
                <a:latin typeface="Arial" panose="020B0604020202020204" pitchFamily="34" charset="0"/>
                <a:cs typeface="Arial" panose="020B0604020202020204" pitchFamily="34" charset="0"/>
              </a:rPr>
              <a:t> − It represents the number of rows whose entire contents will be cached in memory.</a:t>
            </a:r>
          </a:p>
          <a:p>
            <a:pPr marL="539750" indent="-357188">
              <a:lnSpc>
                <a:spcPct val="120000"/>
              </a:lnSpc>
              <a:spcBef>
                <a:spcPts val="600"/>
              </a:spcBef>
              <a:spcAft>
                <a:spcPts val="600"/>
              </a:spcAft>
            </a:pPr>
            <a:r>
              <a:rPr lang="en-US" sz="2400" dirty="0" err="1">
                <a:latin typeface="Arial" panose="020B0604020202020204" pitchFamily="34" charset="0"/>
                <a:cs typeface="Arial" panose="020B0604020202020204" pitchFamily="34" charset="0"/>
              </a:rPr>
              <a:t>preload_row_cache</a:t>
            </a:r>
            <a:r>
              <a:rPr lang="en-US" sz="2400" dirty="0">
                <a:latin typeface="Arial" panose="020B0604020202020204" pitchFamily="34" charset="0"/>
                <a:cs typeface="Arial" panose="020B0604020202020204" pitchFamily="34" charset="0"/>
              </a:rPr>
              <a:t> − It specifies whether you want to pre-populate the row cache.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Note − Unlike relational tables where a </a:t>
            </a:r>
            <a:r>
              <a:rPr lang="en-US" sz="2400" dirty="0">
                <a:solidFill>
                  <a:srgbClr val="FF0000"/>
                </a:solidFill>
                <a:latin typeface="Arial" panose="020B0604020202020204" pitchFamily="34" charset="0"/>
                <a:cs typeface="Arial" panose="020B0604020202020204" pitchFamily="34" charset="0"/>
              </a:rPr>
              <a:t>column family’s schema is not fixed</a:t>
            </a:r>
            <a:r>
              <a:rPr lang="en-US" sz="2400" dirty="0">
                <a:latin typeface="Arial" panose="020B0604020202020204" pitchFamily="34" charset="0"/>
                <a:cs typeface="Arial" panose="020B0604020202020204" pitchFamily="34" charset="0"/>
              </a:rPr>
              <a:t>, Cassandra does not force individual rows to have all the columns.</a:t>
            </a:r>
            <a:endParaRPr lang="en-US" sz="2400" dirty="0">
              <a:solidFill>
                <a:srgbClr val="FF000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2276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 and Super Column</a:t>
            </a:r>
          </a:p>
        </p:txBody>
      </p:sp>
      <p:sp>
        <p:nvSpPr>
          <p:cNvPr id="3" name="Content Placeholder 2"/>
          <p:cNvSpPr>
            <a:spLocks noGrp="1"/>
          </p:cNvSpPr>
          <p:nvPr>
            <p:ph idx="1"/>
          </p:nvPr>
        </p:nvSpPr>
        <p:spPr>
          <a:xfrm>
            <a:off x="838200" y="1690688"/>
            <a:ext cx="5321968" cy="4486275"/>
          </a:xfrm>
        </p:spPr>
        <p:txBody>
          <a:bodyPr>
            <a:normAutofit fontScale="850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Column</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column is the basic data structure of Cassandra with three values, namely key or column name, value, and a time stamp. Given below is the structure of a column.</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SuperColumn</a:t>
            </a:r>
            <a:endParaRPr lang="en-US" sz="2400" dirty="0">
              <a:latin typeface="Arial" panose="020B0604020202020204" pitchFamily="34" charset="0"/>
              <a:cs typeface="Arial" panose="020B0604020202020204" pitchFamily="34" charset="0"/>
            </a:endParaRP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super column is a special column, therefore, it is also a key-value pair. But a super column stores a map of sub-columns.</a:t>
            </a:r>
            <a:endParaRPr lang="en-US" sz="2400" dirty="0">
              <a:solidFill>
                <a:srgbClr val="FF000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pic>
        <p:nvPicPr>
          <p:cNvPr id="3074" name="Picture 2" descr="Cassandra Structure Of Colum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0168" y="2408823"/>
            <a:ext cx="5257244" cy="101666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ssandra Super Colum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780" y="4260166"/>
            <a:ext cx="5193632" cy="1516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735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Features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Massively Scalable Architecture: Cassandra has a </a:t>
            </a:r>
            <a:r>
              <a:rPr lang="en-US" sz="2400" dirty="0" err="1">
                <a:latin typeface="Arial" panose="020B0604020202020204" pitchFamily="34" charset="0"/>
                <a:cs typeface="Arial" panose="020B0604020202020204" pitchFamily="34" charset="0"/>
              </a:rPr>
              <a:t>masterless</a:t>
            </a:r>
            <a:r>
              <a:rPr lang="en-US" sz="2400" dirty="0">
                <a:latin typeface="Arial" panose="020B0604020202020204" pitchFamily="34" charset="0"/>
                <a:cs typeface="Arial" panose="020B0604020202020204" pitchFamily="34" charset="0"/>
              </a:rPr>
              <a:t> design where all nodes are at the same level which provides operational simplicity and easy scale out.</a:t>
            </a:r>
          </a:p>
          <a:p>
            <a:pPr marL="539750" indent="-366713">
              <a:lnSpc>
                <a:spcPct val="120000"/>
              </a:lnSpc>
              <a:spcBef>
                <a:spcPts val="600"/>
              </a:spcBef>
              <a:spcAft>
                <a:spcPts val="600"/>
              </a:spcAft>
            </a:pPr>
            <a:r>
              <a:rPr lang="en-US" sz="2400" dirty="0" err="1">
                <a:latin typeface="Arial" panose="020B0604020202020204" pitchFamily="34" charset="0"/>
                <a:cs typeface="Arial" panose="020B0604020202020204" pitchFamily="34" charset="0"/>
              </a:rPr>
              <a:t>Masterless</a:t>
            </a:r>
            <a:r>
              <a:rPr lang="en-US" sz="2400" dirty="0">
                <a:latin typeface="Arial" panose="020B0604020202020204" pitchFamily="34" charset="0"/>
                <a:cs typeface="Arial" panose="020B0604020202020204" pitchFamily="34" charset="0"/>
              </a:rPr>
              <a:t> Architecture: Data can be written and read on any node.</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Linear Scale Performance: As more nodes are added, the performance of Cassandra increases.</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No Single point of failure: Cassandra replicates data on different nodes that ensures no single point of failure.</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Fault Detection and Recovery: Failed nodes can easily be restored and recovered.</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1554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Features</a:t>
            </a: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Flexible and Dynamic Data Model: Supports datatypes with Fast writes and reads.</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Data Protection: Data is protected with commit log design and build in security like backup and restore mechanisms.</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Tunable Data Consistency: Support for strong data consistency across distributed architecture.</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Multi Data Center Replication: Cassandra provides feature to replicate data across multiple data center.</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Data Compression: Cassandra can compress up to 80% data without any overhead.</a:t>
            </a:r>
          </a:p>
          <a:p>
            <a:pPr marL="539750"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Cassandra Query language: Cassandra provides query language that is similar like SQL language. It makes very easy for relational database developers moving from relational database to Cassandra.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7938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a:latin typeface="Arial" panose="020B0604020202020204" pitchFamily="34" charset="0"/>
                <a:cs typeface="Arial" panose="020B0604020202020204" pitchFamily="34" charset="0"/>
              </a:rPr>
              <a:t>Cassandra</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15-04-2023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2634</TotalTime>
  <Words>1886</Words>
  <Application>Microsoft Office PowerPoint</Application>
  <PresentationFormat>Widescreen</PresentationFormat>
  <Paragraphs>192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(Body)</vt:lpstr>
      <vt:lpstr>Calibri Light</vt:lpstr>
      <vt:lpstr>Office Theme</vt:lpstr>
      <vt:lpstr>Course code : CSE3009 Course title  : No SQL Data Bases Module  : 5     Topic   : 2</vt:lpstr>
      <vt:lpstr>Objectives</vt:lpstr>
      <vt:lpstr>Cassandra History</vt:lpstr>
      <vt:lpstr>Cassandra Architecture</vt:lpstr>
      <vt:lpstr>Cassandra</vt:lpstr>
      <vt:lpstr>Components of Cassandra</vt:lpstr>
      <vt:lpstr>Components of Cassandra</vt:lpstr>
      <vt:lpstr>Data Replication</vt:lpstr>
      <vt:lpstr>Data Replication</vt:lpstr>
      <vt:lpstr>SimpleStrategy</vt:lpstr>
      <vt:lpstr>NetworkTopologyStrategy</vt:lpstr>
      <vt:lpstr>Write Operation</vt:lpstr>
      <vt:lpstr>Write Operation - Steps</vt:lpstr>
      <vt:lpstr>Read Operation</vt:lpstr>
      <vt:lpstr>Read Operation</vt:lpstr>
      <vt:lpstr>Cassandra - Data Model</vt:lpstr>
      <vt:lpstr>Cassandra - Data Model</vt:lpstr>
      <vt:lpstr>Keyspace</vt:lpstr>
      <vt:lpstr>Keyspace</vt:lpstr>
      <vt:lpstr>Columnar Data Model</vt:lpstr>
      <vt:lpstr>Column Family</vt:lpstr>
      <vt:lpstr>Column and Super Column</vt:lpstr>
      <vt:lpstr>Cassandra Features</vt:lpstr>
      <vt:lpstr>Cassandra Features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117</cp:revision>
  <dcterms:created xsi:type="dcterms:W3CDTF">2019-11-30T05:18:24Z</dcterms:created>
  <dcterms:modified xsi:type="dcterms:W3CDTF">2023-04-15T09:40:53Z</dcterms:modified>
</cp:coreProperties>
</file>