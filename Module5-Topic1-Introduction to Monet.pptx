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258" r:id="rId3"/>
    <p:sldId id="332" r:id="rId4"/>
    <p:sldId id="260" r:id="rId5"/>
    <p:sldId id="371" r:id="rId6"/>
    <p:sldId id="333" r:id="rId7"/>
    <p:sldId id="334" r:id="rId8"/>
    <p:sldId id="335" r:id="rId9"/>
    <p:sldId id="336" r:id="rId10"/>
    <p:sldId id="337" r:id="rId11"/>
    <p:sldId id="338" r:id="rId12"/>
    <p:sldId id="339" r:id="rId13"/>
    <p:sldId id="340" r:id="rId14"/>
    <p:sldId id="341" r:id="rId15"/>
    <p:sldId id="342" r:id="rId16"/>
    <p:sldId id="343" r:id="rId17"/>
    <p:sldId id="344" r:id="rId18"/>
    <p:sldId id="345" r:id="rId19"/>
    <p:sldId id="346" r:id="rId20"/>
    <p:sldId id="347" r:id="rId21"/>
    <p:sldId id="348" r:id="rId22"/>
    <p:sldId id="349" r:id="rId23"/>
    <p:sldId id="350" r:id="rId24"/>
    <p:sldId id="351" r:id="rId25"/>
    <p:sldId id="352" r:id="rId26"/>
    <p:sldId id="353" r:id="rId27"/>
    <p:sldId id="354" r:id="rId28"/>
    <p:sldId id="355" r:id="rId29"/>
    <p:sldId id="356" r:id="rId30"/>
    <p:sldId id="357" r:id="rId31"/>
    <p:sldId id="358" r:id="rId32"/>
    <p:sldId id="359" r:id="rId33"/>
    <p:sldId id="360" r:id="rId34"/>
    <p:sldId id="361" r:id="rId35"/>
    <p:sldId id="362" r:id="rId36"/>
    <p:sldId id="363" r:id="rId37"/>
    <p:sldId id="364" r:id="rId38"/>
    <p:sldId id="374" r:id="rId39"/>
    <p:sldId id="372" r:id="rId40"/>
    <p:sldId id="373" r:id="rId41"/>
    <p:sldId id="369" r:id="rId42"/>
    <p:sldId id="366" r:id="rId43"/>
    <p:sldId id="367" r:id="rId44"/>
    <p:sldId id="368" r:id="rId45"/>
    <p:sldId id="370" r:id="rId46"/>
    <p:sldId id="259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CC00"/>
    <a:srgbClr val="2102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F716F9-1CCB-412E-807B-54E78A47C39C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070DDA-CF3D-48BA-A0B0-D24E17EB7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869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207AF-BBE6-41CB-838F-3B91C45E6842}" type="datetime1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577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001CB-2F0D-4565-974A-BB3B4237F7A0}" type="datetime1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86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5E08F-6321-4732-8935-8B18B4878320}" type="datetime1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895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E6CD2-53BA-43CE-85B2-BECBEC79BED8}" type="datetime1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958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0AD05-A4E4-4CA4-974B-F265446B2FC3}" type="datetime1">
              <a:rPr lang="en-IN" smtClean="0"/>
              <a:t>27-09-2025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418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D32E8-1E32-4E2A-B217-B612998A856C}" type="datetime1">
              <a:rPr lang="en-IN" smtClean="0"/>
              <a:t>27-09-2025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863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E7F75-E219-4A7A-86AA-8B901170D2FE}" type="datetime1">
              <a:rPr lang="en-IN" smtClean="0"/>
              <a:t>27-09-2025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41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16AFA-FDBE-49F0-A857-020340421B04}" type="datetime1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355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76920-F609-41C5-957C-A5E46109118D}" type="datetime1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15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8AA1-2BEE-4CB8-A992-73CF63948E2E}" type="datetime1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89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EAF6-71C1-4CCC-BB0E-BC6703073DD8}" type="datetime1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57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A101D-20D2-4D81-A838-9588DFC7E809}" type="datetime1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79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www.monetdb.org/easy-setup/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1524000" y="2178260"/>
            <a:ext cx="9144000" cy="953575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code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CSE3009</a:t>
            </a:r>
            <a:b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title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SQL Data Bases</a:t>
            </a:r>
            <a:b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		</a:t>
            </a:r>
            <a:b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	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1402183" y="3677818"/>
            <a:ext cx="9144000" cy="1655762"/>
          </a:xfrm>
        </p:spPr>
        <p:txBody>
          <a:bodyPr>
            <a:normAutofit/>
          </a:bodyPr>
          <a:lstStyle/>
          <a:p>
            <a:r>
              <a:rPr lang="it-IT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MonetDB</a:t>
            </a:r>
            <a:endParaRPr lang="en-IN" sz="4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728E3-B72D-49A5-85A2-5AE45557AE43}" type="datetime1">
              <a:rPr lang="en-IN" smtClean="0">
                <a:latin typeface="Calibri (Body)"/>
              </a:rPr>
              <a:t>27-09-2025</a:t>
            </a:fld>
            <a:endParaRPr lang="en-IN" dirty="0">
              <a:latin typeface="Calibri (Body)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Gopikrishnan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9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Introduction to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Key Concepts, 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Column-store Architectures vs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Introduction to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SQL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Installation and basic CRUD Operations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611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</a:t>
            </a:r>
            <a:r>
              <a:rPr lang="en-IN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an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open-source, high-performance column-oriented database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designed for modern analytics and scientific data processing environments.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stores data by columns instead of rows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optimizing query execution speed, memory access, and hardware utilization for large datasets.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introduced in 1993 by CWI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pioneered column-store innovations in the field of data warehousing and analytics.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Widely used in business intelligence, eScience, and research contexts where efficient large-scale data analysis is required.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continues to evolve, offering advanced features, performance improvements, and strong community-driven development support.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243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Column-Store Database Kernel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represents database relations as columns (arrays) instead of rows, ensuring high efficiency in analytical workloads.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column can scale to gigabytes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loaded dynamically into memory by the operating system as needed.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structure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minimizes unnecessary data reads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improving speed for queries needing only selected attributes.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Columnar representation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allows for effective compression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reducing storage footprint and accelerating query performance significantly.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MonetDB’s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architecture fundamentally differs from traditional row-store systems such as MySQL or PostgreSQL.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351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C5945-B6E4-66D1-9884-2E1D2C4D3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71F6A-AA74-FC3A-2B26-F52AB2AC1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Column-Store Database Kernel</a:t>
            </a:r>
          </a:p>
        </p:txBody>
      </p:sp>
      <p:pic>
        <p:nvPicPr>
          <p:cNvPr id="4" name="Picture 2" descr="Image result for vit ap logo">
            <a:extLst>
              <a:ext uri="{FF2B5EF4-FFF2-40B4-BE49-F238E27FC236}">
                <a16:creationId xmlns:a16="http://schemas.microsoft.com/office/drawing/2014/main" id="{717D686C-9F77-C143-62EC-49F0F4BA3B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5779AB-F104-21D8-B6E1-0DD4E18C2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88DECA-BB1C-39B0-75B7-277F25F42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CF0B45-333E-79E0-B3CD-AE9388690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7F6C65-0185-3669-FB51-3EC6B923FB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2862" y="1690688"/>
            <a:ext cx="4486275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526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6E7B8-9481-E772-067C-448FFB695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65BFF-09BF-5DB1-A435-D50345A5E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High-Performance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98E9B-68BB-9800-523F-24B6182E0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excels when datasets or “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hot sets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” largely fit within main memory for rapid access.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Only necessary columns are accessed, reducing I/O and improving cache utilization for analytical queries.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Cache-conscious algorithms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further accelerate query execution, exploiting modern CPU cache hierarchies effectively.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Suitable for workloads involving wide tables but queries touching only a few attributes per request.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Offers competitive performance compared to traditional relational systems, especially in analytics and reporting domains.</a:t>
            </a:r>
          </a:p>
        </p:txBody>
      </p:sp>
      <p:pic>
        <p:nvPicPr>
          <p:cNvPr id="4" name="Picture 2" descr="Image result for vit ap logo">
            <a:extLst>
              <a:ext uri="{FF2B5EF4-FFF2-40B4-BE49-F238E27FC236}">
                <a16:creationId xmlns:a16="http://schemas.microsoft.com/office/drawing/2014/main" id="{483E9969-79DD-837E-AE92-8D814D3F3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5DF75D-ABAD-5B42-561C-D77E44AF6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5B6192-BDDD-1050-8A0C-C146B697C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F6EFE1-696E-98AC-A226-955E4360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469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7F01D-1811-AB7B-6D7B-8B517B01D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3D7E4-FBC1-16E0-82CF-CDC1EBA35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Multi-Core Power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E2B8A-1125-E904-00D3-D8EAFCC47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optimized for parallel execution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leveraging modern multi-core processors to reduce query response time.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Supports complex query processing by distributing workload across multiple cores simultaneously.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Incorporates techniques for distributed processing, but emphasizes thoughtful design instead of brute force scaling.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MapReduce suffices for simple parallel jobs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while complex problems demand careful schema design and replication strategies.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showcases scalable performance improvements for real-world analytical workloads on multi-core hardware.</a:t>
            </a:r>
          </a:p>
        </p:txBody>
      </p:sp>
      <p:pic>
        <p:nvPicPr>
          <p:cNvPr id="4" name="Picture 2" descr="Image result for vit ap logo">
            <a:extLst>
              <a:ext uri="{FF2B5EF4-FFF2-40B4-BE49-F238E27FC236}">
                <a16:creationId xmlns:a16="http://schemas.microsoft.com/office/drawing/2014/main" id="{6D1F2F45-15E4-F086-D55D-BA98C3FC1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018CB5-6795-6EC9-D1B2-8462450A9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89E87E-B82E-5425-85EC-4C7E4BFF0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0473E8-9DD2-51BB-F35C-BD088E76A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613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51E79-C4A8-30D4-E33C-F2B552634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31262-9A41-4899-737D-AA09924BC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Versatile Algebraic Kernel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4680C-E330-938F-4725-2A8AE4EDF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employs </a:t>
            </a: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Assembly Language (MAL)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an internal algebraic language for query execution.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MAL bridges declarative SQL queries and low-level kernel operations efficiently.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enables flexible query translation pipelines, supporting optimization and parallelization strategies effectively.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MAL also supports distributed execution protocols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multi-server deployments of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SQL-to-MAL compiler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ensures compliance with SQL standards while exploiting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MonetDB’s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algebraic processing strengths.</a:t>
            </a:r>
          </a:p>
        </p:txBody>
      </p:sp>
      <p:pic>
        <p:nvPicPr>
          <p:cNvPr id="4" name="Picture 2" descr="Image result for vit ap logo">
            <a:extLst>
              <a:ext uri="{FF2B5EF4-FFF2-40B4-BE49-F238E27FC236}">
                <a16:creationId xmlns:a16="http://schemas.microsoft.com/office/drawing/2014/main" id="{9719C582-4A9C-E861-52F3-7A8E3056C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6D54EE-48F6-242F-D17A-61AB7F897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B0233C-9070-06BF-D22C-9A22C1469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9C1085-802A-E719-D2BE-25B536D76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439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8E685-F6D7-8C8B-40B2-A3A64F983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531DB-4536-280A-C870-7BA614723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Scalability and Size Limits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43FA7-2BD3-4991-774E-85BBFAC95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77500" lnSpcReduction="20000"/>
          </a:bodyPr>
          <a:lstStyle/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database size depends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heavily on system architecture and file system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with 64-bit platforms supporting substantially larger capacities than 32-bit ones.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column is represented as a file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where overall storage limitations are imposed by underlying operating system capabilities and available physical hardware resources.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Practically, </a:t>
            </a: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allows creation of tables with a very large number of columns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enabling storage of extremely wide relational datasets.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concurrency is configurable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with system threads dynamically adapting resource allocation to match workload intensity and concurrent analytical processing requirements.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MonetDB’s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architecture supports horizontal and vertical scaling strategies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making it suitable for small-scale teaching scenarios and enterprise-level big data analytics.</a:t>
            </a:r>
          </a:p>
        </p:txBody>
      </p:sp>
      <p:pic>
        <p:nvPicPr>
          <p:cNvPr id="4" name="Picture 2" descr="Image result for vit ap logo">
            <a:extLst>
              <a:ext uri="{FF2B5EF4-FFF2-40B4-BE49-F238E27FC236}">
                <a16:creationId xmlns:a16="http://schemas.microsoft.com/office/drawing/2014/main" id="{D5EBD521-9289-4D54-4D1C-DCE22236CC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A7CAF3-4250-8D3E-BFDF-832CFF9F9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005039-0731-833D-7C42-B79868349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CD5FB3-4553-285B-99F7-A3A6E2C13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9909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CD7DE-B586-4A2B-0AE9-8E617530C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9EF79-1108-72B3-14B6-CC9BBEBC2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Extensibility and Customization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191B3-CB10-2C9C-1895-3D226D468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85000" lnSpcReduction="10000"/>
          </a:bodyPr>
          <a:lstStyle/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provides architectural extensibility at every layer, allowing developers and researchers to embed domain-specific features directly into the database kernel.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 optimizer includes customizable hooks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where additional rules and strategies can be injected to adapt execution behavior for specific domain workloads.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Kernel supports custom bulk operators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enabling implementation of high-performance computational primitives for specialized scientific and industrial application domains.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integrates seamlessly with external scientific libraries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extending database operations with advanced functions like matrix algebra, geospatial processing, and text analytics.</a:t>
            </a:r>
          </a:p>
        </p:txBody>
      </p:sp>
      <p:pic>
        <p:nvPicPr>
          <p:cNvPr id="4" name="Picture 2" descr="Image result for vit ap logo">
            <a:extLst>
              <a:ext uri="{FF2B5EF4-FFF2-40B4-BE49-F238E27FC236}">
                <a16:creationId xmlns:a16="http://schemas.microsoft.com/office/drawing/2014/main" id="{89F85168-EE57-14B0-3519-D0D5BF8BAC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D06BF1-97F2-EE90-544A-B938C45AE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648E0-15D3-BD48-BF13-FEBB9EEB3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BAF83E-8981-FFA5-D87A-75270A4F6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8293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90B49-7861-4837-1F12-6C79AA98E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D2C43-F469-AF44-AC67-E36685B94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Broad Application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BBD6A-D24C-DCEF-4A2E-1A3616191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77500" lnSpcReduction="20000"/>
          </a:bodyPr>
          <a:lstStyle/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includes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built-in support for external libraries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such as PCRE, Raptor,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libxml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and GEOS to enable diverse analytic functions.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vault functionality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allows encapsulation of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external file formats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bridging traditional database processing with legacy scientific or enterprise file-based workflows.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Extensively used across genomics, astronomy, and environmental sciences,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demonstrates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versatility for both structured and semi-structured analytical data processing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adapts well for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heterogeneous data integration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where relational records, time-series logs, and XML or RDF documents coexist within one environment.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Its versatility enables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 business intelligence, eScience, and government applications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requiring robust high-performance analytical infrastructures.</a:t>
            </a:r>
          </a:p>
        </p:txBody>
      </p:sp>
      <p:pic>
        <p:nvPicPr>
          <p:cNvPr id="4" name="Picture 2" descr="Image result for vit ap logo">
            <a:extLst>
              <a:ext uri="{FF2B5EF4-FFF2-40B4-BE49-F238E27FC236}">
                <a16:creationId xmlns:a16="http://schemas.microsoft.com/office/drawing/2014/main" id="{9D8E72EA-767D-5D77-FBF3-33BDC9608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A7D0FE-97D2-E0B9-FB6E-E3713823F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459B9F-1C98-F812-8F6E-A2B329597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F3AF4C-ABBD-AD95-2ECA-5043C7F5B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515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82492-331A-7767-5CFB-F192D71EF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9906B-3AEF-BA2C-FFAB-552A4618A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and Programming 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6A5E5-72A0-762C-49B8-99B92C79A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follows SQL:2003 standards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supporting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keys, joins, triggers, views, and procedures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providing familiarity for students and industry professionals.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Transactions are ACID-compliant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maintaining reliability and consistency even under concurrent workloads with multiple analytical and reporting queries executing simultaneously.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Connectivity interfaces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include JDBC, ODBC, PHP, Python, Ruby on Rails, and C/C++, supporting diverse application development environments and ecosystems.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allows developers to extend functionality using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User-Defined Functions (UDFs) written in 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Python, or R programming languages. Broad programming interface support ensures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integration with modern application stacks, enhancing adoption across enterprise, academic, and open-source communities.</a:t>
            </a:r>
          </a:p>
        </p:txBody>
      </p:sp>
      <p:pic>
        <p:nvPicPr>
          <p:cNvPr id="4" name="Picture 2" descr="Image result for vit ap logo">
            <a:extLst>
              <a:ext uri="{FF2B5EF4-FFF2-40B4-BE49-F238E27FC236}">
                <a16:creationId xmlns:a16="http://schemas.microsoft.com/office/drawing/2014/main" id="{8517E418-4F4F-5B8F-0FCC-9AB2A2477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E0ACBF-8245-39D9-C00B-135D14D1C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8BEB7D-0A5F-8337-5C53-8C2274D9D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6E6374-102F-A82B-3D60-9C32D1479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2760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538BE-7700-4984-B8C0-03193A4FE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9F53C-48BC-AC10-59BC-C2A70E6C0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Source and Community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2420E-F0CA-17A5-AFED-477090395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released under Mozilla Public License, allowing free usage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modification, and distribution, encouraging educational and commercial adoption globally.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Strong developer and user community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actively contribute bug fixes, performance improvements, feature requests, and new innovative extensions continuously.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Community support channels include documentation, tutorials, forums, mailing lists, and GitHub repositories, providing help for students and professionals worldwide.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Solutions company offers commercial services, consultancy, and enterprise-grade support, extending usability for mission-critical deployments.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Open-source model ensures accessibility to students, enabling universities to integrate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into curricula without expensive proprietary database licensing costs</a:t>
            </a:r>
          </a:p>
        </p:txBody>
      </p:sp>
      <p:pic>
        <p:nvPicPr>
          <p:cNvPr id="4" name="Picture 2" descr="Image result for vit ap logo">
            <a:extLst>
              <a:ext uri="{FF2B5EF4-FFF2-40B4-BE49-F238E27FC236}">
                <a16:creationId xmlns:a16="http://schemas.microsoft.com/office/drawing/2014/main" id="{3C007858-C877-2EA9-4426-AF00E012B8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838BAE-CA07-2851-4A12-C5F1945C4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A105B0-D6D8-72A3-9904-5C58DB709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1EA4B2-DD03-1077-BF22-FFBAC193C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2065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063F8-A798-1CBD-1D0E-A2BDB6028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5C11D-B48E-B5A7-1647-06250CD80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Oracle vs </a:t>
            </a:r>
            <a:r>
              <a:rPr lang="en-IN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>
            <a:extLst>
              <a:ext uri="{FF2B5EF4-FFF2-40B4-BE49-F238E27FC236}">
                <a16:creationId xmlns:a16="http://schemas.microsoft.com/office/drawing/2014/main" id="{82E3F164-C199-5989-2660-96F24CBB5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2DC96-36CF-AB19-0F64-D0E0BED9A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0A64D4-5099-AD29-B0C2-ED7499E7D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130713-FFD4-0DED-3E8C-86425696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34D39AC-87F4-9B46-1149-81ABD3E708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951028"/>
              </p:ext>
            </p:extLst>
          </p:nvPr>
        </p:nvGraphicFramePr>
        <p:xfrm>
          <a:off x="838199" y="1690687"/>
          <a:ext cx="10515599" cy="3627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60358">
                  <a:extLst>
                    <a:ext uri="{9D8B030D-6E8A-4147-A177-3AD203B41FA5}">
                      <a16:colId xmlns:a16="http://schemas.microsoft.com/office/drawing/2014/main" val="1080232615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3262624259"/>
                    </a:ext>
                  </a:extLst>
                </a:gridCol>
                <a:gridCol w="4911891">
                  <a:extLst>
                    <a:ext uri="{9D8B030D-6E8A-4147-A177-3AD203B41FA5}">
                      <a16:colId xmlns:a16="http://schemas.microsoft.com/office/drawing/2014/main" val="3702999577"/>
                    </a:ext>
                  </a:extLst>
                </a:gridCol>
              </a:tblGrid>
              <a:tr h="23060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Aspect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Oracle RDBMS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MonetDB (Columnar DB)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283332871"/>
                  </a:ext>
                </a:extLst>
              </a:tr>
              <a:tr h="9131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Model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Oracle is a traditional </a:t>
                      </a:r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row-oriented relational database</a:t>
                      </a:r>
                      <a:r>
                        <a:rPr lang="en-IN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optimized for OLTP systems where fast inserts, updates, and transactions are required.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MonetDB</a:t>
                      </a:r>
                      <a:r>
                        <a:rPr lang="en-IN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is a </a:t>
                      </a:r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column-oriented analytical database</a:t>
                      </a:r>
                      <a:r>
                        <a:rPr lang="en-IN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optimized for OLAP queries, where reading specific columns from very large datasets is most important.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691725958"/>
                  </a:ext>
                </a:extLst>
              </a:tr>
              <a:tr h="7826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Query Performance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Oracle </a:t>
                      </a:r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performs strongly in transactional queries </a:t>
                      </a:r>
                      <a:r>
                        <a:rPr lang="en-IN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with mixed read-write operations but can become slower for large analytical aggregations.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MonetDB</a:t>
                      </a:r>
                      <a:r>
                        <a:rPr lang="en-IN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provides </a:t>
                      </a:r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exceptional performance for analytical queries like aggregates, filters, and joins, minimizing </a:t>
                      </a:r>
                      <a:r>
                        <a:rPr lang="en-IN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unnecessary data reads significantly.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547034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77155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A1668-CF05-39A4-38A4-B8F432E67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D3B2B-773B-7009-5420-C1A9BF30F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Oracle vs </a:t>
            </a:r>
            <a:r>
              <a:rPr lang="en-IN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>
            <a:extLst>
              <a:ext uri="{FF2B5EF4-FFF2-40B4-BE49-F238E27FC236}">
                <a16:creationId xmlns:a16="http://schemas.microsoft.com/office/drawing/2014/main" id="{ED6FB421-21B9-A2B9-EC84-E6C6C26E2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67CCB1-81AD-B270-42C1-6588267F4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5E0EF1-C9A6-DAA7-9C41-63F79515F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8446E8-953F-ACFE-490A-EA13C0335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FDA62B7-7AD6-039B-47CF-114311783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834369"/>
              </p:ext>
            </p:extLst>
          </p:nvPr>
        </p:nvGraphicFramePr>
        <p:xfrm>
          <a:off x="838199" y="1690687"/>
          <a:ext cx="10515599" cy="42062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60358">
                  <a:extLst>
                    <a:ext uri="{9D8B030D-6E8A-4147-A177-3AD203B41FA5}">
                      <a16:colId xmlns:a16="http://schemas.microsoft.com/office/drawing/2014/main" val="1080232615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3262624259"/>
                    </a:ext>
                  </a:extLst>
                </a:gridCol>
                <a:gridCol w="4911891">
                  <a:extLst>
                    <a:ext uri="{9D8B030D-6E8A-4147-A177-3AD203B41FA5}">
                      <a16:colId xmlns:a16="http://schemas.microsoft.com/office/drawing/2014/main" val="3702999577"/>
                    </a:ext>
                  </a:extLst>
                </a:gridCol>
              </a:tblGrid>
              <a:tr h="23060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Aspect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Oracle RDBMS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MonetDB (Columnar DB)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283332871"/>
                  </a:ext>
                </a:extLst>
              </a:tr>
              <a:tr h="9131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Storage Architecture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Oracle </a:t>
                      </a:r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stores entire rows together</a:t>
                      </a:r>
                      <a:r>
                        <a:rPr lang="en-IN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which is efficient for transactions needing multiple attributes but less efficient for analytics workloads.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MonetDB</a:t>
                      </a:r>
                      <a:r>
                        <a:rPr lang="en-IN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stores data column-by-column, enabling compression, faster scanning, and efficient memory access </a:t>
                      </a:r>
                      <a:r>
                        <a:rPr lang="en-IN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 analytics with fewer columns accessed.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469184589"/>
                  </a:ext>
                </a:extLst>
              </a:tr>
              <a:tr h="9131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Scalability and Usage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Oracle is widely </a:t>
                      </a:r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deployed in enterprise applications, financial services, ERP</a:t>
                      </a:r>
                      <a:r>
                        <a:rPr lang="en-IN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and mission-critical systems requiring robust transactional support.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MonetDB</a:t>
                      </a:r>
                      <a:r>
                        <a:rPr lang="en-IN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is </a:t>
                      </a:r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primarily used in research, scientific computing, and business intelligence </a:t>
                      </a:r>
                      <a:r>
                        <a:rPr lang="en-IN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scenarios that require </a:t>
                      </a:r>
                      <a:r>
                        <a:rPr lang="en-IN" sz="18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analyzing</a:t>
                      </a:r>
                      <a:r>
                        <a:rPr lang="en-IN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very large data volumes.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94291439"/>
                  </a:ext>
                </a:extLst>
              </a:tr>
              <a:tr h="9131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Licensing and Cost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Oracle is </a:t>
                      </a:r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commercial</a:t>
                      </a:r>
                      <a:r>
                        <a:rPr lang="en-IN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requiring expensive licensing, support, and maintenance fees, which can limit accessibility for smaller organizations.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MonetDB</a:t>
                      </a:r>
                      <a:r>
                        <a:rPr lang="en-IN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 open-source under MPL</a:t>
                      </a:r>
                      <a:r>
                        <a:rPr lang="en-IN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free to use, accessible to students and researchers, encouraging experimentation without licensing restrictions.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17416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9822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BB876-EFE9-9E97-DFF1-A76BABD37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EEEBD-B341-F519-2026-6C0FC4CFB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Applications of </a:t>
            </a:r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Practice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E75F6-87B9-007D-1FD6-6DFFE6C42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SciLens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Project – Scientific portal using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SciQL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for large-scale database processing of scientific applications and complex array queries.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COMMIT/ – National ICT project (Netherlands) using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for real-time harvesting of spatiotemporal data from people, sensors, and observatories.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LDBC – European initiative building benchmarks for RDF data management systems, with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contributing to Semantic Web data handling.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ACTiCLOUD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– Cloud project improving scalability and utilization of cloud resources, leveraging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for holistic distributed data management.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FashionBrain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– Industry project using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to predict fashion trends from social media and provide personalized recommendations to customers.</a:t>
            </a:r>
          </a:p>
        </p:txBody>
      </p:sp>
      <p:pic>
        <p:nvPicPr>
          <p:cNvPr id="4" name="Picture 2" descr="Image result for vit ap logo">
            <a:extLst>
              <a:ext uri="{FF2B5EF4-FFF2-40B4-BE49-F238E27FC236}">
                <a16:creationId xmlns:a16="http://schemas.microsoft.com/office/drawing/2014/main" id="{1136D5CC-423F-386E-89AF-C79F874C5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60FE19-0B09-8448-C16B-27301FC18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47A106-DA87-ABE6-2CB2-DCA9D7821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39EB7F-BCC0-5AD9-6410-6FAF5A6A3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61393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54A95-86F7-93B3-F7FA-5DC31CFB5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B8324-C20F-DA21-7593-FBD6157D2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Applications of </a:t>
            </a:r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Practice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D1533-C569-4313-33FC-7651C2CD9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ExaNeSt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– HPC project supporting exascale supercomputing, where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helps with interconnection networks, storage management, and performance optimization.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LOD2 Project – Focused on scalable management of Linked Data collections, integrating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to manage billions of RDF triples efficiently.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Earth Observation Infrastructure –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used for remote sensing data analytics, supporting forest fire detection and management applications.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EMILI Project – Emergency management project using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MonetDB’s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event-stream processing for SCADA systems in metro stations and airport calamities.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LEO Project (Precision Farming) –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supports linked open Earth Observation data for agriculture, enabling precision farming applications in Europe.</a:t>
            </a:r>
          </a:p>
        </p:txBody>
      </p:sp>
      <p:pic>
        <p:nvPicPr>
          <p:cNvPr id="4" name="Picture 2" descr="Image result for vit ap logo">
            <a:extLst>
              <a:ext uri="{FF2B5EF4-FFF2-40B4-BE49-F238E27FC236}">
                <a16:creationId xmlns:a16="http://schemas.microsoft.com/office/drawing/2014/main" id="{1EBB4AC2-5E8B-DCEC-05B6-66E5B5D13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182A75-F9A9-17F5-775B-0103136F6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F9866-2FD2-848F-B6A8-40AF04FA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CAEB8A-540D-092A-22B4-00825F91E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390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E79EB-29F3-7778-178A-E05D762EA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035A9-7E0C-ED81-7733-B3275B95D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Columnar Database Comparison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>
            <a:extLst>
              <a:ext uri="{FF2B5EF4-FFF2-40B4-BE49-F238E27FC236}">
                <a16:creationId xmlns:a16="http://schemas.microsoft.com/office/drawing/2014/main" id="{738D71D3-B4E0-15AA-12C4-105B45730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9A252D-FDAE-A7EE-BB3A-0B26FBF3B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FDB170-8CB4-3D01-3E19-D41673A54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5315D4-D4A3-D302-E06E-71180B64A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056E2B1-ACCE-99AF-A964-81C7E67A9A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434942"/>
              </p:ext>
            </p:extLst>
          </p:nvPr>
        </p:nvGraphicFramePr>
        <p:xfrm>
          <a:off x="838199" y="1690688"/>
          <a:ext cx="10515599" cy="46329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467292">
                  <a:extLst>
                    <a:ext uri="{9D8B030D-6E8A-4147-A177-3AD203B41FA5}">
                      <a16:colId xmlns:a16="http://schemas.microsoft.com/office/drawing/2014/main" val="2132222207"/>
                    </a:ext>
                  </a:extLst>
                </a:gridCol>
                <a:gridCol w="2904020">
                  <a:extLst>
                    <a:ext uri="{9D8B030D-6E8A-4147-A177-3AD203B41FA5}">
                      <a16:colId xmlns:a16="http://schemas.microsoft.com/office/drawing/2014/main" val="974673104"/>
                    </a:ext>
                  </a:extLst>
                </a:gridCol>
                <a:gridCol w="3423683">
                  <a:extLst>
                    <a:ext uri="{9D8B030D-6E8A-4147-A177-3AD203B41FA5}">
                      <a16:colId xmlns:a16="http://schemas.microsoft.com/office/drawing/2014/main" val="2871364195"/>
                    </a:ext>
                  </a:extLst>
                </a:gridCol>
                <a:gridCol w="2720604">
                  <a:extLst>
                    <a:ext uri="{9D8B030D-6E8A-4147-A177-3AD203B41FA5}">
                      <a16:colId xmlns:a16="http://schemas.microsoft.com/office/drawing/2014/main" val="1718797951"/>
                    </a:ext>
                  </a:extLst>
                </a:gridCol>
              </a:tblGrid>
              <a:tr h="22153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 / Aspect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MonetDB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Amazon Redshift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Apache Cassandra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391964332"/>
                  </a:ext>
                </a:extLst>
              </a:tr>
              <a:tr h="60601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Type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Open-source columnar RDBMS </a:t>
                      </a:r>
                      <a:r>
                        <a:rPr lang="en-IN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optimized for analytics and scientific workloads.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Cloud-based</a:t>
                      </a:r>
                      <a:r>
                        <a:rPr lang="en-IN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fully managed columnar data warehouse service by AWS.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Distributed, wide-column NoSQL store optimized </a:t>
                      </a:r>
                      <a:r>
                        <a:rPr lang="en-IN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 scalability and availability.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902070896"/>
                  </a:ext>
                </a:extLst>
              </a:tr>
              <a:tr h="60601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Primary Use Case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Analytical queries, BI dashboards, scientific data, research projects, and academic teaching.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Enterprise-scale analytics, reporting, ETL pipelines, and large-scale business intelligence.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High-volume real-time applications like IoT, logging, and time-series workloads.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829760640"/>
                  </a:ext>
                </a:extLst>
              </a:tr>
              <a:tr h="50501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Deployment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On-premise or self-hosted on Linux; easy academic/research usage.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Fully cloud-managed service tightly integrated with AWS ecosystem.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Distributed cluster deployment across on-premises or hybrid cloud setups.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722579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89498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D3BF3-9E1A-FF91-92D5-AFB09F7F3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453B0-2C8E-C2D8-DCE6-5DA2C07AB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Columnar Database Comparison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>
            <a:extLst>
              <a:ext uri="{FF2B5EF4-FFF2-40B4-BE49-F238E27FC236}">
                <a16:creationId xmlns:a16="http://schemas.microsoft.com/office/drawing/2014/main" id="{879C771C-9D37-2306-6CF6-9EB965AE0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0CAF76-86C5-79AB-85A1-0E5A58F50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AECBD4-FC70-448F-B20C-106ED582D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73597-20C2-6BBE-9617-D4156BCFB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9FB4BD6-CF37-07CA-4A72-1A449C76D9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46612"/>
              </p:ext>
            </p:extLst>
          </p:nvPr>
        </p:nvGraphicFramePr>
        <p:xfrm>
          <a:off x="838199" y="1690688"/>
          <a:ext cx="10515599" cy="46329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550438">
                  <a:extLst>
                    <a:ext uri="{9D8B030D-6E8A-4147-A177-3AD203B41FA5}">
                      <a16:colId xmlns:a16="http://schemas.microsoft.com/office/drawing/2014/main" val="2132222207"/>
                    </a:ext>
                  </a:extLst>
                </a:gridCol>
                <a:gridCol w="2820874">
                  <a:extLst>
                    <a:ext uri="{9D8B030D-6E8A-4147-A177-3AD203B41FA5}">
                      <a16:colId xmlns:a16="http://schemas.microsoft.com/office/drawing/2014/main" val="974673104"/>
                    </a:ext>
                  </a:extLst>
                </a:gridCol>
                <a:gridCol w="3423683">
                  <a:extLst>
                    <a:ext uri="{9D8B030D-6E8A-4147-A177-3AD203B41FA5}">
                      <a16:colId xmlns:a16="http://schemas.microsoft.com/office/drawing/2014/main" val="2871364195"/>
                    </a:ext>
                  </a:extLst>
                </a:gridCol>
                <a:gridCol w="2720604">
                  <a:extLst>
                    <a:ext uri="{9D8B030D-6E8A-4147-A177-3AD203B41FA5}">
                      <a16:colId xmlns:a16="http://schemas.microsoft.com/office/drawing/2014/main" val="1718797951"/>
                    </a:ext>
                  </a:extLst>
                </a:gridCol>
              </a:tblGrid>
              <a:tr h="22153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 / Aspect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MonetDB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Amazon Redshift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Apache Cassandra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391964332"/>
                  </a:ext>
                </a:extLst>
              </a:tr>
              <a:tr h="50501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Query Language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SQL:2003 compliant with extensions (</a:t>
                      </a:r>
                      <a:r>
                        <a:rPr lang="en-IN" sz="20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SciQL</a:t>
                      </a:r>
                      <a:r>
                        <a:rPr lang="en-IN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for scientific arrays).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ANSI SQL with extensions for analytics and data warehousing.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CQL (Cassandra Query Language), SQL-like but limited joins/aggregates.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4224741312"/>
                  </a:ext>
                </a:extLst>
              </a:tr>
              <a:tr h="50501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Performance Strengths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Excellent for columnar scans, aggregates, joins, and ad hoc analytical queries.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Optimized for petabyte-scale analytics with parallel query execution.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Very high write throughput, fault tolerance, and linear horizontal scalability.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522662129"/>
                  </a:ext>
                </a:extLst>
              </a:tr>
              <a:tr h="60601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Transactions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Fully ACID-compliant, suitable for reliable analytics workloads.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ACID for transactions but tuned more for read-heavy analytics workloads.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Offers </a:t>
                      </a:r>
                      <a:r>
                        <a:rPr lang="en-IN" sz="20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tunable</a:t>
                      </a:r>
                      <a:r>
                        <a:rPr lang="en-IN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consistency, but not full ACID compliance, prioritizing availability.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8828144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27562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14B58-33EE-13C5-5123-EFC5EE637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F1B3D-0282-7165-23D3-ECD7BBA3B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Columnar Database Comparison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>
            <a:extLst>
              <a:ext uri="{FF2B5EF4-FFF2-40B4-BE49-F238E27FC236}">
                <a16:creationId xmlns:a16="http://schemas.microsoft.com/office/drawing/2014/main" id="{64D8C7F4-4488-06A2-E08A-18DC8742A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054A9F-8729-2D23-98CB-6EE0087C3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8C09D6-3BB1-86AC-B8C0-8F462FE5F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366C89-75E8-03D9-7491-E25DDAE06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273F300-1891-6109-02BD-E4F70C5652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742002"/>
              </p:ext>
            </p:extLst>
          </p:nvPr>
        </p:nvGraphicFramePr>
        <p:xfrm>
          <a:off x="838199" y="1690688"/>
          <a:ext cx="10515599" cy="33223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467292">
                  <a:extLst>
                    <a:ext uri="{9D8B030D-6E8A-4147-A177-3AD203B41FA5}">
                      <a16:colId xmlns:a16="http://schemas.microsoft.com/office/drawing/2014/main" val="2132222207"/>
                    </a:ext>
                  </a:extLst>
                </a:gridCol>
                <a:gridCol w="2904020">
                  <a:extLst>
                    <a:ext uri="{9D8B030D-6E8A-4147-A177-3AD203B41FA5}">
                      <a16:colId xmlns:a16="http://schemas.microsoft.com/office/drawing/2014/main" val="974673104"/>
                    </a:ext>
                  </a:extLst>
                </a:gridCol>
                <a:gridCol w="3423683">
                  <a:extLst>
                    <a:ext uri="{9D8B030D-6E8A-4147-A177-3AD203B41FA5}">
                      <a16:colId xmlns:a16="http://schemas.microsoft.com/office/drawing/2014/main" val="2871364195"/>
                    </a:ext>
                  </a:extLst>
                </a:gridCol>
                <a:gridCol w="2720604">
                  <a:extLst>
                    <a:ext uri="{9D8B030D-6E8A-4147-A177-3AD203B41FA5}">
                      <a16:colId xmlns:a16="http://schemas.microsoft.com/office/drawing/2014/main" val="1718797951"/>
                    </a:ext>
                  </a:extLst>
                </a:gridCol>
              </a:tblGrid>
              <a:tr h="22153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 / Aspect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MonetDB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Amazon Redshift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Apache Cassandra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391964332"/>
                  </a:ext>
                </a:extLst>
              </a:tr>
              <a:tr h="60601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 / Licensing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Free, open-source (Mozilla Public License).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Pay-as-you-go pricing, based on storage and compute usage.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Open-source under Apache License, with commercial support available (DataStax).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170156756"/>
                  </a:ext>
                </a:extLst>
              </a:tr>
              <a:tr h="50501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Extensibility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Integrates with scientific libraries, supports UDFs in C, Python, and R.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Extensible through AWS ecosystem services (S3, Glue, SageMaker).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Supports custom data models and replication strategies for diverse workloads.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956959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72104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A10B3-F52E-6DDD-0D2A-49DBB667F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25E2E-9235-7F53-75D2-22977A909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SQL manual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2D51E-1972-E5B5-B6FD-F1A277130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and standards: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SQL evolved through multiple standards up to SQL:2016; real systems rarely implement everything due to legacy, compatibility, and new features. 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SQL lineage: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MonetDB’s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SQL front-end began in 2002, grounded in SQL’99 and later SQL’03; less-used features trail, non-standard extensions are explicitly marked. 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Execution architecture: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compiles SQL into MAL 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Assembly Language), applying relational optimizations; bindings exist for C/ODBC/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Mapi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Java/JDBC, Python, PHP, and Ruby on Rails. 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 notation: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Features use simplified BNF: CAPITALS for reserved words; [ ] optional parts; { } choose one; | alternatives; lists show repetition; identifiers may carry semantic tags. </a:t>
            </a:r>
          </a:p>
        </p:txBody>
      </p:sp>
      <p:pic>
        <p:nvPicPr>
          <p:cNvPr id="4" name="Picture 2" descr="Image result for vit ap logo">
            <a:extLst>
              <a:ext uri="{FF2B5EF4-FFF2-40B4-BE49-F238E27FC236}">
                <a16:creationId xmlns:a16="http://schemas.microsoft.com/office/drawing/2014/main" id="{72FEFD5F-C081-60D4-EB14-936162D56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49245F-18B5-2724-593B-99BDF3B8D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12C9C4-48F6-F812-8C6D-55EE7BE3B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946442-F923-77D9-64EF-9853EF99B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38707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876C1-A69F-CC07-523C-6F3686519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51998-B107-1121-DC1F-B952E4DDE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SQL – Lexical Structure: 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EB28B-C25E-C8D1-860A-6DF960214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SQL supports two comment styles: double-dash -- until line end, and C-style /* ... */ inline annotations. Comments can be added anywhere a token is valid, helping improve readability and documentation within SQL query scripts.</a:t>
            </a:r>
          </a:p>
          <a:p>
            <a:pPr marL="45720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/* Insert sample employees */</a:t>
            </a:r>
          </a:p>
          <a:p>
            <a:pPr marL="45720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INTO emp (</a:t>
            </a: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eid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-- Employee ID, </a:t>
            </a: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ename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salary) VALUES (1, 'Aarav Mehta', 65000.00);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White space (spaces, tabs, newlines) separates tokens unless juxtaposition remains unambiguous, ensuring correct parsing and interpretation.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Comments are equivalent to white space, ignored by the parser, and have no effect on SQL query execution semantics.</a:t>
            </a:r>
          </a:p>
        </p:txBody>
      </p:sp>
      <p:pic>
        <p:nvPicPr>
          <p:cNvPr id="4" name="Picture 2" descr="Image result for vit ap logo">
            <a:extLst>
              <a:ext uri="{FF2B5EF4-FFF2-40B4-BE49-F238E27FC236}">
                <a16:creationId xmlns:a16="http://schemas.microsoft.com/office/drawing/2014/main" id="{8BF0B620-DD8C-B039-118C-E9D3F5825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59E254-F404-822B-3F8A-F5E96ACFF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10E57B-129F-241E-8AAB-E155B1646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43D60E-0834-76C8-12AE-07E71E398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83504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D7CAA-336E-D55D-AC28-7F5809EBA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11A55-6256-532A-599C-535B6BC54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Identifiers and Keywords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631A5-5DAC-E0EC-1498-1711705CF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SQL keywords are reserved by the standard, while </a:t>
            </a: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distinguishes keywords, identifiers, and user-defined names during query parsing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Unquoted identifiers are case-insensitive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automatically converted to lowercase, while quoted identifiers preserve case sensitivity exactly as written.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example, select TEST becomes select test, while select "TEST" preserves uppercase meaning for a column or object.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Double quotes allow identifiers with spaces, special characters, or reserved keywords, useful for user-friendly column headers or compatibility.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Restrictions: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identifiers cannot start with %, cannot equal TID%, and cannot exceed 1024 characters in total length.</a:t>
            </a:r>
          </a:p>
        </p:txBody>
      </p:sp>
      <p:pic>
        <p:nvPicPr>
          <p:cNvPr id="4" name="Picture 2" descr="Image result for vit ap logo">
            <a:extLst>
              <a:ext uri="{FF2B5EF4-FFF2-40B4-BE49-F238E27FC236}">
                <a16:creationId xmlns:a16="http://schemas.microsoft.com/office/drawing/2014/main" id="{A72B9887-2306-BE23-71E1-C3A350ED3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349FD8-1B9A-9C3D-6F8C-9082A2BD5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07A46A-8A75-761D-EC86-ECF290EB2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07DEFC-7B38-A9FD-4F35-46492C5A6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0835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5F1F2-9DCD-4A31-D40E-9A7357B5F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7864D-0F04-FFB6-C2AD-BFC051873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Literal Constants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EDA9C-C2E7-BC35-BA56-D3A443125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Numeric constants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follow typical programming syntax, with integers, decimals, and floating-point values inferred from presence of dots or exponents.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 constants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 single quotes, doubling internal quotes for escapes, e.g., 'a single '' quote' results in proper embedded quote.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Unicode strings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 U&amp;'...' UESCAPE, allowing multilingual data support and explicit escape definitions within SQL queries.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PostgreSQL-style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E'...' strings enable C-style escape sequences, e.g., \n for newline, enhancing flexibility in string representation.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Raw strings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 R'...', disabling escape processing, preserving literal characters exactly as typed, useful for regex patterns.</a:t>
            </a:r>
          </a:p>
        </p:txBody>
      </p:sp>
      <p:pic>
        <p:nvPicPr>
          <p:cNvPr id="4" name="Picture 2" descr="Image result for vit ap logo">
            <a:extLst>
              <a:ext uri="{FF2B5EF4-FFF2-40B4-BE49-F238E27FC236}">
                <a16:creationId xmlns:a16="http://schemas.microsoft.com/office/drawing/2014/main" id="{C9A894A7-C598-10A6-4784-1F4E3AD57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39EE59-5EF8-2222-E201-83E395337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409683-7133-AFDA-B624-49145F546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47F11-00C4-3F8C-31AE-F68EF2D0F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8700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F9353-2DD9-28ED-4895-BF56F2136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1C822-C42D-09DB-1503-F328F78C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Temporal and Binary Constants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EE717-3AA9-299C-CB6E-2984FAC88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Temporal literals: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DATE 'YYYY-MM-DD', TIME 'HH:MM:SS', TIMESTAMP 'YYYY-MM-DD HH:MM:SS' map to respective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SQL temporal types.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Equivalent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 casting is possible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with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CAST('2014-02-03' AS DATE)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ensuring explicit type control across queries.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Binary values are represented as hexadecimal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e.g., x'10FF' for 2-byte values, supporting binary large object (BLOB) manipulation.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Strings and constants can be explicitly cast into integers, decimals, or floating-point using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CAST(expr AS type)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operations.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Casting ensures compatibility between types, enabling numeric operations on strings or format-specific conversions during query processing.</a:t>
            </a:r>
          </a:p>
        </p:txBody>
      </p:sp>
      <p:pic>
        <p:nvPicPr>
          <p:cNvPr id="4" name="Picture 2" descr="Image result for vit ap logo">
            <a:extLst>
              <a:ext uri="{FF2B5EF4-FFF2-40B4-BE49-F238E27FC236}">
                <a16:creationId xmlns:a16="http://schemas.microsoft.com/office/drawing/2014/main" id="{5482117C-4EFC-C74E-8D7F-9CA92FC2D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CB68A6-500B-A7D1-2132-878828AB7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2FB852-D642-2344-4240-825D467F0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185B4E-7030-012C-B127-3BCF9E4AD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5882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D1506-332D-DF4C-67BF-A4FF17B7F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23768-E619-F6E1-93B9-AF4D93513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Special Characters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C0AE4-2200-0C75-6135-06E852A95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 literals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support escape sequences: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\n newline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\t tab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\r carriage return, \f form feed, and \\ backslash.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Escapes also include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\' for quotes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octal codes \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ddd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hexadecimal \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xhh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Unicode \</a:t>
            </a: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uhhhh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for specific code points.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C-style backslash escapes provide rich character encoding flexibility, consistent with programming language conventions.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These escapes improve interoperability, ensuring text data with control characters or non-standard symbols is represented accurately.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Essential for queries handling text data, logs, or cross-platform string formats within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applications.</a:t>
            </a:r>
          </a:p>
        </p:txBody>
      </p:sp>
      <p:pic>
        <p:nvPicPr>
          <p:cNvPr id="4" name="Picture 2" descr="Image result for vit ap logo">
            <a:extLst>
              <a:ext uri="{FF2B5EF4-FFF2-40B4-BE49-F238E27FC236}">
                <a16:creationId xmlns:a16="http://schemas.microsoft.com/office/drawing/2014/main" id="{547CD3CF-B3F1-4E9B-B698-63A28A8E4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4AB15D-3700-6B42-3E34-8CE453542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5325EC-41EA-E528-1DE7-7AE4B5092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4126D0-9493-FFAC-1967-1F9355CA2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4786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AC4A6-F56F-79CB-2947-496379659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7A2D4-039E-8397-EACA-347ECB887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Operator Precedence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580D7-9642-1BCF-946F-90D12F3CA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SQL operators have defined precedence and associativity, ensuring predictable evaluation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order of arithmetic, logical, and comparison expressions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Parentheses disambiguate precedence, allowing explicit grouping of operations when complex expressions require clarity in evaluation order.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Operators include arithmetic (+, -, *, /), logical (AND, OR, NOT), comparison (=, &lt;, &gt;), and pattern-matching (LIKE).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disallows overloading operators or defining custom ones, maintaining consistency with SQL standards for predictable semantics.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Operator precedence supports intuitive expression evaluation but requires awareness to avoid subtle errors in query conditions.</a:t>
            </a:r>
          </a:p>
        </p:txBody>
      </p:sp>
      <p:pic>
        <p:nvPicPr>
          <p:cNvPr id="4" name="Picture 2" descr="Image result for vit ap logo">
            <a:extLst>
              <a:ext uri="{FF2B5EF4-FFF2-40B4-BE49-F238E27FC236}">
                <a16:creationId xmlns:a16="http://schemas.microsoft.com/office/drawing/2014/main" id="{04274531-8DD7-C74A-5C80-7311ABF4C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78A426-6E13-5231-B455-B9620A8B5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187BEE-C9A8-5C90-70AF-95B4A5E8D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E24F3-3C94-D7C3-E362-1BA74BF03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03516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B5B99-E006-D573-6C71-AE2A81C5A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671F9-AFA9-831A-53EE-4A5BBABD6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CE5A3-A05C-4C5E-F44E-F1F2FD785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Value expressions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include constants, type casts, column references, operator expressions, function invocations, and scalar-returning subqueries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Column references may use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table.column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or aliases defined in FROM clauses, ensuring clarity when multiple tables are involved.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Table expressions reference schema, table, or view names, optionally aliased with AS to simplify query readability and correlation.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Expressions may combine multiple constructs, supporting nested functions, complex conditions, and multi-level subqueries.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flexible structure enables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SQL to express sophisticated analytics queries within standard relational syntax.</a:t>
            </a:r>
          </a:p>
        </p:txBody>
      </p:sp>
      <p:pic>
        <p:nvPicPr>
          <p:cNvPr id="4" name="Picture 2" descr="Image result for vit ap logo">
            <a:extLst>
              <a:ext uri="{FF2B5EF4-FFF2-40B4-BE49-F238E27FC236}">
                <a16:creationId xmlns:a16="http://schemas.microsoft.com/office/drawing/2014/main" id="{E1711ABB-10E4-7B7F-6FF5-A1ADD34370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2B8AE6-B77F-4E77-8494-39E97ADB4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3658E8-7485-513A-70CB-B95A7EF7E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61CCA3-C4AC-BAE1-ABD9-79269EF57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3771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D8E9F-FC5A-33D3-149B-2DA01CB55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CE3CE-45D7-CF52-D816-19B750521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86CF1-DD2C-2FCF-ABCB-0DE46734B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defines many built-in types; </a:t>
            </a: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supports most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ensuring compliance while enabling strong foundations for relational database management systems.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allows creation of user-defined types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supporting specific application domains needing specialized semantics beyond built-in SQL data types.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Some domain-specific types, such as geospatial data, are available as separate extensions, not part of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MonetDB’s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database kernel.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Extensions like spatial types broaden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MonetDB’s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capabilities, making it suitable for advanced domains like GIS, environment, and mapping.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balances standard SQL compliance with flexibility for custom application-driven data type support.</a:t>
            </a:r>
          </a:p>
        </p:txBody>
      </p:sp>
      <p:pic>
        <p:nvPicPr>
          <p:cNvPr id="4" name="Picture 2" descr="Image result for vit ap logo">
            <a:extLst>
              <a:ext uri="{FF2B5EF4-FFF2-40B4-BE49-F238E27FC236}">
                <a16:creationId xmlns:a16="http://schemas.microsoft.com/office/drawing/2014/main" id="{ED366F72-5EA6-2C01-C540-571E619C1D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75663C-02D0-538A-B97F-9B025A52A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DF6463-B2A7-E2F6-F0D1-15537D030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20F48E-8160-80B2-0BD9-5ED178F18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855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22917-EAD3-C7FF-7190-E4580A4BD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E60AE-40F9-2D30-C694-3ABFC9087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6848B-E4C0-D5CD-0F2B-3F2CC58D4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provides core base types: numeric (INT, BIGINT, DECIMAL), string (CHAR, VARCHAR, CLOB), and binary (BLOB, BYTE).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INTEGER types support varying ranges; BIGINT for very large numbers, while SMALLINT and TINYINT handle smaller integer values.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DECIMAL and NUMERIC allow fixed-precision arithmetic, essential for financial, scientific, and industrial applications requiring exact calculations.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VARCHAR supports variable-length text up to defined limits, CHAR ensures fixed-length storage, and CLOB handles very large text.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BLOB and BYTE manage binary data, such as multimedia files or encoded streams, with flexible storage and retrieval capabilities.</a:t>
            </a:r>
          </a:p>
        </p:txBody>
      </p:sp>
      <p:pic>
        <p:nvPicPr>
          <p:cNvPr id="4" name="Picture 2" descr="Image result for vit ap logo">
            <a:extLst>
              <a:ext uri="{FF2B5EF4-FFF2-40B4-BE49-F238E27FC236}">
                <a16:creationId xmlns:a16="http://schemas.microsoft.com/office/drawing/2014/main" id="{51585E0C-73CD-1737-7AAB-AC5EF5380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A43604-06B1-DA25-444C-0FF84671E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0A30A4-DF7D-53E1-8D88-F3597CF57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6632F4-A943-EF14-CA6F-7AD82EC62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366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B9464-F799-0BBE-F8AE-AB46659D0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FC677-F45A-E780-3CE0-2F9DD3FA7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Temporal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9127A-20BE-89E4-98CD-1E9CDB2BC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supports DATE, TIME, TIMESTAMP, and INTERVAL, enabling detailed representation of temporal information in relational queries.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DATE uses format YYYY-MM-DD, TIME records hours, minutes, and seconds, while TIMESTAMP combines both into one field.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INTERVAL represents differences between two temporal values, supporting arithmetic like adding months, days, or hours to timestamps.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CAST operations allow conversion between string formats and temporal values, ensuring compatibility across queries.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Precise temporal typing supports applications like event logging, scheduling, time-series analytics, and scientific experiments.</a:t>
            </a:r>
          </a:p>
        </p:txBody>
      </p:sp>
      <p:pic>
        <p:nvPicPr>
          <p:cNvPr id="4" name="Picture 2" descr="Image result for vit ap logo">
            <a:extLst>
              <a:ext uri="{FF2B5EF4-FFF2-40B4-BE49-F238E27FC236}">
                <a16:creationId xmlns:a16="http://schemas.microsoft.com/office/drawing/2014/main" id="{05FAEA8C-0D48-BC98-D53F-0A2B3B1495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7F6D5E-F764-7060-36F3-B5AACBB7A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80D2FA-1801-83B2-6A31-52CDDBFE8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59A506-44EE-5C4D-4BD9-E20A372AE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1332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BC546-BEB4-292D-1D9C-20339D09B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4FDDD-2B69-103E-4B7B-462C4AC15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Serial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DB7E6-FDA3-9BA5-F0E5-83FD6BC9D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provides SERIAL, BIGSERIAL, and related auto-incrementing types for generating unique identifiers automatically during insert operations.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SERIAL expands into INTEGER with a default NEXT VALUE FOR sequence, ensuring compliance with SQL semantics.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BIGSERIAL maps to BIGINT with sequence-driven increments, suitable for datasets requiring billions of unique identifiers.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These types simplify schema design by eliminating manual sequence creation, supporting primary keys directly within tables.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SERIAL usage improves readability and consistency, particularly in OLTP and analytical scenarios requiring surrogate keys</a:t>
            </a:r>
          </a:p>
        </p:txBody>
      </p:sp>
      <p:pic>
        <p:nvPicPr>
          <p:cNvPr id="4" name="Picture 2" descr="Image result for vit ap logo">
            <a:extLst>
              <a:ext uri="{FF2B5EF4-FFF2-40B4-BE49-F238E27FC236}">
                <a16:creationId xmlns:a16="http://schemas.microsoft.com/office/drawing/2014/main" id="{83051253-046D-338A-6857-2C76FA54C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8B9A2A-37DC-06E3-8581-3802543A7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3C9ACC-F758-8600-A7E3-0DA18872D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521CF-D2B8-0F80-6A4B-7E579B3FC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34270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B3B1E-BA1B-F8B6-702A-508101C8C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0931-0ADB-17B4-2051-F834DC456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 Datatype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106B2-0D67-AE57-C619-5BE51F583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includes JSON data type, enabling storage and manipulation of JSON documents directly inside relational schema.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Supports validation of JSON structure, ensuring data integrity during inserts and updates into JSON-typed columns.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SQL functions allow extraction and querying of fields within JSON documents, bridging relational and semi-structured data paradigms.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Applications include web logs, API payloads, configuration data, and hybrid systems requiring flexible schema-less storage.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JSON integration improves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MonetDB’s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versatility for modern applications blending structured and unstructured data.</a:t>
            </a:r>
          </a:p>
        </p:txBody>
      </p:sp>
      <p:pic>
        <p:nvPicPr>
          <p:cNvPr id="4" name="Picture 2" descr="Image result for vit ap logo">
            <a:extLst>
              <a:ext uri="{FF2B5EF4-FFF2-40B4-BE49-F238E27FC236}">
                <a16:creationId xmlns:a16="http://schemas.microsoft.com/office/drawing/2014/main" id="{C0F96FD3-CAC6-5FE4-7046-52F497D29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08A0F6-1D9C-03E9-43EA-DCCFA4173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3EE1E8-DC1F-6CBA-23DF-AF772B089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D6B72E-17B7-6AC2-F25A-4051951E6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3835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0377C-8465-DB5B-BC56-E01D50052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FDB47-521B-FEE5-F8A5-7B5E83F3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URL Datatype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47444-B584-21F3-672C-36C3A2A7C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85000" lnSpcReduction="10000"/>
          </a:bodyPr>
          <a:lstStyle/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offers URL type for managing resource locators within relational schema.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URL type ensures consistent representation of web addresses and network resources across queries.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Useful for web analytics, metadata catalogs, or content management systems linking to external resources.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enforces structural validity on URLs, preventing malformed addresses from corrupting datasets.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URL data type simplifies working with internet-based datasets inside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applications.</a:t>
            </a:r>
          </a:p>
        </p:txBody>
      </p:sp>
      <p:pic>
        <p:nvPicPr>
          <p:cNvPr id="4" name="Picture 2" descr="Image result for vit ap logo">
            <a:extLst>
              <a:ext uri="{FF2B5EF4-FFF2-40B4-BE49-F238E27FC236}">
                <a16:creationId xmlns:a16="http://schemas.microsoft.com/office/drawing/2014/main" id="{982EB465-D28E-4ED4-30AB-84E844CD6A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A3DC56-61BF-1633-C9C7-F3ACDFD82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330166-0DD1-FF1D-D9D6-2E52CAA97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B6C812-40B9-7887-C759-A580CCDC3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6295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09EAA-5013-2C23-68BF-CFE234EDA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E2D88-83EA-0E0B-34E2-F8CB7D5F4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UUID Datatype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2CDC8-1443-172F-7871-D2A90F7C2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85000" lnSpcReduction="10000"/>
          </a:bodyPr>
          <a:lstStyle/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supports UUID type for representing Universally Unique Identifiers across distributed systems and applications.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UUID ensures globally unique keys independent of central sequence generators.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Suitable for IoT, cloud, and distributed computing applications needing decentralized key generation.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UUID columns integrate smoothly into relational queries while maintaining uniqueness guarantees.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datatype strengthens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MonetDB’s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applicability in enterprise-grade and multi-tenant environments.</a:t>
            </a:r>
          </a:p>
        </p:txBody>
      </p:sp>
      <p:pic>
        <p:nvPicPr>
          <p:cNvPr id="4" name="Picture 2" descr="Image result for vit ap logo">
            <a:extLst>
              <a:ext uri="{FF2B5EF4-FFF2-40B4-BE49-F238E27FC236}">
                <a16:creationId xmlns:a16="http://schemas.microsoft.com/office/drawing/2014/main" id="{710AA5AA-72C8-2F5B-205E-2E93CDE0C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15B466-CCDC-6A15-5A9C-6F99B4DAD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89DD78-0BD4-E77D-20E2-A5894BB18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11D245-52D8-4C55-D14C-0B4B7CB0B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9976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11ED6-0689-87C9-4BF5-538DD2FB5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C3410-AE2E-2B99-B87C-EFA0BB739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 Datatypes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77E54-5E51-B4CC-5688-A0224B27D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/>
          </a:bodyPr>
          <a:lstStyle/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supports IP4, IP6, and MAC address types under Network category.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These ensure accurate representation of networking information, avoiding storage as plain strings.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Useful in logging, network monitoring, and security analytics.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Network types can be queried and validated using built-in functions.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Integration simplifies tasks in IoT, telecom, and system monitoring contexts</a:t>
            </a:r>
          </a:p>
        </p:txBody>
      </p:sp>
      <p:pic>
        <p:nvPicPr>
          <p:cNvPr id="4" name="Picture 2" descr="Image result for vit ap logo">
            <a:extLst>
              <a:ext uri="{FF2B5EF4-FFF2-40B4-BE49-F238E27FC236}">
                <a16:creationId xmlns:a16="http://schemas.microsoft.com/office/drawing/2014/main" id="{E8B46B01-C690-56F5-A77A-280CEF10B3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17F0E7-7D1F-BC36-45B8-94122BA6A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4121A3-B2AA-CEE5-AF6F-C43A3A057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413D58-D474-8085-3F92-84B3FEC9C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63098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812F5-310A-88BD-EA7A-0E09DE2F7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41DC9-8C86-CDBE-1194-764F05760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Defined Datatypes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4CA87-3248-0881-E907-A3925C859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85000" lnSpcReduction="10000"/>
          </a:bodyPr>
          <a:lstStyle/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allows developers to create user-defined types tailored to domain-specific applications.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Enables encapsulation of specialized semantics like chemical structures, genomic codes, or sensor data.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UDTs extend beyond built-in SQL types, offering flexibility and innovation in research projects.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Support for UDTs highlights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MonetDB’s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experimental and extensible architecture.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Useful in advanced analytics, bioinformatics, and niche industries requiring custom data modeling</a:t>
            </a:r>
          </a:p>
        </p:txBody>
      </p:sp>
      <p:pic>
        <p:nvPicPr>
          <p:cNvPr id="4" name="Picture 2" descr="Image result for vit ap logo">
            <a:extLst>
              <a:ext uri="{FF2B5EF4-FFF2-40B4-BE49-F238E27FC236}">
                <a16:creationId xmlns:a16="http://schemas.microsoft.com/office/drawing/2014/main" id="{7D2BFDAF-A1D8-067C-619F-D5988B6600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9A992D-8F02-FF9D-F0C1-4C2A7AB91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0EA505-2B0A-389A-A5A8-C514C6E79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B59CF0-3616-39B6-D745-2679C5C94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2244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82578-48B6-A9C0-962D-6C6F557BC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0F09-C16C-57BC-F2FA-15EC4D597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F5834-3EBB-F918-02FE-66686BDEF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Download: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https://www.monetdb.org/easy-setup/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Install with default values. 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Run Server from start menu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Run Client and execute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all queries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>
            <a:extLst>
              <a:ext uri="{FF2B5EF4-FFF2-40B4-BE49-F238E27FC236}">
                <a16:creationId xmlns:a16="http://schemas.microsoft.com/office/drawing/2014/main" id="{A9018817-0C2C-DC5C-58FA-65B0F0D36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238495-F857-4F2A-E61F-2D75796BC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72877E-24D1-204B-D3DA-BE519A769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E9636-25AF-D16A-4FCD-126B8CBF3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4307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2E061-09C8-2808-7B9D-CADB4F015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51F1F-92AA-DC5D-FBC2-7CC7BACD6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Datatypes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75F22-FD71-9CDA-6434-AD25863AF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CREATE TABLE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emp_reg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id        INT,                        -- integer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age       SMALLINT,                   -- small integer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salary    DECIMAL(5,2),               -- fixed precision decimal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initial   CHAR(1),                    -- single character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name      VARCHAR(50),                -- variable length string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dt        DATE,                       -- calendar date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tm        TIME,                       -- clock time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profile   JSON,                       -- JSON document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INET,                       -- IP address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sid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SERIAL,                     -- auto increment ID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link      URL,                        -- URL link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uid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UUID                        -- universally unique identifier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</p:txBody>
      </p:sp>
      <p:pic>
        <p:nvPicPr>
          <p:cNvPr id="4" name="Picture 2" descr="Image result for vit ap logo">
            <a:extLst>
              <a:ext uri="{FF2B5EF4-FFF2-40B4-BE49-F238E27FC236}">
                <a16:creationId xmlns:a16="http://schemas.microsoft.com/office/drawing/2014/main" id="{ABBFC730-1D38-EC8F-F681-710B0A722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C8D11E-0D5D-3B0D-D9FB-5D14192DB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423183-4A52-FDDD-21C9-648C81C68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737D86-96FA-A872-FFB6-7EE1FE4A2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5642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434DC-06FB-2302-9765-597D2C309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498FC-0211-48A2-400D-48524BC7A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Datatypes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D3910-23E4-155D-868F-3AE4CE201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INSERT INTO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emp_reg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id, age, salary, initial, name, dt, tm, profile,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link,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uid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VALUES (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1,                                -- INT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25,                               -- SMALLINT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55000.75,                         -- DECIMAL(5,2)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'A',                              -- CHAR(1)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'Arjun Patel',                    -- VARCHAR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DATE '2000-05-15',                -- DATE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TIME '09:30:00',                  -- TIME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'{"skills":["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SQL","Python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"],"exp":3}',  -- JSON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'192.168.1.10',                   -- INET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'https://www.example.com/profile/arjun', -- URL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SYS.UUID()                        -- UUID (auto-generated unique ID)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</p:txBody>
      </p:sp>
      <p:pic>
        <p:nvPicPr>
          <p:cNvPr id="4" name="Picture 2" descr="Image result for vit ap logo">
            <a:extLst>
              <a:ext uri="{FF2B5EF4-FFF2-40B4-BE49-F238E27FC236}">
                <a16:creationId xmlns:a16="http://schemas.microsoft.com/office/drawing/2014/main" id="{5137EFAF-9622-8942-AB22-A5E397B9BA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7EC7FF-221B-B9C7-1FA7-905C1D8D5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6972EB-4BE7-E2E0-D0C6-958CFDB47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B83A4F-6156-619B-EF79-8A100CC7B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40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3224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11ED7-1865-B8EB-BE33-238CC4934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62B51-CAF1-E3D9-E6A3-BC4E5813E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Basic CRUD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17B0A-EA2A-E269-28F9-59562C01C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and use schema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CREATE SCHEMA IF NOT EXISTS company;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SET SCHEMA company;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two users (requires admin privileges)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CREATE USER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WITH PASSWORD 'hr@123' NAME 'HR User' SCHEMA company;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CREATE USER employee WITH PASSWORD 'employee@123'  NAME 'Employee User'  SCHEMA company;</a:t>
            </a:r>
          </a:p>
        </p:txBody>
      </p:sp>
      <p:pic>
        <p:nvPicPr>
          <p:cNvPr id="4" name="Picture 2" descr="Image result for vit ap logo">
            <a:extLst>
              <a:ext uri="{FF2B5EF4-FFF2-40B4-BE49-F238E27FC236}">
                <a16:creationId xmlns:a16="http://schemas.microsoft.com/office/drawing/2014/main" id="{388B94C6-9260-D346-38FC-EC39B4259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0849AE-C3F5-467A-C984-43731E396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F3222C-B292-D8E6-714C-246F89A6D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9B8C26-442B-F121-9056-4CC40D576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41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2082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3E521-3687-A915-9A87-5F39D83D3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4343E-1FF1-D9AE-380A-F67ADEE58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Basic CRUD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1F697-D57B-009D-D621-A8DA9E731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Table: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CREATE TABLE emp (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eid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SERIAL,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ename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VARCHAR(100) NOT NULL,  salary  DECIMAL(10,2) NOT NULL,  skills  VARCHAR(100) );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CREATE TABLE emp1 (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eid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INT PRIMARY KEY AUTO_INCREMENT, 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ename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VARCHAR(100) NOT NULL,  salary  DECIMAL(10,2) NOT NULL, skills  VARCHAR(100) );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GRANT SELECT, INSERT, UPDATE, DELETE ON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company.emp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GRANT SELECT ON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company.emp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TO employee;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>
            <a:extLst>
              <a:ext uri="{FF2B5EF4-FFF2-40B4-BE49-F238E27FC236}">
                <a16:creationId xmlns:a16="http://schemas.microsoft.com/office/drawing/2014/main" id="{A2A5D57F-50D7-623D-417D-3EC16DD0B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1A80BB-47CE-FD59-8E0D-B12ADBFA6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813819-4A95-6B45-9FB4-7B987238D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3ED5E7-895A-41BD-ADCE-341A3FE4E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42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5626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5BCE3-FF2E-327E-CEE3-0DF09CA18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5EA1A-0F5E-EC79-6E76-6C5773D3E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Basic CRUD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0CD99-A322-0EC9-DADA-BEDFF85F1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Insert: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INSERT INTO emp 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ename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salary, skills) VALUES('Aarav Mehta', 65000.00, '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SQL,Python,ETL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'),('Meera Iyer',  72000.50, '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Java,Spring,APIs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'),('Rahul Sharma',59000.00, '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Excel,PowerBI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');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Retrieve: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SELECT * FROM emp;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SELECT * FROM emp WHERE salary &gt;= 60000.00;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ename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FROM emp WHERE skills LIKE '%Python%';</a:t>
            </a:r>
          </a:p>
        </p:txBody>
      </p:sp>
      <p:pic>
        <p:nvPicPr>
          <p:cNvPr id="4" name="Picture 2" descr="Image result for vit ap logo">
            <a:extLst>
              <a:ext uri="{FF2B5EF4-FFF2-40B4-BE49-F238E27FC236}">
                <a16:creationId xmlns:a16="http://schemas.microsoft.com/office/drawing/2014/main" id="{F625AE9D-9711-0D9B-A6C6-0BC481454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C9128F-BEB6-6409-042F-7BE973953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95BF6F-E76E-3E39-6B39-985853E39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B223C6-CE1F-4A13-D841-9C4E0181E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43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0728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1CCA9-FACE-977A-AFC3-FDB94BDB5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48EFE-085B-F0B3-CBB0-21777DD65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Basic CRUD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5B1C2-6F08-630A-8DDF-41EAC0A48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Update: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UPDATE emp SET salary = ROUND(salary * 1.10, 2) WHERE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ename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= 'Meera Iyer';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SELECT * FROM emp;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Delete: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DELETE FROM emp WHERE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ename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= 'Rahul Sharma';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ALTER TABLE emp DROP COLUMN skills;</a:t>
            </a:r>
          </a:p>
        </p:txBody>
      </p:sp>
      <p:pic>
        <p:nvPicPr>
          <p:cNvPr id="4" name="Picture 2" descr="Image result for vit ap logo">
            <a:extLst>
              <a:ext uri="{FF2B5EF4-FFF2-40B4-BE49-F238E27FC236}">
                <a16:creationId xmlns:a16="http://schemas.microsoft.com/office/drawing/2014/main" id="{512A8674-F388-CB33-F975-25BF841B9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FA656C-728D-AEC4-90D7-25D8FD360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5A9080-BB5C-0A89-1157-1C4D2826C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74B6B2-3937-9517-3F56-97530F662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44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8692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2ACFC-21FF-38CB-E405-C9A5999A5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42F96-E896-B2B7-8767-F045FA569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Basic CRUD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7EAF3-5D7F-D423-7D5D-506C098AE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DROP TABLE emp;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SET SCHEMA sys;   -- switch schema first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DROP SCHEMA company CASCADE;</a:t>
            </a:r>
          </a:p>
        </p:txBody>
      </p:sp>
      <p:pic>
        <p:nvPicPr>
          <p:cNvPr id="4" name="Picture 2" descr="Image result for vit ap logo">
            <a:extLst>
              <a:ext uri="{FF2B5EF4-FFF2-40B4-BE49-F238E27FC236}">
                <a16:creationId xmlns:a16="http://schemas.microsoft.com/office/drawing/2014/main" id="{79CBC3B9-47B7-BCB0-7DAB-FB3252AD5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CDB1A3-03E2-3DD5-A7E7-B6A26C8DC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2F5EBA-E328-3121-6F76-B5275F4AB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7040D2-1D23-03A6-93D9-13246B621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45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69234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Introduction to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Key Concepts, 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Column-store Architectures vs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Introduction to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SQL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Installation and basic CRUD Operations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A2B1-6748-41D8-AB75-02C9BD84395F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46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578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T PPT Template.pptx" id="{54091FC3-898D-497D-92ED-2AD4019B5909}" vid="{614E3B1B-8E84-45D1-BB2E-2BDD1EEBD4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VIT PPT Template</Template>
  <TotalTime>3164</TotalTime>
  <Words>4424</Words>
  <Application>Microsoft Office PowerPoint</Application>
  <PresentationFormat>Widescreen</PresentationFormat>
  <Paragraphs>466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Arial</vt:lpstr>
      <vt:lpstr>Calibri</vt:lpstr>
      <vt:lpstr>Calibri (Body)</vt:lpstr>
      <vt:lpstr>Calibri Light</vt:lpstr>
      <vt:lpstr>Office Theme</vt:lpstr>
      <vt:lpstr>Course code : CSE3009 Course title  : No SQL Data Bases Module  : 5     Topic   : 1</vt:lpstr>
      <vt:lpstr>Objectives</vt:lpstr>
      <vt:lpstr>Introduction to MonetDB</vt:lpstr>
      <vt:lpstr>Column-Store Database Kernel</vt:lpstr>
      <vt:lpstr>Column-Store Database Kernel</vt:lpstr>
      <vt:lpstr>High-Performance Design</vt:lpstr>
      <vt:lpstr>Multi-Core Power Engine</vt:lpstr>
      <vt:lpstr>Versatile Algebraic Kernel</vt:lpstr>
      <vt:lpstr>Scalability and Size Limits</vt:lpstr>
      <vt:lpstr>Extensibility and Customization</vt:lpstr>
      <vt:lpstr>Broad Application Scope</vt:lpstr>
      <vt:lpstr>SQL and Programming Interfaces</vt:lpstr>
      <vt:lpstr>Open Source and Community</vt:lpstr>
      <vt:lpstr>Oracle vs MonetDB</vt:lpstr>
      <vt:lpstr>Oracle vs MonetDB</vt:lpstr>
      <vt:lpstr>Applications of MonetDB in Practice</vt:lpstr>
      <vt:lpstr>Applications of MonetDB in Practice</vt:lpstr>
      <vt:lpstr>Columnar Database Comparison</vt:lpstr>
      <vt:lpstr>Columnar Database Comparison</vt:lpstr>
      <vt:lpstr>Columnar Database Comparison</vt:lpstr>
      <vt:lpstr>MonetDB SQL manual</vt:lpstr>
      <vt:lpstr>MonetDB SQL – Lexical Structure: Comments</vt:lpstr>
      <vt:lpstr>Identifiers and Keywords</vt:lpstr>
      <vt:lpstr>Literal Constants</vt:lpstr>
      <vt:lpstr>Temporal and Binary Constants</vt:lpstr>
      <vt:lpstr>Special Characters</vt:lpstr>
      <vt:lpstr>Operator Precedence</vt:lpstr>
      <vt:lpstr>Value Expressions</vt:lpstr>
      <vt:lpstr>Introduction to Data Types</vt:lpstr>
      <vt:lpstr>Base Types</vt:lpstr>
      <vt:lpstr>Temporal Types</vt:lpstr>
      <vt:lpstr>Serial Types</vt:lpstr>
      <vt:lpstr>JSON Datatype</vt:lpstr>
      <vt:lpstr>URL Datatype</vt:lpstr>
      <vt:lpstr>UUID Datatype</vt:lpstr>
      <vt:lpstr>Network Datatypes</vt:lpstr>
      <vt:lpstr>User Defined Datatypes</vt:lpstr>
      <vt:lpstr>MonetDB Installation</vt:lpstr>
      <vt:lpstr>Datatypes Example</vt:lpstr>
      <vt:lpstr>Datatypes Example</vt:lpstr>
      <vt:lpstr>Basic CRUD Operations</vt:lpstr>
      <vt:lpstr>Basic CRUD Operations</vt:lpstr>
      <vt:lpstr>Basic CRUD Operations</vt:lpstr>
      <vt:lpstr>Basic CRUD Operations</vt:lpstr>
      <vt:lpstr>Basic CRUD Operations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code : CSE1004 Course title  : Database Management System</dc:title>
  <dc:creator>gopikrishnan sundaram</dc:creator>
  <cp:lastModifiedBy>Dr. Gopikrishnan S</cp:lastModifiedBy>
  <cp:revision>110</cp:revision>
  <dcterms:created xsi:type="dcterms:W3CDTF">2019-11-30T05:18:24Z</dcterms:created>
  <dcterms:modified xsi:type="dcterms:W3CDTF">2025-09-27T03:37:15Z</dcterms:modified>
</cp:coreProperties>
</file>