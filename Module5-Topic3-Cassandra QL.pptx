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8" r:id="rId3"/>
    <p:sldId id="332" r:id="rId4"/>
    <p:sldId id="384" r:id="rId5"/>
    <p:sldId id="385" r:id="rId6"/>
    <p:sldId id="390" r:id="rId7"/>
    <p:sldId id="397" r:id="rId8"/>
    <p:sldId id="398" r:id="rId9"/>
    <p:sldId id="399" r:id="rId10"/>
    <p:sldId id="403" r:id="rId11"/>
    <p:sldId id="396" r:id="rId12"/>
    <p:sldId id="391" r:id="rId13"/>
    <p:sldId id="393" r:id="rId14"/>
    <p:sldId id="404" r:id="rId15"/>
    <p:sldId id="402" r:id="rId16"/>
    <p:sldId id="394" r:id="rId17"/>
    <p:sldId id="392" r:id="rId18"/>
    <p:sldId id="395" r:id="rId19"/>
    <p:sldId id="405" r:id="rId20"/>
    <p:sldId id="407" r:id="rId21"/>
    <p:sldId id="406" r:id="rId22"/>
    <p:sldId id="400" r:id="rId23"/>
    <p:sldId id="389" r:id="rId24"/>
    <p:sldId id="401" r:id="rId25"/>
    <p:sldId id="25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0" d="100"/>
          <a:sy n="100" d="100"/>
        </p:scale>
        <p:origin x="58" y="-3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18-04-2023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18-04-2023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18-04-2023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18-04-2023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18-04-2023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18-04-2023</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18-04-2023</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18-04-2023</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18-04-2023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18-04-2023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18-04-2023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18-04-2023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18-04-2023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5</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3</a:t>
            </a:r>
          </a:p>
        </p:txBody>
      </p:sp>
      <p:sp>
        <p:nvSpPr>
          <p:cNvPr id="6" name="Subtitle 2"/>
          <p:cNvSpPr>
            <a:spLocks noGrp="1"/>
          </p:cNvSpPr>
          <p:nvPr>
            <p:ph type="subTitle" idx="1"/>
          </p:nvPr>
        </p:nvSpPr>
        <p:spPr>
          <a:xfrm>
            <a:off x="1402183" y="3677818"/>
            <a:ext cx="9144000" cy="1655762"/>
          </a:xfrm>
        </p:spPr>
        <p:txBody>
          <a:bodyPr>
            <a:normAutofit/>
          </a:bodyPr>
          <a:lstStyle/>
          <a:p>
            <a:r>
              <a:rPr lang="it-IT" sz="4000" b="1" dirty="0">
                <a:solidFill>
                  <a:srgbClr val="0070C0"/>
                </a:solidFill>
                <a:latin typeface="Arial" panose="020B0604020202020204" pitchFamily="34" charset="0"/>
                <a:cs typeface="Arial" panose="020B0604020202020204" pitchFamily="34" charset="0"/>
              </a:rPr>
              <a:t>Cassandra Query Language</a:t>
            </a:r>
            <a:endParaRPr lang="en-IN" sz="4000" b="1" dirty="0">
              <a:solidFill>
                <a:srgbClr val="0070C0"/>
              </a:solidFill>
              <a:latin typeface="Arial" panose="020B0604020202020204" pitchFamily="34" charset="0"/>
              <a:cs typeface="Arial" panose="020B0604020202020204" pitchFamily="34" charset="0"/>
            </a:endParaRPr>
          </a:p>
        </p:txBody>
      </p:sp>
      <p:pic>
        <p:nvPicPr>
          <p:cNvPr id="7"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p:cNvSpPr>
            <a:spLocks noGrp="1"/>
          </p:cNvSpPr>
          <p:nvPr>
            <p:ph type="dt" sz="half" idx="10"/>
          </p:nvPr>
        </p:nvSpPr>
        <p:spPr/>
        <p:txBody>
          <a:bodyPr/>
          <a:lstStyle/>
          <a:p>
            <a:fld id="{756728E3-B72D-49A5-85A2-5AE45557AE43}" type="datetime1">
              <a:rPr lang="en-IN" smtClean="0">
                <a:latin typeface="Calibri (Body)"/>
              </a:rPr>
              <a:t>18-04-2023</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Cassandra Query Language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Cassandra Query Language</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By default, Cassandra provides a prompt </a:t>
            </a:r>
            <a:r>
              <a:rPr lang="en-US" sz="2400" dirty="0">
                <a:solidFill>
                  <a:srgbClr val="FF0000"/>
                </a:solidFill>
                <a:latin typeface="Arial" panose="020B0604020202020204" pitchFamily="34" charset="0"/>
                <a:cs typeface="Arial" panose="020B0604020202020204" pitchFamily="34" charset="0"/>
              </a:rPr>
              <a:t>Cassandra query language shell (</a:t>
            </a:r>
            <a:r>
              <a:rPr lang="en-US" sz="2400" dirty="0" err="1">
                <a:solidFill>
                  <a:srgbClr val="FF0000"/>
                </a:solidFill>
                <a:latin typeface="Arial" panose="020B0604020202020204" pitchFamily="34" charset="0"/>
                <a:cs typeface="Arial" panose="020B0604020202020204" pitchFamily="34" charset="0"/>
              </a:rPr>
              <a:t>cqlsh</a:t>
            </a:r>
            <a:r>
              <a:rPr lang="en-US" sz="2400" dirty="0">
                <a:solidFill>
                  <a:srgbClr val="FF0000"/>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that allows users to communicate with it. Using this shell, you can execute </a:t>
            </a:r>
            <a:r>
              <a:rPr lang="en-US" sz="2400" dirty="0">
                <a:solidFill>
                  <a:srgbClr val="FF0000"/>
                </a:solidFill>
                <a:latin typeface="Arial" panose="020B0604020202020204" pitchFamily="34" charset="0"/>
                <a:cs typeface="Arial" panose="020B0604020202020204" pitchFamily="34" charset="0"/>
              </a:rPr>
              <a:t>Cassandra Query Language (CQL)</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Using </a:t>
            </a:r>
            <a:r>
              <a:rPr lang="en-US" sz="2400" dirty="0" err="1">
                <a:latin typeface="Arial" panose="020B0604020202020204" pitchFamily="34" charset="0"/>
                <a:cs typeface="Arial" panose="020B0604020202020204" pitchFamily="34" charset="0"/>
              </a:rPr>
              <a:t>cqlsh</a:t>
            </a:r>
            <a:r>
              <a:rPr lang="en-US" sz="2400" dirty="0">
                <a:latin typeface="Arial" panose="020B0604020202020204" pitchFamily="34" charset="0"/>
                <a:cs typeface="Arial" panose="020B0604020202020204" pitchFamily="34" charset="0"/>
              </a:rPr>
              <a:t>, you can</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define a schema,</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insert data, and</a:t>
            </a:r>
          </a:p>
          <a:p>
            <a:pPr marL="539750" indent="-357188">
              <a:lnSpc>
                <a:spcPct val="120000"/>
              </a:lnSpc>
              <a:spcBef>
                <a:spcPts val="600"/>
              </a:spcBef>
              <a:spcAft>
                <a:spcPts val="600"/>
              </a:spcAft>
            </a:pPr>
            <a:r>
              <a:rPr lang="en-US" sz="2400" dirty="0">
                <a:latin typeface="Arial" panose="020B0604020202020204" pitchFamily="34" charset="0"/>
                <a:cs typeface="Arial" panose="020B0604020202020204" pitchFamily="34" charset="0"/>
              </a:rPr>
              <a:t>execute a query.</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2243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Documented Shell Commands</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20000"/>
              </a:lnSpc>
              <a:spcBef>
                <a:spcPts val="1200"/>
              </a:spcBef>
              <a:spcAft>
                <a:spcPts val="600"/>
              </a:spcAft>
            </a:pPr>
            <a:r>
              <a:rPr lang="en-US" sz="2300" dirty="0">
                <a:solidFill>
                  <a:srgbClr val="FF0000"/>
                </a:solidFill>
                <a:latin typeface="Arial" panose="020B0604020202020204" pitchFamily="34" charset="0"/>
                <a:cs typeface="Arial" panose="020B0604020202020204" pitchFamily="34" charset="0"/>
              </a:rPr>
              <a:t>HELP</a:t>
            </a:r>
            <a:r>
              <a:rPr lang="en-US" sz="2300" dirty="0">
                <a:latin typeface="Arial" panose="020B0604020202020204" pitchFamily="34" charset="0"/>
                <a:cs typeface="Arial" panose="020B0604020202020204" pitchFamily="34" charset="0"/>
              </a:rPr>
              <a:t> − Displays help topics for all </a:t>
            </a:r>
            <a:r>
              <a:rPr lang="en-US" sz="2300" dirty="0" err="1">
                <a:latin typeface="Arial" panose="020B0604020202020204" pitchFamily="34" charset="0"/>
                <a:cs typeface="Arial" panose="020B0604020202020204" pitchFamily="34" charset="0"/>
              </a:rPr>
              <a:t>cqlsh</a:t>
            </a:r>
            <a:r>
              <a:rPr lang="en-US" sz="2300" dirty="0">
                <a:latin typeface="Arial" panose="020B0604020202020204" pitchFamily="34" charset="0"/>
                <a:cs typeface="Arial" panose="020B0604020202020204" pitchFamily="34" charset="0"/>
              </a:rPr>
              <a:t> commands.</a:t>
            </a:r>
          </a:p>
          <a:p>
            <a:pPr marL="539750" indent="-357188">
              <a:lnSpc>
                <a:spcPct val="120000"/>
              </a:lnSpc>
              <a:spcBef>
                <a:spcPts val="1200"/>
              </a:spcBef>
              <a:spcAft>
                <a:spcPts val="600"/>
              </a:spcAft>
            </a:pPr>
            <a:r>
              <a:rPr lang="en-US" sz="2300" dirty="0">
                <a:solidFill>
                  <a:srgbClr val="FF0000"/>
                </a:solidFill>
                <a:latin typeface="Arial" panose="020B0604020202020204" pitchFamily="34" charset="0"/>
                <a:cs typeface="Arial" panose="020B0604020202020204" pitchFamily="34" charset="0"/>
              </a:rPr>
              <a:t>CAPTURE</a:t>
            </a:r>
            <a:r>
              <a:rPr lang="en-US" sz="2300" dirty="0">
                <a:latin typeface="Arial" panose="020B0604020202020204" pitchFamily="34" charset="0"/>
                <a:cs typeface="Arial" panose="020B0604020202020204" pitchFamily="34" charset="0"/>
              </a:rPr>
              <a:t> − Captures the output of a command and adds it to a file.</a:t>
            </a:r>
          </a:p>
          <a:p>
            <a:pPr marL="539750" indent="-357188">
              <a:lnSpc>
                <a:spcPct val="120000"/>
              </a:lnSpc>
              <a:spcBef>
                <a:spcPts val="1200"/>
              </a:spcBef>
              <a:spcAft>
                <a:spcPts val="600"/>
              </a:spcAft>
            </a:pPr>
            <a:r>
              <a:rPr lang="en-US" sz="2300" dirty="0">
                <a:solidFill>
                  <a:srgbClr val="FF0000"/>
                </a:solidFill>
                <a:latin typeface="Arial" panose="020B0604020202020204" pitchFamily="34" charset="0"/>
                <a:cs typeface="Arial" panose="020B0604020202020204" pitchFamily="34" charset="0"/>
              </a:rPr>
              <a:t>CONSISTENCY</a:t>
            </a:r>
            <a:r>
              <a:rPr lang="en-US" sz="2300" dirty="0">
                <a:latin typeface="Arial" panose="020B0604020202020204" pitchFamily="34" charset="0"/>
                <a:cs typeface="Arial" panose="020B0604020202020204" pitchFamily="34" charset="0"/>
              </a:rPr>
              <a:t> − Shows the current consistency level, or sets a new consistency level.</a:t>
            </a:r>
          </a:p>
          <a:p>
            <a:pPr marL="539750" indent="-357188">
              <a:lnSpc>
                <a:spcPct val="120000"/>
              </a:lnSpc>
              <a:spcBef>
                <a:spcPts val="1200"/>
              </a:spcBef>
              <a:spcAft>
                <a:spcPts val="600"/>
              </a:spcAft>
            </a:pPr>
            <a:r>
              <a:rPr lang="en-US" sz="2300" dirty="0">
                <a:solidFill>
                  <a:srgbClr val="FF0000"/>
                </a:solidFill>
                <a:latin typeface="Arial" panose="020B0604020202020204" pitchFamily="34" charset="0"/>
                <a:cs typeface="Arial" panose="020B0604020202020204" pitchFamily="34" charset="0"/>
              </a:rPr>
              <a:t>COPY</a:t>
            </a:r>
            <a:r>
              <a:rPr lang="en-US" sz="2300" dirty="0">
                <a:latin typeface="Arial" panose="020B0604020202020204" pitchFamily="34" charset="0"/>
                <a:cs typeface="Arial" panose="020B0604020202020204" pitchFamily="34" charset="0"/>
              </a:rPr>
              <a:t> − Copies data to and from Cassandra.</a:t>
            </a:r>
          </a:p>
          <a:p>
            <a:pPr marL="539750" indent="-357188">
              <a:lnSpc>
                <a:spcPct val="120000"/>
              </a:lnSpc>
              <a:spcBef>
                <a:spcPts val="1200"/>
              </a:spcBef>
              <a:spcAft>
                <a:spcPts val="600"/>
              </a:spcAft>
            </a:pPr>
            <a:r>
              <a:rPr lang="en-US" sz="2300" dirty="0">
                <a:solidFill>
                  <a:srgbClr val="FF0000"/>
                </a:solidFill>
                <a:latin typeface="Arial" panose="020B0604020202020204" pitchFamily="34" charset="0"/>
                <a:cs typeface="Arial" panose="020B0604020202020204" pitchFamily="34" charset="0"/>
              </a:rPr>
              <a:t>DESCRIBE</a:t>
            </a:r>
            <a:r>
              <a:rPr lang="en-US" sz="2300" dirty="0">
                <a:latin typeface="Arial" panose="020B0604020202020204" pitchFamily="34" charset="0"/>
                <a:cs typeface="Arial" panose="020B0604020202020204" pitchFamily="34" charset="0"/>
              </a:rPr>
              <a:t> − Describes the current cluster of Cassandra and its objects.</a:t>
            </a:r>
          </a:p>
          <a:p>
            <a:pPr marL="539750" indent="-357188">
              <a:lnSpc>
                <a:spcPct val="120000"/>
              </a:lnSpc>
              <a:spcBef>
                <a:spcPts val="1200"/>
              </a:spcBef>
              <a:spcAft>
                <a:spcPts val="600"/>
              </a:spcAft>
            </a:pPr>
            <a:r>
              <a:rPr lang="en-US" sz="2300" dirty="0">
                <a:solidFill>
                  <a:srgbClr val="FF0000"/>
                </a:solidFill>
                <a:latin typeface="Arial" panose="020B0604020202020204" pitchFamily="34" charset="0"/>
                <a:cs typeface="Arial" panose="020B0604020202020204" pitchFamily="34" charset="0"/>
              </a:rPr>
              <a:t>EXPAND</a:t>
            </a:r>
            <a:r>
              <a:rPr lang="en-US" sz="2300" dirty="0">
                <a:latin typeface="Arial" panose="020B0604020202020204" pitchFamily="34" charset="0"/>
                <a:cs typeface="Arial" panose="020B0604020202020204" pitchFamily="34" charset="0"/>
              </a:rPr>
              <a:t> − Expands the output of a query vertically.</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0932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Documented Shell Commands</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20000"/>
              </a:lnSpc>
              <a:spcBef>
                <a:spcPts val="2400"/>
              </a:spcBef>
              <a:spcAft>
                <a:spcPts val="600"/>
              </a:spcAft>
            </a:pPr>
            <a:r>
              <a:rPr lang="en-US" sz="2300" dirty="0">
                <a:solidFill>
                  <a:srgbClr val="FF0000"/>
                </a:solidFill>
                <a:latin typeface="Arial" panose="020B0604020202020204" pitchFamily="34" charset="0"/>
                <a:cs typeface="Arial" panose="020B0604020202020204" pitchFamily="34" charset="0"/>
              </a:rPr>
              <a:t>EXIT</a:t>
            </a:r>
            <a:r>
              <a:rPr lang="en-US" sz="2300" dirty="0">
                <a:latin typeface="Arial" panose="020B0604020202020204" pitchFamily="34" charset="0"/>
                <a:cs typeface="Arial" panose="020B0604020202020204" pitchFamily="34" charset="0"/>
              </a:rPr>
              <a:t> − Using this command, you can terminate </a:t>
            </a:r>
            <a:r>
              <a:rPr lang="en-US" sz="2300" dirty="0" err="1">
                <a:latin typeface="Arial" panose="020B0604020202020204" pitchFamily="34" charset="0"/>
                <a:cs typeface="Arial" panose="020B0604020202020204" pitchFamily="34" charset="0"/>
              </a:rPr>
              <a:t>cqlsh</a:t>
            </a:r>
            <a:r>
              <a:rPr lang="en-US" sz="2300" dirty="0">
                <a:latin typeface="Arial" panose="020B0604020202020204" pitchFamily="34" charset="0"/>
                <a:cs typeface="Arial" panose="020B0604020202020204" pitchFamily="34" charset="0"/>
              </a:rPr>
              <a:t>.</a:t>
            </a:r>
          </a:p>
          <a:p>
            <a:pPr marL="539750" indent="-357188">
              <a:lnSpc>
                <a:spcPct val="120000"/>
              </a:lnSpc>
              <a:spcBef>
                <a:spcPts val="2400"/>
              </a:spcBef>
              <a:spcAft>
                <a:spcPts val="600"/>
              </a:spcAft>
            </a:pPr>
            <a:r>
              <a:rPr lang="en-US" sz="2300" dirty="0">
                <a:solidFill>
                  <a:srgbClr val="FF0000"/>
                </a:solidFill>
                <a:latin typeface="Arial" panose="020B0604020202020204" pitchFamily="34" charset="0"/>
                <a:cs typeface="Arial" panose="020B0604020202020204" pitchFamily="34" charset="0"/>
              </a:rPr>
              <a:t>PAGING</a:t>
            </a:r>
            <a:r>
              <a:rPr lang="en-US" sz="2300" dirty="0">
                <a:latin typeface="Arial" panose="020B0604020202020204" pitchFamily="34" charset="0"/>
                <a:cs typeface="Arial" panose="020B0604020202020204" pitchFamily="34" charset="0"/>
              </a:rPr>
              <a:t> − Enables or disables query paging.</a:t>
            </a:r>
          </a:p>
          <a:p>
            <a:pPr marL="539750" indent="-357188">
              <a:lnSpc>
                <a:spcPct val="120000"/>
              </a:lnSpc>
              <a:spcBef>
                <a:spcPts val="2400"/>
              </a:spcBef>
              <a:spcAft>
                <a:spcPts val="600"/>
              </a:spcAft>
            </a:pPr>
            <a:r>
              <a:rPr lang="en-US" sz="2300" dirty="0">
                <a:solidFill>
                  <a:srgbClr val="FF0000"/>
                </a:solidFill>
                <a:latin typeface="Arial" panose="020B0604020202020204" pitchFamily="34" charset="0"/>
                <a:cs typeface="Arial" panose="020B0604020202020204" pitchFamily="34" charset="0"/>
              </a:rPr>
              <a:t>SHOW</a:t>
            </a:r>
            <a:r>
              <a:rPr lang="en-US" sz="2300" dirty="0">
                <a:latin typeface="Arial" panose="020B0604020202020204" pitchFamily="34" charset="0"/>
                <a:cs typeface="Arial" panose="020B0604020202020204" pitchFamily="34" charset="0"/>
              </a:rPr>
              <a:t> − Displays the details of current </a:t>
            </a:r>
            <a:r>
              <a:rPr lang="en-US" sz="2300" dirty="0" err="1">
                <a:latin typeface="Arial" panose="020B0604020202020204" pitchFamily="34" charset="0"/>
                <a:cs typeface="Arial" panose="020B0604020202020204" pitchFamily="34" charset="0"/>
              </a:rPr>
              <a:t>cqlsh</a:t>
            </a:r>
            <a:r>
              <a:rPr lang="en-US" sz="2300" dirty="0">
                <a:latin typeface="Arial" panose="020B0604020202020204" pitchFamily="34" charset="0"/>
                <a:cs typeface="Arial" panose="020B0604020202020204" pitchFamily="34" charset="0"/>
              </a:rPr>
              <a:t> session such as Cassandra version, host, or data type assumptions.</a:t>
            </a:r>
          </a:p>
          <a:p>
            <a:pPr marL="539750" indent="-357188">
              <a:lnSpc>
                <a:spcPct val="120000"/>
              </a:lnSpc>
              <a:spcBef>
                <a:spcPts val="2400"/>
              </a:spcBef>
              <a:spcAft>
                <a:spcPts val="600"/>
              </a:spcAft>
            </a:pPr>
            <a:r>
              <a:rPr lang="en-US" sz="2300" dirty="0">
                <a:solidFill>
                  <a:srgbClr val="FF0000"/>
                </a:solidFill>
                <a:latin typeface="Arial" panose="020B0604020202020204" pitchFamily="34" charset="0"/>
                <a:cs typeface="Arial" panose="020B0604020202020204" pitchFamily="34" charset="0"/>
              </a:rPr>
              <a:t>SOURCE</a:t>
            </a:r>
            <a:r>
              <a:rPr lang="en-US" sz="2300" dirty="0">
                <a:latin typeface="Arial" panose="020B0604020202020204" pitchFamily="34" charset="0"/>
                <a:cs typeface="Arial" panose="020B0604020202020204" pitchFamily="34" charset="0"/>
              </a:rPr>
              <a:t> − Executes a file that contains CQL statements.</a:t>
            </a:r>
          </a:p>
          <a:p>
            <a:pPr marL="539750" indent="-357188">
              <a:lnSpc>
                <a:spcPct val="120000"/>
              </a:lnSpc>
              <a:spcBef>
                <a:spcPts val="2400"/>
              </a:spcBef>
              <a:spcAft>
                <a:spcPts val="600"/>
              </a:spcAft>
            </a:pPr>
            <a:r>
              <a:rPr lang="en-US" sz="2300" dirty="0">
                <a:solidFill>
                  <a:srgbClr val="FF0000"/>
                </a:solidFill>
                <a:latin typeface="Arial" panose="020B0604020202020204" pitchFamily="34" charset="0"/>
                <a:cs typeface="Arial" panose="020B0604020202020204" pitchFamily="34" charset="0"/>
              </a:rPr>
              <a:t>TRACING</a:t>
            </a:r>
            <a:r>
              <a:rPr lang="en-US" sz="2300" dirty="0">
                <a:latin typeface="Arial" panose="020B0604020202020204" pitchFamily="34" charset="0"/>
                <a:cs typeface="Arial" panose="020B0604020202020204" pitchFamily="34" charset="0"/>
              </a:rPr>
              <a:t> − Enables or disables request tracing.</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5552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Data Types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722423266"/>
              </p:ext>
            </p:extLst>
          </p:nvPr>
        </p:nvGraphicFramePr>
        <p:xfrm>
          <a:off x="1799926" y="1853870"/>
          <a:ext cx="8746257" cy="3375492"/>
        </p:xfrm>
        <a:graphic>
          <a:graphicData uri="http://schemas.openxmlformats.org/drawingml/2006/table">
            <a:tbl>
              <a:tblPr/>
              <a:tblGrid>
                <a:gridCol w="2415939">
                  <a:extLst>
                    <a:ext uri="{9D8B030D-6E8A-4147-A177-3AD203B41FA5}">
                      <a16:colId xmlns:a16="http://schemas.microsoft.com/office/drawing/2014/main" val="2859510405"/>
                    </a:ext>
                  </a:extLst>
                </a:gridCol>
                <a:gridCol w="2723950">
                  <a:extLst>
                    <a:ext uri="{9D8B030D-6E8A-4147-A177-3AD203B41FA5}">
                      <a16:colId xmlns:a16="http://schemas.microsoft.com/office/drawing/2014/main" val="363876242"/>
                    </a:ext>
                  </a:extLst>
                </a:gridCol>
                <a:gridCol w="3606368">
                  <a:extLst>
                    <a:ext uri="{9D8B030D-6E8A-4147-A177-3AD203B41FA5}">
                      <a16:colId xmlns:a16="http://schemas.microsoft.com/office/drawing/2014/main" val="1850545855"/>
                    </a:ext>
                  </a:extLst>
                </a:gridCol>
              </a:tblGrid>
              <a:tr h="96696">
                <a:tc>
                  <a:txBody>
                    <a:bodyPr/>
                    <a:lstStyle/>
                    <a:p>
                      <a:pPr algn="ctr" fontAlgn="t">
                        <a:lnSpc>
                          <a:spcPct val="120000"/>
                        </a:lnSpc>
                        <a:spcBef>
                          <a:spcPts val="600"/>
                        </a:spcBef>
                        <a:spcAft>
                          <a:spcPts val="600"/>
                        </a:spcAft>
                      </a:pPr>
                      <a:r>
                        <a:rPr lang="en-IN" sz="2200" b="1">
                          <a:effectLst/>
                          <a:latin typeface="Arial" panose="020B0604020202020204" pitchFamily="34" charset="0"/>
                          <a:cs typeface="Arial" panose="020B0604020202020204" pitchFamily="34" charset="0"/>
                        </a:rPr>
                        <a:t>Data Type</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lnSpc>
                          <a:spcPct val="120000"/>
                        </a:lnSpc>
                        <a:spcBef>
                          <a:spcPts val="600"/>
                        </a:spcBef>
                        <a:spcAft>
                          <a:spcPts val="600"/>
                        </a:spcAft>
                      </a:pPr>
                      <a:r>
                        <a:rPr lang="en-IN" sz="2200" b="1">
                          <a:effectLst/>
                          <a:latin typeface="Arial" panose="020B0604020202020204" pitchFamily="34" charset="0"/>
                          <a:cs typeface="Arial" panose="020B0604020202020204" pitchFamily="34" charset="0"/>
                        </a:rPr>
                        <a:t>Constants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lnSpc>
                          <a:spcPct val="120000"/>
                        </a:lnSpc>
                        <a:spcBef>
                          <a:spcPts val="600"/>
                        </a:spcBef>
                        <a:spcAft>
                          <a:spcPts val="600"/>
                        </a:spcAft>
                      </a:pPr>
                      <a:r>
                        <a:rPr lang="en-IN" sz="2200" b="1" dirty="0">
                          <a:effectLst/>
                          <a:latin typeface="Arial" panose="020B0604020202020204" pitchFamily="34" charset="0"/>
                          <a:cs typeface="Arial" panose="020B0604020202020204" pitchFamily="34" charset="0"/>
                        </a:rPr>
                        <a:t>Description</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8400729"/>
                  </a:ext>
                </a:extLst>
              </a:tr>
              <a:tr h="308383">
                <a:tc>
                  <a:txBody>
                    <a:bodyPr/>
                    <a:lstStyle/>
                    <a:p>
                      <a:pPr algn="ctr" fontAlgn="t">
                        <a:lnSpc>
                          <a:spcPct val="120000"/>
                        </a:lnSpc>
                        <a:spcBef>
                          <a:spcPts val="600"/>
                        </a:spcBef>
                        <a:spcAft>
                          <a:spcPts val="600"/>
                        </a:spcAft>
                      </a:pPr>
                      <a:r>
                        <a:rPr lang="en-IN" sz="2200" b="0" dirty="0" err="1">
                          <a:effectLst/>
                          <a:latin typeface="Arial" panose="020B0604020202020204" pitchFamily="34" charset="0"/>
                          <a:cs typeface="Arial" panose="020B0604020202020204" pitchFamily="34" charset="0"/>
                        </a:rPr>
                        <a:t>ascii</a:t>
                      </a:r>
                      <a:endParaRPr lang="en-IN" sz="2200" b="0" dirty="0">
                        <a:effectLst/>
                        <a:latin typeface="Arial" panose="020B0604020202020204" pitchFamily="34" charset="0"/>
                        <a:cs typeface="Arial" panose="020B0604020202020204" pitchFamily="34" charset="0"/>
                      </a:endParaRP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strings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Represents ASCII character string</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6557403"/>
                  </a:ext>
                </a:extLst>
              </a:tr>
              <a:tr h="237821">
                <a:tc>
                  <a:txBody>
                    <a:bodyPr/>
                    <a:lstStyle/>
                    <a:p>
                      <a:pPr algn="ctr" fontAlgn="t">
                        <a:lnSpc>
                          <a:spcPct val="120000"/>
                        </a:lnSpc>
                        <a:spcBef>
                          <a:spcPts val="600"/>
                        </a:spcBef>
                        <a:spcAft>
                          <a:spcPts val="600"/>
                        </a:spcAft>
                      </a:pPr>
                      <a:r>
                        <a:rPr lang="en-IN" sz="2200" b="0" dirty="0" err="1">
                          <a:effectLst/>
                          <a:latin typeface="Arial" panose="020B0604020202020204" pitchFamily="34" charset="0"/>
                          <a:cs typeface="Arial" panose="020B0604020202020204" pitchFamily="34" charset="0"/>
                        </a:rPr>
                        <a:t>bigint</a:t>
                      </a:r>
                      <a:endParaRPr lang="en-IN" sz="2200" b="0" dirty="0">
                        <a:effectLst/>
                        <a:latin typeface="Arial" panose="020B0604020202020204" pitchFamily="34" charset="0"/>
                        <a:cs typeface="Arial" panose="020B0604020202020204" pitchFamily="34" charset="0"/>
                      </a:endParaRP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bigint</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Represents 64-bit signed long</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5511369"/>
                  </a:ext>
                </a:extLst>
              </a:tr>
              <a:tr h="237821">
                <a:tc>
                  <a:txBody>
                    <a:bodyPr/>
                    <a:lstStyle/>
                    <a:p>
                      <a:pPr algn="ctr" fontAlgn="t">
                        <a:lnSpc>
                          <a:spcPct val="120000"/>
                        </a:lnSpc>
                        <a:spcBef>
                          <a:spcPts val="600"/>
                        </a:spcBef>
                        <a:spcAft>
                          <a:spcPts val="600"/>
                        </a:spcAft>
                      </a:pPr>
                      <a:r>
                        <a:rPr lang="en-IN" sz="2200" b="0" dirty="0">
                          <a:effectLst/>
                          <a:latin typeface="Arial" panose="020B0604020202020204" pitchFamily="34" charset="0"/>
                          <a:cs typeface="Arial" panose="020B0604020202020204" pitchFamily="34" charset="0"/>
                        </a:rPr>
                        <a:t>blob</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dirty="0">
                          <a:effectLst/>
                          <a:latin typeface="Arial" panose="020B0604020202020204" pitchFamily="34" charset="0"/>
                          <a:cs typeface="Arial" panose="020B0604020202020204" pitchFamily="34" charset="0"/>
                        </a:rPr>
                        <a:t>blobs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Represents arbitrary bytes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691315"/>
                  </a:ext>
                </a:extLst>
              </a:tr>
              <a:tr h="167259">
                <a:tc>
                  <a:txBody>
                    <a:bodyPr/>
                    <a:lstStyle/>
                    <a:p>
                      <a:pPr algn="ctr" fontAlgn="t">
                        <a:lnSpc>
                          <a:spcPct val="120000"/>
                        </a:lnSpc>
                        <a:spcBef>
                          <a:spcPts val="600"/>
                        </a:spcBef>
                        <a:spcAft>
                          <a:spcPts val="600"/>
                        </a:spcAft>
                      </a:pPr>
                      <a:r>
                        <a:rPr lang="en-IN" sz="2200" b="0" dirty="0">
                          <a:effectLst/>
                          <a:latin typeface="Arial" panose="020B0604020202020204" pitchFamily="34" charset="0"/>
                          <a:cs typeface="Arial" panose="020B0604020202020204" pitchFamily="34" charset="0"/>
                        </a:rPr>
                        <a:t>Boolean</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booleans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Represents true or false</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7671925"/>
                  </a:ext>
                </a:extLst>
              </a:tr>
              <a:tr h="237821">
                <a:tc>
                  <a:txBody>
                    <a:bodyPr/>
                    <a:lstStyle/>
                    <a:p>
                      <a:pPr algn="ctr" fontAlgn="t">
                        <a:lnSpc>
                          <a:spcPct val="120000"/>
                        </a:lnSpc>
                        <a:spcBef>
                          <a:spcPts val="600"/>
                        </a:spcBef>
                        <a:spcAft>
                          <a:spcPts val="600"/>
                        </a:spcAft>
                      </a:pPr>
                      <a:r>
                        <a:rPr lang="en-IN" sz="2200" b="0" dirty="0">
                          <a:effectLst/>
                          <a:latin typeface="Arial" panose="020B0604020202020204" pitchFamily="34" charset="0"/>
                          <a:cs typeface="Arial" panose="020B0604020202020204" pitchFamily="34" charset="0"/>
                        </a:rPr>
                        <a:t>counter</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integers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dirty="0">
                          <a:effectLst/>
                          <a:latin typeface="Arial" panose="020B0604020202020204" pitchFamily="34" charset="0"/>
                          <a:cs typeface="Arial" panose="020B0604020202020204" pitchFamily="34" charset="0"/>
                        </a:rPr>
                        <a:t>Represents counter column</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784340"/>
                  </a:ext>
                </a:extLst>
              </a:tr>
            </a:tbl>
          </a:graphicData>
        </a:graphic>
      </p:graphicFrame>
    </p:spTree>
    <p:extLst>
      <p:ext uri="{BB962C8B-B14F-4D97-AF65-F5344CB8AC3E}">
        <p14:creationId xmlns:p14="http://schemas.microsoft.com/office/powerpoint/2010/main" val="3865049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Data Types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317817076"/>
              </p:ext>
            </p:extLst>
          </p:nvPr>
        </p:nvGraphicFramePr>
        <p:xfrm>
          <a:off x="1799926" y="1632488"/>
          <a:ext cx="8746257" cy="4582500"/>
        </p:xfrm>
        <a:graphic>
          <a:graphicData uri="http://schemas.openxmlformats.org/drawingml/2006/table">
            <a:tbl>
              <a:tblPr/>
              <a:tblGrid>
                <a:gridCol w="2396689">
                  <a:extLst>
                    <a:ext uri="{9D8B030D-6E8A-4147-A177-3AD203B41FA5}">
                      <a16:colId xmlns:a16="http://schemas.microsoft.com/office/drawing/2014/main" val="2859510405"/>
                    </a:ext>
                  </a:extLst>
                </a:gridCol>
                <a:gridCol w="2954956">
                  <a:extLst>
                    <a:ext uri="{9D8B030D-6E8A-4147-A177-3AD203B41FA5}">
                      <a16:colId xmlns:a16="http://schemas.microsoft.com/office/drawing/2014/main" val="363876242"/>
                    </a:ext>
                  </a:extLst>
                </a:gridCol>
                <a:gridCol w="3394612">
                  <a:extLst>
                    <a:ext uri="{9D8B030D-6E8A-4147-A177-3AD203B41FA5}">
                      <a16:colId xmlns:a16="http://schemas.microsoft.com/office/drawing/2014/main" val="1850545855"/>
                    </a:ext>
                  </a:extLst>
                </a:gridCol>
              </a:tblGrid>
              <a:tr h="96696">
                <a:tc>
                  <a:txBody>
                    <a:bodyPr/>
                    <a:lstStyle/>
                    <a:p>
                      <a:pPr algn="ctr" fontAlgn="t">
                        <a:lnSpc>
                          <a:spcPct val="120000"/>
                        </a:lnSpc>
                        <a:spcBef>
                          <a:spcPts val="600"/>
                        </a:spcBef>
                        <a:spcAft>
                          <a:spcPts val="600"/>
                        </a:spcAft>
                      </a:pPr>
                      <a:r>
                        <a:rPr lang="en-IN" sz="2200" b="1">
                          <a:effectLst/>
                          <a:latin typeface="Arial" panose="020B0604020202020204" pitchFamily="34" charset="0"/>
                          <a:cs typeface="Arial" panose="020B0604020202020204" pitchFamily="34" charset="0"/>
                        </a:rPr>
                        <a:t>Data Type</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lnSpc>
                          <a:spcPct val="120000"/>
                        </a:lnSpc>
                        <a:spcBef>
                          <a:spcPts val="600"/>
                        </a:spcBef>
                        <a:spcAft>
                          <a:spcPts val="600"/>
                        </a:spcAft>
                      </a:pPr>
                      <a:r>
                        <a:rPr lang="en-IN" sz="2200" b="1">
                          <a:effectLst/>
                          <a:latin typeface="Arial" panose="020B0604020202020204" pitchFamily="34" charset="0"/>
                          <a:cs typeface="Arial" panose="020B0604020202020204" pitchFamily="34" charset="0"/>
                        </a:rPr>
                        <a:t>Constants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lnSpc>
                          <a:spcPct val="120000"/>
                        </a:lnSpc>
                        <a:spcBef>
                          <a:spcPts val="600"/>
                        </a:spcBef>
                        <a:spcAft>
                          <a:spcPts val="600"/>
                        </a:spcAft>
                      </a:pPr>
                      <a:r>
                        <a:rPr lang="en-IN" sz="2200" b="1" dirty="0">
                          <a:effectLst/>
                          <a:latin typeface="Arial" panose="020B0604020202020204" pitchFamily="34" charset="0"/>
                          <a:cs typeface="Arial" panose="020B0604020202020204" pitchFamily="34" charset="0"/>
                        </a:rPr>
                        <a:t>Description</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8400729"/>
                  </a:ext>
                </a:extLst>
              </a:tr>
              <a:tr h="308383">
                <a:tc>
                  <a:txBody>
                    <a:bodyPr/>
                    <a:lstStyle/>
                    <a:p>
                      <a:pPr algn="ctr" fontAlgn="t">
                        <a:lnSpc>
                          <a:spcPct val="120000"/>
                        </a:lnSpc>
                        <a:spcBef>
                          <a:spcPts val="600"/>
                        </a:spcBef>
                        <a:spcAft>
                          <a:spcPts val="600"/>
                        </a:spcAft>
                      </a:pPr>
                      <a:r>
                        <a:rPr lang="en-IN" sz="2200" dirty="0">
                          <a:effectLst/>
                          <a:latin typeface="Arial" panose="020B0604020202020204" pitchFamily="34" charset="0"/>
                          <a:cs typeface="Arial" panose="020B0604020202020204" pitchFamily="34" charset="0"/>
                        </a:rPr>
                        <a:t>decimal</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integers, floats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Represents variable-precision decimal</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9025766"/>
                  </a:ext>
                </a:extLst>
              </a:tr>
              <a:tr h="308383">
                <a:tc>
                  <a:txBody>
                    <a:bodyPr/>
                    <a:lstStyle/>
                    <a:p>
                      <a:pPr algn="ctr" fontAlgn="t">
                        <a:lnSpc>
                          <a:spcPct val="120000"/>
                        </a:lnSpc>
                        <a:spcBef>
                          <a:spcPts val="600"/>
                        </a:spcBef>
                        <a:spcAft>
                          <a:spcPts val="600"/>
                        </a:spcAft>
                      </a:pPr>
                      <a:r>
                        <a:rPr lang="en-IN" sz="2200" dirty="0">
                          <a:effectLst/>
                          <a:latin typeface="Arial" panose="020B0604020202020204" pitchFamily="34" charset="0"/>
                          <a:cs typeface="Arial" panose="020B0604020202020204" pitchFamily="34" charset="0"/>
                        </a:rPr>
                        <a:t>double</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integers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US" sz="2200">
                          <a:effectLst/>
                          <a:latin typeface="Arial" panose="020B0604020202020204" pitchFamily="34" charset="0"/>
                          <a:cs typeface="Arial" panose="020B0604020202020204" pitchFamily="34" charset="0"/>
                        </a:rPr>
                        <a:t>Represents 64-bit IEEE-754 floating point</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4875976"/>
                  </a:ext>
                </a:extLst>
              </a:tr>
              <a:tr h="308383">
                <a:tc>
                  <a:txBody>
                    <a:bodyPr/>
                    <a:lstStyle/>
                    <a:p>
                      <a:pPr algn="ctr" fontAlgn="t">
                        <a:lnSpc>
                          <a:spcPct val="120000"/>
                        </a:lnSpc>
                        <a:spcBef>
                          <a:spcPts val="600"/>
                        </a:spcBef>
                        <a:spcAft>
                          <a:spcPts val="600"/>
                        </a:spcAft>
                      </a:pPr>
                      <a:r>
                        <a:rPr lang="en-IN" sz="2200" dirty="0">
                          <a:effectLst/>
                          <a:latin typeface="Arial" panose="020B0604020202020204" pitchFamily="34" charset="0"/>
                          <a:cs typeface="Arial" panose="020B0604020202020204" pitchFamily="34" charset="0"/>
                        </a:rPr>
                        <a:t>float</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integers, floats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US" sz="2200">
                          <a:effectLst/>
                          <a:latin typeface="Arial" panose="020B0604020202020204" pitchFamily="34" charset="0"/>
                          <a:cs typeface="Arial" panose="020B0604020202020204" pitchFamily="34" charset="0"/>
                        </a:rPr>
                        <a:t>Represents 32-bit IEEE-754 floating point</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633920"/>
                  </a:ext>
                </a:extLst>
              </a:tr>
              <a:tr h="308383">
                <a:tc>
                  <a:txBody>
                    <a:bodyPr/>
                    <a:lstStyle/>
                    <a:p>
                      <a:pPr algn="ctr" fontAlgn="t">
                        <a:lnSpc>
                          <a:spcPct val="120000"/>
                        </a:lnSpc>
                        <a:spcBef>
                          <a:spcPts val="600"/>
                        </a:spcBef>
                        <a:spcAft>
                          <a:spcPts val="600"/>
                        </a:spcAft>
                      </a:pPr>
                      <a:r>
                        <a:rPr lang="en-IN" sz="2200" dirty="0" err="1">
                          <a:effectLst/>
                          <a:latin typeface="Arial" panose="020B0604020202020204" pitchFamily="34" charset="0"/>
                          <a:cs typeface="Arial" panose="020B0604020202020204" pitchFamily="34" charset="0"/>
                        </a:rPr>
                        <a:t>inet</a:t>
                      </a:r>
                      <a:endParaRPr lang="en-IN" sz="2200" dirty="0">
                        <a:effectLst/>
                        <a:latin typeface="Arial" panose="020B0604020202020204" pitchFamily="34" charset="0"/>
                        <a:cs typeface="Arial" panose="020B0604020202020204" pitchFamily="34" charset="0"/>
                      </a:endParaRP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strings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US" sz="2200">
                          <a:effectLst/>
                          <a:latin typeface="Arial" panose="020B0604020202020204" pitchFamily="34" charset="0"/>
                          <a:cs typeface="Arial" panose="020B0604020202020204" pitchFamily="34" charset="0"/>
                        </a:rPr>
                        <a:t>Represents an IP address, IPv4 or IPv6</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3558518"/>
                  </a:ext>
                </a:extLst>
              </a:tr>
              <a:tr h="237821">
                <a:tc>
                  <a:txBody>
                    <a:bodyPr/>
                    <a:lstStyle/>
                    <a:p>
                      <a:pPr algn="ctr" fontAlgn="t">
                        <a:lnSpc>
                          <a:spcPct val="120000"/>
                        </a:lnSpc>
                        <a:spcBef>
                          <a:spcPts val="600"/>
                        </a:spcBef>
                        <a:spcAft>
                          <a:spcPts val="600"/>
                        </a:spcAft>
                      </a:pPr>
                      <a:r>
                        <a:rPr lang="en-IN" sz="2200" dirty="0" err="1">
                          <a:effectLst/>
                          <a:latin typeface="Arial" panose="020B0604020202020204" pitchFamily="34" charset="0"/>
                          <a:cs typeface="Arial" panose="020B0604020202020204" pitchFamily="34" charset="0"/>
                        </a:rPr>
                        <a:t>int</a:t>
                      </a:r>
                      <a:endParaRPr lang="en-IN" sz="2200" dirty="0">
                        <a:effectLst/>
                        <a:latin typeface="Arial" panose="020B0604020202020204" pitchFamily="34" charset="0"/>
                        <a:cs typeface="Arial" panose="020B0604020202020204" pitchFamily="34" charset="0"/>
                      </a:endParaRP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integers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dirty="0">
                          <a:effectLst/>
                          <a:latin typeface="Arial" panose="020B0604020202020204" pitchFamily="34" charset="0"/>
                          <a:cs typeface="Arial" panose="020B0604020202020204" pitchFamily="34" charset="0"/>
                        </a:rPr>
                        <a:t>Represents 32-bit signed </a:t>
                      </a:r>
                      <a:r>
                        <a:rPr lang="en-IN" sz="2200" dirty="0" err="1">
                          <a:effectLst/>
                          <a:latin typeface="Arial" panose="020B0604020202020204" pitchFamily="34" charset="0"/>
                          <a:cs typeface="Arial" panose="020B0604020202020204" pitchFamily="34" charset="0"/>
                        </a:rPr>
                        <a:t>int</a:t>
                      </a:r>
                      <a:endParaRPr lang="en-IN" sz="2200" dirty="0">
                        <a:effectLst/>
                        <a:latin typeface="Arial" panose="020B0604020202020204" pitchFamily="34" charset="0"/>
                        <a:cs typeface="Arial" panose="020B0604020202020204" pitchFamily="34" charset="0"/>
                      </a:endParaRP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3687563"/>
                  </a:ext>
                </a:extLst>
              </a:tr>
            </a:tbl>
          </a:graphicData>
        </a:graphic>
      </p:graphicFrame>
    </p:spTree>
    <p:extLst>
      <p:ext uri="{BB962C8B-B14F-4D97-AF65-F5344CB8AC3E}">
        <p14:creationId xmlns:p14="http://schemas.microsoft.com/office/powerpoint/2010/main" val="3517107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Data Types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490183182"/>
              </p:ext>
            </p:extLst>
          </p:nvPr>
        </p:nvGraphicFramePr>
        <p:xfrm>
          <a:off x="1799926" y="1824994"/>
          <a:ext cx="8746257" cy="4206298"/>
        </p:xfrm>
        <a:graphic>
          <a:graphicData uri="http://schemas.openxmlformats.org/drawingml/2006/table">
            <a:tbl>
              <a:tblPr/>
              <a:tblGrid>
                <a:gridCol w="2502567">
                  <a:extLst>
                    <a:ext uri="{9D8B030D-6E8A-4147-A177-3AD203B41FA5}">
                      <a16:colId xmlns:a16="http://schemas.microsoft.com/office/drawing/2014/main" val="2859510405"/>
                    </a:ext>
                  </a:extLst>
                </a:gridCol>
                <a:gridCol w="2377440">
                  <a:extLst>
                    <a:ext uri="{9D8B030D-6E8A-4147-A177-3AD203B41FA5}">
                      <a16:colId xmlns:a16="http://schemas.microsoft.com/office/drawing/2014/main" val="363876242"/>
                    </a:ext>
                  </a:extLst>
                </a:gridCol>
                <a:gridCol w="3866250">
                  <a:extLst>
                    <a:ext uri="{9D8B030D-6E8A-4147-A177-3AD203B41FA5}">
                      <a16:colId xmlns:a16="http://schemas.microsoft.com/office/drawing/2014/main" val="1850545855"/>
                    </a:ext>
                  </a:extLst>
                </a:gridCol>
              </a:tblGrid>
              <a:tr h="96696">
                <a:tc>
                  <a:txBody>
                    <a:bodyPr/>
                    <a:lstStyle/>
                    <a:p>
                      <a:pPr algn="ctr" fontAlgn="t">
                        <a:lnSpc>
                          <a:spcPct val="120000"/>
                        </a:lnSpc>
                        <a:spcBef>
                          <a:spcPts val="600"/>
                        </a:spcBef>
                        <a:spcAft>
                          <a:spcPts val="600"/>
                        </a:spcAft>
                      </a:pPr>
                      <a:r>
                        <a:rPr lang="en-IN" sz="2200" b="1">
                          <a:effectLst/>
                          <a:latin typeface="Arial" panose="020B0604020202020204" pitchFamily="34" charset="0"/>
                          <a:cs typeface="Arial" panose="020B0604020202020204" pitchFamily="34" charset="0"/>
                        </a:rPr>
                        <a:t>Data Type</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lnSpc>
                          <a:spcPct val="120000"/>
                        </a:lnSpc>
                        <a:spcBef>
                          <a:spcPts val="600"/>
                        </a:spcBef>
                        <a:spcAft>
                          <a:spcPts val="600"/>
                        </a:spcAft>
                      </a:pPr>
                      <a:r>
                        <a:rPr lang="en-IN" sz="2200" b="1">
                          <a:effectLst/>
                          <a:latin typeface="Arial" panose="020B0604020202020204" pitchFamily="34" charset="0"/>
                          <a:cs typeface="Arial" panose="020B0604020202020204" pitchFamily="34" charset="0"/>
                        </a:rPr>
                        <a:t>Constants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lnSpc>
                          <a:spcPct val="120000"/>
                        </a:lnSpc>
                        <a:spcBef>
                          <a:spcPts val="600"/>
                        </a:spcBef>
                        <a:spcAft>
                          <a:spcPts val="600"/>
                        </a:spcAft>
                      </a:pPr>
                      <a:r>
                        <a:rPr lang="en-IN" sz="2200" b="1" dirty="0">
                          <a:effectLst/>
                          <a:latin typeface="Arial" panose="020B0604020202020204" pitchFamily="34" charset="0"/>
                          <a:cs typeface="Arial" panose="020B0604020202020204" pitchFamily="34" charset="0"/>
                        </a:rPr>
                        <a:t>Description</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8400729"/>
                  </a:ext>
                </a:extLst>
              </a:tr>
              <a:tr h="308383">
                <a:tc>
                  <a:txBody>
                    <a:bodyPr/>
                    <a:lstStyle/>
                    <a:p>
                      <a:pPr algn="ctr" fontAlgn="t">
                        <a:lnSpc>
                          <a:spcPct val="120000"/>
                        </a:lnSpc>
                        <a:spcBef>
                          <a:spcPts val="600"/>
                        </a:spcBef>
                        <a:spcAft>
                          <a:spcPts val="600"/>
                        </a:spcAft>
                      </a:pPr>
                      <a:r>
                        <a:rPr lang="en-IN" sz="2200" b="0" dirty="0">
                          <a:effectLst/>
                          <a:latin typeface="Arial" panose="020B0604020202020204" pitchFamily="34" charset="0"/>
                          <a:cs typeface="Arial" panose="020B0604020202020204" pitchFamily="34" charset="0"/>
                        </a:rPr>
                        <a:t>text</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strings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Represents UTF8 encoded string</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7358259"/>
                  </a:ext>
                </a:extLst>
              </a:tr>
              <a:tr h="167259">
                <a:tc>
                  <a:txBody>
                    <a:bodyPr/>
                    <a:lstStyle/>
                    <a:p>
                      <a:pPr algn="ctr" fontAlgn="t">
                        <a:lnSpc>
                          <a:spcPct val="120000"/>
                        </a:lnSpc>
                        <a:spcBef>
                          <a:spcPts val="600"/>
                        </a:spcBef>
                        <a:spcAft>
                          <a:spcPts val="600"/>
                        </a:spcAft>
                      </a:pPr>
                      <a:r>
                        <a:rPr lang="en-IN" sz="2200" b="0" dirty="0">
                          <a:effectLst/>
                          <a:latin typeface="Arial" panose="020B0604020202020204" pitchFamily="34" charset="0"/>
                          <a:cs typeface="Arial" panose="020B0604020202020204" pitchFamily="34" charset="0"/>
                        </a:rPr>
                        <a:t>timestamp</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integers, strings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Represents a timestamp</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0504087"/>
                  </a:ext>
                </a:extLst>
              </a:tr>
              <a:tr h="167259">
                <a:tc>
                  <a:txBody>
                    <a:bodyPr/>
                    <a:lstStyle/>
                    <a:p>
                      <a:pPr algn="ctr" fontAlgn="t">
                        <a:lnSpc>
                          <a:spcPct val="120000"/>
                        </a:lnSpc>
                        <a:spcBef>
                          <a:spcPts val="600"/>
                        </a:spcBef>
                        <a:spcAft>
                          <a:spcPts val="600"/>
                        </a:spcAft>
                      </a:pPr>
                      <a:r>
                        <a:rPr lang="en-IN" sz="2200" b="0" dirty="0" err="1">
                          <a:effectLst/>
                          <a:latin typeface="Arial" panose="020B0604020202020204" pitchFamily="34" charset="0"/>
                          <a:cs typeface="Arial" panose="020B0604020202020204" pitchFamily="34" charset="0"/>
                        </a:rPr>
                        <a:t>timeuuid</a:t>
                      </a:r>
                      <a:endParaRPr lang="en-IN" sz="2200" b="0" dirty="0">
                        <a:effectLst/>
                        <a:latin typeface="Arial" panose="020B0604020202020204" pitchFamily="34" charset="0"/>
                        <a:cs typeface="Arial" panose="020B0604020202020204" pitchFamily="34" charset="0"/>
                      </a:endParaRP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uuids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Represents type 1 UUID</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472692"/>
                  </a:ext>
                </a:extLst>
              </a:tr>
              <a:tr h="237821">
                <a:tc>
                  <a:txBody>
                    <a:bodyPr/>
                    <a:lstStyle/>
                    <a:p>
                      <a:pPr algn="ctr" fontAlgn="t">
                        <a:lnSpc>
                          <a:spcPct val="120000"/>
                        </a:lnSpc>
                        <a:spcBef>
                          <a:spcPts val="600"/>
                        </a:spcBef>
                        <a:spcAft>
                          <a:spcPts val="600"/>
                        </a:spcAft>
                      </a:pPr>
                      <a:r>
                        <a:rPr lang="en-IN" sz="2200" b="0" dirty="0" err="1">
                          <a:effectLst/>
                          <a:latin typeface="Arial" panose="020B0604020202020204" pitchFamily="34" charset="0"/>
                          <a:cs typeface="Arial" panose="020B0604020202020204" pitchFamily="34" charset="0"/>
                        </a:rPr>
                        <a:t>uuid</a:t>
                      </a:r>
                      <a:endParaRPr lang="en-IN" sz="2200" b="0" dirty="0">
                        <a:effectLst/>
                        <a:latin typeface="Arial" panose="020B0604020202020204" pitchFamily="34" charset="0"/>
                        <a:cs typeface="Arial" panose="020B0604020202020204" pitchFamily="34" charset="0"/>
                      </a:endParaRP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uuids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US" sz="2200">
                          <a:effectLst/>
                          <a:latin typeface="Arial" panose="020B0604020202020204" pitchFamily="34" charset="0"/>
                          <a:cs typeface="Arial" panose="020B0604020202020204" pitchFamily="34" charset="0"/>
                        </a:rPr>
                        <a:t>Represents type 1 or type 4</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7602542"/>
                  </a:ext>
                </a:extLst>
              </a:tr>
              <a:tr h="308383">
                <a:tc>
                  <a:txBody>
                    <a:bodyPr/>
                    <a:lstStyle/>
                    <a:p>
                      <a:pPr algn="ctr" fontAlgn="t">
                        <a:lnSpc>
                          <a:spcPct val="120000"/>
                        </a:lnSpc>
                        <a:spcBef>
                          <a:spcPts val="600"/>
                        </a:spcBef>
                        <a:spcAft>
                          <a:spcPts val="600"/>
                        </a:spcAft>
                      </a:pPr>
                      <a:r>
                        <a:rPr lang="en-IN" sz="2200" b="0" dirty="0">
                          <a:effectLst/>
                          <a:latin typeface="Arial" panose="020B0604020202020204" pitchFamily="34" charset="0"/>
                          <a:cs typeface="Arial" panose="020B0604020202020204" pitchFamily="34" charset="0"/>
                        </a:rPr>
                        <a:t>varchar</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strings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Represents uTF8 encoded string</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3992396"/>
                  </a:ext>
                </a:extLst>
              </a:tr>
              <a:tr h="308383">
                <a:tc>
                  <a:txBody>
                    <a:bodyPr/>
                    <a:lstStyle/>
                    <a:p>
                      <a:pPr algn="ctr" fontAlgn="t">
                        <a:lnSpc>
                          <a:spcPct val="120000"/>
                        </a:lnSpc>
                        <a:spcBef>
                          <a:spcPts val="600"/>
                        </a:spcBef>
                        <a:spcAft>
                          <a:spcPts val="600"/>
                        </a:spcAft>
                      </a:pPr>
                      <a:r>
                        <a:rPr lang="en-IN" sz="2200" dirty="0" err="1">
                          <a:effectLst/>
                          <a:latin typeface="Arial" panose="020B0604020202020204" pitchFamily="34" charset="0"/>
                          <a:cs typeface="Arial" panose="020B0604020202020204" pitchFamily="34" charset="0"/>
                        </a:rPr>
                        <a:t>varint</a:t>
                      </a:r>
                      <a:endParaRPr lang="en-IN" sz="2200" dirty="0">
                        <a:effectLst/>
                        <a:latin typeface="Arial" panose="020B0604020202020204" pitchFamily="34" charset="0"/>
                        <a:cs typeface="Arial" panose="020B0604020202020204" pitchFamily="34" charset="0"/>
                      </a:endParaRP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a:effectLst/>
                          <a:latin typeface="Arial" panose="020B0604020202020204" pitchFamily="34" charset="0"/>
                          <a:cs typeface="Arial" panose="020B0604020202020204" pitchFamily="34" charset="0"/>
                        </a:rPr>
                        <a:t>integers</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lnSpc>
                          <a:spcPct val="120000"/>
                        </a:lnSpc>
                        <a:spcBef>
                          <a:spcPts val="600"/>
                        </a:spcBef>
                        <a:spcAft>
                          <a:spcPts val="600"/>
                        </a:spcAft>
                      </a:pPr>
                      <a:r>
                        <a:rPr lang="en-IN" sz="2200" dirty="0">
                          <a:effectLst/>
                          <a:latin typeface="Arial" panose="020B0604020202020204" pitchFamily="34" charset="0"/>
                          <a:cs typeface="Arial" panose="020B0604020202020204" pitchFamily="34" charset="0"/>
                        </a:rPr>
                        <a:t>Represents arbitrary-precision integer</a:t>
                      </a:r>
                    </a:p>
                  </a:txBody>
                  <a:tcPr marL="13067" marR="13067" marT="13067" marB="1306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1059174"/>
                  </a:ext>
                </a:extLst>
              </a:tr>
            </a:tbl>
          </a:graphicData>
        </a:graphic>
      </p:graphicFrame>
    </p:spTree>
    <p:extLst>
      <p:ext uri="{BB962C8B-B14F-4D97-AF65-F5344CB8AC3E}">
        <p14:creationId xmlns:p14="http://schemas.microsoft.com/office/powerpoint/2010/main" val="4167901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Collection Types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911694968"/>
              </p:ext>
            </p:extLst>
          </p:nvPr>
        </p:nvGraphicFramePr>
        <p:xfrm>
          <a:off x="1790298" y="2426494"/>
          <a:ext cx="8755884" cy="2082800"/>
        </p:xfrm>
        <a:graphic>
          <a:graphicData uri="http://schemas.openxmlformats.org/drawingml/2006/table">
            <a:tbl>
              <a:tblPr/>
              <a:tblGrid>
                <a:gridCol w="2088683">
                  <a:extLst>
                    <a:ext uri="{9D8B030D-6E8A-4147-A177-3AD203B41FA5}">
                      <a16:colId xmlns:a16="http://schemas.microsoft.com/office/drawing/2014/main" val="3627540099"/>
                    </a:ext>
                  </a:extLst>
                </a:gridCol>
                <a:gridCol w="6667201">
                  <a:extLst>
                    <a:ext uri="{9D8B030D-6E8A-4147-A177-3AD203B41FA5}">
                      <a16:colId xmlns:a16="http://schemas.microsoft.com/office/drawing/2014/main" val="3357268268"/>
                    </a:ext>
                  </a:extLst>
                </a:gridCol>
              </a:tblGrid>
              <a:tr h="0">
                <a:tc>
                  <a:txBody>
                    <a:bodyPr/>
                    <a:lstStyle/>
                    <a:p>
                      <a:pPr algn="ctr" fontAlgn="t"/>
                      <a:r>
                        <a:rPr lang="en-IN" sz="2200" b="1">
                          <a:effectLst/>
                          <a:latin typeface="Arial" panose="020B0604020202020204" pitchFamily="34" charset="0"/>
                          <a:cs typeface="Arial" panose="020B0604020202020204" pitchFamily="34" charset="0"/>
                        </a:rPr>
                        <a:t>Collection</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en-IN" sz="2200" b="1" dirty="0">
                          <a:effectLst/>
                          <a:latin typeface="Arial" panose="020B0604020202020204" pitchFamily="34" charset="0"/>
                          <a:cs typeface="Arial" panose="020B0604020202020204" pitchFamily="34" charset="0"/>
                        </a:rPr>
                        <a:t>Description</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3692619"/>
                  </a:ext>
                </a:extLst>
              </a:tr>
              <a:tr h="0">
                <a:tc>
                  <a:txBody>
                    <a:bodyPr/>
                    <a:lstStyle/>
                    <a:p>
                      <a:pPr algn="ctr" fontAlgn="t"/>
                      <a:r>
                        <a:rPr lang="en-IN" sz="2200" dirty="0">
                          <a:effectLst/>
                          <a:latin typeface="Arial" panose="020B0604020202020204" pitchFamily="34" charset="0"/>
                          <a:cs typeface="Arial" panose="020B0604020202020204" pitchFamily="34" charset="0"/>
                        </a:rPr>
                        <a:t>list</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2200" dirty="0">
                          <a:effectLst/>
                          <a:latin typeface="Arial" panose="020B0604020202020204" pitchFamily="34" charset="0"/>
                          <a:cs typeface="Arial" panose="020B0604020202020204" pitchFamily="34" charset="0"/>
                        </a:rPr>
                        <a:t>A list is a collection of one or more ordered elements.</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6745444"/>
                  </a:ext>
                </a:extLst>
              </a:tr>
              <a:tr h="0">
                <a:tc>
                  <a:txBody>
                    <a:bodyPr/>
                    <a:lstStyle/>
                    <a:p>
                      <a:pPr algn="ctr" fontAlgn="t"/>
                      <a:r>
                        <a:rPr lang="en-IN" sz="2200" dirty="0">
                          <a:effectLst/>
                          <a:latin typeface="Arial" panose="020B0604020202020204" pitchFamily="34" charset="0"/>
                          <a:cs typeface="Arial" panose="020B0604020202020204" pitchFamily="34" charset="0"/>
                        </a:rPr>
                        <a:t>map</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2200" dirty="0">
                          <a:effectLst/>
                          <a:latin typeface="Arial" panose="020B0604020202020204" pitchFamily="34" charset="0"/>
                          <a:cs typeface="Arial" panose="020B0604020202020204" pitchFamily="34" charset="0"/>
                        </a:rPr>
                        <a:t>A map is a collection of key-value pairs.</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700120"/>
                  </a:ext>
                </a:extLst>
              </a:tr>
              <a:tr h="0">
                <a:tc>
                  <a:txBody>
                    <a:bodyPr/>
                    <a:lstStyle/>
                    <a:p>
                      <a:pPr algn="ctr" fontAlgn="t"/>
                      <a:r>
                        <a:rPr lang="en-IN" sz="2200" dirty="0">
                          <a:effectLst/>
                          <a:latin typeface="Arial" panose="020B0604020202020204" pitchFamily="34" charset="0"/>
                          <a:cs typeface="Arial" panose="020B0604020202020204" pitchFamily="34" charset="0"/>
                        </a:rPr>
                        <a:t>set</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2200" dirty="0">
                          <a:effectLst/>
                          <a:latin typeface="Arial" panose="020B0604020202020204" pitchFamily="34" charset="0"/>
                          <a:cs typeface="Arial" panose="020B0604020202020204" pitchFamily="34" charset="0"/>
                        </a:rPr>
                        <a:t>A set is a collection of one or more elements.</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7217425"/>
                  </a:ext>
                </a:extLst>
              </a:tr>
            </a:tbl>
          </a:graphicData>
        </a:graphic>
      </p:graphicFrame>
    </p:spTree>
    <p:extLst>
      <p:ext uri="{BB962C8B-B14F-4D97-AF65-F5344CB8AC3E}">
        <p14:creationId xmlns:p14="http://schemas.microsoft.com/office/powerpoint/2010/main" val="929025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Data Definition Commands</a:t>
            </a:r>
          </a:p>
        </p:txBody>
      </p:sp>
      <p:sp>
        <p:nvSpPr>
          <p:cNvPr id="3" name="Content Placeholder 2"/>
          <p:cNvSpPr>
            <a:spLocks noGrp="1"/>
          </p:cNvSpPr>
          <p:nvPr>
            <p:ph idx="1"/>
          </p:nvPr>
        </p:nvSpPr>
        <p:spPr>
          <a:xfrm>
            <a:off x="838200" y="1690688"/>
            <a:ext cx="10515600" cy="4486275"/>
          </a:xfrm>
        </p:spPr>
        <p:txBody>
          <a:bodyPr>
            <a:noAutofit/>
          </a:bodyPr>
          <a:lstStyle/>
          <a:p>
            <a:pPr>
              <a:lnSpc>
                <a:spcPct val="110000"/>
              </a:lnSpc>
              <a:spcBef>
                <a:spcPts val="0"/>
              </a:spcBef>
              <a:spcAft>
                <a:spcPts val="600"/>
              </a:spcAft>
            </a:pPr>
            <a:r>
              <a:rPr lang="en-US" sz="2100" b="1" dirty="0">
                <a:solidFill>
                  <a:srgbClr val="FF0000"/>
                </a:solidFill>
                <a:latin typeface="Arial" panose="020B0604020202020204" pitchFamily="34" charset="0"/>
                <a:cs typeface="Arial" panose="020B0604020202020204" pitchFamily="34" charset="0"/>
              </a:rPr>
              <a:t>CREATE KEYSPACE</a:t>
            </a:r>
            <a:r>
              <a:rPr lang="en-US" sz="2100" dirty="0">
                <a:solidFill>
                  <a:srgbClr val="FF0000"/>
                </a:solidFill>
                <a:latin typeface="Arial" panose="020B0604020202020204" pitchFamily="34" charset="0"/>
                <a:cs typeface="Arial" panose="020B0604020202020204" pitchFamily="34" charset="0"/>
              </a:rPr>
              <a:t> − </a:t>
            </a:r>
            <a:r>
              <a:rPr lang="en-US" sz="2100" dirty="0">
                <a:latin typeface="Arial" panose="020B0604020202020204" pitchFamily="34" charset="0"/>
                <a:cs typeface="Arial" panose="020B0604020202020204" pitchFamily="34" charset="0"/>
              </a:rPr>
              <a:t>Creates a </a:t>
            </a:r>
            <a:r>
              <a:rPr lang="en-US" sz="2100" dirty="0" err="1">
                <a:latin typeface="Arial" panose="020B0604020202020204" pitchFamily="34" charset="0"/>
                <a:cs typeface="Arial" panose="020B0604020202020204" pitchFamily="34" charset="0"/>
              </a:rPr>
              <a:t>KeySpace</a:t>
            </a:r>
            <a:r>
              <a:rPr lang="en-US" sz="2100" dirty="0">
                <a:latin typeface="Arial" panose="020B0604020202020204" pitchFamily="34" charset="0"/>
                <a:cs typeface="Arial" panose="020B0604020202020204" pitchFamily="34" charset="0"/>
              </a:rPr>
              <a:t> in Cassandra</a:t>
            </a:r>
            <a:r>
              <a:rPr lang="en-US" sz="2100" dirty="0">
                <a:solidFill>
                  <a:srgbClr val="FF0000"/>
                </a:solidFill>
                <a:latin typeface="Arial" panose="020B0604020202020204" pitchFamily="34" charset="0"/>
                <a:cs typeface="Arial" panose="020B0604020202020204" pitchFamily="34" charset="0"/>
              </a:rPr>
              <a:t>.</a:t>
            </a:r>
          </a:p>
          <a:p>
            <a:pPr>
              <a:lnSpc>
                <a:spcPct val="110000"/>
              </a:lnSpc>
              <a:spcBef>
                <a:spcPts val="0"/>
              </a:spcBef>
              <a:spcAft>
                <a:spcPts val="600"/>
              </a:spcAft>
            </a:pPr>
            <a:r>
              <a:rPr lang="en-US" sz="2100" b="1" dirty="0">
                <a:solidFill>
                  <a:srgbClr val="FF0000"/>
                </a:solidFill>
                <a:latin typeface="Arial" panose="020B0604020202020204" pitchFamily="34" charset="0"/>
                <a:cs typeface="Arial" panose="020B0604020202020204" pitchFamily="34" charset="0"/>
              </a:rPr>
              <a:t>USE</a:t>
            </a:r>
            <a:r>
              <a:rPr lang="en-US" sz="2100" dirty="0">
                <a:solidFill>
                  <a:srgbClr val="FF0000"/>
                </a:solidFill>
                <a:latin typeface="Arial" panose="020B0604020202020204" pitchFamily="34" charset="0"/>
                <a:cs typeface="Arial" panose="020B0604020202020204" pitchFamily="34" charset="0"/>
              </a:rPr>
              <a:t> − </a:t>
            </a:r>
            <a:r>
              <a:rPr lang="en-US" sz="2100" dirty="0">
                <a:latin typeface="Arial" panose="020B0604020202020204" pitchFamily="34" charset="0"/>
                <a:cs typeface="Arial" panose="020B0604020202020204" pitchFamily="34" charset="0"/>
              </a:rPr>
              <a:t>Connects to a created </a:t>
            </a:r>
            <a:r>
              <a:rPr lang="en-US" sz="2100" dirty="0" err="1">
                <a:latin typeface="Arial" panose="020B0604020202020204" pitchFamily="34" charset="0"/>
                <a:cs typeface="Arial" panose="020B0604020202020204" pitchFamily="34" charset="0"/>
              </a:rPr>
              <a:t>KeySpace</a:t>
            </a:r>
            <a:r>
              <a:rPr lang="en-US" sz="2100" dirty="0">
                <a:latin typeface="Arial" panose="020B0604020202020204" pitchFamily="34" charset="0"/>
                <a:cs typeface="Arial" panose="020B0604020202020204" pitchFamily="34" charset="0"/>
              </a:rPr>
              <a:t>.</a:t>
            </a:r>
          </a:p>
          <a:p>
            <a:pPr>
              <a:lnSpc>
                <a:spcPct val="110000"/>
              </a:lnSpc>
              <a:spcBef>
                <a:spcPts val="0"/>
              </a:spcBef>
              <a:spcAft>
                <a:spcPts val="600"/>
              </a:spcAft>
            </a:pPr>
            <a:r>
              <a:rPr lang="en-US" sz="2100" b="1" dirty="0">
                <a:solidFill>
                  <a:srgbClr val="FF0000"/>
                </a:solidFill>
                <a:latin typeface="Arial" panose="020B0604020202020204" pitchFamily="34" charset="0"/>
                <a:cs typeface="Arial" panose="020B0604020202020204" pitchFamily="34" charset="0"/>
              </a:rPr>
              <a:t>ALTER KEYSPACE</a:t>
            </a:r>
            <a:r>
              <a:rPr lang="en-US" sz="2100" dirty="0">
                <a:solidFill>
                  <a:srgbClr val="FF0000"/>
                </a:solidFill>
                <a:latin typeface="Arial" panose="020B0604020202020204" pitchFamily="34" charset="0"/>
                <a:cs typeface="Arial" panose="020B0604020202020204" pitchFamily="34" charset="0"/>
              </a:rPr>
              <a:t> − </a:t>
            </a:r>
            <a:r>
              <a:rPr lang="en-US" sz="2100" dirty="0">
                <a:latin typeface="Arial" panose="020B0604020202020204" pitchFamily="34" charset="0"/>
                <a:cs typeface="Arial" panose="020B0604020202020204" pitchFamily="34" charset="0"/>
              </a:rPr>
              <a:t>Changes the properties of a </a:t>
            </a:r>
            <a:r>
              <a:rPr lang="en-US" sz="2100" dirty="0" err="1">
                <a:latin typeface="Arial" panose="020B0604020202020204" pitchFamily="34" charset="0"/>
                <a:cs typeface="Arial" panose="020B0604020202020204" pitchFamily="34" charset="0"/>
              </a:rPr>
              <a:t>KeySpace</a:t>
            </a:r>
            <a:r>
              <a:rPr lang="en-US" sz="2100" dirty="0">
                <a:latin typeface="Arial" panose="020B0604020202020204" pitchFamily="34" charset="0"/>
                <a:cs typeface="Arial" panose="020B0604020202020204" pitchFamily="34" charset="0"/>
              </a:rPr>
              <a:t>.</a:t>
            </a:r>
          </a:p>
          <a:p>
            <a:pPr>
              <a:lnSpc>
                <a:spcPct val="110000"/>
              </a:lnSpc>
              <a:spcBef>
                <a:spcPts val="0"/>
              </a:spcBef>
              <a:spcAft>
                <a:spcPts val="600"/>
              </a:spcAft>
            </a:pPr>
            <a:r>
              <a:rPr lang="en-US" sz="2100" b="1" dirty="0">
                <a:solidFill>
                  <a:srgbClr val="FF0000"/>
                </a:solidFill>
                <a:latin typeface="Arial" panose="020B0604020202020204" pitchFamily="34" charset="0"/>
                <a:cs typeface="Arial" panose="020B0604020202020204" pitchFamily="34" charset="0"/>
              </a:rPr>
              <a:t>DROP KEYSPACE</a:t>
            </a:r>
            <a:r>
              <a:rPr lang="en-US" sz="2100" dirty="0">
                <a:solidFill>
                  <a:srgbClr val="FF0000"/>
                </a:solidFill>
                <a:latin typeface="Arial" panose="020B0604020202020204" pitchFamily="34" charset="0"/>
                <a:cs typeface="Arial" panose="020B0604020202020204" pitchFamily="34" charset="0"/>
              </a:rPr>
              <a:t> − </a:t>
            </a:r>
            <a:r>
              <a:rPr lang="en-US" sz="2100" dirty="0">
                <a:latin typeface="Arial" panose="020B0604020202020204" pitchFamily="34" charset="0"/>
                <a:cs typeface="Arial" panose="020B0604020202020204" pitchFamily="34" charset="0"/>
              </a:rPr>
              <a:t>Removes a </a:t>
            </a:r>
            <a:r>
              <a:rPr lang="en-US" sz="2100" dirty="0" err="1">
                <a:latin typeface="Arial" panose="020B0604020202020204" pitchFamily="34" charset="0"/>
                <a:cs typeface="Arial" panose="020B0604020202020204" pitchFamily="34" charset="0"/>
              </a:rPr>
              <a:t>KeySpace</a:t>
            </a:r>
            <a:endParaRPr lang="en-US" sz="2100" dirty="0">
              <a:latin typeface="Arial" panose="020B0604020202020204" pitchFamily="34" charset="0"/>
              <a:cs typeface="Arial" panose="020B0604020202020204" pitchFamily="34" charset="0"/>
            </a:endParaRPr>
          </a:p>
          <a:p>
            <a:pPr>
              <a:lnSpc>
                <a:spcPct val="110000"/>
              </a:lnSpc>
              <a:spcBef>
                <a:spcPts val="1800"/>
              </a:spcBef>
              <a:spcAft>
                <a:spcPts val="600"/>
              </a:spcAft>
            </a:pPr>
            <a:r>
              <a:rPr lang="en-US" sz="2100" b="1" dirty="0">
                <a:solidFill>
                  <a:srgbClr val="0000FF"/>
                </a:solidFill>
                <a:latin typeface="Arial" panose="020B0604020202020204" pitchFamily="34" charset="0"/>
                <a:cs typeface="Arial" panose="020B0604020202020204" pitchFamily="34" charset="0"/>
              </a:rPr>
              <a:t>CREATE TABLE</a:t>
            </a:r>
            <a:r>
              <a:rPr lang="en-US" sz="2100" dirty="0">
                <a:solidFill>
                  <a:srgbClr val="0000FF"/>
                </a:solidFill>
                <a:latin typeface="Arial" panose="020B0604020202020204" pitchFamily="34" charset="0"/>
                <a:cs typeface="Arial" panose="020B0604020202020204" pitchFamily="34" charset="0"/>
              </a:rPr>
              <a:t> − </a:t>
            </a:r>
            <a:r>
              <a:rPr lang="en-US" sz="2100" dirty="0">
                <a:latin typeface="Arial" panose="020B0604020202020204" pitchFamily="34" charset="0"/>
                <a:cs typeface="Arial" panose="020B0604020202020204" pitchFamily="34" charset="0"/>
              </a:rPr>
              <a:t>Creates a table in a </a:t>
            </a:r>
            <a:r>
              <a:rPr lang="en-US" sz="2100" dirty="0" err="1">
                <a:latin typeface="Arial" panose="020B0604020202020204" pitchFamily="34" charset="0"/>
                <a:cs typeface="Arial" panose="020B0604020202020204" pitchFamily="34" charset="0"/>
              </a:rPr>
              <a:t>KeySpace</a:t>
            </a:r>
            <a:r>
              <a:rPr lang="en-US" sz="2100" dirty="0">
                <a:latin typeface="Arial" panose="020B0604020202020204" pitchFamily="34" charset="0"/>
                <a:cs typeface="Arial" panose="020B0604020202020204" pitchFamily="34" charset="0"/>
              </a:rPr>
              <a:t>.</a:t>
            </a:r>
          </a:p>
          <a:p>
            <a:pPr>
              <a:lnSpc>
                <a:spcPct val="110000"/>
              </a:lnSpc>
              <a:spcBef>
                <a:spcPts val="0"/>
              </a:spcBef>
              <a:spcAft>
                <a:spcPts val="600"/>
              </a:spcAft>
            </a:pPr>
            <a:r>
              <a:rPr lang="en-US" sz="2100" b="1" dirty="0">
                <a:solidFill>
                  <a:srgbClr val="0000FF"/>
                </a:solidFill>
                <a:latin typeface="Arial" panose="020B0604020202020204" pitchFamily="34" charset="0"/>
                <a:cs typeface="Arial" panose="020B0604020202020204" pitchFamily="34" charset="0"/>
              </a:rPr>
              <a:t>ALTER TABLE</a:t>
            </a:r>
            <a:r>
              <a:rPr lang="en-US" sz="2100" dirty="0">
                <a:solidFill>
                  <a:srgbClr val="0000FF"/>
                </a:solidFill>
                <a:latin typeface="Arial" panose="020B0604020202020204" pitchFamily="34" charset="0"/>
                <a:cs typeface="Arial" panose="020B0604020202020204" pitchFamily="34" charset="0"/>
              </a:rPr>
              <a:t> − </a:t>
            </a:r>
            <a:r>
              <a:rPr lang="en-US" sz="2100" dirty="0">
                <a:latin typeface="Arial" panose="020B0604020202020204" pitchFamily="34" charset="0"/>
                <a:cs typeface="Arial" panose="020B0604020202020204" pitchFamily="34" charset="0"/>
              </a:rPr>
              <a:t>Modifies the column properties of a table.</a:t>
            </a:r>
          </a:p>
          <a:p>
            <a:pPr>
              <a:lnSpc>
                <a:spcPct val="110000"/>
              </a:lnSpc>
              <a:spcBef>
                <a:spcPts val="0"/>
              </a:spcBef>
              <a:spcAft>
                <a:spcPts val="600"/>
              </a:spcAft>
            </a:pPr>
            <a:r>
              <a:rPr lang="en-US" sz="2100" b="1" dirty="0">
                <a:solidFill>
                  <a:srgbClr val="0000FF"/>
                </a:solidFill>
                <a:latin typeface="Arial" panose="020B0604020202020204" pitchFamily="34" charset="0"/>
                <a:cs typeface="Arial" panose="020B0604020202020204" pitchFamily="34" charset="0"/>
              </a:rPr>
              <a:t>DROP TABLE</a:t>
            </a:r>
            <a:r>
              <a:rPr lang="en-US" sz="2100" dirty="0">
                <a:solidFill>
                  <a:srgbClr val="0000FF"/>
                </a:solidFill>
                <a:latin typeface="Arial" panose="020B0604020202020204" pitchFamily="34" charset="0"/>
                <a:cs typeface="Arial" panose="020B0604020202020204" pitchFamily="34" charset="0"/>
              </a:rPr>
              <a:t> − </a:t>
            </a:r>
            <a:r>
              <a:rPr lang="en-US" sz="2100" dirty="0">
                <a:latin typeface="Arial" panose="020B0604020202020204" pitchFamily="34" charset="0"/>
                <a:cs typeface="Arial" panose="020B0604020202020204" pitchFamily="34" charset="0"/>
              </a:rPr>
              <a:t>Removes a table.</a:t>
            </a:r>
          </a:p>
          <a:p>
            <a:pPr>
              <a:lnSpc>
                <a:spcPct val="110000"/>
              </a:lnSpc>
              <a:spcBef>
                <a:spcPts val="0"/>
              </a:spcBef>
              <a:spcAft>
                <a:spcPts val="600"/>
              </a:spcAft>
            </a:pPr>
            <a:r>
              <a:rPr lang="en-US" sz="2100" b="1" dirty="0">
                <a:solidFill>
                  <a:srgbClr val="0000FF"/>
                </a:solidFill>
                <a:latin typeface="Arial" panose="020B0604020202020204" pitchFamily="34" charset="0"/>
                <a:cs typeface="Arial" panose="020B0604020202020204" pitchFamily="34" charset="0"/>
              </a:rPr>
              <a:t>TRUNCATE</a:t>
            </a:r>
            <a:r>
              <a:rPr lang="en-US" sz="2100" dirty="0">
                <a:solidFill>
                  <a:srgbClr val="0000FF"/>
                </a:solidFill>
                <a:latin typeface="Arial" panose="020B0604020202020204" pitchFamily="34" charset="0"/>
                <a:cs typeface="Arial" panose="020B0604020202020204" pitchFamily="34" charset="0"/>
              </a:rPr>
              <a:t> − </a:t>
            </a:r>
            <a:r>
              <a:rPr lang="en-US" sz="2100" dirty="0">
                <a:latin typeface="Arial" panose="020B0604020202020204" pitchFamily="34" charset="0"/>
                <a:cs typeface="Arial" panose="020B0604020202020204" pitchFamily="34" charset="0"/>
              </a:rPr>
              <a:t>Removes all the data from a table.</a:t>
            </a:r>
          </a:p>
          <a:p>
            <a:pPr>
              <a:lnSpc>
                <a:spcPct val="110000"/>
              </a:lnSpc>
              <a:spcBef>
                <a:spcPts val="0"/>
              </a:spcBef>
              <a:spcAft>
                <a:spcPts val="600"/>
              </a:spcAft>
            </a:pPr>
            <a:r>
              <a:rPr lang="en-US" sz="2100" b="1" dirty="0">
                <a:solidFill>
                  <a:srgbClr val="0000FF"/>
                </a:solidFill>
                <a:latin typeface="Arial" panose="020B0604020202020204" pitchFamily="34" charset="0"/>
                <a:cs typeface="Arial" panose="020B0604020202020204" pitchFamily="34" charset="0"/>
              </a:rPr>
              <a:t>CREATE INDEX</a:t>
            </a:r>
            <a:r>
              <a:rPr lang="en-US" sz="2100" dirty="0">
                <a:solidFill>
                  <a:srgbClr val="0000FF"/>
                </a:solidFill>
                <a:latin typeface="Arial" panose="020B0604020202020204" pitchFamily="34" charset="0"/>
                <a:cs typeface="Arial" panose="020B0604020202020204" pitchFamily="34" charset="0"/>
              </a:rPr>
              <a:t> − </a:t>
            </a:r>
            <a:r>
              <a:rPr lang="en-US" sz="2100" dirty="0">
                <a:latin typeface="Arial" panose="020B0604020202020204" pitchFamily="34" charset="0"/>
                <a:cs typeface="Arial" panose="020B0604020202020204" pitchFamily="34" charset="0"/>
              </a:rPr>
              <a:t>Defines a new index on a single column of a table.</a:t>
            </a:r>
          </a:p>
          <a:p>
            <a:pPr>
              <a:lnSpc>
                <a:spcPct val="110000"/>
              </a:lnSpc>
              <a:spcBef>
                <a:spcPts val="0"/>
              </a:spcBef>
              <a:spcAft>
                <a:spcPts val="600"/>
              </a:spcAft>
            </a:pPr>
            <a:r>
              <a:rPr lang="en-US" sz="2100" b="1" dirty="0">
                <a:solidFill>
                  <a:srgbClr val="0000FF"/>
                </a:solidFill>
                <a:latin typeface="Arial" panose="020B0604020202020204" pitchFamily="34" charset="0"/>
                <a:cs typeface="Arial" panose="020B0604020202020204" pitchFamily="34" charset="0"/>
              </a:rPr>
              <a:t>DROP INDEX</a:t>
            </a:r>
            <a:r>
              <a:rPr lang="en-US" sz="2100" dirty="0">
                <a:solidFill>
                  <a:srgbClr val="0000FF"/>
                </a:solidFill>
                <a:latin typeface="Arial" panose="020B0604020202020204" pitchFamily="34" charset="0"/>
                <a:cs typeface="Arial" panose="020B0604020202020204" pitchFamily="34" charset="0"/>
              </a:rPr>
              <a:t> − </a:t>
            </a:r>
            <a:r>
              <a:rPr lang="en-US" sz="2100" dirty="0">
                <a:latin typeface="Arial" panose="020B0604020202020204" pitchFamily="34" charset="0"/>
                <a:cs typeface="Arial" panose="020B0604020202020204" pitchFamily="34" charset="0"/>
              </a:rPr>
              <a:t>Deletes a named index.</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2193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Data Definition Commands</a:t>
            </a:r>
          </a:p>
        </p:txBody>
      </p:sp>
      <p:sp>
        <p:nvSpPr>
          <p:cNvPr id="3" name="Content Placeholder 2"/>
          <p:cNvSpPr>
            <a:spLocks noGrp="1"/>
          </p:cNvSpPr>
          <p:nvPr>
            <p:ph idx="1"/>
          </p:nvPr>
        </p:nvSpPr>
        <p:spPr>
          <a:xfrm>
            <a:off x="838200" y="1690688"/>
            <a:ext cx="10515600" cy="4486275"/>
          </a:xfrm>
        </p:spPr>
        <p:txBody>
          <a:bodyPr>
            <a:noAutofit/>
          </a:bodyPr>
          <a:lstStyle/>
          <a:p>
            <a:pPr marL="0" indent="0">
              <a:lnSpc>
                <a:spcPct val="120000"/>
              </a:lnSpc>
              <a:spcBef>
                <a:spcPts val="1200"/>
              </a:spcBef>
              <a:buNone/>
            </a:pPr>
            <a:r>
              <a:rPr lang="en-US" sz="2200" dirty="0">
                <a:latin typeface="Arial" panose="020B0604020202020204" pitchFamily="34" charset="0"/>
                <a:cs typeface="Arial" panose="020B0604020202020204" pitchFamily="34" charset="0"/>
              </a:rPr>
              <a:t>CREATE KEYSPACE − Creates a </a:t>
            </a:r>
            <a:r>
              <a:rPr lang="en-US" sz="2200" dirty="0" err="1">
                <a:latin typeface="Arial" panose="020B0604020202020204" pitchFamily="34" charset="0"/>
                <a:cs typeface="Arial" panose="020B0604020202020204" pitchFamily="34" charset="0"/>
              </a:rPr>
              <a:t>KeySpace</a:t>
            </a:r>
            <a:r>
              <a:rPr lang="en-US" sz="2200" dirty="0">
                <a:latin typeface="Arial" panose="020B0604020202020204" pitchFamily="34" charset="0"/>
                <a:cs typeface="Arial" panose="020B0604020202020204" pitchFamily="34" charset="0"/>
              </a:rPr>
              <a:t> in Cassandra.</a:t>
            </a:r>
          </a:p>
          <a:p>
            <a:pPr marL="0" indent="0">
              <a:lnSpc>
                <a:spcPct val="120000"/>
              </a:lnSpc>
              <a:spcBef>
                <a:spcPts val="1200"/>
              </a:spcBef>
              <a:buNone/>
            </a:pPr>
            <a:r>
              <a:rPr lang="en-IN" sz="2200" dirty="0">
                <a:solidFill>
                  <a:srgbClr val="FF0000"/>
                </a:solidFill>
                <a:latin typeface="Arial" panose="020B0604020202020204" pitchFamily="34" charset="0"/>
                <a:cs typeface="Arial" panose="020B0604020202020204" pitchFamily="34" charset="0"/>
              </a:rPr>
              <a:t>Syntax</a:t>
            </a:r>
          </a:p>
          <a:p>
            <a:pPr marL="539750" indent="-357188">
              <a:lnSpc>
                <a:spcPct val="120000"/>
              </a:lnSpc>
              <a:spcBef>
                <a:spcPts val="1200"/>
              </a:spcBef>
            </a:pPr>
            <a:r>
              <a:rPr lang="en-US" sz="2200" dirty="0">
                <a:latin typeface="Arial" panose="020B0604020202020204" pitchFamily="34" charset="0"/>
                <a:cs typeface="Arial" panose="020B0604020202020204" pitchFamily="34" charset="0"/>
              </a:rPr>
              <a:t>CREATE KEYSPACE &lt;identifier&gt; WITH &lt;properties&gt;</a:t>
            </a:r>
          </a:p>
          <a:p>
            <a:pPr marL="539750" indent="-357188">
              <a:lnSpc>
                <a:spcPct val="120000"/>
              </a:lnSpc>
              <a:spcBef>
                <a:spcPts val="1200"/>
              </a:spcBef>
            </a:pPr>
            <a:r>
              <a:rPr lang="en-US" sz="2200" dirty="0">
                <a:latin typeface="Arial" panose="020B0604020202020204" pitchFamily="34" charset="0"/>
                <a:cs typeface="Arial" panose="020B0604020202020204" pitchFamily="34" charset="0"/>
              </a:rPr>
              <a:t>CREATE KEYSPACE “</a:t>
            </a:r>
            <a:r>
              <a:rPr lang="en-US" sz="2200" dirty="0" err="1">
                <a:latin typeface="Arial" panose="020B0604020202020204" pitchFamily="34" charset="0"/>
                <a:cs typeface="Arial" panose="020B0604020202020204" pitchFamily="34" charset="0"/>
              </a:rPr>
              <a:t>KeySpace</a:t>
            </a:r>
            <a:r>
              <a:rPr lang="en-US" sz="2200" dirty="0">
                <a:latin typeface="Arial" panose="020B0604020202020204" pitchFamily="34" charset="0"/>
                <a:cs typeface="Arial" panose="020B0604020202020204" pitchFamily="34" charset="0"/>
              </a:rPr>
              <a:t> Name” WITH </a:t>
            </a:r>
            <a:r>
              <a:rPr lang="en-US" sz="2200" dirty="0">
                <a:solidFill>
                  <a:srgbClr val="FF0000"/>
                </a:solidFill>
                <a:latin typeface="Arial" panose="020B0604020202020204" pitchFamily="34" charset="0"/>
                <a:cs typeface="Arial" panose="020B0604020202020204" pitchFamily="34" charset="0"/>
              </a:rPr>
              <a:t>replication</a:t>
            </a:r>
            <a:r>
              <a:rPr lang="en-US" sz="2200" dirty="0">
                <a:latin typeface="Arial" panose="020B0604020202020204" pitchFamily="34" charset="0"/>
                <a:cs typeface="Arial" panose="020B0604020202020204" pitchFamily="34" charset="0"/>
              </a:rPr>
              <a:t> = {</a:t>
            </a:r>
            <a:r>
              <a:rPr lang="en-US" sz="2200" dirty="0">
                <a:solidFill>
                  <a:srgbClr val="FF0000"/>
                </a:solidFill>
                <a:latin typeface="Arial" panose="020B0604020202020204" pitchFamily="34" charset="0"/>
                <a:cs typeface="Arial" panose="020B0604020202020204" pitchFamily="34" charset="0"/>
              </a:rPr>
              <a:t>'class</a:t>
            </a:r>
            <a:r>
              <a:rPr lang="en-US" sz="2200" dirty="0">
                <a:latin typeface="Arial" panose="020B0604020202020204" pitchFamily="34" charset="0"/>
                <a:cs typeface="Arial" panose="020B0604020202020204" pitchFamily="34" charset="0"/>
              </a:rPr>
              <a:t>': ‘Strategy name’, </a:t>
            </a:r>
            <a:r>
              <a:rPr lang="en-US" sz="2200" dirty="0">
                <a:solidFill>
                  <a:srgbClr val="FF0000"/>
                </a:solidFill>
                <a:latin typeface="Arial" panose="020B0604020202020204" pitchFamily="34" charset="0"/>
                <a:cs typeface="Arial" panose="020B0604020202020204" pitchFamily="34" charset="0"/>
              </a:rPr>
              <a:t>'</a:t>
            </a:r>
            <a:r>
              <a:rPr lang="en-US" sz="2200" dirty="0" err="1">
                <a:solidFill>
                  <a:srgbClr val="FF0000"/>
                </a:solidFill>
                <a:latin typeface="Arial" panose="020B0604020202020204" pitchFamily="34" charset="0"/>
                <a:cs typeface="Arial" panose="020B0604020202020204" pitchFamily="34" charset="0"/>
              </a:rPr>
              <a:t>replication_factor</a:t>
            </a:r>
            <a:r>
              <a:rPr lang="en-US" sz="2200" dirty="0">
                <a:latin typeface="Arial" panose="020B0604020202020204" pitchFamily="34" charset="0"/>
                <a:cs typeface="Arial" panose="020B0604020202020204" pitchFamily="34" charset="0"/>
              </a:rPr>
              <a:t>' : ‘</a:t>
            </a:r>
            <a:r>
              <a:rPr lang="en-US" sz="2200" dirty="0" err="1">
                <a:latin typeface="Arial" panose="020B0604020202020204" pitchFamily="34" charset="0"/>
                <a:cs typeface="Arial" panose="020B0604020202020204" pitchFamily="34" charset="0"/>
              </a:rPr>
              <a:t>No.Of</a:t>
            </a:r>
            <a:r>
              <a:rPr lang="en-US" sz="2200" dirty="0">
                <a:latin typeface="Arial" panose="020B0604020202020204" pitchFamily="34" charset="0"/>
                <a:cs typeface="Arial" panose="020B0604020202020204" pitchFamily="34" charset="0"/>
              </a:rPr>
              <a:t>  replicas’} AND </a:t>
            </a:r>
            <a:r>
              <a:rPr lang="en-US" sz="2200" dirty="0" err="1">
                <a:latin typeface="Arial" panose="020B0604020202020204" pitchFamily="34" charset="0"/>
                <a:cs typeface="Arial" panose="020B0604020202020204" pitchFamily="34" charset="0"/>
              </a:rPr>
              <a:t>durable_writes</a:t>
            </a:r>
            <a:r>
              <a:rPr lang="en-US" sz="2200" dirty="0">
                <a:latin typeface="Arial" panose="020B0604020202020204" pitchFamily="34" charset="0"/>
                <a:cs typeface="Arial" panose="020B0604020202020204" pitchFamily="34" charset="0"/>
              </a:rPr>
              <a:t> = ‘Boolean value’; USE − Connects to a created </a:t>
            </a:r>
            <a:r>
              <a:rPr lang="en-US" sz="2200" dirty="0" err="1">
                <a:latin typeface="Arial" panose="020B0604020202020204" pitchFamily="34" charset="0"/>
                <a:cs typeface="Arial" panose="020B0604020202020204" pitchFamily="34" charset="0"/>
              </a:rPr>
              <a:t>KeySpace</a:t>
            </a:r>
            <a:r>
              <a:rPr lang="en-US" sz="2200" dirty="0">
                <a:latin typeface="Arial" panose="020B0604020202020204" pitchFamily="34" charset="0"/>
                <a:cs typeface="Arial" panose="020B0604020202020204" pitchFamily="34" charset="0"/>
              </a:rPr>
              <a:t>.</a:t>
            </a:r>
          </a:p>
          <a:p>
            <a:pPr marL="0" indent="0">
              <a:lnSpc>
                <a:spcPct val="120000"/>
              </a:lnSpc>
              <a:spcBef>
                <a:spcPts val="1200"/>
              </a:spcBef>
              <a:buNone/>
            </a:pPr>
            <a:r>
              <a:rPr lang="en-US" sz="2200" dirty="0">
                <a:solidFill>
                  <a:srgbClr val="FF0000"/>
                </a:solidFill>
                <a:latin typeface="Arial" panose="020B0604020202020204" pitchFamily="34" charset="0"/>
                <a:cs typeface="Arial" panose="020B0604020202020204" pitchFamily="34" charset="0"/>
              </a:rPr>
              <a:t>Example</a:t>
            </a:r>
          </a:p>
          <a:p>
            <a:pPr marL="539750" indent="0">
              <a:lnSpc>
                <a:spcPct val="120000"/>
              </a:lnSpc>
              <a:spcBef>
                <a:spcPts val="1200"/>
              </a:spcBef>
              <a:buNone/>
            </a:pPr>
            <a:r>
              <a:rPr lang="en-US" sz="2200" dirty="0">
                <a:latin typeface="Arial" panose="020B0604020202020204" pitchFamily="34" charset="0"/>
                <a:cs typeface="Arial" panose="020B0604020202020204" pitchFamily="34" charset="0"/>
              </a:rPr>
              <a:t>CREATE KEYSPACE University WITH replication = {'class':'</a:t>
            </a:r>
            <a:r>
              <a:rPr lang="en-US" sz="2200" dirty="0" err="1">
                <a:latin typeface="Arial" panose="020B0604020202020204" pitchFamily="34" charset="0"/>
                <a:cs typeface="Arial" panose="020B0604020202020204" pitchFamily="34" charset="0"/>
              </a:rPr>
              <a:t>SimpleStrategy</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replication_factor</a:t>
            </a:r>
            <a:r>
              <a:rPr lang="en-US" sz="2200" dirty="0">
                <a:latin typeface="Arial" panose="020B0604020202020204" pitchFamily="34" charset="0"/>
                <a:cs typeface="Arial" panose="020B0604020202020204" pitchFamily="34" charset="0"/>
              </a:rPr>
              <a:t>' : 3};</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1372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Data Definition Commands</a:t>
            </a:r>
          </a:p>
        </p:txBody>
      </p:sp>
      <p:sp>
        <p:nvSpPr>
          <p:cNvPr id="3" name="Content Placeholder 2"/>
          <p:cNvSpPr>
            <a:spLocks noGrp="1"/>
          </p:cNvSpPr>
          <p:nvPr>
            <p:ph idx="1"/>
          </p:nvPr>
        </p:nvSpPr>
        <p:spPr>
          <a:xfrm>
            <a:off x="838200" y="1690688"/>
            <a:ext cx="10515600" cy="4486275"/>
          </a:xfrm>
        </p:spPr>
        <p:txBody>
          <a:bodyPr>
            <a:noAutofit/>
          </a:bodyPr>
          <a:lstStyle/>
          <a:p>
            <a:pPr>
              <a:spcBef>
                <a:spcPts val="1800"/>
              </a:spcBef>
            </a:pPr>
            <a:r>
              <a:rPr lang="en-US" sz="2000" b="1" dirty="0">
                <a:latin typeface="Arial" panose="020B0604020202020204" pitchFamily="34" charset="0"/>
                <a:cs typeface="Arial" panose="020B0604020202020204" pitchFamily="34" charset="0"/>
              </a:rPr>
              <a:t>Strategy</a:t>
            </a:r>
            <a:r>
              <a:rPr lang="en-US" sz="2000" dirty="0">
                <a:latin typeface="Arial" panose="020B0604020202020204" pitchFamily="34" charset="0"/>
                <a:cs typeface="Arial" panose="020B0604020202020204" pitchFamily="34" charset="0"/>
              </a:rPr>
              <a:t>: While declaring strategy name in Cassandra. There are two kinds of strategies declared in Cassandra Syntax.</a:t>
            </a:r>
          </a:p>
          <a:p>
            <a:pPr lvl="1">
              <a:spcBef>
                <a:spcPts val="1800"/>
              </a:spcBef>
            </a:pPr>
            <a:r>
              <a:rPr lang="en-US" sz="2000" b="1" dirty="0">
                <a:latin typeface="Arial" panose="020B0604020202020204" pitchFamily="34" charset="0"/>
                <a:cs typeface="Arial" panose="020B0604020202020204" pitchFamily="34" charset="0"/>
              </a:rPr>
              <a:t>Simple Strategy</a:t>
            </a:r>
            <a:r>
              <a:rPr lang="en-US" sz="2000" dirty="0">
                <a:latin typeface="Arial" panose="020B0604020202020204" pitchFamily="34" charset="0"/>
                <a:cs typeface="Arial" panose="020B0604020202020204" pitchFamily="34" charset="0"/>
              </a:rPr>
              <a:t>: Simple strategy is used </a:t>
            </a:r>
            <a:r>
              <a:rPr lang="en-US" sz="2000" dirty="0">
                <a:solidFill>
                  <a:srgbClr val="FF0000"/>
                </a:solidFill>
                <a:latin typeface="Arial" panose="020B0604020202020204" pitchFamily="34" charset="0"/>
                <a:cs typeface="Arial" panose="020B0604020202020204" pitchFamily="34" charset="0"/>
              </a:rPr>
              <a:t>when you have just one data center</a:t>
            </a:r>
            <a:r>
              <a:rPr lang="en-US" sz="2000" dirty="0">
                <a:latin typeface="Arial" panose="020B0604020202020204" pitchFamily="34" charset="0"/>
                <a:cs typeface="Arial" panose="020B0604020202020204" pitchFamily="34" charset="0"/>
              </a:rPr>
              <a:t>. In this strategy, the first replica is placed on the node selected by the </a:t>
            </a:r>
            <a:r>
              <a:rPr lang="en-US" sz="2000" dirty="0" err="1">
                <a:latin typeface="Arial" panose="020B0604020202020204" pitchFamily="34" charset="0"/>
                <a:cs typeface="Arial" panose="020B0604020202020204" pitchFamily="34" charset="0"/>
              </a:rPr>
              <a:t>partitioner</a:t>
            </a:r>
            <a:r>
              <a:rPr lang="en-US" sz="2000" dirty="0">
                <a:latin typeface="Arial" panose="020B0604020202020204" pitchFamily="34" charset="0"/>
                <a:cs typeface="Arial" panose="020B0604020202020204" pitchFamily="34" charset="0"/>
              </a:rPr>
              <a:t>. Remaining nodes are placed in the clockwise direction in the ring without considering rack or node location.</a:t>
            </a:r>
          </a:p>
          <a:p>
            <a:pPr lvl="1">
              <a:spcBef>
                <a:spcPts val="1800"/>
              </a:spcBef>
            </a:pPr>
            <a:r>
              <a:rPr lang="en-US" sz="2000" b="1" dirty="0">
                <a:latin typeface="Arial" panose="020B0604020202020204" pitchFamily="34" charset="0"/>
                <a:cs typeface="Arial" panose="020B0604020202020204" pitchFamily="34" charset="0"/>
              </a:rPr>
              <a:t>Network Topology Strategy</a:t>
            </a:r>
            <a:r>
              <a:rPr lang="en-US" sz="2000" dirty="0">
                <a:latin typeface="Arial" panose="020B0604020202020204" pitchFamily="34" charset="0"/>
                <a:cs typeface="Arial" panose="020B0604020202020204" pitchFamily="34" charset="0"/>
              </a:rPr>
              <a:t>: Network topology strategy is used </a:t>
            </a:r>
            <a:r>
              <a:rPr lang="en-US" sz="2000" dirty="0">
                <a:solidFill>
                  <a:srgbClr val="FF0000"/>
                </a:solidFill>
                <a:latin typeface="Arial" panose="020B0604020202020204" pitchFamily="34" charset="0"/>
                <a:cs typeface="Arial" panose="020B0604020202020204" pitchFamily="34" charset="0"/>
              </a:rPr>
              <a:t>when you have more than one data centers</a:t>
            </a:r>
            <a:r>
              <a:rPr lang="en-US" sz="2000" dirty="0">
                <a:latin typeface="Arial" panose="020B0604020202020204" pitchFamily="34" charset="0"/>
                <a:cs typeface="Arial" panose="020B0604020202020204" pitchFamily="34" charset="0"/>
              </a:rPr>
              <a:t>. In this strategy, you have to provide replication factor for each data center separately. Network topology strategy places replicas in nodes in the clockwise direction in the same data center. This strategy attempts to place replicas in different racks.</a:t>
            </a:r>
          </a:p>
          <a:p>
            <a:pPr>
              <a:spcBef>
                <a:spcPts val="1800"/>
              </a:spcBef>
            </a:pPr>
            <a:r>
              <a:rPr lang="en-US" sz="2000" b="1" dirty="0">
                <a:latin typeface="Arial" panose="020B0604020202020204" pitchFamily="34" charset="0"/>
                <a:cs typeface="Arial" panose="020B0604020202020204" pitchFamily="34" charset="0"/>
              </a:rPr>
              <a:t>Replication Factor</a:t>
            </a:r>
            <a:r>
              <a:rPr lang="en-US" sz="2000" dirty="0">
                <a:latin typeface="Arial" panose="020B0604020202020204" pitchFamily="34" charset="0"/>
                <a:cs typeface="Arial" panose="020B0604020202020204" pitchFamily="34" charset="0"/>
              </a:rPr>
              <a:t>: Replication factor is the number of replicas of data placed on different nodes. </a:t>
            </a:r>
            <a:r>
              <a:rPr lang="en-US" sz="2000" dirty="0">
                <a:solidFill>
                  <a:srgbClr val="FF0000"/>
                </a:solidFill>
                <a:latin typeface="Arial" panose="020B0604020202020204" pitchFamily="34" charset="0"/>
                <a:cs typeface="Arial" panose="020B0604020202020204" pitchFamily="34" charset="0"/>
              </a:rPr>
              <a:t>For no failure, 3 is good replication factor. More than two replication factor ensures no single point of failure</a:t>
            </a:r>
            <a:r>
              <a:rPr lang="en-US" sz="2000" dirty="0">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6818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Data Definition Commands</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DESCRIBE </a:t>
            </a:r>
            <a:r>
              <a:rPr lang="en-US" sz="2300" dirty="0" err="1">
                <a:latin typeface="Arial" panose="020B0604020202020204" pitchFamily="34" charset="0"/>
                <a:cs typeface="Arial" panose="020B0604020202020204" pitchFamily="34" charset="0"/>
              </a:rPr>
              <a:t>keyspaces</a:t>
            </a:r>
            <a:r>
              <a:rPr lang="en-US" sz="2300" dirty="0">
                <a:latin typeface="Arial" panose="020B0604020202020204" pitchFamily="34" charset="0"/>
                <a:cs typeface="Arial" panose="020B0604020202020204" pitchFamily="34" charset="0"/>
              </a:rPr>
              <a:t>;</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SELECT * FROM </a:t>
            </a:r>
            <a:r>
              <a:rPr lang="en-US" sz="2300" dirty="0" err="1">
                <a:latin typeface="Arial" panose="020B0604020202020204" pitchFamily="34" charset="0"/>
                <a:cs typeface="Arial" panose="020B0604020202020204" pitchFamily="34" charset="0"/>
              </a:rPr>
              <a:t>system.schema_keyspaces</a:t>
            </a:r>
            <a:r>
              <a:rPr lang="en-US" sz="2300" dirty="0">
                <a:latin typeface="Arial" panose="020B0604020202020204" pitchFamily="34" charset="0"/>
                <a:cs typeface="Arial" panose="020B0604020202020204" pitchFamily="34" charset="0"/>
              </a:rPr>
              <a:t>;</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CREATE KEYSPACE </a:t>
            </a:r>
            <a:r>
              <a:rPr lang="en-US" sz="2300" dirty="0" err="1">
                <a:latin typeface="Arial" panose="020B0604020202020204" pitchFamily="34" charset="0"/>
                <a:cs typeface="Arial" panose="020B0604020202020204" pitchFamily="34" charset="0"/>
              </a:rPr>
              <a:t>cse</a:t>
            </a:r>
            <a:r>
              <a:rPr lang="en-US" sz="2300" dirty="0">
                <a:latin typeface="Arial" panose="020B0604020202020204" pitchFamily="34" charset="0"/>
                <a:cs typeface="Arial" panose="020B0604020202020204" pitchFamily="34" charset="0"/>
              </a:rPr>
              <a:t> WITH REPLICATION = { 'class' : '</a:t>
            </a:r>
            <a:r>
              <a:rPr lang="en-US" sz="2300" dirty="0" err="1">
                <a:latin typeface="Arial" panose="020B0604020202020204" pitchFamily="34" charset="0"/>
                <a:cs typeface="Arial" panose="020B0604020202020204" pitchFamily="34" charset="0"/>
              </a:rPr>
              <a:t>NetworkTopologyStrategy</a:t>
            </a:r>
            <a:r>
              <a:rPr lang="en-US" sz="2300" dirty="0">
                <a:latin typeface="Arial" panose="020B0604020202020204" pitchFamily="34" charset="0"/>
                <a:cs typeface="Arial" panose="020B0604020202020204" pitchFamily="34" charset="0"/>
              </a:rPr>
              <a:t>', 'datacenter1' : 3 } AND DURABLE_WRITES = false;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7575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Durable Writes</a:t>
            </a:r>
          </a:p>
        </p:txBody>
      </p:sp>
      <p:sp>
        <p:nvSpPr>
          <p:cNvPr id="3" name="Content Placeholder 2"/>
          <p:cNvSpPr>
            <a:spLocks noGrp="1"/>
          </p:cNvSpPr>
          <p:nvPr>
            <p:ph idx="1"/>
          </p:nvPr>
        </p:nvSpPr>
        <p:spPr>
          <a:xfrm>
            <a:off x="838200" y="1690688"/>
            <a:ext cx="10515600" cy="4486275"/>
          </a:xfrm>
        </p:spPr>
        <p:txBody>
          <a:bodyPr>
            <a:noAutofit/>
          </a:bodyPr>
          <a:lstStyle/>
          <a:p>
            <a:pPr marL="182562" indent="0">
              <a:lnSpc>
                <a:spcPct val="120000"/>
              </a:lnSpc>
              <a:spcBef>
                <a:spcPts val="600"/>
              </a:spcBef>
              <a:spcAft>
                <a:spcPts val="600"/>
              </a:spcAft>
              <a:buNone/>
            </a:pPr>
            <a:r>
              <a:rPr lang="en-US" sz="2250" dirty="0">
                <a:latin typeface="Arial" panose="020B0604020202020204" pitchFamily="34" charset="0"/>
                <a:cs typeface="Arial" panose="020B0604020202020204" pitchFamily="34" charset="0"/>
              </a:rPr>
              <a:t>Durable Writes provides a </a:t>
            </a:r>
            <a:r>
              <a:rPr lang="en-US" sz="2250" dirty="0">
                <a:solidFill>
                  <a:srgbClr val="FF0000"/>
                </a:solidFill>
                <a:latin typeface="Arial" panose="020B0604020202020204" pitchFamily="34" charset="0"/>
                <a:cs typeface="Arial" panose="020B0604020202020204" pitchFamily="34" charset="0"/>
              </a:rPr>
              <a:t>means to instruct Cassandra whether to use "</a:t>
            </a:r>
            <a:r>
              <a:rPr lang="en-US" sz="2250" dirty="0" err="1">
                <a:solidFill>
                  <a:srgbClr val="FF0000"/>
                </a:solidFill>
                <a:latin typeface="Arial" panose="020B0604020202020204" pitchFamily="34" charset="0"/>
                <a:cs typeface="Arial" panose="020B0604020202020204" pitchFamily="34" charset="0"/>
              </a:rPr>
              <a:t>commitlog</a:t>
            </a:r>
            <a:r>
              <a:rPr lang="en-US" sz="2250" dirty="0">
                <a:solidFill>
                  <a:srgbClr val="FF0000"/>
                </a:solidFill>
                <a:latin typeface="Arial" panose="020B0604020202020204" pitchFamily="34" charset="0"/>
                <a:cs typeface="Arial" panose="020B0604020202020204" pitchFamily="34" charset="0"/>
              </a:rPr>
              <a:t>" for updates on the current </a:t>
            </a:r>
            <a:r>
              <a:rPr lang="en-US" sz="2250" dirty="0" err="1">
                <a:solidFill>
                  <a:srgbClr val="FF0000"/>
                </a:solidFill>
                <a:latin typeface="Arial" panose="020B0604020202020204" pitchFamily="34" charset="0"/>
                <a:cs typeface="Arial" panose="020B0604020202020204" pitchFamily="34" charset="0"/>
              </a:rPr>
              <a:t>KeySpace</a:t>
            </a:r>
            <a:r>
              <a:rPr lang="en-US" sz="2250" dirty="0">
                <a:solidFill>
                  <a:srgbClr val="FF0000"/>
                </a:solidFill>
                <a:latin typeface="Arial" panose="020B0604020202020204" pitchFamily="34" charset="0"/>
                <a:cs typeface="Arial" panose="020B0604020202020204" pitchFamily="34" charset="0"/>
              </a:rPr>
              <a:t> or not</a:t>
            </a:r>
            <a:r>
              <a:rPr lang="en-US" sz="2250" dirty="0">
                <a:latin typeface="Arial" panose="020B0604020202020204" pitchFamily="34" charset="0"/>
                <a:cs typeface="Arial" panose="020B0604020202020204" pitchFamily="34" charset="0"/>
              </a:rPr>
              <a:t>.  This option is not mandatory. The default value for durable writes is TRUE.</a:t>
            </a:r>
          </a:p>
          <a:p>
            <a:pPr marL="539750" indent="-357188">
              <a:lnSpc>
                <a:spcPct val="120000"/>
              </a:lnSpc>
              <a:spcBef>
                <a:spcPts val="600"/>
              </a:spcBef>
              <a:spcAft>
                <a:spcPts val="600"/>
              </a:spcAft>
            </a:pPr>
            <a:r>
              <a:rPr lang="en-US" sz="2250" dirty="0">
                <a:latin typeface="Arial" panose="020B0604020202020204" pitchFamily="34" charset="0"/>
                <a:cs typeface="Arial" panose="020B0604020202020204" pitchFamily="34" charset="0"/>
              </a:rPr>
              <a:t>When Cassandra write:</a:t>
            </a:r>
            <a:br>
              <a:rPr lang="en-US" sz="2250" dirty="0">
                <a:latin typeface="Arial" panose="020B0604020202020204" pitchFamily="34" charset="0"/>
                <a:cs typeface="Arial" panose="020B0604020202020204" pitchFamily="34" charset="0"/>
              </a:rPr>
            </a:br>
            <a:r>
              <a:rPr lang="en-US" sz="2250" dirty="0">
                <a:latin typeface="Arial" panose="020B0604020202020204" pitchFamily="34" charset="0"/>
                <a:cs typeface="Arial" panose="020B0604020202020204" pitchFamily="34" charset="0"/>
              </a:rPr>
              <a:t>1. </a:t>
            </a:r>
            <a:r>
              <a:rPr lang="en-US" sz="2250" dirty="0" err="1">
                <a:latin typeface="Arial" panose="020B0604020202020204" pitchFamily="34" charset="0"/>
                <a:cs typeface="Arial" panose="020B0604020202020204" pitchFamily="34" charset="0"/>
              </a:rPr>
              <a:t>memtable</a:t>
            </a:r>
            <a:r>
              <a:rPr lang="en-US" sz="2250" dirty="0">
                <a:latin typeface="Arial" panose="020B0604020202020204" pitchFamily="34" charset="0"/>
                <a:cs typeface="Arial" panose="020B0604020202020204" pitchFamily="34" charset="0"/>
              </a:rPr>
              <a:t> (in memory)</a:t>
            </a:r>
            <a:br>
              <a:rPr lang="en-US" sz="2250" dirty="0">
                <a:latin typeface="Arial" panose="020B0604020202020204" pitchFamily="34" charset="0"/>
                <a:cs typeface="Arial" panose="020B0604020202020204" pitchFamily="34" charset="0"/>
              </a:rPr>
            </a:br>
            <a:r>
              <a:rPr lang="en-US" sz="2250" dirty="0">
                <a:latin typeface="Arial" panose="020B0604020202020204" pitchFamily="34" charset="0"/>
                <a:cs typeface="Arial" panose="020B0604020202020204" pitchFamily="34" charset="0"/>
              </a:rPr>
              <a:t>2. commit log (In persistence storage) before writing into, to safeguard the data, just incase of system restart.</a:t>
            </a:r>
            <a:br>
              <a:rPr lang="en-US" sz="2250" dirty="0">
                <a:latin typeface="Arial" panose="020B0604020202020204" pitchFamily="34" charset="0"/>
                <a:cs typeface="Arial" panose="020B0604020202020204" pitchFamily="34" charset="0"/>
              </a:rPr>
            </a:br>
            <a:r>
              <a:rPr lang="en-US" sz="2250" dirty="0">
                <a:latin typeface="Arial" panose="020B0604020202020204" pitchFamily="34" charset="0"/>
                <a:cs typeface="Arial" panose="020B0604020202020204" pitchFamily="34" charset="0"/>
              </a:rPr>
              <a:t>3. SSTABLE. (In persistence storage)</a:t>
            </a:r>
          </a:p>
          <a:p>
            <a:pPr marL="182562" indent="0">
              <a:lnSpc>
                <a:spcPct val="120000"/>
              </a:lnSpc>
              <a:spcBef>
                <a:spcPts val="600"/>
              </a:spcBef>
              <a:spcAft>
                <a:spcPts val="600"/>
              </a:spcAft>
              <a:buNone/>
            </a:pPr>
            <a:r>
              <a:rPr lang="en-US" sz="2250" dirty="0">
                <a:latin typeface="Arial" panose="020B0604020202020204" pitchFamily="34" charset="0"/>
                <a:cs typeface="Arial" panose="020B0604020202020204" pitchFamily="34" charset="0"/>
              </a:rPr>
              <a:t>So, </a:t>
            </a:r>
            <a:r>
              <a:rPr lang="en-US" sz="2250" dirty="0">
                <a:solidFill>
                  <a:srgbClr val="FF0000"/>
                </a:solidFill>
                <a:latin typeface="Arial" panose="020B0604020202020204" pitchFamily="34" charset="0"/>
                <a:cs typeface="Arial" panose="020B0604020202020204" pitchFamily="34" charset="0"/>
              </a:rPr>
              <a:t>using "durable writes" it make sure the insert/update must write in commit log</a:t>
            </a:r>
            <a:r>
              <a:rPr lang="en-US" sz="2250" dirty="0">
                <a:latin typeface="Arial" panose="020B0604020202020204" pitchFamily="34" charset="0"/>
                <a:cs typeface="Arial" panose="020B0604020202020204" pitchFamily="34" charset="0"/>
              </a:rPr>
              <a:t> so the safeguard stay in place.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0259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Data Definition Commands</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USE University;</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ALTER KEYSPACE University WITH REPLICATION = { 'class' : '</a:t>
            </a:r>
            <a:r>
              <a:rPr lang="en-US" sz="2300" dirty="0" err="1">
                <a:latin typeface="Arial" panose="020B0604020202020204" pitchFamily="34" charset="0"/>
                <a:cs typeface="Arial" panose="020B0604020202020204" pitchFamily="34" charset="0"/>
              </a:rPr>
              <a:t>NetworkTopologyStrategy</a:t>
            </a:r>
            <a:r>
              <a:rPr lang="en-US" sz="2300" dirty="0">
                <a:latin typeface="Arial" panose="020B0604020202020204" pitchFamily="34" charset="0"/>
                <a:cs typeface="Arial" panose="020B0604020202020204" pitchFamily="34" charset="0"/>
              </a:rPr>
              <a:t>', 'datacenter1' : 1 };</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ALTER KEYSPACE University WITH REPLICATION = { 'class' : '</a:t>
            </a:r>
            <a:r>
              <a:rPr lang="en-US" sz="2300" dirty="0" err="1">
                <a:latin typeface="Arial" panose="020B0604020202020204" pitchFamily="34" charset="0"/>
                <a:cs typeface="Arial" panose="020B0604020202020204" pitchFamily="34" charset="0"/>
              </a:rPr>
              <a:t>NetworkTopologyStrategy</a:t>
            </a:r>
            <a:r>
              <a:rPr lang="en-US" sz="2300" dirty="0">
                <a:latin typeface="Arial" panose="020B0604020202020204" pitchFamily="34" charset="0"/>
                <a:cs typeface="Arial" panose="020B0604020202020204" pitchFamily="34" charset="0"/>
              </a:rPr>
              <a:t>', 'datacenter1' : 1 } AND DURABLE_WRITES = false;</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DROP KEYSPACE University;</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6432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Data Definition Commands</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spcBef>
                <a:spcPts val="1800"/>
              </a:spcBef>
            </a:pPr>
            <a:r>
              <a:rPr lang="en-US" sz="2200" dirty="0">
                <a:latin typeface="Arial" panose="020B0604020202020204" pitchFamily="34" charset="0"/>
                <a:cs typeface="Arial" panose="020B0604020202020204" pitchFamily="34" charset="0"/>
              </a:rPr>
              <a:t>CREATE TABLE </a:t>
            </a:r>
            <a:r>
              <a:rPr lang="en-US" sz="2200" dirty="0" err="1">
                <a:latin typeface="Arial" panose="020B0604020202020204" pitchFamily="34" charset="0"/>
                <a:cs typeface="Arial" panose="020B0604020202020204" pitchFamily="34" charset="0"/>
              </a:rPr>
              <a:t>emp</a:t>
            </a:r>
            <a:r>
              <a:rPr lang="en-US" sz="2200" dirty="0">
                <a:latin typeface="Arial" panose="020B0604020202020204" pitchFamily="34" charset="0"/>
                <a:cs typeface="Arial" panose="020B0604020202020204" pitchFamily="34" charset="0"/>
              </a:rPr>
              <a:t>(</a:t>
            </a:r>
            <a:r>
              <a:rPr lang="en-US" sz="2200" dirty="0" err="1">
                <a:latin typeface="Arial" panose="020B0604020202020204" pitchFamily="34" charset="0"/>
                <a:cs typeface="Arial" panose="020B0604020202020204" pitchFamily="34" charset="0"/>
              </a:rPr>
              <a:t>emp_id</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int</a:t>
            </a:r>
            <a:r>
              <a:rPr lang="en-US" sz="2200" dirty="0">
                <a:latin typeface="Arial" panose="020B0604020202020204" pitchFamily="34" charset="0"/>
                <a:cs typeface="Arial" panose="020B0604020202020204" pitchFamily="34" charset="0"/>
              </a:rPr>
              <a:t> PRIMARY KEY, </a:t>
            </a:r>
            <a:r>
              <a:rPr lang="en-US" sz="2200" dirty="0" err="1">
                <a:latin typeface="Arial" panose="020B0604020202020204" pitchFamily="34" charset="0"/>
                <a:cs typeface="Arial" panose="020B0604020202020204" pitchFamily="34" charset="0"/>
              </a:rPr>
              <a:t>emp_name</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text,emp_city</a:t>
            </a:r>
            <a:r>
              <a:rPr lang="en-US" sz="2200" dirty="0">
                <a:latin typeface="Arial" panose="020B0604020202020204" pitchFamily="34" charset="0"/>
                <a:cs typeface="Arial" panose="020B0604020202020204" pitchFamily="34" charset="0"/>
              </a:rPr>
              <a:t> text, </a:t>
            </a:r>
            <a:r>
              <a:rPr lang="en-US" sz="2200" dirty="0" err="1">
                <a:latin typeface="Arial" panose="020B0604020202020204" pitchFamily="34" charset="0"/>
                <a:cs typeface="Arial" panose="020B0604020202020204" pitchFamily="34" charset="0"/>
              </a:rPr>
              <a:t>emp_sal</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int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emp_phone</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int</a:t>
            </a:r>
            <a:r>
              <a:rPr lang="en-US" sz="2200" dirty="0">
                <a:latin typeface="Arial" panose="020B0604020202020204" pitchFamily="34" charset="0"/>
                <a:cs typeface="Arial" panose="020B0604020202020204" pitchFamily="34" charset="0"/>
              </a:rPr>
              <a:t>);</a:t>
            </a:r>
          </a:p>
          <a:p>
            <a:pPr marL="539750" indent="-357188">
              <a:spcBef>
                <a:spcPts val="1800"/>
              </a:spcBef>
            </a:pPr>
            <a:r>
              <a:rPr lang="en-US" sz="2200" dirty="0">
                <a:latin typeface="Arial" panose="020B0604020202020204" pitchFamily="34" charset="0"/>
                <a:cs typeface="Arial" panose="020B0604020202020204" pitchFamily="34" charset="0"/>
              </a:rPr>
              <a:t>select * from </a:t>
            </a:r>
            <a:r>
              <a:rPr lang="en-US" sz="2200" dirty="0" err="1">
                <a:latin typeface="Arial" panose="020B0604020202020204" pitchFamily="34" charset="0"/>
                <a:cs typeface="Arial" panose="020B0604020202020204" pitchFamily="34" charset="0"/>
              </a:rPr>
              <a:t>emp</a:t>
            </a:r>
            <a:r>
              <a:rPr lang="en-US" sz="2200" dirty="0">
                <a:latin typeface="Arial" panose="020B0604020202020204" pitchFamily="34" charset="0"/>
                <a:cs typeface="Arial" panose="020B0604020202020204" pitchFamily="34" charset="0"/>
              </a:rPr>
              <a:t>;</a:t>
            </a:r>
          </a:p>
          <a:p>
            <a:pPr marL="539750" indent="-357188">
              <a:spcBef>
                <a:spcPts val="1800"/>
              </a:spcBef>
            </a:pPr>
            <a:r>
              <a:rPr lang="en-US" sz="2200" dirty="0">
                <a:latin typeface="Arial" panose="020B0604020202020204" pitchFamily="34" charset="0"/>
                <a:cs typeface="Arial" panose="020B0604020202020204" pitchFamily="34" charset="0"/>
              </a:rPr>
              <a:t>ALTER TABLE </a:t>
            </a:r>
            <a:r>
              <a:rPr lang="en-US" sz="2200" dirty="0" err="1">
                <a:latin typeface="Arial" panose="020B0604020202020204" pitchFamily="34" charset="0"/>
                <a:cs typeface="Arial" panose="020B0604020202020204" pitchFamily="34" charset="0"/>
              </a:rPr>
              <a:t>University.emp</a:t>
            </a:r>
            <a:r>
              <a:rPr lang="en-US" sz="2200" dirty="0">
                <a:latin typeface="Arial" panose="020B0604020202020204" pitchFamily="34" charset="0"/>
                <a:cs typeface="Arial" panose="020B0604020202020204" pitchFamily="34" charset="0"/>
              </a:rPr>
              <a:t> </a:t>
            </a:r>
          </a:p>
          <a:p>
            <a:pPr marL="996950" lvl="1" indent="-357188">
              <a:spcBef>
                <a:spcPts val="1800"/>
              </a:spcBef>
            </a:pPr>
            <a:r>
              <a:rPr lang="en-US" sz="2200" dirty="0">
                <a:latin typeface="Arial" panose="020B0604020202020204" pitchFamily="34" charset="0"/>
                <a:cs typeface="Arial" panose="020B0604020202020204" pitchFamily="34" charset="0"/>
              </a:rPr>
              <a:t>ALTER </a:t>
            </a:r>
            <a:r>
              <a:rPr lang="en-US" sz="2200" dirty="0" err="1">
                <a:latin typeface="Arial" panose="020B0604020202020204" pitchFamily="34" charset="0"/>
                <a:cs typeface="Arial" panose="020B0604020202020204" pitchFamily="34" charset="0"/>
              </a:rPr>
              <a:t>emp_id</a:t>
            </a:r>
            <a:r>
              <a:rPr lang="en-US" sz="2200" dirty="0">
                <a:latin typeface="Arial" panose="020B0604020202020204" pitchFamily="34" charset="0"/>
                <a:cs typeface="Arial" panose="020B0604020202020204" pitchFamily="34" charset="0"/>
              </a:rPr>
              <a:t> TYPE </a:t>
            </a:r>
            <a:r>
              <a:rPr lang="en-US" sz="2200" dirty="0" err="1">
                <a:latin typeface="Arial" panose="020B0604020202020204" pitchFamily="34" charset="0"/>
                <a:cs typeface="Arial" panose="020B0604020202020204" pitchFamily="34" charset="0"/>
              </a:rPr>
              <a:t>int</a:t>
            </a:r>
            <a:r>
              <a:rPr lang="en-US" sz="2200" dirty="0">
                <a:latin typeface="Arial" panose="020B0604020202020204" pitchFamily="34" charset="0"/>
                <a:cs typeface="Arial" panose="020B0604020202020204" pitchFamily="34" charset="0"/>
              </a:rPr>
              <a:t>;</a:t>
            </a:r>
          </a:p>
          <a:p>
            <a:pPr marL="996950" lvl="1" indent="-357188">
              <a:spcBef>
                <a:spcPts val="1800"/>
              </a:spcBef>
            </a:pPr>
            <a:r>
              <a:rPr lang="en-US" sz="2200" dirty="0">
                <a:latin typeface="Arial" panose="020B0604020202020204" pitchFamily="34" charset="0"/>
                <a:cs typeface="Arial" panose="020B0604020202020204" pitchFamily="34" charset="0"/>
              </a:rPr>
              <a:t>ADD </a:t>
            </a:r>
            <a:r>
              <a:rPr lang="en-US" sz="2200" dirty="0" err="1">
                <a:latin typeface="Arial" panose="020B0604020202020204" pitchFamily="34" charset="0"/>
                <a:cs typeface="Arial" panose="020B0604020202020204" pitchFamily="34" charset="0"/>
              </a:rPr>
              <a:t>emp_email</a:t>
            </a:r>
            <a:r>
              <a:rPr lang="en-US" sz="2200" dirty="0">
                <a:latin typeface="Arial" panose="020B0604020202020204" pitchFamily="34" charset="0"/>
                <a:cs typeface="Arial" panose="020B0604020202020204" pitchFamily="34" charset="0"/>
              </a:rPr>
              <a:t> text;</a:t>
            </a:r>
          </a:p>
          <a:p>
            <a:pPr marL="996950" lvl="1" indent="-357188">
              <a:spcBef>
                <a:spcPts val="1800"/>
              </a:spcBef>
            </a:pPr>
            <a:r>
              <a:rPr lang="en-US" sz="2200" dirty="0">
                <a:latin typeface="Arial" panose="020B0604020202020204" pitchFamily="34" charset="0"/>
                <a:cs typeface="Arial" panose="020B0604020202020204" pitchFamily="34" charset="0"/>
              </a:rPr>
              <a:t>DROP </a:t>
            </a:r>
            <a:r>
              <a:rPr lang="en-US" sz="2200" dirty="0" err="1">
                <a:latin typeface="Arial" panose="020B0604020202020204" pitchFamily="34" charset="0"/>
                <a:cs typeface="Arial" panose="020B0604020202020204" pitchFamily="34" charset="0"/>
              </a:rPr>
              <a:t>emp_phone</a:t>
            </a:r>
            <a:r>
              <a:rPr lang="en-US" sz="2200" dirty="0">
                <a:latin typeface="Arial" panose="020B0604020202020204" pitchFamily="34" charset="0"/>
                <a:cs typeface="Arial" panose="020B0604020202020204" pitchFamily="34" charset="0"/>
              </a:rPr>
              <a:t>;</a:t>
            </a:r>
          </a:p>
          <a:p>
            <a:pPr marL="996950" lvl="1" indent="-357188">
              <a:spcBef>
                <a:spcPts val="1800"/>
              </a:spcBef>
            </a:pPr>
            <a:r>
              <a:rPr lang="en-US" sz="2200" dirty="0">
                <a:latin typeface="Arial" panose="020B0604020202020204" pitchFamily="34" charset="0"/>
                <a:cs typeface="Arial" panose="020B0604020202020204" pitchFamily="34" charset="0"/>
              </a:rPr>
              <a:t>RENAME </a:t>
            </a:r>
            <a:r>
              <a:rPr lang="en-US" sz="2200" dirty="0" err="1">
                <a:latin typeface="Arial" panose="020B0604020202020204" pitchFamily="34" charset="0"/>
                <a:cs typeface="Arial" panose="020B0604020202020204" pitchFamily="34" charset="0"/>
              </a:rPr>
              <a:t>emp_city</a:t>
            </a:r>
            <a:r>
              <a:rPr lang="en-US" sz="2200" dirty="0">
                <a:latin typeface="Arial" panose="020B0604020202020204" pitchFamily="34" charset="0"/>
                <a:cs typeface="Arial" panose="020B0604020202020204" pitchFamily="34" charset="0"/>
              </a:rPr>
              <a:t> TO </a:t>
            </a:r>
            <a:r>
              <a:rPr lang="en-US" sz="2200" dirty="0" err="1">
                <a:latin typeface="Arial" panose="020B0604020202020204" pitchFamily="34" charset="0"/>
                <a:cs typeface="Arial" panose="020B0604020202020204" pitchFamily="34" charset="0"/>
              </a:rPr>
              <a:t>emp_address</a:t>
            </a:r>
            <a:r>
              <a:rPr lang="en-US" sz="2200" dirty="0">
                <a:latin typeface="Arial" panose="020B0604020202020204" pitchFamily="34" charset="0"/>
                <a:cs typeface="Arial" panose="020B0604020202020204" pitchFamily="34" charset="0"/>
              </a:rPr>
              <a:t>;</a:t>
            </a:r>
          </a:p>
          <a:p>
            <a:pPr marL="539750" lvl="1" indent="-342900">
              <a:spcBef>
                <a:spcPts val="1800"/>
              </a:spcBef>
            </a:pPr>
            <a:r>
              <a:rPr lang="en-US" sz="2200" dirty="0">
                <a:latin typeface="Arial" panose="020B0604020202020204" pitchFamily="34" charset="0"/>
                <a:cs typeface="Arial" panose="020B0604020202020204" pitchFamily="34" charset="0"/>
              </a:rPr>
              <a:t>DROP TABLE </a:t>
            </a:r>
            <a:r>
              <a:rPr lang="en-US" sz="2200" dirty="0" err="1">
                <a:latin typeface="Arial" panose="020B0604020202020204" pitchFamily="34" charset="0"/>
                <a:cs typeface="Arial" panose="020B0604020202020204" pitchFamily="34" charset="0"/>
              </a:rPr>
              <a:t>University.emp</a:t>
            </a:r>
            <a:endParaRPr lang="en-US" sz="22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9242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Data Definition Commands</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DESCRIBE COLUMNFAMILIES;</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TRUNCATE </a:t>
            </a:r>
            <a:r>
              <a:rPr lang="en-US" sz="2300" dirty="0" err="1">
                <a:latin typeface="Arial" panose="020B0604020202020204" pitchFamily="34" charset="0"/>
                <a:cs typeface="Arial" panose="020B0604020202020204" pitchFamily="34" charset="0"/>
              </a:rPr>
              <a:t>University.emp</a:t>
            </a:r>
            <a:r>
              <a:rPr lang="en-US" sz="2300" dirty="0">
                <a:latin typeface="Arial" panose="020B0604020202020204" pitchFamily="34" charset="0"/>
                <a:cs typeface="Arial" panose="020B0604020202020204" pitchFamily="34" charset="0"/>
              </a:rPr>
              <a:t>;</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INSERT INTO </a:t>
            </a:r>
            <a:r>
              <a:rPr lang="en-US" sz="2300" dirty="0" err="1">
                <a:latin typeface="Arial" panose="020B0604020202020204" pitchFamily="34" charset="0"/>
                <a:cs typeface="Arial" panose="020B0604020202020204" pitchFamily="34" charset="0"/>
              </a:rPr>
              <a:t>University.Emp</a:t>
            </a:r>
            <a:r>
              <a:rPr lang="en-US" sz="2300" dirty="0">
                <a:latin typeface="Arial" panose="020B0604020202020204" pitchFamily="34" charset="0"/>
                <a:cs typeface="Arial" panose="020B0604020202020204" pitchFamily="34" charset="0"/>
              </a:rPr>
              <a:t>(</a:t>
            </a:r>
            <a:r>
              <a:rPr lang="en-US" sz="2300" dirty="0" err="1">
                <a:latin typeface="Arial" panose="020B0604020202020204" pitchFamily="34" charset="0"/>
                <a:cs typeface="Arial" panose="020B0604020202020204" pitchFamily="34" charset="0"/>
              </a:rPr>
              <a:t>emp_id,emp_city,emp_name,emp_sal</a:t>
            </a:r>
            <a:r>
              <a:rPr lang="en-US" sz="2300" dirty="0">
                <a:latin typeface="Arial" panose="020B0604020202020204" pitchFamily="34" charset="0"/>
                <a:cs typeface="Arial" panose="020B0604020202020204" pitchFamily="34" charset="0"/>
              </a:rPr>
              <a:t>) VALUES(2,'ap','sample1', 2000);</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UPDATE </a:t>
            </a:r>
            <a:r>
              <a:rPr lang="en-US" sz="2300" dirty="0" err="1">
                <a:latin typeface="Arial" panose="020B0604020202020204" pitchFamily="34" charset="0"/>
                <a:cs typeface="Arial" panose="020B0604020202020204" pitchFamily="34" charset="0"/>
              </a:rPr>
              <a:t>University.Emp</a:t>
            </a:r>
            <a:r>
              <a:rPr lang="en-US" sz="2300" dirty="0">
                <a:latin typeface="Arial" panose="020B0604020202020204" pitchFamily="34" charset="0"/>
                <a:cs typeface="Arial" panose="020B0604020202020204" pitchFamily="34" charset="0"/>
              </a:rPr>
              <a:t> SET </a:t>
            </a:r>
            <a:r>
              <a:rPr lang="en-US" sz="2300" dirty="0" err="1">
                <a:latin typeface="Arial" panose="020B0604020202020204" pitchFamily="34" charset="0"/>
                <a:cs typeface="Arial" panose="020B0604020202020204" pitchFamily="34" charset="0"/>
              </a:rPr>
              <a:t>emp_name</a:t>
            </a:r>
            <a:r>
              <a:rPr lang="en-US" sz="2300" dirty="0">
                <a:latin typeface="Arial" panose="020B0604020202020204" pitchFamily="34" charset="0"/>
                <a:cs typeface="Arial" panose="020B0604020202020204" pitchFamily="34" charset="0"/>
              </a:rPr>
              <a:t>='Hayden' WHERE </a:t>
            </a:r>
            <a:r>
              <a:rPr lang="en-US" sz="2300" dirty="0" err="1">
                <a:latin typeface="Arial" panose="020B0604020202020204" pitchFamily="34" charset="0"/>
                <a:cs typeface="Arial" panose="020B0604020202020204" pitchFamily="34" charset="0"/>
              </a:rPr>
              <a:t>emp_id</a:t>
            </a:r>
            <a:r>
              <a:rPr lang="en-US" sz="2300" dirty="0">
                <a:latin typeface="Arial" panose="020B0604020202020204" pitchFamily="34" charset="0"/>
                <a:cs typeface="Arial" panose="020B0604020202020204" pitchFamily="34" charset="0"/>
              </a:rPr>
              <a:t>=1;</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UPDATE </a:t>
            </a:r>
            <a:r>
              <a:rPr lang="en-US" sz="2300" dirty="0" err="1">
                <a:latin typeface="Arial" panose="020B0604020202020204" pitchFamily="34" charset="0"/>
                <a:cs typeface="Arial" panose="020B0604020202020204" pitchFamily="34" charset="0"/>
              </a:rPr>
              <a:t>University.Emp</a:t>
            </a:r>
            <a:r>
              <a:rPr lang="en-US" sz="2300" dirty="0">
                <a:latin typeface="Arial" panose="020B0604020202020204" pitchFamily="34" charset="0"/>
                <a:cs typeface="Arial" panose="020B0604020202020204" pitchFamily="34" charset="0"/>
              </a:rPr>
              <a:t> SET </a:t>
            </a:r>
            <a:r>
              <a:rPr lang="en-US" sz="2300" dirty="0" err="1">
                <a:latin typeface="Arial" panose="020B0604020202020204" pitchFamily="34" charset="0"/>
                <a:cs typeface="Arial" panose="020B0604020202020204" pitchFamily="34" charset="0"/>
              </a:rPr>
              <a:t>emp_name</a:t>
            </a:r>
            <a:r>
              <a:rPr lang="en-US" sz="2300" dirty="0">
                <a:latin typeface="Arial" panose="020B0604020202020204" pitchFamily="34" charset="0"/>
                <a:cs typeface="Arial" panose="020B0604020202020204" pitchFamily="34" charset="0"/>
              </a:rPr>
              <a:t>='Hayden' WHERE </a:t>
            </a:r>
            <a:r>
              <a:rPr lang="en-US" sz="2300" dirty="0" err="1">
                <a:latin typeface="Arial" panose="020B0604020202020204" pitchFamily="34" charset="0"/>
                <a:cs typeface="Arial" panose="020B0604020202020204" pitchFamily="34" charset="0"/>
              </a:rPr>
              <a:t>emp_id</a:t>
            </a:r>
            <a:r>
              <a:rPr lang="en-US" sz="2300" dirty="0">
                <a:latin typeface="Arial" panose="020B0604020202020204" pitchFamily="34" charset="0"/>
                <a:cs typeface="Arial" panose="020B0604020202020204" pitchFamily="34" charset="0"/>
              </a:rPr>
              <a:t>=2;</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SELECT </a:t>
            </a:r>
            <a:r>
              <a:rPr lang="en-US" sz="2300" dirty="0" err="1">
                <a:latin typeface="Arial" panose="020B0604020202020204" pitchFamily="34" charset="0"/>
                <a:cs typeface="Arial" panose="020B0604020202020204" pitchFamily="34" charset="0"/>
              </a:rPr>
              <a:t>emp_name</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emp_sal</a:t>
            </a:r>
            <a:r>
              <a:rPr lang="en-US" sz="2300" dirty="0">
                <a:latin typeface="Arial" panose="020B0604020202020204" pitchFamily="34" charset="0"/>
                <a:cs typeface="Arial" panose="020B0604020202020204" pitchFamily="34" charset="0"/>
              </a:rPr>
              <a:t> from </a:t>
            </a:r>
            <a:r>
              <a:rPr lang="en-US" sz="2300" dirty="0" err="1">
                <a:latin typeface="Arial" panose="020B0604020202020204" pitchFamily="34" charset="0"/>
                <a:cs typeface="Arial" panose="020B0604020202020204" pitchFamily="34" charset="0"/>
              </a:rPr>
              <a:t>University.emp</a:t>
            </a:r>
            <a:r>
              <a:rPr lang="en-US" sz="2300" dirty="0">
                <a:latin typeface="Arial" panose="020B0604020202020204" pitchFamily="34" charset="0"/>
                <a:cs typeface="Arial" panose="020B0604020202020204" pitchFamily="34" charset="0"/>
              </a:rPr>
              <a:t>;</a:t>
            </a:r>
          </a:p>
          <a:p>
            <a:pPr marL="539750" indent="-357188">
              <a:lnSpc>
                <a:spcPct val="120000"/>
              </a:lnSpc>
              <a:spcBef>
                <a:spcPts val="600"/>
              </a:spcBef>
              <a:spcAft>
                <a:spcPts val="600"/>
              </a:spcAft>
            </a:pPr>
            <a:endParaRPr lang="en-US" sz="23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2837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Data Definition Commands</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DELETE </a:t>
            </a:r>
            <a:r>
              <a:rPr lang="en-US" sz="2300" dirty="0" err="1">
                <a:latin typeface="Arial" panose="020B0604020202020204" pitchFamily="34" charset="0"/>
                <a:cs typeface="Arial" panose="020B0604020202020204" pitchFamily="34" charset="0"/>
              </a:rPr>
              <a:t>emp_sal</a:t>
            </a:r>
            <a:r>
              <a:rPr lang="en-US" sz="2300" dirty="0">
                <a:latin typeface="Arial" panose="020B0604020202020204" pitchFamily="34" charset="0"/>
                <a:cs typeface="Arial" panose="020B0604020202020204" pitchFamily="34" charset="0"/>
              </a:rPr>
              <a:t> FROM </a:t>
            </a:r>
            <a:r>
              <a:rPr lang="en-US" sz="2300" dirty="0" err="1">
                <a:latin typeface="Arial" panose="020B0604020202020204" pitchFamily="34" charset="0"/>
                <a:cs typeface="Arial" panose="020B0604020202020204" pitchFamily="34" charset="0"/>
              </a:rPr>
              <a:t>University.emp</a:t>
            </a:r>
            <a:r>
              <a:rPr lang="en-US" sz="2300" dirty="0">
                <a:latin typeface="Arial" panose="020B0604020202020204" pitchFamily="34" charset="0"/>
                <a:cs typeface="Arial" panose="020B0604020202020204" pitchFamily="34" charset="0"/>
              </a:rPr>
              <a:t> WHERE </a:t>
            </a:r>
            <a:r>
              <a:rPr lang="en-US" sz="2300" dirty="0" err="1">
                <a:latin typeface="Arial" panose="020B0604020202020204" pitchFamily="34" charset="0"/>
                <a:cs typeface="Arial" panose="020B0604020202020204" pitchFamily="34" charset="0"/>
              </a:rPr>
              <a:t>emp_id</a:t>
            </a:r>
            <a:r>
              <a:rPr lang="en-US" sz="2300" dirty="0">
                <a:latin typeface="Arial" panose="020B0604020202020204" pitchFamily="34" charset="0"/>
                <a:cs typeface="Arial" panose="020B0604020202020204" pitchFamily="34" charset="0"/>
              </a:rPr>
              <a:t>=3;</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DELETE FROM </a:t>
            </a:r>
            <a:r>
              <a:rPr lang="en-US" sz="2300" dirty="0" err="1">
                <a:latin typeface="Arial" panose="020B0604020202020204" pitchFamily="34" charset="0"/>
                <a:cs typeface="Arial" panose="020B0604020202020204" pitchFamily="34" charset="0"/>
              </a:rPr>
              <a:t>University.Emp</a:t>
            </a:r>
            <a:r>
              <a:rPr lang="en-US" sz="2300" dirty="0">
                <a:latin typeface="Arial" panose="020B0604020202020204" pitchFamily="34" charset="0"/>
                <a:cs typeface="Arial" panose="020B0604020202020204" pitchFamily="34" charset="0"/>
              </a:rPr>
              <a:t> WHERE </a:t>
            </a:r>
            <a:r>
              <a:rPr lang="en-US" sz="2300" dirty="0" err="1">
                <a:latin typeface="Arial" panose="020B0604020202020204" pitchFamily="34" charset="0"/>
                <a:cs typeface="Arial" panose="020B0604020202020204" pitchFamily="34" charset="0"/>
              </a:rPr>
              <a:t>emp_id</a:t>
            </a:r>
            <a:r>
              <a:rPr lang="en-US" sz="2300" dirty="0">
                <a:latin typeface="Arial" panose="020B0604020202020204" pitchFamily="34" charset="0"/>
                <a:cs typeface="Arial" panose="020B0604020202020204" pitchFamily="34" charset="0"/>
              </a:rPr>
              <a:t>=1; </a:t>
            </a:r>
          </a:p>
          <a:p>
            <a:pPr marL="539750" indent="-357188">
              <a:lnSpc>
                <a:spcPct val="120000"/>
              </a:lnSpc>
              <a:spcBef>
                <a:spcPts val="600"/>
              </a:spcBef>
              <a:spcAft>
                <a:spcPts val="600"/>
              </a:spcAft>
            </a:pPr>
            <a:endParaRPr lang="en-US" sz="2300" dirty="0">
              <a:latin typeface="Arial" panose="020B0604020202020204" pitchFamily="34" charset="0"/>
              <a:cs typeface="Arial" panose="020B0604020202020204" pitchFamily="34" charset="0"/>
            </a:endParaRP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CREATE INDEX </a:t>
            </a:r>
            <a:r>
              <a:rPr lang="en-US" sz="2300" dirty="0" err="1">
                <a:latin typeface="Arial" panose="020B0604020202020204" pitchFamily="34" charset="0"/>
                <a:cs typeface="Arial" panose="020B0604020202020204" pitchFamily="34" charset="0"/>
              </a:rPr>
              <a:t>e_name</a:t>
            </a:r>
            <a:r>
              <a:rPr lang="en-US" sz="2300" dirty="0">
                <a:latin typeface="Arial" panose="020B0604020202020204" pitchFamily="34" charset="0"/>
                <a:cs typeface="Arial" panose="020B0604020202020204" pitchFamily="34" charset="0"/>
              </a:rPr>
              <a:t> ON </a:t>
            </a:r>
            <a:r>
              <a:rPr lang="en-US" sz="2300" dirty="0" err="1">
                <a:latin typeface="Arial" panose="020B0604020202020204" pitchFamily="34" charset="0"/>
                <a:cs typeface="Arial" panose="020B0604020202020204" pitchFamily="34" charset="0"/>
              </a:rPr>
              <a:t>University.emp</a:t>
            </a:r>
            <a:r>
              <a:rPr lang="en-US" sz="2300" dirty="0">
                <a:latin typeface="Arial" panose="020B0604020202020204" pitchFamily="34" charset="0"/>
                <a:cs typeface="Arial" panose="020B0604020202020204" pitchFamily="34" charset="0"/>
              </a:rPr>
              <a:t>(</a:t>
            </a:r>
            <a:r>
              <a:rPr lang="en-US" sz="2300" dirty="0" err="1">
                <a:latin typeface="Arial" panose="020B0604020202020204" pitchFamily="34" charset="0"/>
                <a:cs typeface="Arial" panose="020B0604020202020204" pitchFamily="34" charset="0"/>
              </a:rPr>
              <a:t>emp_name</a:t>
            </a:r>
            <a:r>
              <a:rPr lang="en-US" sz="2300" dirty="0">
                <a:latin typeface="Arial" panose="020B0604020202020204" pitchFamily="34" charset="0"/>
                <a:cs typeface="Arial" panose="020B0604020202020204" pitchFamily="34" charset="0"/>
              </a:rPr>
              <a:t>);</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DROP INDEX IF EXISTS </a:t>
            </a:r>
            <a:r>
              <a:rPr lang="en-US" sz="2300" dirty="0" err="1">
                <a:latin typeface="Arial" panose="020B0604020202020204" pitchFamily="34" charset="0"/>
                <a:cs typeface="Arial" panose="020B0604020202020204" pitchFamily="34" charset="0"/>
              </a:rPr>
              <a:t>University.e_name</a:t>
            </a:r>
            <a:r>
              <a:rPr lang="en-US" sz="2300" dirty="0">
                <a:latin typeface="Arial" panose="020B0604020202020204" pitchFamily="34" charset="0"/>
                <a:cs typeface="Arial" panose="020B0604020202020204" pitchFamily="34" charset="0"/>
              </a:rPr>
              <a:t>; </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INSERT INTO </a:t>
            </a:r>
            <a:r>
              <a:rPr lang="en-US" sz="2300" dirty="0" err="1">
                <a:latin typeface="Arial" panose="020B0604020202020204" pitchFamily="34" charset="0"/>
                <a:cs typeface="Arial" panose="020B0604020202020204" pitchFamily="34" charset="0"/>
              </a:rPr>
              <a:t>University.Emp</a:t>
            </a:r>
            <a:r>
              <a:rPr lang="en-US" sz="2300" dirty="0">
                <a:latin typeface="Arial" panose="020B0604020202020204" pitchFamily="34" charset="0"/>
                <a:cs typeface="Arial" panose="020B0604020202020204" pitchFamily="34" charset="0"/>
              </a:rPr>
              <a:t>(</a:t>
            </a:r>
            <a:r>
              <a:rPr lang="en-US" sz="2300" dirty="0" err="1">
                <a:latin typeface="Arial" panose="020B0604020202020204" pitchFamily="34" charset="0"/>
                <a:cs typeface="Arial" panose="020B0604020202020204" pitchFamily="34" charset="0"/>
              </a:rPr>
              <a:t>emp_id,emp_city,emp_name,emp_sal</a:t>
            </a:r>
            <a:r>
              <a:rPr lang="en-US" sz="2300" dirty="0">
                <a:latin typeface="Arial" panose="020B0604020202020204" pitchFamily="34" charset="0"/>
                <a:cs typeface="Arial" panose="020B0604020202020204" pitchFamily="34" charset="0"/>
              </a:rPr>
              <a:t>) VALUES(3,‘hyd','sample2', 2300) USING TTL 100;</a:t>
            </a:r>
          </a:p>
          <a:p>
            <a:pPr marL="539750" indent="-357188">
              <a:spcBef>
                <a:spcPts val="1800"/>
              </a:spcBef>
            </a:pPr>
            <a:endParaRPr lang="en-US" sz="22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358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BATCH</a:t>
            </a:r>
          </a:p>
        </p:txBody>
      </p:sp>
      <p:sp>
        <p:nvSpPr>
          <p:cNvPr id="3" name="Content Placeholder 2"/>
          <p:cNvSpPr>
            <a:spLocks noGrp="1"/>
          </p:cNvSpPr>
          <p:nvPr>
            <p:ph idx="1"/>
          </p:nvPr>
        </p:nvSpPr>
        <p:spPr>
          <a:xfrm>
            <a:off x="838200" y="1690688"/>
            <a:ext cx="10515600" cy="4486275"/>
          </a:xfrm>
        </p:spPr>
        <p:txBody>
          <a:bodyPr>
            <a:noAutofit/>
          </a:bodyPr>
          <a:lstStyle/>
          <a:p>
            <a:pPr marL="182562" indent="0">
              <a:lnSpc>
                <a:spcPct val="120000"/>
              </a:lnSpc>
              <a:spcBef>
                <a:spcPts val="600"/>
              </a:spcBef>
              <a:spcAft>
                <a:spcPts val="600"/>
              </a:spcAft>
              <a:buNone/>
            </a:pPr>
            <a:r>
              <a:rPr lang="en-US" sz="2300" dirty="0">
                <a:latin typeface="Arial" panose="020B0604020202020204" pitchFamily="34" charset="0"/>
                <a:cs typeface="Arial" panose="020B0604020202020204" pitchFamily="34" charset="0"/>
              </a:rPr>
              <a:t>In Cassandra BATCH is used to execute multiple modification statements (insert, update, delete) simultaneously. It is very useful when you have to update some column as well as delete some of the existing.</a:t>
            </a:r>
          </a:p>
          <a:p>
            <a:pPr marL="722313" indent="0">
              <a:lnSpc>
                <a:spcPct val="120000"/>
              </a:lnSpc>
              <a:spcBef>
                <a:spcPts val="600"/>
              </a:spcBef>
              <a:spcAft>
                <a:spcPts val="600"/>
              </a:spcAft>
              <a:buNone/>
            </a:pPr>
            <a:r>
              <a:rPr lang="en-US" sz="2300" dirty="0">
                <a:latin typeface="Arial" panose="020B0604020202020204" pitchFamily="34" charset="0"/>
                <a:cs typeface="Arial" panose="020B0604020202020204" pitchFamily="34" charset="0"/>
              </a:rPr>
              <a:t>BEGIN BATCH  </a:t>
            </a:r>
          </a:p>
          <a:p>
            <a:pPr marL="722313" indent="0">
              <a:lnSpc>
                <a:spcPct val="120000"/>
              </a:lnSpc>
              <a:spcBef>
                <a:spcPts val="600"/>
              </a:spcBef>
              <a:spcAft>
                <a:spcPts val="600"/>
              </a:spcAft>
              <a:buNone/>
            </a:pPr>
            <a:r>
              <a:rPr lang="en-US" sz="2300" dirty="0">
                <a:latin typeface="Arial" panose="020B0604020202020204" pitchFamily="34" charset="0"/>
                <a:cs typeface="Arial" panose="020B0604020202020204" pitchFamily="34" charset="0"/>
              </a:rPr>
              <a:t>&lt;insert-</a:t>
            </a:r>
            <a:r>
              <a:rPr lang="en-US" sz="2300" dirty="0" err="1">
                <a:latin typeface="Arial" panose="020B0604020202020204" pitchFamily="34" charset="0"/>
                <a:cs typeface="Arial" panose="020B0604020202020204" pitchFamily="34" charset="0"/>
              </a:rPr>
              <a:t>stmt</a:t>
            </a:r>
            <a:r>
              <a:rPr lang="en-US" sz="2300" dirty="0">
                <a:latin typeface="Arial" panose="020B0604020202020204" pitchFamily="34" charset="0"/>
                <a:cs typeface="Arial" panose="020B0604020202020204" pitchFamily="34" charset="0"/>
              </a:rPr>
              <a:t>&gt;/ &lt;update-</a:t>
            </a:r>
            <a:r>
              <a:rPr lang="en-US" sz="2300" dirty="0" err="1">
                <a:latin typeface="Arial" panose="020B0604020202020204" pitchFamily="34" charset="0"/>
                <a:cs typeface="Arial" panose="020B0604020202020204" pitchFamily="34" charset="0"/>
              </a:rPr>
              <a:t>stmt</a:t>
            </a:r>
            <a:r>
              <a:rPr lang="en-US" sz="2300" dirty="0">
                <a:latin typeface="Arial" panose="020B0604020202020204" pitchFamily="34" charset="0"/>
                <a:cs typeface="Arial" panose="020B0604020202020204" pitchFamily="34" charset="0"/>
              </a:rPr>
              <a:t>&gt;/ &lt;delete-</a:t>
            </a:r>
            <a:r>
              <a:rPr lang="en-US" sz="2300" dirty="0" err="1">
                <a:latin typeface="Arial" panose="020B0604020202020204" pitchFamily="34" charset="0"/>
                <a:cs typeface="Arial" panose="020B0604020202020204" pitchFamily="34" charset="0"/>
              </a:rPr>
              <a:t>stmt</a:t>
            </a:r>
            <a:r>
              <a:rPr lang="en-US" sz="2300" dirty="0">
                <a:latin typeface="Arial" panose="020B0604020202020204" pitchFamily="34" charset="0"/>
                <a:cs typeface="Arial" panose="020B0604020202020204" pitchFamily="34" charset="0"/>
              </a:rPr>
              <a:t>&gt;  </a:t>
            </a:r>
          </a:p>
          <a:p>
            <a:pPr marL="722313" indent="0">
              <a:lnSpc>
                <a:spcPct val="120000"/>
              </a:lnSpc>
              <a:spcBef>
                <a:spcPts val="600"/>
              </a:spcBef>
              <a:spcAft>
                <a:spcPts val="600"/>
              </a:spcAft>
              <a:buNone/>
            </a:pPr>
            <a:endParaRPr lang="en-US" sz="2300" dirty="0">
              <a:latin typeface="Arial" panose="020B0604020202020204" pitchFamily="34" charset="0"/>
              <a:cs typeface="Arial" panose="020B0604020202020204" pitchFamily="34" charset="0"/>
            </a:endParaRPr>
          </a:p>
          <a:p>
            <a:pPr marL="722313" indent="0">
              <a:lnSpc>
                <a:spcPct val="120000"/>
              </a:lnSpc>
              <a:spcBef>
                <a:spcPts val="600"/>
              </a:spcBef>
              <a:spcAft>
                <a:spcPts val="600"/>
              </a:spcAft>
              <a:buNone/>
            </a:pPr>
            <a:r>
              <a:rPr lang="en-US" sz="2300" dirty="0">
                <a:latin typeface="Arial" panose="020B0604020202020204" pitchFamily="34" charset="0"/>
                <a:cs typeface="Arial" panose="020B0604020202020204" pitchFamily="34" charset="0"/>
              </a:rPr>
              <a:t>APPLY BATCH</a:t>
            </a:r>
          </a:p>
          <a:p>
            <a:pPr marL="539750" indent="-357188">
              <a:lnSpc>
                <a:spcPct val="120000"/>
              </a:lnSpc>
              <a:spcBef>
                <a:spcPts val="600"/>
              </a:spcBef>
              <a:spcAft>
                <a:spcPts val="600"/>
              </a:spcAft>
            </a:pPr>
            <a:endParaRPr lang="en-US" sz="23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8655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BATCH</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20</a:t>
            </a:fld>
            <a:endParaRPr lang="en-IN" dirty="0">
              <a:latin typeface="Arial" panose="020B0604020202020204" pitchFamily="34" charset="0"/>
              <a:cs typeface="Arial" panose="020B0604020202020204" pitchFamily="34" charset="0"/>
            </a:endParaRPr>
          </a:p>
        </p:txBody>
      </p:sp>
      <p:pic>
        <p:nvPicPr>
          <p:cNvPr id="10" name="Content Placeholder 6">
            <a:extLst>
              <a:ext uri="{FF2B5EF4-FFF2-40B4-BE49-F238E27FC236}">
                <a16:creationId xmlns:a16="http://schemas.microsoft.com/office/drawing/2014/main" id="{0D96EFD3-65FE-4148-AAEE-EE0FB75513F8}"/>
              </a:ext>
            </a:extLst>
          </p:cNvPr>
          <p:cNvPicPr>
            <a:picLocks noChangeAspect="1"/>
          </p:cNvPicPr>
          <p:nvPr/>
        </p:nvPicPr>
        <p:blipFill>
          <a:blip r:embed="rId3"/>
          <a:stretch>
            <a:fillRect/>
          </a:stretch>
        </p:blipFill>
        <p:spPr>
          <a:xfrm>
            <a:off x="757718" y="1226393"/>
            <a:ext cx="10378712" cy="5129957"/>
          </a:xfrm>
          <a:prstGeom prst="rect">
            <a:avLst/>
          </a:prstGeom>
        </p:spPr>
      </p:pic>
    </p:spTree>
    <p:extLst>
      <p:ext uri="{BB962C8B-B14F-4D97-AF65-F5344CB8AC3E}">
        <p14:creationId xmlns:p14="http://schemas.microsoft.com/office/powerpoint/2010/main" val="3684348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BATCH</a:t>
            </a:r>
          </a:p>
        </p:txBody>
      </p:sp>
      <p:sp>
        <p:nvSpPr>
          <p:cNvPr id="3" name="Content Placeholder 2"/>
          <p:cNvSpPr>
            <a:spLocks noGrp="1"/>
          </p:cNvSpPr>
          <p:nvPr>
            <p:ph idx="1"/>
          </p:nvPr>
        </p:nvSpPr>
        <p:spPr>
          <a:xfrm>
            <a:off x="838200" y="1690688"/>
            <a:ext cx="10515600" cy="4486275"/>
          </a:xfrm>
        </p:spPr>
        <p:txBody>
          <a:bodyPr>
            <a:noAutofit/>
          </a:bodyPr>
          <a:lstStyle/>
          <a:p>
            <a:pPr marL="182562" indent="0">
              <a:lnSpc>
                <a:spcPct val="120000"/>
              </a:lnSpc>
              <a:spcBef>
                <a:spcPts val="600"/>
              </a:spcBef>
              <a:spcAft>
                <a:spcPts val="600"/>
              </a:spcAft>
              <a:buNone/>
            </a:pPr>
            <a:r>
              <a:rPr lang="en-US" sz="2300" dirty="0">
                <a:latin typeface="Arial" panose="020B0604020202020204" pitchFamily="34" charset="0"/>
                <a:cs typeface="Arial" panose="020B0604020202020204" pitchFamily="34" charset="0"/>
              </a:rPr>
              <a:t>BEGIN BATCH</a:t>
            </a:r>
          </a:p>
          <a:p>
            <a:pPr marL="182562" indent="0">
              <a:lnSpc>
                <a:spcPct val="120000"/>
              </a:lnSpc>
              <a:spcBef>
                <a:spcPts val="600"/>
              </a:spcBef>
              <a:spcAft>
                <a:spcPts val="600"/>
              </a:spcAft>
              <a:buNone/>
            </a:pPr>
            <a:r>
              <a:rPr lang="en-US" sz="2300" dirty="0">
                <a:latin typeface="Arial" panose="020B0604020202020204" pitchFamily="34" charset="0"/>
                <a:cs typeface="Arial" panose="020B0604020202020204" pitchFamily="34" charset="0"/>
              </a:rPr>
              <a:t>... INSERT INTO emp (</a:t>
            </a:r>
            <a:r>
              <a:rPr lang="en-US" sz="2300" dirty="0" err="1">
                <a:latin typeface="Arial" panose="020B0604020202020204" pitchFamily="34" charset="0"/>
                <a:cs typeface="Arial" panose="020B0604020202020204" pitchFamily="34" charset="0"/>
              </a:rPr>
              <a:t>emp_id</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emp_city</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emp_name</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emp_phone</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emp_sal</a:t>
            </a:r>
            <a:r>
              <a:rPr lang="en-US" sz="2300" dirty="0">
                <a:latin typeface="Arial" panose="020B0604020202020204" pitchFamily="34" charset="0"/>
                <a:cs typeface="Arial" panose="020B0604020202020204" pitchFamily="34" charset="0"/>
              </a:rPr>
              <a:t>) values(  4,'Pune','rajeev',98480, 30000);</a:t>
            </a:r>
          </a:p>
          <a:p>
            <a:pPr marL="182562" indent="0">
              <a:lnSpc>
                <a:spcPct val="120000"/>
              </a:lnSpc>
              <a:spcBef>
                <a:spcPts val="600"/>
              </a:spcBef>
              <a:spcAft>
                <a:spcPts val="600"/>
              </a:spcAft>
              <a:buNone/>
            </a:pPr>
            <a:r>
              <a:rPr lang="en-US" sz="2300" dirty="0">
                <a:latin typeface="Arial" panose="020B0604020202020204" pitchFamily="34" charset="0"/>
                <a:cs typeface="Arial" panose="020B0604020202020204" pitchFamily="34" charset="0"/>
              </a:rPr>
              <a:t>... UPDATE </a:t>
            </a:r>
            <a:r>
              <a:rPr lang="en-US" sz="2300" dirty="0" err="1">
                <a:latin typeface="Arial" panose="020B0604020202020204" pitchFamily="34" charset="0"/>
                <a:cs typeface="Arial" panose="020B0604020202020204" pitchFamily="34" charset="0"/>
              </a:rPr>
              <a:t>emp</a:t>
            </a:r>
            <a:r>
              <a:rPr lang="en-US" sz="2300" dirty="0">
                <a:latin typeface="Arial" panose="020B0604020202020204" pitchFamily="34" charset="0"/>
                <a:cs typeface="Arial" panose="020B0604020202020204" pitchFamily="34" charset="0"/>
              </a:rPr>
              <a:t> SET </a:t>
            </a:r>
            <a:r>
              <a:rPr lang="en-US" sz="2300" dirty="0" err="1">
                <a:latin typeface="Arial" panose="020B0604020202020204" pitchFamily="34" charset="0"/>
                <a:cs typeface="Arial" panose="020B0604020202020204" pitchFamily="34" charset="0"/>
              </a:rPr>
              <a:t>emp_sal</a:t>
            </a:r>
            <a:r>
              <a:rPr lang="en-US" sz="2300" dirty="0">
                <a:latin typeface="Arial" panose="020B0604020202020204" pitchFamily="34" charset="0"/>
                <a:cs typeface="Arial" panose="020B0604020202020204" pitchFamily="34" charset="0"/>
              </a:rPr>
              <a:t> = 50000 WHERE </a:t>
            </a:r>
            <a:r>
              <a:rPr lang="en-US" sz="2300" dirty="0" err="1">
                <a:latin typeface="Arial" panose="020B0604020202020204" pitchFamily="34" charset="0"/>
                <a:cs typeface="Arial" panose="020B0604020202020204" pitchFamily="34" charset="0"/>
              </a:rPr>
              <a:t>emp_id</a:t>
            </a:r>
            <a:r>
              <a:rPr lang="en-US" sz="2300" dirty="0">
                <a:latin typeface="Arial" panose="020B0604020202020204" pitchFamily="34" charset="0"/>
                <a:cs typeface="Arial" panose="020B0604020202020204" pitchFamily="34" charset="0"/>
              </a:rPr>
              <a:t> =3;</a:t>
            </a:r>
          </a:p>
          <a:p>
            <a:pPr marL="182562" indent="0">
              <a:lnSpc>
                <a:spcPct val="120000"/>
              </a:lnSpc>
              <a:spcBef>
                <a:spcPts val="600"/>
              </a:spcBef>
              <a:spcAft>
                <a:spcPts val="600"/>
              </a:spcAft>
              <a:buNone/>
            </a:pPr>
            <a:r>
              <a:rPr lang="en-US" sz="2300" dirty="0">
                <a:latin typeface="Arial" panose="020B0604020202020204" pitchFamily="34" charset="0"/>
                <a:cs typeface="Arial" panose="020B0604020202020204" pitchFamily="34" charset="0"/>
              </a:rPr>
              <a:t>... DELETE </a:t>
            </a:r>
            <a:r>
              <a:rPr lang="en-US" sz="2300" dirty="0" err="1">
                <a:latin typeface="Arial" panose="020B0604020202020204" pitchFamily="34" charset="0"/>
                <a:cs typeface="Arial" panose="020B0604020202020204" pitchFamily="34" charset="0"/>
              </a:rPr>
              <a:t>emp_city</a:t>
            </a:r>
            <a:r>
              <a:rPr lang="en-US" sz="2300" dirty="0">
                <a:latin typeface="Arial" panose="020B0604020202020204" pitchFamily="34" charset="0"/>
                <a:cs typeface="Arial" panose="020B0604020202020204" pitchFamily="34" charset="0"/>
              </a:rPr>
              <a:t> FROM </a:t>
            </a:r>
            <a:r>
              <a:rPr lang="en-US" sz="2300" dirty="0" err="1">
                <a:latin typeface="Arial" panose="020B0604020202020204" pitchFamily="34" charset="0"/>
                <a:cs typeface="Arial" panose="020B0604020202020204" pitchFamily="34" charset="0"/>
              </a:rPr>
              <a:t>emp</a:t>
            </a:r>
            <a:r>
              <a:rPr lang="en-US" sz="2300" dirty="0">
                <a:latin typeface="Arial" panose="020B0604020202020204" pitchFamily="34" charset="0"/>
                <a:cs typeface="Arial" panose="020B0604020202020204" pitchFamily="34" charset="0"/>
              </a:rPr>
              <a:t> WHERE </a:t>
            </a:r>
            <a:r>
              <a:rPr lang="en-US" sz="2300" dirty="0" err="1">
                <a:latin typeface="Arial" panose="020B0604020202020204" pitchFamily="34" charset="0"/>
                <a:cs typeface="Arial" panose="020B0604020202020204" pitchFamily="34" charset="0"/>
              </a:rPr>
              <a:t>emp_id</a:t>
            </a:r>
            <a:r>
              <a:rPr lang="en-US" sz="2300" dirty="0">
                <a:latin typeface="Arial" panose="020B0604020202020204" pitchFamily="34" charset="0"/>
                <a:cs typeface="Arial" panose="020B0604020202020204" pitchFamily="34" charset="0"/>
              </a:rPr>
              <a:t> = 2;</a:t>
            </a:r>
          </a:p>
          <a:p>
            <a:pPr marL="182562" indent="0">
              <a:lnSpc>
                <a:spcPct val="120000"/>
              </a:lnSpc>
              <a:spcBef>
                <a:spcPts val="600"/>
              </a:spcBef>
              <a:spcAft>
                <a:spcPts val="600"/>
              </a:spcAft>
              <a:buNone/>
            </a:pPr>
            <a:r>
              <a:rPr lang="en-US" sz="2300" dirty="0">
                <a:latin typeface="Arial" panose="020B0604020202020204" pitchFamily="34" charset="0"/>
                <a:cs typeface="Arial" panose="020B0604020202020204" pitchFamily="34" charset="0"/>
              </a:rPr>
              <a:t>... APPLY BATCH;</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3178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Collections</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CREATE TABLE </a:t>
            </a:r>
            <a:r>
              <a:rPr lang="en-US" sz="2300" dirty="0" err="1">
                <a:latin typeface="Arial" panose="020B0604020202020204" pitchFamily="34" charset="0"/>
                <a:cs typeface="Arial" panose="020B0604020202020204" pitchFamily="34" charset="0"/>
              </a:rPr>
              <a:t>University.student</a:t>
            </a:r>
            <a:r>
              <a:rPr lang="en-US" sz="2300" dirty="0">
                <a:latin typeface="Arial" panose="020B0604020202020204" pitchFamily="34" charset="0"/>
                <a:cs typeface="Arial" panose="020B0604020202020204" pitchFamily="34" charset="0"/>
              </a:rPr>
              <a:t>(</a:t>
            </a:r>
            <a:r>
              <a:rPr lang="en-US" sz="2300" dirty="0" err="1">
                <a:latin typeface="Arial" panose="020B0604020202020204" pitchFamily="34" charset="0"/>
                <a:cs typeface="Arial" panose="020B0604020202020204" pitchFamily="34" charset="0"/>
              </a:rPr>
              <a:t>stu_id</a:t>
            </a:r>
            <a:r>
              <a:rPr lang="en-US" sz="2300" dirty="0">
                <a:latin typeface="Arial" panose="020B0604020202020204" pitchFamily="34" charset="0"/>
                <a:cs typeface="Arial" panose="020B0604020202020204" pitchFamily="34" charset="0"/>
              </a:rPr>
              <a:t> INT, </a:t>
            </a:r>
            <a:r>
              <a:rPr lang="en-US" sz="2300" dirty="0" err="1">
                <a:latin typeface="Arial" panose="020B0604020202020204" pitchFamily="34" charset="0"/>
                <a:cs typeface="Arial" panose="020B0604020202020204" pitchFamily="34" charset="0"/>
              </a:rPr>
              <a:t>stu_name</a:t>
            </a:r>
            <a:r>
              <a:rPr lang="en-US" sz="2300" dirty="0">
                <a:latin typeface="Arial" panose="020B0604020202020204" pitchFamily="34" charset="0"/>
                <a:cs typeface="Arial" panose="020B0604020202020204" pitchFamily="34" charset="0"/>
              </a:rPr>
              <a:t> TEXT, </a:t>
            </a:r>
            <a:r>
              <a:rPr lang="en-US" sz="2300" dirty="0" err="1">
                <a:latin typeface="Arial" panose="020B0604020202020204" pitchFamily="34" charset="0"/>
                <a:cs typeface="Arial" panose="020B0604020202020204" pitchFamily="34" charset="0"/>
              </a:rPr>
              <a:t>stu_Email</a:t>
            </a:r>
            <a:r>
              <a:rPr lang="en-US" sz="2300" dirty="0">
                <a:latin typeface="Arial" panose="020B0604020202020204" pitchFamily="34" charset="0"/>
                <a:cs typeface="Arial" panose="020B0604020202020204" pitchFamily="34" charset="0"/>
              </a:rPr>
              <a:t> SET&lt;TEXT&gt;, PRIMARY KEY(</a:t>
            </a:r>
            <a:r>
              <a:rPr lang="en-US" sz="2300" dirty="0" err="1">
                <a:latin typeface="Arial" panose="020B0604020202020204" pitchFamily="34" charset="0"/>
                <a:cs typeface="Arial" panose="020B0604020202020204" pitchFamily="34" charset="0"/>
              </a:rPr>
              <a:t>stu_id</a:t>
            </a:r>
            <a:r>
              <a:rPr lang="en-US" sz="2300" dirty="0">
                <a:latin typeface="Arial" panose="020B0604020202020204" pitchFamily="34" charset="0"/>
                <a:cs typeface="Arial" panose="020B0604020202020204" pitchFamily="34" charset="0"/>
              </a:rPr>
              <a:t>));</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INSERT INTO </a:t>
            </a:r>
            <a:r>
              <a:rPr lang="en-US" sz="2300" dirty="0" err="1">
                <a:latin typeface="Arial" panose="020B0604020202020204" pitchFamily="34" charset="0"/>
                <a:cs typeface="Arial" panose="020B0604020202020204" pitchFamily="34" charset="0"/>
              </a:rPr>
              <a:t>University.student</a:t>
            </a:r>
            <a:r>
              <a:rPr lang="en-US" sz="2300" dirty="0">
                <a:latin typeface="Arial" panose="020B0604020202020204" pitchFamily="34" charset="0"/>
                <a:cs typeface="Arial" panose="020B0604020202020204" pitchFamily="34" charset="0"/>
              </a:rPr>
              <a:t>(</a:t>
            </a:r>
            <a:r>
              <a:rPr lang="en-US" sz="2300" dirty="0" err="1">
                <a:latin typeface="Arial" panose="020B0604020202020204" pitchFamily="34" charset="0"/>
                <a:cs typeface="Arial" panose="020B0604020202020204" pitchFamily="34" charset="0"/>
              </a:rPr>
              <a:t>stu_id,stu_name,stu_Email</a:t>
            </a:r>
            <a:r>
              <a:rPr lang="en-US" sz="2300" dirty="0">
                <a:latin typeface="Arial" panose="020B0604020202020204" pitchFamily="34" charset="0"/>
                <a:cs typeface="Arial" panose="020B0604020202020204" pitchFamily="34" charset="0"/>
              </a:rPr>
              <a:t>) VALUES(123,'test1',{'</a:t>
            </a:r>
            <a:r>
              <a:rPr lang="en-US" sz="2300" dirty="0" err="1">
                <a:latin typeface="Arial" panose="020B0604020202020204" pitchFamily="34" charset="0"/>
                <a:cs typeface="Arial" panose="020B0604020202020204" pitchFamily="34" charset="0"/>
              </a:rPr>
              <a:t>abc@gmail.com','xyz@hotmail.com</a:t>
            </a:r>
            <a:r>
              <a:rPr lang="en-US" sz="2300" dirty="0">
                <a:latin typeface="Arial" panose="020B0604020202020204" pitchFamily="34" charset="0"/>
                <a:cs typeface="Arial" panose="020B0604020202020204" pitchFamily="34" charset="0"/>
              </a:rPr>
              <a:t>'});</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INSERT INTO customer(</a:t>
            </a:r>
            <a:r>
              <a:rPr lang="en-US" sz="2300" dirty="0" err="1">
                <a:latin typeface="Arial" panose="020B0604020202020204" pitchFamily="34" charset="0"/>
                <a:cs typeface="Arial" panose="020B0604020202020204" pitchFamily="34" charset="0"/>
              </a:rPr>
              <a:t>cust_id</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Cust_name</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Cust_address</a:t>
            </a:r>
            <a:r>
              <a:rPr lang="en-US" sz="2300" dirty="0">
                <a:latin typeface="Arial" panose="020B0604020202020204" pitchFamily="34" charset="0"/>
                <a:cs typeface="Arial" panose="020B0604020202020204" pitchFamily="34" charset="0"/>
              </a:rPr>
              <a:t> , </a:t>
            </a:r>
            <a:r>
              <a:rPr lang="en-US" sz="2300" dirty="0" err="1">
                <a:latin typeface="Arial" panose="020B0604020202020204" pitchFamily="34" charset="0"/>
                <a:cs typeface="Arial" panose="020B0604020202020204" pitchFamily="34" charset="0"/>
              </a:rPr>
              <a:t>Cust_mob</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Cust_email</a:t>
            </a:r>
            <a:r>
              <a:rPr lang="en-US" sz="2300" dirty="0">
                <a:latin typeface="Arial" panose="020B0604020202020204" pitchFamily="34" charset="0"/>
                <a:cs typeface="Arial" panose="020B0604020202020204" pitchFamily="34" charset="0"/>
              </a:rPr>
              <a:t> , </a:t>
            </a:r>
            <a:r>
              <a:rPr lang="en-US" sz="2300" dirty="0" err="1">
                <a:latin typeface="Arial" panose="020B0604020202020204" pitchFamily="34" charset="0"/>
                <a:cs typeface="Arial" panose="020B0604020202020204" pitchFamily="34" charset="0"/>
              </a:rPr>
              <a:t>Bill_amount</a:t>
            </a:r>
            <a:r>
              <a:rPr lang="en-US" sz="2300" dirty="0">
                <a:latin typeface="Arial" panose="020B0604020202020204" pitchFamily="34" charset="0"/>
                <a:cs typeface="Arial" panose="020B0604020202020204" pitchFamily="34" charset="0"/>
              </a:rPr>
              <a:t> ) VALUES (101, 'John',{'No':'123','Street': 'Roy </a:t>
            </a:r>
            <a:r>
              <a:rPr lang="en-US" sz="2300" dirty="0" err="1">
                <a:latin typeface="Arial" panose="020B0604020202020204" pitchFamily="34" charset="0"/>
                <a:cs typeface="Arial" panose="020B0604020202020204" pitchFamily="34" charset="0"/>
              </a:rPr>
              <a:t>street','City</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Vijayawada','State</a:t>
            </a:r>
            <a:r>
              <a:rPr lang="en-US" sz="2300" dirty="0">
                <a:latin typeface="Arial" panose="020B0604020202020204" pitchFamily="34" charset="0"/>
                <a:cs typeface="Arial" panose="020B0604020202020204" pitchFamily="34" charset="0"/>
              </a:rPr>
              <a:t>': 'AP'}, ['9876534567','9878998787'], {'jon@gmail.com', 'john@gmail.com'}, 12000 );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2683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User-defined Data Type</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CREATE TYPE </a:t>
            </a:r>
            <a:r>
              <a:rPr lang="en-US" sz="2300" dirty="0" err="1">
                <a:latin typeface="Arial" panose="020B0604020202020204" pitchFamily="34" charset="0"/>
                <a:cs typeface="Arial" panose="020B0604020202020204" pitchFamily="34" charset="0"/>
              </a:rPr>
              <a:t>university.card_details</a:t>
            </a:r>
            <a:r>
              <a:rPr lang="en-US" sz="2300" dirty="0">
                <a:latin typeface="Arial" panose="020B0604020202020204" pitchFamily="34" charset="0"/>
                <a:cs typeface="Arial" panose="020B0604020202020204" pitchFamily="34" charset="0"/>
              </a:rPr>
              <a:t>(</a:t>
            </a:r>
            <a:r>
              <a:rPr lang="en-US" sz="2300" dirty="0" err="1">
                <a:latin typeface="Arial" panose="020B0604020202020204" pitchFamily="34" charset="0"/>
                <a:cs typeface="Arial" panose="020B0604020202020204" pitchFamily="34" charset="0"/>
              </a:rPr>
              <a:t>num</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int,pin</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int,name</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text,cvv</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int</a:t>
            </a:r>
            <a:r>
              <a:rPr lang="en-US" sz="2300" dirty="0">
                <a:latin typeface="Arial" panose="020B0604020202020204" pitchFamily="34" charset="0"/>
                <a:cs typeface="Arial" panose="020B0604020202020204" pitchFamily="34" charset="0"/>
              </a:rPr>
              <a:t>);</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ALTER TYPE </a:t>
            </a:r>
            <a:r>
              <a:rPr lang="en-US" sz="2300" dirty="0" err="1">
                <a:latin typeface="Arial" panose="020B0604020202020204" pitchFamily="34" charset="0"/>
                <a:cs typeface="Arial" panose="020B0604020202020204" pitchFamily="34" charset="0"/>
              </a:rPr>
              <a:t>university.card_details</a:t>
            </a:r>
            <a:r>
              <a:rPr lang="en-US" sz="2300" dirty="0">
                <a:latin typeface="Arial" panose="020B0604020202020204" pitchFamily="34" charset="0"/>
                <a:cs typeface="Arial" panose="020B0604020202020204" pitchFamily="34" charset="0"/>
              </a:rPr>
              <a:t> ADD expire text;</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DESCRIBE TYPE </a:t>
            </a:r>
            <a:r>
              <a:rPr lang="en-US" sz="2300" dirty="0" err="1">
                <a:latin typeface="Arial" panose="020B0604020202020204" pitchFamily="34" charset="0"/>
                <a:cs typeface="Arial" panose="020B0604020202020204" pitchFamily="34" charset="0"/>
              </a:rPr>
              <a:t>card_details</a:t>
            </a:r>
            <a:r>
              <a:rPr lang="en-US" sz="2300" dirty="0">
                <a:latin typeface="Arial" panose="020B0604020202020204" pitchFamily="34" charset="0"/>
                <a:cs typeface="Arial" panose="020B0604020202020204" pitchFamily="34" charset="0"/>
              </a:rPr>
              <a:t>;</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DESCRIBE TYPES;</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DROP TYPE </a:t>
            </a:r>
            <a:r>
              <a:rPr lang="en-US" sz="2300" dirty="0" err="1">
                <a:latin typeface="Arial" panose="020B0604020202020204" pitchFamily="34" charset="0"/>
                <a:cs typeface="Arial" panose="020B0604020202020204" pitchFamily="34" charset="0"/>
              </a:rPr>
              <a:t>card_details</a:t>
            </a:r>
            <a:r>
              <a:rPr lang="en-US" sz="2300" dirty="0">
                <a:latin typeface="Arial" panose="020B0604020202020204" pitchFamily="34" charset="0"/>
                <a:cs typeface="Arial" panose="020B0604020202020204" pitchFamily="34" charset="0"/>
              </a:rPr>
              <a:t>;</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97625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CQL User-defined Data Type</a:t>
            </a:r>
          </a:p>
        </p:txBody>
      </p:sp>
      <p:sp>
        <p:nvSpPr>
          <p:cNvPr id="3" name="Content Placeholder 2"/>
          <p:cNvSpPr>
            <a:spLocks noGrp="1"/>
          </p:cNvSpPr>
          <p:nvPr>
            <p:ph idx="1"/>
          </p:nvPr>
        </p:nvSpPr>
        <p:spPr>
          <a:xfrm>
            <a:off x="838200" y="1690688"/>
            <a:ext cx="10515600" cy="4486275"/>
          </a:xfrm>
        </p:spPr>
        <p:txBody>
          <a:bodyPr>
            <a:noAutofit/>
          </a:bodyPr>
          <a:lstStyle/>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CREATE TYPE address ( </a:t>
            </a:r>
            <a:r>
              <a:rPr lang="en-US" sz="2300" dirty="0" err="1">
                <a:latin typeface="Arial" panose="020B0604020202020204" pitchFamily="34" charset="0"/>
                <a:cs typeface="Arial" panose="020B0604020202020204" pitchFamily="34" charset="0"/>
              </a:rPr>
              <a:t>employee_id</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int</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residence_address</a:t>
            </a:r>
            <a:r>
              <a:rPr lang="en-US" sz="2300" dirty="0">
                <a:latin typeface="Arial" panose="020B0604020202020204" pitchFamily="34" charset="0"/>
                <a:cs typeface="Arial" panose="020B0604020202020204" pitchFamily="34" charset="0"/>
              </a:rPr>
              <a:t> text, </a:t>
            </a:r>
            <a:r>
              <a:rPr lang="en-US" sz="2300" dirty="0" err="1">
                <a:latin typeface="Arial" panose="020B0604020202020204" pitchFamily="34" charset="0"/>
                <a:cs typeface="Arial" panose="020B0604020202020204" pitchFamily="34" charset="0"/>
              </a:rPr>
              <a:t>office_address</a:t>
            </a:r>
            <a:r>
              <a:rPr lang="en-US" sz="2300" dirty="0">
                <a:latin typeface="Arial" panose="020B0604020202020204" pitchFamily="34" charset="0"/>
                <a:cs typeface="Arial" panose="020B0604020202020204" pitchFamily="34" charset="0"/>
              </a:rPr>
              <a:t> text, city text );</a:t>
            </a: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CREATE TABLE employee ( </a:t>
            </a:r>
            <a:r>
              <a:rPr lang="en-US" sz="2300" dirty="0" err="1">
                <a:latin typeface="Arial" panose="020B0604020202020204" pitchFamily="34" charset="0"/>
                <a:cs typeface="Arial" panose="020B0604020202020204" pitchFamily="34" charset="0"/>
              </a:rPr>
              <a:t>employee_id</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int</a:t>
            </a:r>
            <a:r>
              <a:rPr lang="en-US" sz="2300" dirty="0">
                <a:latin typeface="Arial" panose="020B0604020202020204" pitchFamily="34" charset="0"/>
                <a:cs typeface="Arial" panose="020B0604020202020204" pitchFamily="34" charset="0"/>
              </a:rPr>
              <a:t> PRIMARY KEY, name text, address frozen&lt;address&gt;, salary text);</a:t>
            </a:r>
          </a:p>
          <a:p>
            <a:pPr marL="539750" indent="-357188">
              <a:lnSpc>
                <a:spcPct val="120000"/>
              </a:lnSpc>
              <a:spcBef>
                <a:spcPts val="600"/>
              </a:spcBef>
              <a:spcAft>
                <a:spcPts val="600"/>
              </a:spcAft>
            </a:pPr>
            <a:endParaRPr lang="en-US" sz="2300" dirty="0">
              <a:latin typeface="Arial" panose="020B0604020202020204" pitchFamily="34" charset="0"/>
              <a:cs typeface="Arial" panose="020B0604020202020204" pitchFamily="34" charset="0"/>
            </a:endParaRPr>
          </a:p>
          <a:p>
            <a:pPr marL="539750" indent="-357188">
              <a:lnSpc>
                <a:spcPct val="120000"/>
              </a:lnSpc>
              <a:spcBef>
                <a:spcPts val="600"/>
              </a:spcBef>
              <a:spcAft>
                <a:spcPts val="600"/>
              </a:spcAft>
            </a:pPr>
            <a:r>
              <a:rPr lang="en-US" sz="2300" dirty="0">
                <a:latin typeface="Arial" panose="020B0604020202020204" pitchFamily="34" charset="0"/>
                <a:cs typeface="Arial" panose="020B0604020202020204" pitchFamily="34" charset="0"/>
              </a:rPr>
              <a:t>INSERT INTO employee JSON '{"employee_id":1234, "name":"</a:t>
            </a:r>
            <a:r>
              <a:rPr lang="en-US" sz="2300" dirty="0" err="1">
                <a:latin typeface="Arial" panose="020B0604020202020204" pitchFamily="34" charset="0"/>
                <a:cs typeface="Arial" panose="020B0604020202020204" pitchFamily="34" charset="0"/>
              </a:rPr>
              <a:t>Akhil</a:t>
            </a:r>
            <a:r>
              <a:rPr lang="en-US" sz="2300" dirty="0">
                <a:latin typeface="Arial" panose="020B0604020202020204" pitchFamily="34" charset="0"/>
                <a:cs typeface="Arial" panose="020B0604020202020204" pitchFamily="34" charset="0"/>
              </a:rPr>
              <a:t>", "address":{"employee_id":1234,"residence_address":"65A Block","office_address":"75D </a:t>
            </a:r>
            <a:r>
              <a:rPr lang="en-US" sz="2300" dirty="0" err="1">
                <a:latin typeface="Arial" panose="020B0604020202020204" pitchFamily="34" charset="0"/>
                <a:cs typeface="Arial" panose="020B0604020202020204" pitchFamily="34" charset="0"/>
              </a:rPr>
              <a:t>Block","city":"Goa</a:t>
            </a:r>
            <a:r>
              <a:rPr lang="en-US" sz="2300" dirty="0">
                <a:latin typeface="Arial" panose="020B0604020202020204" pitchFamily="34" charset="0"/>
                <a:cs typeface="Arial" panose="020B0604020202020204" pitchFamily="34" charset="0"/>
              </a:rPr>
              <a:t>"}, "salary":"12000"}';</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43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Cassandra Query Language</a:t>
            </a: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18-04-2023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2976</TotalTime>
  <Words>1826</Words>
  <Application>Microsoft Office PowerPoint</Application>
  <PresentationFormat>Widescreen</PresentationFormat>
  <Paragraphs>258</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(Body)</vt:lpstr>
      <vt:lpstr>Calibri Light</vt:lpstr>
      <vt:lpstr>Office Theme</vt:lpstr>
      <vt:lpstr>Course code : CSE3009 Course title  : No SQL Data Bases Module  : 5     Topic   : 3</vt:lpstr>
      <vt:lpstr>Objectives</vt:lpstr>
      <vt:lpstr>Cassandra Query Language</vt:lpstr>
      <vt:lpstr>CQL Documented Shell Commands</vt:lpstr>
      <vt:lpstr>CQL Documented Shell Commands</vt:lpstr>
      <vt:lpstr>CQL Data Types</vt:lpstr>
      <vt:lpstr>CQL Data Types</vt:lpstr>
      <vt:lpstr>CQL Data Types</vt:lpstr>
      <vt:lpstr>CQL Collection Types</vt:lpstr>
      <vt:lpstr>CQL Data Definition Commands</vt:lpstr>
      <vt:lpstr>CQL Data Definition Commands</vt:lpstr>
      <vt:lpstr>CQL Data Definition Commands</vt:lpstr>
      <vt:lpstr>CQL Data Definition Commands</vt:lpstr>
      <vt:lpstr>Durable Writes</vt:lpstr>
      <vt:lpstr>CQL Data Definition Commands</vt:lpstr>
      <vt:lpstr>CQL Data Definition Commands</vt:lpstr>
      <vt:lpstr>CQL Data Definition Commands</vt:lpstr>
      <vt:lpstr>CQL Data Definition Commands</vt:lpstr>
      <vt:lpstr>BATCH</vt:lpstr>
      <vt:lpstr>BATCH</vt:lpstr>
      <vt:lpstr>BATCH</vt:lpstr>
      <vt:lpstr>CQL Collections</vt:lpstr>
      <vt:lpstr>CQL User-defined Data Type</vt:lpstr>
      <vt:lpstr>CQL User-defined Data Type</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132</cp:revision>
  <dcterms:created xsi:type="dcterms:W3CDTF">2019-11-30T05:18:24Z</dcterms:created>
  <dcterms:modified xsi:type="dcterms:W3CDTF">2023-04-18T08:21:07Z</dcterms:modified>
</cp:coreProperties>
</file>